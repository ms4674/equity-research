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Deployment Rate (%)</c:v>
                </c:pt>
              </c:strCache>
            </c:strRef>
          </c:tx>
          <c:spPr>
            <a:solidFill>
              <a:srgbClr val="007AFF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45</c:v>
                </c:pt>
                <c:pt idx="2">
                  <c:v>67</c:v>
                </c:pt>
                <c:pt idx="3">
                  <c:v>80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B0B8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2A34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0687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007AFF"/>
            </a:solidFill>
            <a:ln w="31750">
              <a:solidFill>
                <a:srgbClr val="00D4FF"/>
              </a:solidFill>
            </a:ln>
          </c:spP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3.0</c:v>
                </c:pt>
                <c:pt idx="1">
                  <c:v>7.5</c:v>
                </c:pt>
                <c:pt idx="2">
                  <c:v>15.0</c:v>
                </c:pt>
                <c:pt idx="3">
                  <c:v>25.0</c:v>
                </c:pt>
                <c:pt idx="4">
                  <c:v>40.0</c:v>
                </c:pt>
                <c:pt idx="5">
                  <c:v>62.0</c:v>
                </c:pt>
                <c:pt idx="6">
                  <c:v>93.0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>
            <a:solidFill>
              <a:srgbClr val="606878"/>
            </a:solidFill>
          </a:ln>
        </c:spPr>
        <c:txPr>
          <a:bodyPr/>
          <a:lstStyle/>
          <a:p>
            <a:pPr>
              <a:defRPr sz="1200">
                <a:solidFill>
                  <a:srgbClr val="B0B8C8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2A344A"/>
              </a:solidFill>
            </a:ln>
          </c:spPr>
        </c:majorGridlines>
        <c:numFmt formatCode="$#,##0&quot;B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06878"/>
                </a:solidFill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Spend as % of Revenue</c:v>
                </c:pt>
              </c:strCache>
            </c:strRef>
          </c:tx>
          <c:spPr>
            <a:solidFill>
              <a:srgbClr val="007AFF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Technology</c:v>
                </c:pt>
                <c:pt idx="1">
                  <c:v>Financial
Services</c:v>
                </c:pt>
                <c:pt idx="2">
                  <c:v>Healthcare</c:v>
                </c:pt>
                <c:pt idx="3">
                  <c:v>Retail</c:v>
                </c:pt>
                <c:pt idx="4">
                  <c:v>Manufacturing</c:v>
                </c:pt>
                <c:pt idx="5">
                  <c:v>Energy</c:v>
                </c:pt>
                <c:pt idx="6">
                  <c:v>Real Estate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</c:v>
                </c:pt>
                <c:pt idx="1">
                  <c:v>2.0</c:v>
                </c:pt>
                <c:pt idx="2">
                  <c:v>1.5</c:v>
                </c:pt>
                <c:pt idx="3">
                  <c:v>1.4</c:v>
                </c:pt>
                <c:pt idx="4">
                  <c:v>0.9</c:v>
                </c:pt>
                <c:pt idx="5">
                  <c:v>0.8</c:v>
                </c:pt>
                <c:pt idx="6">
                  <c:v>0.5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B0B8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5"/>
        </c:scaling>
        <c:delete val="0"/>
        <c:axPos val="b"/>
        <c:majorGridlines>
          <c:spPr>
            <a:ln>
              <a:solidFill>
                <a:srgbClr val="2A34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0687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186" y="1371600"/>
            <a:ext cx="2743200" cy="274320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19169" y="4114800"/>
            <a:ext cx="2286000" cy="22860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62940" y="4800600"/>
            <a:ext cx="1828800" cy="182880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Corporate AI Adoption &amp; Agent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S&amp;P 500 &amp; Global 2000 Intelligence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Data-Driven Analysis of Enterprise AI Investment, Deployment, and Impact | February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3200400" cy="4572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878"/>
                </a:solidFill>
                <a:latin typeface="Calibri"/>
              </a:defRPr>
            </a:pPr>
            <a:r>
              <a:t>Sources: Microsoft, Deloitte, McKinsey, Gartner, BCG, PwC, KPMG, Bloomberg, 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Key findings from S&amp;P 500 and Global 2000 AI adoption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10512"/>
            <a:ext cx="233172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Fortune 500 companies</a:t>
            </a:r>
            <a:br/>
            <a:r>
              <a:t>now deploy active</a:t>
            </a:r>
            <a:br/>
            <a:r>
              <a:t>AI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60604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810512"/>
            <a:ext cx="23317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$650B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Big Tech AI infra</a:t>
            </a:r>
            <a:br/>
            <a:r>
              <a:t>spending in 2026</a:t>
            </a:r>
            <a:br/>
            <a:r>
              <a:t>(4 companies alone)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737360"/>
            <a:ext cx="260604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19" y="1810512"/>
            <a:ext cx="233172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1920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96"/>
                </a:solidFill>
                <a:latin typeface="Calibri"/>
              </a:defRPr>
            </a:pPr>
            <a:r>
              <a:t>215%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Agentic AI market</a:t>
            </a:r>
            <a:br/>
            <a:r>
              <a:t>growth rate, reaching</a:t>
            </a:r>
            <a:br/>
            <a:r>
              <a:t>$89.6B in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1737360"/>
            <a:ext cx="260604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79" y="1810512"/>
            <a:ext cx="233172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19202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alibri"/>
              </a:defRPr>
            </a:pPr>
            <a:r>
              <a:t>540%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2514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Average enterprise</a:t>
            </a:r>
            <a:br/>
            <a:r>
              <a:t>ROI within 18 months</a:t>
            </a:r>
            <a:br/>
            <a:r>
              <a:t>of AI agent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•  AI has crossed the threshold from experimentation to enterprise-scale deployment across S&amp;P 500 firms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•  Global AI spending is projected to reach $2.53 trillion in 2026, with infrastructure exceeding $1.3 trillion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•  40% of enterprise applications will embed AI agents by end of 2026 (Gartner), up from 5% in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•  Critical challenges remain: $890K avg. implementation costs, 340K global talent shortage, governance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•  CEOs now directly own AI investment decisions at 75% of large enterprises, signaling strategic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Agent Adoption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Fortune 500 deployment trajectory 2023-2026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64592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19072"/>
            <a:ext cx="246888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of Fortune 500 deploy</a:t>
            </a:r>
            <a:br/>
            <a:r>
              <a:t>active AI agents (2026)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907792"/>
            <a:ext cx="24688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projected deployment</a:t>
            </a:r>
            <a:br/>
            <a:r>
              <a:t>rate per analyst consensus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4096512"/>
            <a:ext cx="246888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96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jump in enterprise apps</a:t>
            </a:r>
            <a:br/>
            <a:r>
              <a:t>embedding AI agents</a:t>
            </a:r>
            <a:br/>
            <a:r>
              <a:t>(5% to 40%, Gartner)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21208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5285232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989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Fortune 500 "AI Leaders"</a:t>
            </a:r>
            <a:br/>
            <a:r>
              <a:t>with enterprise-scale</a:t>
            </a:r>
            <a:br/>
            <a:r>
              <a:t>AI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645920"/>
            <a:ext cx="2377440" cy="46634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A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1488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AI agent adoption has shifted from experimentation to production. Microsoft reports 80% of Fortune 500 now deploy active agents using low-code tools, marking a decisive inflection point in enterprise AI maturity.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Microsoft Cyber Pulse Report (Feb 2026), Axis Intelligence, Gartner (Feb 2026)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Global AI Spending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Big Tech capex and enterprise investment trajectories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Amazon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74520"/>
            <a:ext cx="5943600" cy="36576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$200B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0848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AFF"/>
                </a:solidFill>
                <a:latin typeface="Calibri"/>
              </a:defRPr>
            </a:pPr>
            <a:r>
              <a:t>+60%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Alphabet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926080"/>
            <a:ext cx="5349240" cy="3657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$175-185B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1363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Calibri"/>
              </a:defRPr>
            </a:pPr>
            <a:r>
              <a:t>+97%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977640"/>
            <a:ext cx="3714750" cy="365760"/>
          </a:xfrm>
          <a:prstGeom prst="round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791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$115-135B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7910" y="4187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96"/>
                </a:solidFill>
                <a:latin typeface="Calibri"/>
              </a:defRPr>
            </a:pPr>
            <a:r>
              <a:t>+73% YoY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1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Microsoft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029199"/>
            <a:ext cx="3120390" cy="36576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3550" y="49834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~$105B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523951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Calibri"/>
              </a:defRPr>
            </a:pPr>
            <a:r>
              <a:t>+41% YoY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Combined 2026 AI Infrastructure Spending: ~$650 Billion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8"/>
                </a:solidFill>
                <a:latin typeface="Calibri"/>
              </a:defRPr>
            </a:pPr>
            <a:r>
              <a:t>Equivalent to the annual GDP of Sweden or Israel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645920"/>
            <a:ext cx="246888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64040" y="1719072"/>
            <a:ext cx="219456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8288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$2.53T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Total global AI</a:t>
            </a:r>
            <a:br/>
            <a:r>
              <a:t>spending in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834640"/>
            <a:ext cx="246888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64040" y="2907792"/>
            <a:ext cx="219456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3017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$480B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611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Global AI spend</a:t>
            </a:r>
            <a:br/>
            <a:r>
              <a:t>(UBS estimate)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4023360"/>
            <a:ext cx="246888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4096512"/>
            <a:ext cx="219456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4206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96"/>
                </a:solidFill>
                <a:latin typeface="Calibri"/>
              </a:defRPr>
            </a:pPr>
            <a:r>
              <a:t>1.7%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800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Corp. AI spend as</a:t>
            </a:r>
            <a:br/>
            <a:r>
              <a:t>% of revenue (2x YoY)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5212080"/>
            <a:ext cx="246888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64040" y="5285232"/>
            <a:ext cx="219456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5394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alibri"/>
              </a:defRPr>
            </a:pPr>
            <a:r>
              <a:t>33%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5989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YoY growth in</a:t>
            </a:r>
            <a:br/>
            <a:r>
              <a:t>global AI spending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Bloomberg (Feb 2026), UBS Wealth Management, BCG (2026)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Agentic AI Market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From $7B to $93B: the fastest-growing enterprise AI segment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64592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1719072"/>
            <a:ext cx="246888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Calibri"/>
              </a:defRPr>
            </a:pPr>
            <a:r>
              <a:t>$89.6B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23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Agentic AI market</a:t>
            </a:r>
            <a:br/>
            <a:r>
              <a:t>size in 2026 (est.)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83464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907792"/>
            <a:ext cx="24688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017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44.6%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CAGR through 2032</a:t>
            </a:r>
            <a:br/>
            <a:r>
              <a:t>for agentic AI market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02336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4096512"/>
            <a:ext cx="246888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96"/>
                </a:solidFill>
                <a:latin typeface="Calibri"/>
              </a:defRPr>
            </a:pPr>
            <a:r>
              <a:t>$450-650B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Additional annual revenue</a:t>
            </a:r>
            <a:br/>
            <a:r>
              <a:t>by 2030 (McKinsey est.)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521208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5285232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989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Of enterprise software</a:t>
            </a:r>
            <a:br/>
            <a:r>
              <a:t>sales driven by agentic</a:t>
            </a:r>
            <a:br/>
            <a:r>
              <a:t>AI by 2035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Axis Intelligence, McKinsey, Gartner (Feb 2026), Synvestable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Fortune 500 AI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14 companies classified as enterprise-scale AI leaders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9144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Amazon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Multi-modal AI across retail, cloud (AWS),</a:t>
            </a:r>
            <a:br/>
            <a:r>
              <a:t>logistics; Nova Act agent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4592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19" y="1719072"/>
            <a:ext cx="9144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Microsoft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2103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Copilot ecosystem, Azure AI, 80% of</a:t>
            </a:r>
            <a:br/>
            <a:r>
              <a:t>Fortune 500 on AI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907792"/>
            <a:ext cx="91440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alibri"/>
              </a:defRPr>
            </a:pPr>
            <a:r>
              <a:t>Alphabet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Gemini models, Google Cloud AI, agentic</a:t>
            </a:r>
            <a:br/>
            <a:r>
              <a:t>partnerships with Walmart/Home Depot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83464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19" y="2907792"/>
            <a:ext cx="91440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JPMorgan 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3291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400+ AI use cases in production,</a:t>
            </a:r>
            <a:br/>
            <a:r>
              <a:t>200K daily LLM Suite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96512"/>
            <a:ext cx="9144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Walmart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AI-driven supply chain, pricing, inventory;</a:t>
            </a:r>
            <a:br/>
            <a:r>
              <a:t>Google Universal Commerce Protocol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02336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19" y="4096512"/>
            <a:ext cx="9144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4480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LLaMA open-source models, $115-135B</a:t>
            </a:r>
            <a:br/>
            <a:r>
              <a:t>AI infrastructure investment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1208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285232"/>
            <a:ext cx="91440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alibri"/>
              </a:defRPr>
            </a:pPr>
            <a:r>
              <a:t>Visa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AI-powered fraud detection, transaction</a:t>
            </a:r>
            <a:br/>
            <a:r>
              <a:t>analytics at global scale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5212080"/>
            <a:ext cx="539496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19" y="5285232"/>
            <a:ext cx="91440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39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Mastercard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39" y="5669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AI-driven risk management, real-time</a:t>
            </a:r>
            <a:br/>
            <a:r>
              <a:t>payment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878"/>
                </a:solidFill>
                <a:latin typeface="Calibri"/>
              </a:defRPr>
            </a:pPr>
            <a:r>
              <a:t>Additional leaders: Apple, Tesla, UnitedHealth, NVIDIA, Salesforce, Oracle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Source: SaltTechno Fortune 500 AI Adoption Tracker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Agent Use Cases by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Production deployments across key sectors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4114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237744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AFF"/>
                </a:solidFill>
                <a:latin typeface="Calibri"/>
              </a:defRPr>
            </a:pPr>
            <a:r>
              <a:t>Financial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Transaction reconciliation &amp;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Client onboarding with KYC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Fraud detection &amp; risk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Goldman Sachs: autonomous reconciliation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45920"/>
            <a:ext cx="2651760" cy="4114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719072"/>
            <a:ext cx="237744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Clinical documentation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017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Patient care workflow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49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Administrative burden reduction (2hr doc per 1hr patient)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480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Drug discovery &amp; clinical trial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645920"/>
            <a:ext cx="2651760" cy="4114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19" y="1719072"/>
            <a:ext cx="237744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9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Calibri"/>
              </a:defRPr>
            </a:pPr>
            <a:r>
              <a:t>Retail &amp; Consumer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Inventory &amp; supply chain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3017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Customer insight from reviews &amp;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3749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Kroger: AI meal planning &amp; shopping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39" y="4480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Home Depot: aisle-level project guidance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1645920"/>
            <a:ext cx="2651760" cy="4114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79" y="1719072"/>
            <a:ext cx="237744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599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2286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Production workflow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3017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Predictive maintenance &amp; quality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3749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Factory fine-tuning &amp; operational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4480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OpenAI Frontier: millions of daily transactions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57% of companies now run AI agents operationally; only 14% have production-ready solutions across all use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Context Studios, Ampcome, Beam AI, PYMNTS (2026)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Enterprise AI Platforms &amp; Ecosystems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Major platform plays driving corporate AI consumption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8229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Calibri"/>
              </a:defRPr>
            </a:pPr>
            <a:r>
              <a:t>Microsoft / Azure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19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Copilot + Azure OpenAI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80% Fortune 500 using AI tools; Copilot integrated across Office 365, GitHub, Dynamics. Low-code agent deployment enabling rapid enterprise adoption.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64240" cy="8229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Google Cloud /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79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Gemini + Vertex AI + Universal Commerce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008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Partnerships with Walmart, Kroger, Home Depot for agentic commerce. Gemini Enterprise for CX. Vertex AI agent builder for custom deployments.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064240" cy="8229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t>Amazon / 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39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Bedrock + Nova Models + Nova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5020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Nova Act achieving 90% reliability for browser automation. Amazon Bedrock for enterprise model hosting. $200B infrastructure investment in 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11064240" cy="8229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Salesforce / Agentforce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599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Agentforce + Data Cloud + MuleSoft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10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3.2 trillion tokens delivered to customers. Informatica acquisition for AI data integration. Agentforce platform for autonomous CRM agents.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1064240" cy="8229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F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59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60"/>
                </a:solidFill>
                <a:latin typeface="Calibri"/>
              </a:defRPr>
            </a:pPr>
            <a:r>
              <a:t>OpenAI / Frontier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559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Frontier Platform + Enterprise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7044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Production deployments at HP, Intuit, Oracle, State Farm, Thermo Fisher, Uber. Pilots at BBVA, Cisco, T-Mobile. Millions of daily transactions processed.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Microsoft, Google Cloud, Amazon, Salesforce, OpenAI official announcements (2025-2026)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Investment by Sector &amp;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How corporations allocate AI budgets across industries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64592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39" y="1719072"/>
            <a:ext cx="246888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FF"/>
                </a:solidFill>
                <a:latin typeface="Calibri"/>
              </a:defRPr>
            </a:pPr>
            <a:r>
              <a:t>1.7%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59" y="2423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Average corporate AI</a:t>
            </a:r>
            <a:br/>
            <a:r>
              <a:t>spend as % of revenue</a:t>
            </a:r>
            <a:br/>
            <a:r>
              <a:t>in 2026 (2x vs 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83464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39" y="2907792"/>
            <a:ext cx="24688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3017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Of CEOs now directly</a:t>
            </a:r>
            <a:br/>
            <a:r>
              <a:t>own AI investment</a:t>
            </a:r>
            <a:br/>
            <a:r>
              <a:t>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02336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39" y="4096512"/>
            <a:ext cx="246888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96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Of C-suite more</a:t>
            </a:r>
            <a:br/>
            <a:r>
              <a:t>optimistic about AI</a:t>
            </a:r>
            <a:br/>
            <a:r>
              <a:t>ROI vs. last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5212080"/>
            <a:ext cx="274320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39" y="5285232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Calibri"/>
              </a:defRPr>
            </a:pPr>
            <a:r>
              <a:t>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5989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Plan to increase</a:t>
            </a:r>
            <a:br/>
            <a:r>
              <a:t>AI budgets due to</a:t>
            </a:r>
            <a:br/>
            <a:r>
              <a:t>agentic AI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Tech and financial services lead AI spending at ~2% of revenues; industrials and real estate under 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BCG (2026), PwC AI Agent Survey, Deloitte State of AI in 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Challenges &amp; Risk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Critical barriers to enterprise AI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204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1097280" cy="38100"/>
          </a:xfrm>
          <a:prstGeom prst="rect">
            <a:avLst/>
          </a:prstGeom>
          <a:solidFill>
            <a:srgbClr val="FF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Implementation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4560"/>
                </a:solidFill>
                <a:latin typeface="Calibri"/>
              </a:defRPr>
            </a:pPr>
            <a:r>
              <a:t>$890K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Average cost to deploy enterprise</a:t>
            </a:r>
            <a:br/>
            <a:r>
              <a:t>AI agent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719072"/>
            <a:ext cx="109728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Talent Shortage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8C00"/>
                </a:solidFill>
                <a:latin typeface="Calibri"/>
              </a:defRPr>
            </a:pPr>
            <a:r>
              <a:t>340K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97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Global AI talent gap;</a:t>
            </a:r>
            <a:br/>
            <a:r>
              <a:t>only 24-27% report adequate</a:t>
            </a:r>
            <a:br/>
            <a:r>
              <a:t>skilled workforce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204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719072"/>
            <a:ext cx="109728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Governance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FF"/>
                </a:solidFill>
                <a:latin typeface="Calibri"/>
              </a:defRPr>
            </a:pPr>
            <a:r>
              <a:t>1 in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97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Companies have mature</a:t>
            </a:r>
            <a:br/>
            <a:r>
              <a:t>governance models for</a:t>
            </a:r>
            <a:br/>
            <a:r>
              <a:t>autonomous AI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35204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005072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Shadow AI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4FF"/>
                </a:solidFill>
                <a:latin typeface="Calibri"/>
              </a:defRPr>
            </a:pPr>
            <a:r>
              <a:t>29%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Of employees used</a:t>
            </a:r>
            <a:br/>
            <a:r>
              <a:t>unsanctioned AI tools,</a:t>
            </a:r>
            <a:br/>
            <a:r>
              <a:t>creating security risks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931920"/>
            <a:ext cx="35204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005072"/>
            <a:ext cx="109728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Production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696"/>
                </a:solidFill>
                <a:latin typeface="Calibri"/>
              </a:defRPr>
            </a:pPr>
            <a:r>
              <a:t>&lt;33%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983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Of AI initiatives in large</a:t>
            </a:r>
            <a:br/>
            <a:r>
              <a:t>enterprises reach</a:t>
            </a:r>
            <a:br/>
            <a:r>
              <a:t>full production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931920"/>
            <a:ext cx="352044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4005072"/>
            <a:ext cx="1097280" cy="38100"/>
          </a:xfrm>
          <a:prstGeom prst="rect">
            <a:avLst/>
          </a:prstGeom>
          <a:solidFill>
            <a:srgbClr val="FF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Security Concerns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34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4560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983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Lack confidence in their</a:t>
            </a:r>
            <a:br/>
            <a:r>
              <a:t>org's ability to secure</a:t>
            </a:r>
            <a:br/>
            <a:r>
              <a:t>AI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Axis Intelligence, Microsoft, Deloitte, CSA/Google Cloud, KPMG (2025-2026)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S&amp;P 500 Earnings Call AI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How market leaders are framing AI in investor communications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20440" cy="4389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324612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878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$68B quarterly revenue (+73% YoY)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Data Center: $62B quarterly / $194B annual (13x since ChatGPT)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$10B investment in Anthropic; partnerships with OpenAI, Groq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Vera Rubin platform: 10x lower inference costs vs Blackwell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Physical AI: $6B+ annual revenue contribution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45920"/>
            <a:ext cx="3520440" cy="4389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719072"/>
            <a:ext cx="324612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878"/>
                </a:solidFill>
                <a:latin typeface="Calibri"/>
              </a:defRPr>
            </a:pPr>
            <a:r>
              <a:t>Q1 FY26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402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RPO surged 359% YoY to $455B on AI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26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Record deals with OpenAI, xAI for cloud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Cloud revenue +28% to $7.2B; IaaS up 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AI Database: run Gemini, ChatGPT, Grok, Llama natively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9834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OCI revenue expected to grow 77% to $18B in FY26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645920"/>
            <a:ext cx="3520440" cy="43891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1719072"/>
            <a:ext cx="32461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Salesforce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878"/>
                </a:solidFill>
                <a:latin typeface="Calibri"/>
              </a:defRPr>
            </a:pPr>
            <a:r>
              <a:t>Q3-Q4 FY26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402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Agentforce platform: autonomous CRM agents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9260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3.2 trillion tokens delivered to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118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Informatica acquisition for AI + data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976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Data Cloud + MuleSoft as agentic AI foundation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9834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B0B8C8"/>
                </a:solidFill>
                <a:latin typeface="Calibri"/>
              </a:defRPr>
            </a:pPr>
            <a:r>
              <a:t>• AI-first strategy driving subscription revenue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Sources: NVIDIA, Oracle, Salesforce earnings call transcripts (2025-2026 fiscal year)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Takeaways &amp; 2026-2027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Strategic implications for enterprise decision-makers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6424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1371600" cy="381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20"/>
            <a:ext cx="502920" cy="50292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105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agents are now mainstream in the Fortune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488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80% of Fortune 500 companies deploy active AI agents. The shift from conversational AI to autonomous, action-oriented agents marks a decisive inflection point. Companies not deploying agents risk competitive disadvantage.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6424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07792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502920" cy="50292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99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spending is accelerating exponentially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375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Big Tech alone will invest $650B in AI infrastructure in 2026. Corporations are doubling AI spend to 1.7% of revenues. Global AI spending is on track to reach $2.53T in 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1106424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96512"/>
            <a:ext cx="1371600" cy="38100"/>
          </a:xfrm>
          <a:prstGeom prst="rect">
            <a:avLst/>
          </a:prstGeom>
          <a:solidFill>
            <a:srgbClr val="FF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502920" cy="502920"/>
          </a:xfrm>
          <a:prstGeom prst="roundRect">
            <a:avLst/>
          </a:prstGeom>
          <a:solidFill>
            <a:srgbClr val="FF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879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The governance gap is the critical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5262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Only 1 in 5 companies has mature AI governance. 29% of employees use shadow AI. 72% lack confidence in AI security. Organizations that solve governance will gain decisive advantages.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12080"/>
            <a:ext cx="11064240" cy="10515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285232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440680"/>
            <a:ext cx="502920" cy="502920"/>
          </a:xfrm>
          <a:prstGeom prst="round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76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Agentic AI is the next growth 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15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40% of enterprise apps will embed agents by end of 2026 (Gartner). The agentic AI market is growing at 44.6% CAGR. By 2035, agentic AI will drive 30% of all enterprise software sales.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400800"/>
            <a:ext cx="11064240" cy="36576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Outlook: By 2027, AI orchestration market will triple to $30B. Enterprise AI software spending will reach $270B by 2031.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Calibri"/>
              </a:defRPr>
            </a:pPr>
            <a:r>
              <a:t>Compiled from: Microsoft, Deloitte, McKinsey, Gartner, BCG, PwC, KPMG, Bloomberg, UBS | February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878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
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2025A</c:v>
                </c:pt>
              </c:strCache>
            </c:strRef>
          </c:tx>
          <c:spPr>
            <a:solidFill>
              <a:srgbClr val="9AA4B0"/>
            </a:solidFill>
          </c:spPr>
          <c:cat>
            <c:strRef>
              <c:f>Sheet1!$A$2:$A$6</c:f>
              <c:strCache>
                <c:ptCount val="5"/>
                <c:pt idx="0">
                  <c:v>Amazon</c:v>
                </c:pt>
                <c:pt idx="1">
                  <c:v>Alphabet</c:v>
                </c:pt>
                <c:pt idx="2">
                  <c:v>Microsoft</c:v>
                </c:pt>
                <c:pt idx="3">
                  <c:v>Meta</c:v>
                </c:pt>
                <c:pt idx="4">
                  <c:v>Oracle</c:v>
                </c:pt>
              </c:strCache>
            </c:strRef>
          </c:cat>
          <c:val>
            <c:numRef>
              <c:f>Sheet1!$B$2:$B$6</c:f>
              <c:numCache>
                <c:formatCode>General</c:formatCode>
                <c:ptCount val="5"/>
                <c:pt idx="0">
                  <c:v>131.8</c:v>
                </c:pt>
                <c:pt idx="1">
                  <c:v>91.4</c:v>
                </c:pt>
                <c:pt idx="2">
                  <c:v>100.6</c:v>
                </c:pt>
                <c:pt idx="3">
                  <c:v>69.7</c:v>
                </c:pt>
                <c:pt idx="4">
                  <c:v>21.2</c:v>
                </c:pt>
              </c:numCache>
            </c:numRef>
          </c:val>
        </c:ser>
        <c:ser>
          <c:idx val="1"/>
          <c:order val="1"/>
          <c:tx>
            <c:strRef>
              <c:f>Sheet1!$C$1</c:f>
              <c:strCache>
                <c:ptCount val="1"/>
                <c:pt idx="0">
                  <c:v>2026E (guide midpoint)</c:v>
                </c:pt>
              </c:strCache>
            </c:strRef>
          </c:tx>
          <c:spPr>
            <a:solidFill>
              <a:srgbClr val="0B1D3A"/>
            </a:solidFill>
          </c:spPr>
          <c:cat>
            <c:strRef>
              <c:f>Sheet1!$A$2:$A$6</c:f>
              <c:strCache>
                <c:ptCount val="5"/>
                <c:pt idx="0">
                  <c:v>Amazon</c:v>
                </c:pt>
                <c:pt idx="1">
                  <c:v>Alphabet</c:v>
                </c:pt>
                <c:pt idx="2">
                  <c:v>Microsoft</c:v>
                </c:pt>
                <c:pt idx="3">
                  <c:v>Meta</c:v>
                </c:pt>
                <c:pt idx="4">
                  <c:v>Oracle</c:v>
                </c:pt>
              </c:strCache>
            </c:strRef>
          </c:cat>
          <c:val>
            <c:numRef>
              <c:f>Sheet1!$C$2:$C$6</c:f>
              <c:numCache>
                <c:formatCode>General</c:formatCode>
                <c:ptCount val="5"/>
                <c:pt idx="0">
                  <c:v>220</c:v>
                </c:pt>
                <c:pt idx="1">
                  <c:v>200</c:v>
                </c:pt>
                <c:pt idx="2">
                  <c:v>175</c:v>
                </c:pt>
                <c:pt idx="3">
                  <c:v>137.5</c:v>
                </c:pt>
                <c:pt idx="4">
                  <c:v>55.7</c:v>
                </c:pt>
              </c:numCache>
            </c:numRef>
          </c:val>
        </c:ser>
        <c:dLbls>
          <c:numFmt formatCode="#,##0" sourceLinked="0"/>
          <c:txPr>
            <a:bodyPr/>
            <a:lstStyle/>
            <a:p>
              <a:pPr>
                <a:defRPr sz="850"/>
              </a:pPr>
            </a:p>
          </c:txPr>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txPr>
          <a:bodyPr/>
          <a:lstStyle/>
          <a:p>
            <a:pPr>
              <a:defRPr sz="95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850"/>
            </a:pPr>
          </a:p>
        </c:txPr>
        <c:crossAx val="-2068027336"/>
        <c:crosses val="autoZero"/>
      </c:valAx>
    </c:plotArea>
    <c:legend>
      <c:legendPos val="b"/>
      <c:overlay val="0"/>
    </c:legend>
    <c:dispBlanksAs val="gap"/>
  </c:chart>
  <c:txPr>
    <a:bodyPr/>
    <a:lstStyle/>
    <a:p>
      <a:pPr>
        <a:defRPr sz="900">
          <a:solidFill>
            <a:srgbClr val="222A3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Share of 2026E capex (%)</c:v>
                </c:pt>
              </c:strCache>
            </c:strRef>
          </c:tx>
          <c:spPr>
            <a:solidFill>
              <a:srgbClr val="0B1D3A"/>
            </a:solidFill>
          </c:spPr>
          <c:cat>
            <c:strRef>
              <c:f>Sheet1!$A$2:$A$7</c:f>
              <c:strCache>
                <c:ptCount val="6"/>
                <c:pt idx="0">
                  <c:v>GPUs &amp; AI accelerators</c:v>
                </c:pt>
                <c:pt idx="1">
                  <c:v>Server &amp; rack infrastructure</c:v>
                </c:pt>
                <c:pt idx="2">
                  <c:v>Data center shell</c:v>
                </c:pt>
                <c:pt idx="3">
                  <c:v>Power &amp; cooling</c:v>
                </c:pt>
                <c:pt idx="4">
                  <c:v>Networking &amp; fiber</c:v>
                </c:pt>
                <c:pt idx="5">
                  <c:v>Land, leases, other</c:v>
                </c:pt>
              </c:strCache>
            </c:strRef>
          </c:cat>
          <c:val>
            <c:numRef>
              <c:f>Sheet1!$B$2:$B$7</c:f>
              <c:numCache>
                <c:formatCode>General</c:formatCode>
                <c:ptCount val="6"/>
                <c:pt idx="0">
                  <c:v>44</c:v>
                </c:pt>
                <c:pt idx="1">
                  <c:v>18</c:v>
                </c:pt>
                <c:pt idx="2">
                  <c:v>13</c:v>
                </c:pt>
                <c:pt idx="3">
                  <c:v>11</c:v>
                </c:pt>
                <c:pt idx="4">
                  <c:v>7</c:v>
                </c:pt>
                <c:pt idx="5">
                  <c:v>7</c:v>
                </c:pt>
              </c:numCache>
            </c:numRef>
          </c:val>
        </c:ser>
        <c:dLbls>
          <c:numFmt formatCode="0&quot;%&quot;" sourceLinked="0"/>
          <c:txPr>
            <a:bodyPr/>
            <a:lstStyle/>
            <a:p>
              <a:pPr>
                <a:defRPr sz="900"/>
              </a:pPr>
            </a:p>
          </c:txPr>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l"/>
        <c:majorTickMark val="out"/>
        <c:minorTickMark val="none"/>
        <c:tickLblPos val="nextTo"/>
        <c:txPr>
          <a:bodyPr/>
          <a:lstStyle/>
          <a:p>
            <a:pPr>
              <a:defRPr sz="950"/>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850"/>
            </a:pPr>
          </a:p>
        </c:txPr>
        <c:crossAx val="-2068027336"/>
        <c:crosses val="autoZero"/>
      </c:valAx>
    </c:plotArea>
    <c:dispBlanksAs val="gap"/>
  </c:chart>
  <c:txPr>
    <a:bodyPr/>
    <a:lstStyle/>
    <a:p>
      <a:pPr>
        <a:defRPr sz="900">
          <a:solidFill>
            <a:srgbClr val="222A3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Median months, interconnection request → commercial operation</c:v>
                </c:pt>
              </c:strCache>
            </c:strRef>
          </c:tx>
          <c:spPr>
            <a:solidFill>
              <a:srgbClr val="0B1D3A"/>
            </a:solidFill>
          </c:spPr>
          <c:cat>
            <c:strRef>
              <c:f>Sheet1!$A$2:$A$4</c:f>
              <c:strCache>
                <c:ptCount val="3"/>
                <c:pt idx="0">
                  <c:v>2008</c:v>
                </c:pt>
                <c:pt idx="1">
                  <c:v>2015</c:v>
                </c:pt>
                <c:pt idx="2">
                  <c:v>2025</c:v>
                </c:pt>
              </c:strCache>
            </c:strRef>
          </c:cat>
          <c:val>
            <c:numRef>
              <c:f>Sheet1!$B$2:$B$4</c:f>
              <c:numCache>
                <c:formatCode>General</c:formatCode>
                <c:ptCount val="3"/>
                <c:pt idx="0">
                  <c:v>22</c:v>
                </c:pt>
                <c:pt idx="1">
                  <c:v>36</c:v>
                </c:pt>
                <c:pt idx="2">
                  <c:v>61</c:v>
                </c:pt>
              </c:numCache>
            </c:numRef>
          </c:val>
        </c:ser>
        <c:dLbls>
          <c:txPr>
            <a:bodyPr/>
            <a:lstStyle/>
            <a:p>
              <a:pPr>
                <a:defRPr sz="1000"/>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50"/>
            </a:pPr>
          </a:p>
        </c:txPr>
        <c:crossAx val="-2068027336"/>
        <c:crosses val="autoZero"/>
      </c:valAx>
    </c:plotArea>
    <c:dispBlanksAs val="gap"/>
  </c:chart>
  <c:txPr>
    <a:bodyPr/>
    <a:lstStyle/>
    <a:p>
      <a:pPr>
        <a:defRPr sz="900">
          <a:solidFill>
            <a:srgbClr val="222A3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Pre-boom (~2021–23)</c:v>
                </c:pt>
              </c:strCache>
            </c:strRef>
          </c:tx>
          <c:spPr>
            <a:solidFill>
              <a:srgbClr val="9AA4B0"/>
            </a:solidFill>
          </c:spPr>
          <c:cat>
            <c:strRef>
              <c:f>Sheet1!$A$2:$A$4</c:f>
              <c:strCache>
                <c:ptCount val="3"/>
                <c:pt idx="0">
                  <c:v>Large power transformer</c:v>
                </c:pt>
                <c:pt idx="1">
                  <c:v>GSU transformer</c:v>
                </c:pt>
                <c:pt idx="2">
                  <c:v>HV circuit breaker</c:v>
                </c:pt>
              </c:strCache>
            </c:strRef>
          </c:cat>
          <c:val>
            <c:numRef>
              <c:f>Sheet1!$B$2:$B$4</c:f>
              <c:numCache>
                <c:formatCode>General</c:formatCode>
                <c:ptCount val="3"/>
                <c:pt idx="0">
                  <c:v>65</c:v>
                </c:pt>
                <c:pt idx="1">
                  <c:v>65</c:v>
                </c:pt>
                <c:pt idx="2">
                  <c:v>77</c:v>
                </c:pt>
              </c:numCache>
            </c:numRef>
          </c:val>
        </c:ser>
        <c:ser>
          <c:idx val="1"/>
          <c:order val="1"/>
          <c:tx>
            <c:strRef>
              <c:f>Sheet1!$C$1</c:f>
              <c:strCache>
                <c:ptCount val="1"/>
                <c:pt idx="0">
                  <c:v>Mid-2026</c:v>
                </c:pt>
              </c:strCache>
            </c:strRef>
          </c:tx>
          <c:spPr>
            <a:solidFill>
              <a:srgbClr val="0B1D3A"/>
            </a:solidFill>
          </c:spPr>
          <c:cat>
            <c:strRef>
              <c:f>Sheet1!$A$2:$A$4</c:f>
              <c:strCache>
                <c:ptCount val="3"/>
                <c:pt idx="0">
                  <c:v>Large power transformer</c:v>
                </c:pt>
                <c:pt idx="1">
                  <c:v>GSU transformer</c:v>
                </c:pt>
                <c:pt idx="2">
                  <c:v>HV circuit breaker</c:v>
                </c:pt>
              </c:strCache>
            </c:strRef>
          </c:cat>
          <c:val>
            <c:numRef>
              <c:f>Sheet1!$C$2:$C$4</c:f>
              <c:numCache>
                <c:formatCode>General</c:formatCode>
                <c:ptCount val="3"/>
                <c:pt idx="0">
                  <c:v>128</c:v>
                </c:pt>
                <c:pt idx="1">
                  <c:v>152</c:v>
                </c:pt>
                <c:pt idx="2">
                  <c:v>125</c:v>
                </c:pt>
              </c:numCache>
            </c:numRef>
          </c:val>
        </c:ser>
        <c:dLbls>
          <c:txPr>
            <a:bodyPr/>
            <a:lstStyle/>
            <a:p>
              <a:pPr>
                <a:defRPr sz="900"/>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850"/>
            </a:pPr>
          </a:p>
        </c:txPr>
        <c:crossAx val="-2068027336"/>
        <c:crosses val="autoZero"/>
      </c:valAx>
    </c:plotArea>
    <c:legend>
      <c:legendPos val="b"/>
      <c:overlay val="0"/>
    </c:legend>
    <c:dispBlanksAs val="gap"/>
  </c:chart>
  <c:txPr>
    <a:bodyPr/>
    <a:lstStyle/>
    <a:p>
      <a:pPr>
        <a:defRPr sz="900">
          <a:solidFill>
            <a:srgbClr val="222A35"/>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22960" y="1417320"/>
            <a:ext cx="1554480" cy="38100"/>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960120"/>
            <a:ext cx="9144000" cy="365760"/>
          </a:xfrm>
          <a:prstGeom prst="rect">
            <a:avLst/>
          </a:prstGeom>
          <a:noFill/>
        </p:spPr>
        <p:txBody>
          <a:bodyPr wrap="square" anchor="t">
            <a:spAutoFit/>
          </a:bodyPr>
          <a:lstStyle/>
          <a:p>
            <a:pPr algn="l">
              <a:lnSpc>
                <a:spcPct val="100000"/>
              </a:lnSpc>
              <a:spcAft>
                <a:spcPts val="400"/>
              </a:spcAft>
            </a:pPr>
            <a:r>
              <a:rPr b="1" sz="1200">
                <a:solidFill>
                  <a:srgbClr val="C2903A"/>
                </a:solidFill>
                <a:latin typeface="Calibri"/>
              </a:rPr>
              <a:t>SECTOR RESEARCH  |  TECHNOLOGY INFRASTRUCTURE</a:t>
            </a:r>
          </a:p>
        </p:txBody>
      </p:sp>
      <p:sp>
        <p:nvSpPr>
          <p:cNvPr id="5" name="TextBox 4"/>
          <p:cNvSpPr txBox="1"/>
          <p:nvPr/>
        </p:nvSpPr>
        <p:spPr>
          <a:xfrm>
            <a:off x="822960" y="1783080"/>
            <a:ext cx="10607040" cy="1737360"/>
          </a:xfrm>
          <a:prstGeom prst="rect">
            <a:avLst/>
          </a:prstGeom>
          <a:noFill/>
        </p:spPr>
        <p:txBody>
          <a:bodyPr wrap="square" anchor="t">
            <a:spAutoFit/>
          </a:bodyPr>
          <a:lstStyle/>
          <a:p>
            <a:pPr algn="l">
              <a:lnSpc>
                <a:spcPct val="100000"/>
              </a:lnSpc>
              <a:spcAft>
                <a:spcPts val="0"/>
              </a:spcAft>
            </a:pPr>
            <a:r>
              <a:rPr b="1" sz="4400">
                <a:solidFill>
                  <a:srgbClr val="FFFFFF"/>
                </a:solidFill>
                <a:latin typeface="Calibri"/>
              </a:rPr>
              <a:t>Powering the AI Buildout</a:t>
            </a:r>
          </a:p>
        </p:txBody>
      </p:sp>
      <p:sp>
        <p:nvSpPr>
          <p:cNvPr id="6" name="TextBox 5"/>
          <p:cNvSpPr txBox="1"/>
          <p:nvPr/>
        </p:nvSpPr>
        <p:spPr>
          <a:xfrm>
            <a:off x="822960" y="2788920"/>
            <a:ext cx="10424160" cy="914400"/>
          </a:xfrm>
          <a:prstGeom prst="rect">
            <a:avLst/>
          </a:prstGeom>
          <a:noFill/>
        </p:spPr>
        <p:txBody>
          <a:bodyPr wrap="square" anchor="t">
            <a:spAutoFit/>
          </a:bodyPr>
          <a:lstStyle/>
          <a:p>
            <a:pPr algn="l">
              <a:lnSpc>
                <a:spcPct val="100000"/>
              </a:lnSpc>
              <a:spcAft>
                <a:spcPts val="400"/>
              </a:spcAft>
            </a:pPr>
            <a:r>
              <a:rPr b="0" sz="2200">
                <a:solidFill>
                  <a:srgbClr val="C9D4E3"/>
                </a:solidFill>
                <a:latin typeface="Calibri"/>
              </a:rPr>
              <a:t>Data center lead times, bottlenecks, and where we differ from consensus</a:t>
            </a:r>
          </a:p>
        </p:txBody>
      </p:sp>
      <p:sp>
        <p:nvSpPr>
          <p:cNvPr id="7" name="TextBox 6"/>
          <p:cNvSpPr txBox="1"/>
          <p:nvPr/>
        </p:nvSpPr>
        <p:spPr>
          <a:xfrm>
            <a:off x="822960" y="4160520"/>
            <a:ext cx="10058400" cy="1188720"/>
          </a:xfrm>
          <a:prstGeom prst="rect">
            <a:avLst/>
          </a:prstGeom>
          <a:noFill/>
        </p:spPr>
        <p:txBody>
          <a:bodyPr wrap="square" anchor="t">
            <a:spAutoFit/>
          </a:bodyPr>
          <a:lstStyle/>
          <a:p>
            <a:pPr algn="l">
              <a:lnSpc>
                <a:spcPct val="100000"/>
              </a:lnSpc>
              <a:spcAft>
                <a:spcPts val="400"/>
              </a:spcAft>
            </a:pPr>
            <a:r>
              <a:rPr b="1" sz="1200">
                <a:solidFill>
                  <a:srgbClr val="FFFFFF"/>
                </a:solidFill>
                <a:latin typeface="Calibri"/>
              </a:rPr>
              <a:t>EQUITY RESEARCH  —  DATA CENTER INFRASTRUCTURE</a:t>
            </a:r>
          </a:p>
          <a:p>
            <a:pPr algn="l">
              <a:lnSpc>
                <a:spcPct val="100000"/>
              </a:lnSpc>
              <a:spcAft>
                <a:spcPts val="400"/>
              </a:spcAft>
            </a:pPr>
            <a:r>
              <a:rPr b="0" sz="1200">
                <a:solidFill>
                  <a:srgbClr val="C9D4E3"/>
                </a:solidFill>
                <a:latin typeface="Calibri"/>
              </a:rPr>
              <a:t>August 2026  |  Initiation framework deck</a:t>
            </a:r>
          </a:p>
        </p:txBody>
      </p:sp>
      <p:sp>
        <p:nvSpPr>
          <p:cNvPr id="8" name="TextBox 7"/>
          <p:cNvSpPr txBox="1"/>
          <p:nvPr/>
        </p:nvSpPr>
        <p:spPr>
          <a:xfrm>
            <a:off x="822960" y="6080760"/>
            <a:ext cx="10607040" cy="548640"/>
          </a:xfrm>
          <a:prstGeom prst="rect">
            <a:avLst/>
          </a:prstGeom>
          <a:noFill/>
        </p:spPr>
        <p:txBody>
          <a:bodyPr wrap="square" anchor="t">
            <a:spAutoFit/>
          </a:bodyPr>
          <a:lstStyle/>
          <a:p>
            <a:pPr algn="l">
              <a:lnSpc>
                <a:spcPct val="100000"/>
              </a:lnSpc>
              <a:spcAft>
                <a:spcPts val="400"/>
              </a:spcAft>
            </a:pPr>
            <a:r>
              <a:rPr b="0" sz="900">
                <a:solidFill>
                  <a:srgbClr val="8A99AE"/>
                </a:solidFill>
                <a:latin typeface="Calibri"/>
              </a:rPr>
              <a:t>Illustrative research deck. Figures compiled from public sources as of August 2026 and may be approximate. Not investment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EXECUTIVE SUMMARY</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Five key calls: demand is not the question — delivery is</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The constraint has moved downstream from chips to power, equipment, memory and labor</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2</a:t>
            </a:r>
          </a:p>
        </p:txBody>
      </p:sp>
      <p:sp>
        <p:nvSpPr>
          <p:cNvPr id="9" name="Rounded Rectangle 8"/>
          <p:cNvSpPr/>
          <p:nvPr/>
        </p:nvSpPr>
        <p:spPr>
          <a:xfrm>
            <a:off x="502920" y="1481328"/>
            <a:ext cx="11183112" cy="859536"/>
          </a:xfrm>
          <a:prstGeom prst="roundRect">
            <a:avLst>
              <a:gd name="adj" fmla="val 1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02920" y="1481328"/>
            <a:ext cx="64008" cy="859536"/>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1545336"/>
            <a:ext cx="10835640" cy="768096"/>
          </a:xfrm>
          <a:prstGeom prst="rect">
            <a:avLst/>
          </a:prstGeom>
          <a:noFill/>
        </p:spPr>
        <p:txBody>
          <a:bodyPr wrap="square" anchor="t">
            <a:spAutoFit/>
          </a:bodyPr>
          <a:lstStyle/>
          <a:p>
            <a:pPr algn="l">
              <a:lnSpc>
                <a:spcPct val="100000"/>
              </a:lnSpc>
              <a:spcAft>
                <a:spcPts val="0"/>
              </a:spcAft>
            </a:pPr>
            <a:r>
              <a:rPr b="1" sz="1150">
                <a:solidFill>
                  <a:srgbClr val="0B1D3A"/>
                </a:solidFill>
                <a:latin typeface="Calibri"/>
              </a:rPr>
              <a:t>1. Capex is committed; the binding constraints sit downstream.  </a:t>
            </a:r>
            <a:r>
              <a:rPr b="0" sz="1050">
                <a:solidFill>
                  <a:srgbClr val="222A35"/>
                </a:solidFill>
                <a:latin typeface="Calibri"/>
              </a:rPr>
              <a:t>Big-5 hyperscaler 2026 capex guidance totals ~$775–800bn (+~65% y/y). The gating factors are now energized megawatts, electrical equipment, HBM/packaging and skilled labor — not GPU compute die.</a:t>
            </a:r>
          </a:p>
        </p:txBody>
      </p:sp>
      <p:sp>
        <p:nvSpPr>
          <p:cNvPr id="12" name="Rounded Rectangle 11"/>
          <p:cNvSpPr/>
          <p:nvPr/>
        </p:nvSpPr>
        <p:spPr>
          <a:xfrm>
            <a:off x="502920" y="2432304"/>
            <a:ext cx="11183112" cy="859536"/>
          </a:xfrm>
          <a:prstGeom prst="roundRect">
            <a:avLst>
              <a:gd name="adj" fmla="val 1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02920" y="2432304"/>
            <a:ext cx="64008" cy="859536"/>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32" y="2496312"/>
            <a:ext cx="10835640" cy="768096"/>
          </a:xfrm>
          <a:prstGeom prst="rect">
            <a:avLst/>
          </a:prstGeom>
          <a:noFill/>
        </p:spPr>
        <p:txBody>
          <a:bodyPr wrap="square" anchor="t">
            <a:spAutoFit/>
          </a:bodyPr>
          <a:lstStyle/>
          <a:p>
            <a:pPr algn="l">
              <a:lnSpc>
                <a:spcPct val="100000"/>
              </a:lnSpc>
              <a:spcAft>
                <a:spcPts val="0"/>
              </a:spcAft>
            </a:pPr>
            <a:r>
              <a:rPr b="1" sz="1150">
                <a:solidFill>
                  <a:srgbClr val="0B1D3A"/>
                </a:solidFill>
                <a:latin typeface="Calibri"/>
              </a:rPr>
              <a:t>2. Lead times are the sector's best leading indicator.  </a:t>
            </a:r>
            <a:r>
              <a:rPr b="0" sz="1050">
                <a:solidFill>
                  <a:srgbClr val="222A35"/>
                </a:solidFill>
                <a:latin typeface="Calibri"/>
              </a:rPr>
              <a:t>Track them like commodity inventories: large power transformers ~128 wks (specialty 3–5 yrs), GSUs 160+ wks, grid interconnection median ~5 yrs, CoWoS booked through mid-2027, 2026 HBM4 output 100% sold out.</a:t>
            </a:r>
          </a:p>
        </p:txBody>
      </p:sp>
      <p:sp>
        <p:nvSpPr>
          <p:cNvPr id="15" name="Rounded Rectangle 14"/>
          <p:cNvSpPr/>
          <p:nvPr/>
        </p:nvSpPr>
        <p:spPr>
          <a:xfrm>
            <a:off x="502920" y="3383280"/>
            <a:ext cx="11183112" cy="859536"/>
          </a:xfrm>
          <a:prstGeom prst="roundRect">
            <a:avLst>
              <a:gd name="adj" fmla="val 1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02920" y="3383280"/>
            <a:ext cx="64008" cy="859536"/>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2" y="3447288"/>
            <a:ext cx="10835640" cy="768096"/>
          </a:xfrm>
          <a:prstGeom prst="rect">
            <a:avLst/>
          </a:prstGeom>
          <a:noFill/>
        </p:spPr>
        <p:txBody>
          <a:bodyPr wrap="square" anchor="t">
            <a:spAutoFit/>
          </a:bodyPr>
          <a:lstStyle/>
          <a:p>
            <a:pPr algn="l">
              <a:lnSpc>
                <a:spcPct val="100000"/>
              </a:lnSpc>
              <a:spcAft>
                <a:spcPts val="0"/>
              </a:spcAft>
            </a:pPr>
            <a:r>
              <a:rPr b="1" sz="1150">
                <a:solidFill>
                  <a:srgbClr val="0B1D3A"/>
                </a:solidFill>
                <a:latin typeface="Calibri"/>
              </a:rPr>
              <a:t>3. Non-consensus: 2027 growth is set by megawatts energized, not GPUs shipped.  </a:t>
            </a:r>
            <a:r>
              <a:rPr b="0" sz="1050">
                <a:solidFill>
                  <a:srgbClr val="222A35"/>
                </a:solidFill>
                <a:latin typeface="Calibri"/>
              </a:rPr>
              <a:t>Consensus still models accelerator supply as the gate. Speed-to-power — behind-the-meter generation, flexible/curtailable interconnection, queue position — is the scarce capability.</a:t>
            </a:r>
          </a:p>
        </p:txBody>
      </p:sp>
      <p:sp>
        <p:nvSpPr>
          <p:cNvPr id="18" name="Rounded Rectangle 17"/>
          <p:cNvSpPr/>
          <p:nvPr/>
        </p:nvSpPr>
        <p:spPr>
          <a:xfrm>
            <a:off x="502920" y="4334256"/>
            <a:ext cx="11183112" cy="859536"/>
          </a:xfrm>
          <a:prstGeom prst="roundRect">
            <a:avLst>
              <a:gd name="adj" fmla="val 1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02920" y="4334256"/>
            <a:ext cx="64008" cy="859536"/>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3232" y="4398264"/>
            <a:ext cx="10835640" cy="768096"/>
          </a:xfrm>
          <a:prstGeom prst="rect">
            <a:avLst/>
          </a:prstGeom>
          <a:noFill/>
        </p:spPr>
        <p:txBody>
          <a:bodyPr wrap="square" anchor="t">
            <a:spAutoFit/>
          </a:bodyPr>
          <a:lstStyle/>
          <a:p>
            <a:pPr algn="l">
              <a:lnSpc>
                <a:spcPct val="100000"/>
              </a:lnSpc>
              <a:spcAft>
                <a:spcPts val="0"/>
              </a:spcAft>
            </a:pPr>
            <a:r>
              <a:rPr b="1" sz="1150">
                <a:solidFill>
                  <a:srgbClr val="0B1D3A"/>
                </a:solidFill>
                <a:latin typeface="Calibri"/>
              </a:rPr>
              <a:t>4. Non-consensus: the depreciation wall is the dated, mechanical risk.  </a:t>
            </a:r>
            <a:r>
              <a:rPr b="0" sz="1050">
                <a:solidFill>
                  <a:srgbClr val="222A35"/>
                </a:solidFill>
                <a:latin typeface="Calibri"/>
              </a:rPr>
              <a:t>Trailing-4Q hyperscaler capex of ~$434bn versus only ~$149bn of recognized D&amp;A. Useful-life disclosures (10-Ks, Jan–Feb) are the leading indicator for a 2027–28 capex moderation.</a:t>
            </a:r>
          </a:p>
        </p:txBody>
      </p:sp>
      <p:sp>
        <p:nvSpPr>
          <p:cNvPr id="21" name="Rounded Rectangle 20"/>
          <p:cNvSpPr/>
          <p:nvPr/>
        </p:nvSpPr>
        <p:spPr>
          <a:xfrm>
            <a:off x="502920" y="5285232"/>
            <a:ext cx="11183112" cy="859536"/>
          </a:xfrm>
          <a:prstGeom prst="roundRect">
            <a:avLst>
              <a:gd name="adj" fmla="val 1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02920" y="5285232"/>
            <a:ext cx="64008" cy="859536"/>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13232" y="5349240"/>
            <a:ext cx="10835640" cy="768096"/>
          </a:xfrm>
          <a:prstGeom prst="rect">
            <a:avLst/>
          </a:prstGeom>
          <a:noFill/>
        </p:spPr>
        <p:txBody>
          <a:bodyPr wrap="square" anchor="t">
            <a:spAutoFit/>
          </a:bodyPr>
          <a:lstStyle/>
          <a:p>
            <a:pPr algn="l">
              <a:lnSpc>
                <a:spcPct val="100000"/>
              </a:lnSpc>
              <a:spcAft>
                <a:spcPts val="0"/>
              </a:spcAft>
            </a:pPr>
            <a:r>
              <a:rPr b="1" sz="1150">
                <a:solidFill>
                  <a:srgbClr val="0B1D3A"/>
                </a:solidFill>
                <a:latin typeface="Calibri"/>
              </a:rPr>
              <a:t>5. Non-consensus: HBM pricing power peaks before HBM capacity does; circularity means the cycle can crack without AI failing.  </a:t>
            </a:r>
            <a:r>
              <a:rPr b="0" sz="1050">
                <a:solidFill>
                  <a:srgbClr val="222A35"/>
                </a:solidFill>
                <a:latin typeface="Calibri"/>
              </a:rPr>
              <a:t>Spec downgrades (Rubin Ultra stack reductions) are early demand destruction; vendor-financing loops transmit any single buyer's pullback across the ecosystem.</a:t>
            </a:r>
          </a:p>
        </p:txBody>
      </p:sp>
      <p:sp>
        <p:nvSpPr>
          <p:cNvPr id="24" name="TextBox 23"/>
          <p:cNvSpPr txBox="1"/>
          <p:nvPr/>
        </p:nvSpPr>
        <p:spPr>
          <a:xfrm>
            <a:off x="502920" y="6263640"/>
            <a:ext cx="11155680" cy="274320"/>
          </a:xfrm>
          <a:prstGeom prst="rect">
            <a:avLst/>
          </a:prstGeom>
          <a:noFill/>
        </p:spPr>
        <p:txBody>
          <a:bodyPr wrap="square" anchor="t">
            <a:spAutoFit/>
          </a:bodyPr>
          <a:lstStyle/>
          <a:p>
            <a:pPr algn="l">
              <a:lnSpc>
                <a:spcPct val="100000"/>
              </a:lnSpc>
              <a:spcAft>
                <a:spcPts val="400"/>
              </a:spcAft>
            </a:pPr>
            <a:r>
              <a:rPr b="1" sz="1000">
                <a:solidFill>
                  <a:srgbClr val="A8392E"/>
                </a:solidFill>
                <a:latin typeface="Calibri"/>
              </a:rPr>
              <a:t>Positioning: own the toll collectors (grid-equipment oligopoly, memory near term, power-secured operators); avoid those bearing cost inflation without pricing power.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MARKET BACKDROP</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2026: the ~$800bn year — guidance raised twice, still supply-constrained</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Every major buyer raised 2026 capex guidance intra-year; all cite capacity shortages, not demand, as the limiter</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3</a:t>
            </a:r>
          </a:p>
        </p:txBody>
      </p:sp>
      <p:graphicFrame>
        <p:nvGraphicFramePr>
          <p:cNvPr id="9" name="Chart 8"/>
          <p:cNvGraphicFramePr>
            <a:graphicFrameLocks noGrp="1"/>
          </p:cNvGraphicFramePr>
          <p:nvPr/>
        </p:nvGraphicFramePr>
        <p:xfrm>
          <a:off x="502920" y="1508760"/>
          <a:ext cx="5623560" cy="4160520"/>
        </p:xfrm>
        <a:graphic>
          <a:graphicData uri="http://schemas.openxmlformats.org/drawingml/2006/chart">
            <c:chart xmlns:c="http://schemas.openxmlformats.org/drawingml/2006/chart" r:id="rId2"/>
          </a:graphicData>
        </a:graphic>
      </p:graphicFrame>
      <p:sp>
        <p:nvSpPr>
          <p:cNvPr id="10" name="TextBox 9"/>
          <p:cNvSpPr txBox="1"/>
          <p:nvPr/>
        </p:nvSpPr>
        <p:spPr>
          <a:xfrm>
            <a:off x="502920" y="5715000"/>
            <a:ext cx="5669280" cy="274320"/>
          </a:xfrm>
          <a:prstGeom prst="rect">
            <a:avLst/>
          </a:prstGeom>
          <a:noFill/>
        </p:spPr>
        <p:txBody>
          <a:bodyPr wrap="square" anchor="t">
            <a:spAutoFit/>
          </a:bodyPr>
          <a:lstStyle/>
          <a:p>
            <a:pPr algn="l">
              <a:lnSpc>
                <a:spcPct val="100000"/>
              </a:lnSpc>
              <a:spcAft>
                <a:spcPts val="400"/>
              </a:spcAft>
            </a:pPr>
            <a:r>
              <a:rPr b="0" sz="850">
                <a:solidFill>
                  <a:srgbClr val="66707D"/>
                </a:solidFill>
                <a:latin typeface="Calibri"/>
              </a:rPr>
              <a:t>Capex, $bn. 2026E = latest company guidance (Jul 2026 calls).</a:t>
            </a:r>
          </a:p>
        </p:txBody>
      </p:sp>
      <p:graphicFrame>
        <p:nvGraphicFramePr>
          <p:cNvPr id="11" name="Table 10"/>
          <p:cNvGraphicFramePr>
            <a:graphicFrameLocks noGrp="1"/>
          </p:cNvGraphicFramePr>
          <p:nvPr/>
        </p:nvGraphicFramePr>
        <p:xfrm>
          <a:off x="6400800" y="1600200"/>
          <a:ext cx="5303520" cy="3712464"/>
        </p:xfrm>
        <a:graphic>
          <a:graphicData uri="http://schemas.openxmlformats.org/drawingml/2006/table">
            <a:tbl>
              <a:tblPr>
                <a:tableStyleId>{5C22544A-7EE6-4342-B048-85BDC9FD1C3A}</a:tableStyleId>
              </a:tblPr>
              <a:tblGrid>
                <a:gridCol w="868680"/>
                <a:gridCol w="713232"/>
                <a:gridCol w="960120"/>
                <a:gridCol w="2761488"/>
              </a:tblGrid>
              <a:tr h="310896">
                <a:tc>
                  <a:txBody>
                    <a:bodyPr wrap="square"/>
                    <a:lstStyle/>
                    <a:p>
                      <a:r>
                        <a:rPr sz="950" b="1">
                          <a:solidFill>
                            <a:srgbClr val="FFFFFF"/>
                          </a:solidFill>
                          <a:latin typeface="Calibri"/>
                        </a:rPr>
                        <a:t>Buyer</a:t>
                      </a:r>
                    </a:p>
                  </a:txBody>
                  <a:tcPr anchor="ctr" marL="64008" marR="45720" marT="18288" marB="18288">
                    <a:solidFill>
                      <a:srgbClr val="0B1D3A"/>
                    </a:solidFill>
                  </a:tcPr>
                </a:tc>
                <a:tc>
                  <a:txBody>
                    <a:bodyPr wrap="square"/>
                    <a:lstStyle/>
                    <a:p>
                      <a:r>
                        <a:rPr sz="950" b="1">
                          <a:solidFill>
                            <a:srgbClr val="FFFFFF"/>
                          </a:solidFill>
                          <a:latin typeface="Calibri"/>
                        </a:rPr>
                        <a:t>2025A</a:t>
                      </a:r>
                    </a:p>
                  </a:txBody>
                  <a:tcPr anchor="ctr" marL="64008" marR="45720" marT="18288" marB="18288">
                    <a:solidFill>
                      <a:srgbClr val="0B1D3A"/>
                    </a:solidFill>
                  </a:tcPr>
                </a:tc>
                <a:tc>
                  <a:txBody>
                    <a:bodyPr wrap="square"/>
                    <a:lstStyle/>
                    <a:p>
                      <a:r>
                        <a:rPr sz="950" b="1">
                          <a:solidFill>
                            <a:srgbClr val="FFFFFF"/>
                          </a:solidFill>
                          <a:latin typeface="Calibri"/>
                        </a:rPr>
                        <a:t>2026 guide</a:t>
                      </a:r>
                    </a:p>
                  </a:txBody>
                  <a:tcPr anchor="ctr" marL="64008" marR="45720" marT="18288" marB="18288">
                    <a:solidFill>
                      <a:srgbClr val="0B1D3A"/>
                    </a:solidFill>
                  </a:tcPr>
                </a:tc>
                <a:tc>
                  <a:txBody>
                    <a:bodyPr wrap="square"/>
                    <a:lstStyle/>
                    <a:p>
                      <a:r>
                        <a:rPr sz="950" b="1">
                          <a:solidFill>
                            <a:srgbClr val="FFFFFF"/>
                          </a:solidFill>
                          <a:latin typeface="Calibri"/>
                        </a:rPr>
                        <a:t>What changed in July 2026</a:t>
                      </a:r>
                    </a:p>
                  </a:txBody>
                  <a:tcPr anchor="ctr" marL="64008" marR="45720" marT="18288" marB="18288">
                    <a:solidFill>
                      <a:srgbClr val="0B1D3A"/>
                    </a:solidFill>
                  </a:tcPr>
                </a:tc>
              </a:tr>
              <a:tr h="566928">
                <a:tc>
                  <a:txBody>
                    <a:bodyPr wrap="square"/>
                    <a:lstStyle/>
                    <a:p>
                      <a:r>
                        <a:rPr sz="880" b="0">
                          <a:solidFill>
                            <a:srgbClr val="222A35"/>
                          </a:solidFill>
                          <a:latin typeface="Calibri"/>
                        </a:rPr>
                        <a:t>Amazon</a:t>
                      </a:r>
                    </a:p>
                  </a:txBody>
                  <a:tcPr anchor="ctr" marL="64008" marR="45720" marT="18288" marB="18288">
                    <a:solidFill>
                      <a:srgbClr val="FFFFFF"/>
                    </a:solidFill>
                  </a:tcPr>
                </a:tc>
                <a:tc>
                  <a:txBody>
                    <a:bodyPr wrap="square"/>
                    <a:lstStyle/>
                    <a:p>
                      <a:r>
                        <a:rPr sz="880" b="0">
                          <a:solidFill>
                            <a:srgbClr val="222A35"/>
                          </a:solidFill>
                          <a:latin typeface="Calibri"/>
                        </a:rPr>
                        <a:t>$132bn</a:t>
                      </a:r>
                    </a:p>
                  </a:txBody>
                  <a:tcPr anchor="ctr" marL="64008" marR="45720" marT="18288" marB="18288">
                    <a:solidFill>
                      <a:srgbClr val="FFFFFF"/>
                    </a:solidFill>
                  </a:tcPr>
                </a:tc>
                <a:tc>
                  <a:txBody>
                    <a:bodyPr wrap="square"/>
                    <a:lstStyle/>
                    <a:p>
                      <a:r>
                        <a:rPr sz="880" b="0">
                          <a:solidFill>
                            <a:srgbClr val="222A35"/>
                          </a:solidFill>
                          <a:latin typeface="Calibri"/>
                        </a:rPr>
                        <a:t>~$220bn</a:t>
                      </a:r>
                    </a:p>
                  </a:txBody>
                  <a:tcPr anchor="ctr" marL="64008" marR="45720" marT="18288" marB="18288">
                    <a:solidFill>
                      <a:srgbClr val="FFFFFF"/>
                    </a:solidFill>
                  </a:tcPr>
                </a:tc>
                <a:tc>
                  <a:txBody>
                    <a:bodyPr wrap="square"/>
                    <a:lstStyle/>
                    <a:p>
                      <a:r>
                        <a:rPr sz="880" b="0">
                          <a:solidFill>
                            <a:srgbClr val="222A35"/>
                          </a:solidFill>
                          <a:latin typeface="Calibri"/>
                        </a:rPr>
                        <a:t>Raised from ~$200bn; memory costs cited; short capacity into 2027</a:t>
                      </a:r>
                    </a:p>
                  </a:txBody>
                  <a:tcPr anchor="ctr" marL="64008" marR="45720" marT="18288" marB="18288">
                    <a:solidFill>
                      <a:srgbClr val="FFFFFF"/>
                    </a:solidFill>
                  </a:tcPr>
                </a:tc>
              </a:tr>
              <a:tr h="566928">
                <a:tc>
                  <a:txBody>
                    <a:bodyPr wrap="square"/>
                    <a:lstStyle/>
                    <a:p>
                      <a:r>
                        <a:rPr sz="880" b="0">
                          <a:solidFill>
                            <a:srgbClr val="222A35"/>
                          </a:solidFill>
                          <a:latin typeface="Calibri"/>
                        </a:rPr>
                        <a:t>Alphabet</a:t>
                      </a:r>
                    </a:p>
                  </a:txBody>
                  <a:tcPr anchor="ctr" marL="64008" marR="45720" marT="18288" marB="18288">
                    <a:solidFill>
                      <a:srgbClr val="F1F4F8"/>
                    </a:solidFill>
                  </a:tcPr>
                </a:tc>
                <a:tc>
                  <a:txBody>
                    <a:bodyPr wrap="square"/>
                    <a:lstStyle/>
                    <a:p>
                      <a:r>
                        <a:rPr sz="880" b="0">
                          <a:solidFill>
                            <a:srgbClr val="222A35"/>
                          </a:solidFill>
                          <a:latin typeface="Calibri"/>
                        </a:rPr>
                        <a:t>$91bn</a:t>
                      </a:r>
                    </a:p>
                  </a:txBody>
                  <a:tcPr anchor="ctr" marL="64008" marR="45720" marT="18288" marB="18288">
                    <a:solidFill>
                      <a:srgbClr val="F1F4F8"/>
                    </a:solidFill>
                  </a:tcPr>
                </a:tc>
                <a:tc>
                  <a:txBody>
                    <a:bodyPr wrap="square"/>
                    <a:lstStyle/>
                    <a:p>
                      <a:r>
                        <a:rPr sz="880" b="0">
                          <a:solidFill>
                            <a:srgbClr val="222A35"/>
                          </a:solidFill>
                          <a:latin typeface="Calibri"/>
                        </a:rPr>
                        <a:t>$195–205bn</a:t>
                      </a:r>
                    </a:p>
                  </a:txBody>
                  <a:tcPr anchor="ctr" marL="64008" marR="45720" marT="18288" marB="18288">
                    <a:solidFill>
                      <a:srgbClr val="F1F4F8"/>
                    </a:solidFill>
                  </a:tcPr>
                </a:tc>
                <a:tc>
                  <a:txBody>
                    <a:bodyPr wrap="square"/>
                    <a:lstStyle/>
                    <a:p>
                      <a:r>
                        <a:rPr sz="880" b="0">
                          <a:solidFill>
                            <a:srgbClr val="222A35"/>
                          </a:solidFill>
                          <a:latin typeface="Calibri"/>
                        </a:rPr>
                        <a:t>Raised from $180–190bn; "supply-constrained environment"</a:t>
                      </a:r>
                    </a:p>
                  </a:txBody>
                  <a:tcPr anchor="ctr" marL="64008" marR="45720" marT="18288" marB="18288">
                    <a:solidFill>
                      <a:srgbClr val="F1F4F8"/>
                    </a:solidFill>
                  </a:tcPr>
                </a:tc>
              </a:tr>
              <a:tr h="566928">
                <a:tc>
                  <a:txBody>
                    <a:bodyPr wrap="square"/>
                    <a:lstStyle/>
                    <a:p>
                      <a:r>
                        <a:rPr sz="880" b="0">
                          <a:solidFill>
                            <a:srgbClr val="222A35"/>
                          </a:solidFill>
                          <a:latin typeface="Calibri"/>
                        </a:rPr>
                        <a:t>Microsoft</a:t>
                      </a:r>
                    </a:p>
                  </a:txBody>
                  <a:tcPr anchor="ctr" marL="64008" marR="45720" marT="18288" marB="18288">
                    <a:solidFill>
                      <a:srgbClr val="FFFFFF"/>
                    </a:solidFill>
                  </a:tcPr>
                </a:tc>
                <a:tc>
                  <a:txBody>
                    <a:bodyPr wrap="square"/>
                    <a:lstStyle/>
                    <a:p>
                      <a:r>
                        <a:rPr sz="880" b="0">
                          <a:solidFill>
                            <a:srgbClr val="222A35"/>
                          </a:solidFill>
                          <a:latin typeface="Calibri"/>
                        </a:rPr>
                        <a:t>$101bn</a:t>
                      </a:r>
                    </a:p>
                  </a:txBody>
                  <a:tcPr anchor="ctr" marL="64008" marR="45720" marT="18288" marB="18288">
                    <a:solidFill>
                      <a:srgbClr val="FFFFFF"/>
                    </a:solidFill>
                  </a:tcPr>
                </a:tc>
                <a:tc>
                  <a:txBody>
                    <a:bodyPr wrap="square"/>
                    <a:lstStyle/>
                    <a:p>
                      <a:r>
                        <a:rPr sz="880" b="0">
                          <a:solidFill>
                            <a:srgbClr val="222A35"/>
                          </a:solidFill>
                          <a:latin typeface="Calibri"/>
                        </a:rPr>
                        <a:t>~$175bn</a:t>
                      </a:r>
                    </a:p>
                  </a:txBody>
                  <a:tcPr anchor="ctr" marL="64008" marR="45720" marT="18288" marB="18288">
                    <a:solidFill>
                      <a:srgbClr val="FFFFFF"/>
                    </a:solidFill>
                  </a:tcPr>
                </a:tc>
                <a:tc>
                  <a:txBody>
                    <a:bodyPr wrap="square"/>
                    <a:lstStyle/>
                    <a:p>
                      <a:r>
                        <a:rPr sz="880" b="0">
                          <a:solidFill>
                            <a:srgbClr val="222A35"/>
                          </a:solidFill>
                          <a:latin typeface="Calibri"/>
                        </a:rPr>
                        <a:t>Lease reclass + useful life 15→25 yrs (DC/office); intent unchanged</a:t>
                      </a:r>
                    </a:p>
                  </a:txBody>
                  <a:tcPr anchor="ctr" marL="64008" marR="45720" marT="18288" marB="18288">
                    <a:solidFill>
                      <a:srgbClr val="FFFFFF"/>
                    </a:solidFill>
                  </a:tcPr>
                </a:tc>
              </a:tr>
              <a:tr h="566928">
                <a:tc>
                  <a:txBody>
                    <a:bodyPr wrap="square"/>
                    <a:lstStyle/>
                    <a:p>
                      <a:r>
                        <a:rPr sz="880" b="0">
                          <a:solidFill>
                            <a:srgbClr val="222A35"/>
                          </a:solidFill>
                          <a:latin typeface="Calibri"/>
                        </a:rPr>
                        <a:t>Meta</a:t>
                      </a:r>
                    </a:p>
                  </a:txBody>
                  <a:tcPr anchor="ctr" marL="64008" marR="45720" marT="18288" marB="18288">
                    <a:solidFill>
                      <a:srgbClr val="F1F4F8"/>
                    </a:solidFill>
                  </a:tcPr>
                </a:tc>
                <a:tc>
                  <a:txBody>
                    <a:bodyPr wrap="square"/>
                    <a:lstStyle/>
                    <a:p>
                      <a:r>
                        <a:rPr sz="880" b="0">
                          <a:solidFill>
                            <a:srgbClr val="222A35"/>
                          </a:solidFill>
                          <a:latin typeface="Calibri"/>
                        </a:rPr>
                        <a:t>$70bn</a:t>
                      </a:r>
                    </a:p>
                  </a:txBody>
                  <a:tcPr anchor="ctr" marL="64008" marR="45720" marT="18288" marB="18288">
                    <a:solidFill>
                      <a:srgbClr val="F1F4F8"/>
                    </a:solidFill>
                  </a:tcPr>
                </a:tc>
                <a:tc>
                  <a:txBody>
                    <a:bodyPr wrap="square"/>
                    <a:lstStyle/>
                    <a:p>
                      <a:r>
                        <a:rPr sz="880" b="0">
                          <a:solidFill>
                            <a:srgbClr val="222A35"/>
                          </a:solidFill>
                          <a:latin typeface="Calibri"/>
                        </a:rPr>
                        <a:t>$130–145bn</a:t>
                      </a:r>
                    </a:p>
                  </a:txBody>
                  <a:tcPr anchor="ctr" marL="64008" marR="45720" marT="18288" marB="18288">
                    <a:solidFill>
                      <a:srgbClr val="F1F4F8"/>
                    </a:solidFill>
                  </a:tcPr>
                </a:tc>
                <a:tc>
                  <a:txBody>
                    <a:bodyPr wrap="square"/>
                    <a:lstStyle/>
                    <a:p>
                      <a:r>
                        <a:rPr sz="880" b="0">
                          <a:solidFill>
                            <a:srgbClr val="222A35"/>
                          </a:solidFill>
                          <a:latin typeface="Calibri"/>
                        </a:rPr>
                        <a:t>Floor raised; explicitly cites memory price inflation</a:t>
                      </a:r>
                    </a:p>
                  </a:txBody>
                  <a:tcPr anchor="ctr" marL="64008" marR="45720" marT="18288" marB="18288">
                    <a:solidFill>
                      <a:srgbClr val="F1F4F8"/>
                    </a:solidFill>
                  </a:tcPr>
                </a:tc>
              </a:tr>
              <a:tr h="566928">
                <a:tc>
                  <a:txBody>
                    <a:bodyPr wrap="square"/>
                    <a:lstStyle/>
                    <a:p>
                      <a:r>
                        <a:rPr sz="880" b="0">
                          <a:solidFill>
                            <a:srgbClr val="222A35"/>
                          </a:solidFill>
                          <a:latin typeface="Calibri"/>
                        </a:rPr>
                        <a:t>Oracle</a:t>
                      </a:r>
                    </a:p>
                  </a:txBody>
                  <a:tcPr anchor="ctr" marL="64008" marR="45720" marT="18288" marB="18288">
                    <a:solidFill>
                      <a:srgbClr val="FFFFFF"/>
                    </a:solidFill>
                  </a:tcPr>
                </a:tc>
                <a:tc>
                  <a:txBody>
                    <a:bodyPr wrap="square"/>
                    <a:lstStyle/>
                    <a:p>
                      <a:r>
                        <a:rPr sz="880" b="0">
                          <a:solidFill>
                            <a:srgbClr val="222A35"/>
                          </a:solidFill>
                          <a:latin typeface="Calibri"/>
                        </a:rPr>
                        <a:t>$21bn</a:t>
                      </a:r>
                    </a:p>
                  </a:txBody>
                  <a:tcPr anchor="ctr" marL="64008" marR="45720" marT="18288" marB="18288">
                    <a:solidFill>
                      <a:srgbClr val="FFFFFF"/>
                    </a:solidFill>
                  </a:tcPr>
                </a:tc>
                <a:tc>
                  <a:txBody>
                    <a:bodyPr wrap="square"/>
                    <a:lstStyle/>
                    <a:p>
                      <a:r>
                        <a:rPr sz="880" b="0">
                          <a:solidFill>
                            <a:srgbClr val="222A35"/>
                          </a:solidFill>
                          <a:latin typeface="Calibri"/>
                        </a:rPr>
                        <a:t>~$56bn</a:t>
                      </a:r>
                    </a:p>
                  </a:txBody>
                  <a:tcPr anchor="ctr" marL="64008" marR="45720" marT="18288" marB="18288">
                    <a:solidFill>
                      <a:srgbClr val="FFFFFF"/>
                    </a:solidFill>
                  </a:tcPr>
                </a:tc>
                <a:tc>
                  <a:txBody>
                    <a:bodyPr wrap="square"/>
                    <a:lstStyle/>
                    <a:p>
                      <a:r>
                        <a:rPr sz="880" b="0">
                          <a:solidFill>
                            <a:srgbClr val="222A35"/>
                          </a:solidFill>
                          <a:latin typeface="Calibri"/>
                        </a:rPr>
                        <a:t>Capex/revenue ~83% — most levered to the build</a:t>
                      </a:r>
                    </a:p>
                  </a:txBody>
                  <a:tcPr anchor="ctr" marL="64008" marR="45720" marT="18288" marB="18288">
                    <a:solidFill>
                      <a:srgbClr val="FFFFFF"/>
                    </a:solidFill>
                  </a:tcPr>
                </a:tc>
              </a:tr>
              <a:tr h="566928">
                <a:tc>
                  <a:txBody>
                    <a:bodyPr wrap="square"/>
                    <a:lstStyle/>
                    <a:p>
                      <a:r>
                        <a:rPr sz="880" b="1">
                          <a:solidFill>
                            <a:srgbClr val="222A35"/>
                          </a:solidFill>
                          <a:latin typeface="Calibri"/>
                        </a:rPr>
                        <a:t>Big-5</a:t>
                      </a:r>
                    </a:p>
                  </a:txBody>
                  <a:tcPr anchor="ctr" marL="64008" marR="45720" marT="18288" marB="18288">
                    <a:solidFill>
                      <a:srgbClr val="EAE2D0"/>
                    </a:solidFill>
                  </a:tcPr>
                </a:tc>
                <a:tc>
                  <a:txBody>
                    <a:bodyPr wrap="square"/>
                    <a:lstStyle/>
                    <a:p>
                      <a:r>
                        <a:rPr sz="880" b="1">
                          <a:solidFill>
                            <a:srgbClr val="222A35"/>
                          </a:solidFill>
                          <a:latin typeface="Calibri"/>
                        </a:rPr>
                        <a:t>~$429bn</a:t>
                      </a:r>
                    </a:p>
                  </a:txBody>
                  <a:tcPr anchor="ctr" marL="64008" marR="45720" marT="18288" marB="18288">
                    <a:solidFill>
                      <a:srgbClr val="EAE2D0"/>
                    </a:solidFill>
                  </a:tcPr>
                </a:tc>
                <a:tc>
                  <a:txBody>
                    <a:bodyPr wrap="square"/>
                    <a:lstStyle/>
                    <a:p>
                      <a:r>
                        <a:rPr sz="880" b="1">
                          <a:solidFill>
                            <a:srgbClr val="222A35"/>
                          </a:solidFill>
                          <a:latin typeface="Calibri"/>
                        </a:rPr>
                        <a:t>~$775–800bn</a:t>
                      </a:r>
                    </a:p>
                  </a:txBody>
                  <a:tcPr anchor="ctr" marL="64008" marR="45720" marT="18288" marB="18288">
                    <a:solidFill>
                      <a:srgbClr val="EAE2D0"/>
                    </a:solidFill>
                  </a:tcPr>
                </a:tc>
                <a:tc>
                  <a:txBody>
                    <a:bodyPr wrap="square"/>
                    <a:lstStyle/>
                    <a:p>
                      <a:r>
                        <a:rPr sz="880" b="1">
                          <a:solidFill>
                            <a:srgbClr val="222A35"/>
                          </a:solidFill>
                          <a:latin typeface="Calibri"/>
                        </a:rPr>
                        <a:t>+~65% y/y; ~75% AI-specific (~$545bn)</a:t>
                      </a:r>
                    </a:p>
                  </a:txBody>
                  <a:tcPr anchor="ctr" marL="64008" marR="45720" marT="18288" marB="18288">
                    <a:solidFill>
                      <a:srgbClr val="EAE2D0"/>
                    </a:solidFill>
                  </a:tcPr>
                </a:tc>
              </a:tr>
            </a:tbl>
          </a:graphicData>
        </a:graphic>
      </p:graphicFrame>
      <p:sp>
        <p:nvSpPr>
          <p:cNvPr id="12" name="TextBox 11"/>
          <p:cNvSpPr txBox="1"/>
          <p:nvPr/>
        </p:nvSpPr>
        <p:spPr>
          <a:xfrm>
            <a:off x="6400800" y="5532120"/>
            <a:ext cx="5303520" cy="685800"/>
          </a:xfrm>
          <a:prstGeom prst="rect">
            <a:avLst/>
          </a:prstGeom>
          <a:noFill/>
        </p:spPr>
        <p:txBody>
          <a:bodyPr wrap="square" anchor="t">
            <a:spAutoFit/>
          </a:bodyPr>
          <a:lstStyle/>
          <a:p>
            <a:pPr algn="l">
              <a:lnSpc>
                <a:spcPct val="100000"/>
              </a:lnSpc>
              <a:spcAft>
                <a:spcPts val="400"/>
              </a:spcAft>
            </a:pPr>
            <a:r>
              <a:rPr b="1" sz="1000">
                <a:solidFill>
                  <a:srgbClr val="A8392E"/>
                </a:solidFill>
                <a:latin typeface="Calibri"/>
              </a:rPr>
              <a:t>Read-through:  </a:t>
            </a:r>
            <a:r>
              <a:rPr b="0" sz="1000">
                <a:solidFill>
                  <a:srgbClr val="222A35"/>
                </a:solidFill>
                <a:latin typeface="Calibri"/>
              </a:rPr>
              <a:t>guidance revisions are now driven by input costs (memory) and delivery schedules (TSMC, SK Hynix, power), not by demand planning. The print depends on suppliers, not CFOs.</a:t>
            </a:r>
          </a:p>
        </p:txBody>
      </p:sp>
      <p:sp>
        <p:nvSpPr>
          <p:cNvPr id="13" name="TextBox 12"/>
          <p:cNvSpPr txBox="1"/>
          <p:nvPr/>
        </p:nvSpPr>
        <p:spPr>
          <a:xfrm>
            <a:off x="502920" y="6236208"/>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Company earnings releases and calls (Jul 2026); Axis Intelligence AI Capex Tracker; AL Capital Advisory compilation.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MARKET BACKDROP</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Where the money goes: silicon is half the bill; power sets the date</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Estimated 2026 hyperscaler capex mix — a 1GW AI campus runs $5–10bn and draws a mid-sized city's load</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4</a:t>
            </a:r>
          </a:p>
        </p:txBody>
      </p:sp>
      <p:graphicFrame>
        <p:nvGraphicFramePr>
          <p:cNvPr id="9" name="Chart 8"/>
          <p:cNvGraphicFramePr>
            <a:graphicFrameLocks noGrp="1"/>
          </p:cNvGraphicFramePr>
          <p:nvPr/>
        </p:nvGraphicFramePr>
        <p:xfrm>
          <a:off x="502920" y="1554480"/>
          <a:ext cx="5760720" cy="4023360"/>
        </p:xfrm>
        <a:graphic>
          <a:graphicData uri="http://schemas.openxmlformats.org/drawingml/2006/chart">
            <c:chart xmlns:c="http://schemas.openxmlformats.org/drawingml/2006/chart" r:id="rId2"/>
          </a:graphicData>
        </a:graphic>
      </p:graphicFrame>
      <p:sp>
        <p:nvSpPr>
          <p:cNvPr id="10" name="TextBox 9"/>
          <p:cNvSpPr txBox="1"/>
          <p:nvPr/>
        </p:nvSpPr>
        <p:spPr>
          <a:xfrm>
            <a:off x="502920" y="5669280"/>
            <a:ext cx="5760720" cy="274320"/>
          </a:xfrm>
          <a:prstGeom prst="rect">
            <a:avLst/>
          </a:prstGeom>
          <a:noFill/>
        </p:spPr>
        <p:txBody>
          <a:bodyPr wrap="square" anchor="t">
            <a:spAutoFit/>
          </a:bodyPr>
          <a:lstStyle/>
          <a:p>
            <a:pPr algn="l">
              <a:lnSpc>
                <a:spcPct val="100000"/>
              </a:lnSpc>
              <a:spcAft>
                <a:spcPts val="400"/>
              </a:spcAft>
            </a:pPr>
            <a:r>
              <a:rPr b="0" sz="850">
                <a:solidFill>
                  <a:srgbClr val="66707D"/>
                </a:solidFill>
                <a:latin typeface="Calibri"/>
              </a:rPr>
              <a:t>Approximate mix, Big-4; ~$310bn of accelerators at midpoint.</a:t>
            </a:r>
          </a:p>
        </p:txBody>
      </p:sp>
      <p:sp>
        <p:nvSpPr>
          <p:cNvPr id="11" name="TextBox 10"/>
          <p:cNvSpPr txBox="1"/>
          <p:nvPr/>
        </p:nvSpPr>
        <p:spPr>
          <a:xfrm>
            <a:off x="6492240" y="1645920"/>
            <a:ext cx="5212080" cy="4480560"/>
          </a:xfrm>
          <a:prstGeom prst="rect">
            <a:avLst/>
          </a:prstGeom>
          <a:noFill/>
        </p:spPr>
        <p:txBody>
          <a:bodyPr wrap="square" anchor="t">
            <a:spAutoFit/>
          </a:bodyPr>
          <a:lstStyle/>
          <a:p>
            <a:pPr algn="l">
              <a:lnSpc>
                <a:spcPct val="105000"/>
              </a:lnSpc>
              <a:spcAft>
                <a:spcPts val="1000"/>
              </a:spcAft>
            </a:pPr>
            <a:r>
              <a:rPr b="1" sz="1050">
                <a:solidFill>
                  <a:srgbClr val="0B1D3A"/>
                </a:solidFill>
                <a:latin typeface="Calibri"/>
              </a:rPr>
              <a:t>Silicon is the largest check…  </a:t>
            </a:r>
            <a:r>
              <a:rPr b="0" sz="1050">
                <a:solidFill>
                  <a:srgbClr val="222A35"/>
                </a:solidFill>
                <a:latin typeface="Calibri"/>
              </a:rPr>
              <a:t>GPUs/accelerators ~44% of spend (~$310bn), plus ~18% for the server and rack infrastructure around them.</a:t>
            </a:r>
          </a:p>
          <a:p>
            <a:pPr algn="l">
              <a:lnSpc>
                <a:spcPct val="105000"/>
              </a:lnSpc>
              <a:spcAft>
                <a:spcPts val="1000"/>
              </a:spcAft>
            </a:pPr>
            <a:r>
              <a:rPr b="1" sz="1050">
                <a:solidFill>
                  <a:srgbClr val="0B1D3A"/>
                </a:solidFill>
                <a:latin typeface="Calibri"/>
              </a:rPr>
              <a:t>…but the smallest schedule risk.  </a:t>
            </a:r>
            <a:r>
              <a:rPr b="0" sz="1050">
                <a:solidFill>
                  <a:srgbClr val="222A35"/>
                </a:solidFill>
                <a:latin typeface="Calibri"/>
              </a:rPr>
              <a:t>Compute die supply has largely normalized. The 11% spent on power &amp; cooling and the grid connection behind it set the energization date — and therefore the revenue date.</a:t>
            </a:r>
          </a:p>
          <a:p>
            <a:pPr algn="l">
              <a:lnSpc>
                <a:spcPct val="105000"/>
              </a:lnSpc>
              <a:spcAft>
                <a:spcPts val="1000"/>
              </a:spcAft>
            </a:pPr>
            <a:r>
              <a:rPr b="1" sz="1050">
                <a:solidFill>
                  <a:srgbClr val="0B1D3A"/>
                </a:solidFill>
                <a:latin typeface="Calibri"/>
              </a:rPr>
              <a:t>Campus economics have step-changed.  </a:t>
            </a:r>
            <a:r>
              <a:rPr b="0" sz="1050">
                <a:solidFill>
                  <a:srgbClr val="222A35"/>
                </a:solidFill>
                <a:latin typeface="Calibri"/>
              </a:rPr>
              <a:t>A single large AI campus is now a $5–10bn, 500MW–1GW+ commitment. Microsoft added ~1GW in a single quarter and plans to roughly double total capacity in two years.</a:t>
            </a:r>
          </a:p>
          <a:p>
            <a:pPr algn="l">
              <a:lnSpc>
                <a:spcPct val="105000"/>
              </a:lnSpc>
              <a:spcAft>
                <a:spcPts val="1000"/>
              </a:spcAft>
            </a:pPr>
            <a:r>
              <a:rPr b="1" sz="1050">
                <a:solidFill>
                  <a:srgbClr val="0B1D3A"/>
                </a:solidFill>
                <a:latin typeface="Calibri"/>
              </a:rPr>
              <a:t>Electrical content per MW is rising.  </a:t>
            </a:r>
            <a:r>
              <a:rPr b="0" sz="1050">
                <a:solidFill>
                  <a:srgbClr val="222A35"/>
                </a:solidFill>
                <a:latin typeface="Calibri"/>
              </a:rPr>
              <a:t>US data-center electrical-equipment spend is forecast to grow from ~$20bn (2025) to ~$65bn (2030) — data centers could be ~40% of the power-equipment market by 2030, vs &lt;2% in 2020.</a:t>
            </a:r>
          </a:p>
        </p:txBody>
      </p:sp>
      <p:sp>
        <p:nvSpPr>
          <p:cNvPr id="12" name="TextBox 11"/>
          <p:cNvSpPr txBox="1"/>
          <p:nvPr/>
        </p:nvSpPr>
        <p:spPr>
          <a:xfrm>
            <a:off x="502920" y="6236208"/>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Analysis Atlas capex mix estimates; Wood Mackenzie; company disclosures; Value Add VC.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LEAD-TIME MONITOR</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The lead-time board: what you order today arrives in 2027–2030</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Our tracking table for the physical inputs to a gigawatt — updated monthly; direction matters more than level</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5</a:t>
            </a:r>
          </a:p>
        </p:txBody>
      </p:sp>
      <p:graphicFrame>
        <p:nvGraphicFramePr>
          <p:cNvPr id="9" name="Table 8"/>
          <p:cNvGraphicFramePr>
            <a:graphicFrameLocks noGrp="1"/>
          </p:cNvGraphicFramePr>
          <p:nvPr/>
        </p:nvGraphicFramePr>
        <p:xfrm>
          <a:off x="502920" y="1463040"/>
          <a:ext cx="11183112" cy="4668012"/>
        </p:xfrm>
        <a:graphic>
          <a:graphicData uri="http://schemas.openxmlformats.org/drawingml/2006/table">
            <a:tbl>
              <a:tblPr>
                <a:tableStyleId>{5C22544A-7EE6-4342-B048-85BDC9FD1C3A}</a:tableStyleId>
              </a:tblPr>
              <a:tblGrid>
                <a:gridCol w="1572768"/>
                <a:gridCol w="1234440"/>
                <a:gridCol w="3017520"/>
                <a:gridCol w="859536"/>
                <a:gridCol w="4498848"/>
              </a:tblGrid>
              <a:tr h="292608">
                <a:tc>
                  <a:txBody>
                    <a:bodyPr wrap="square"/>
                    <a:lstStyle/>
                    <a:p>
                      <a:r>
                        <a:rPr sz="950" b="1">
                          <a:solidFill>
                            <a:srgbClr val="FFFFFF"/>
                          </a:solidFill>
                          <a:latin typeface="Calibri"/>
                        </a:rPr>
                        <a:t>Input</a:t>
                      </a:r>
                    </a:p>
                  </a:txBody>
                  <a:tcPr anchor="ctr" marL="64008" marR="45720" marT="18288" marB="18288">
                    <a:solidFill>
                      <a:srgbClr val="0B1D3A"/>
                    </a:solidFill>
                  </a:tcPr>
                </a:tc>
                <a:tc>
                  <a:txBody>
                    <a:bodyPr wrap="square"/>
                    <a:lstStyle/>
                    <a:p>
                      <a:r>
                        <a:rPr sz="950" b="1">
                          <a:solidFill>
                            <a:srgbClr val="FFFFFF"/>
                          </a:solidFill>
                          <a:latin typeface="Calibri"/>
                        </a:rPr>
                        <a:t>Pre-boom norm</a:t>
                      </a:r>
                    </a:p>
                  </a:txBody>
                  <a:tcPr anchor="ctr" marL="64008" marR="45720" marT="18288" marB="18288">
                    <a:solidFill>
                      <a:srgbClr val="0B1D3A"/>
                    </a:solidFill>
                  </a:tcPr>
                </a:tc>
                <a:tc>
                  <a:txBody>
                    <a:bodyPr wrap="square"/>
                    <a:lstStyle/>
                    <a:p>
                      <a:r>
                        <a:rPr sz="950" b="1">
                          <a:solidFill>
                            <a:srgbClr val="FFFFFF"/>
                          </a:solidFill>
                          <a:latin typeface="Calibri"/>
                        </a:rPr>
                        <a:t>Current (mid-2026)</a:t>
                      </a:r>
                    </a:p>
                  </a:txBody>
                  <a:tcPr anchor="ctr" marL="64008" marR="45720" marT="18288" marB="18288">
                    <a:solidFill>
                      <a:srgbClr val="0B1D3A"/>
                    </a:solidFill>
                  </a:tcPr>
                </a:tc>
                <a:tc>
                  <a:txBody>
                    <a:bodyPr wrap="square"/>
                    <a:lstStyle/>
                    <a:p>
                      <a:r>
                        <a:rPr sz="950" b="1">
                          <a:solidFill>
                            <a:srgbClr val="FFFFFF"/>
                          </a:solidFill>
                          <a:latin typeface="Calibri"/>
                        </a:rPr>
                        <a:t>Trend</a:t>
                      </a:r>
                    </a:p>
                  </a:txBody>
                  <a:tcPr anchor="ctr" marL="64008" marR="45720" marT="18288" marB="18288">
                    <a:solidFill>
                      <a:srgbClr val="0B1D3A"/>
                    </a:solidFill>
                  </a:tcPr>
                </a:tc>
                <a:tc>
                  <a:txBody>
                    <a:bodyPr wrap="square"/>
                    <a:lstStyle/>
                    <a:p>
                      <a:r>
                        <a:rPr sz="950" b="1">
                          <a:solidFill>
                            <a:srgbClr val="FFFFFF"/>
                          </a:solidFill>
                          <a:latin typeface="Calibri"/>
                        </a:rPr>
                        <a:t>What to know</a:t>
                      </a:r>
                    </a:p>
                  </a:txBody>
                  <a:tcPr anchor="ctr" marL="64008" marR="45720" marT="18288" marB="18288">
                    <a:solidFill>
                      <a:srgbClr val="0B1D3A"/>
                    </a:solidFill>
                  </a:tcPr>
                </a:tc>
              </a:tr>
              <a:tr h="397764">
                <a:tc>
                  <a:txBody>
                    <a:bodyPr wrap="square"/>
                    <a:lstStyle/>
                    <a:p>
                      <a:r>
                        <a:rPr sz="830" b="0">
                          <a:solidFill>
                            <a:srgbClr val="222A35"/>
                          </a:solidFill>
                          <a:latin typeface="Calibri"/>
                        </a:rPr>
                        <a:t>Grid interconnection (firm)</a:t>
                      </a:r>
                    </a:p>
                  </a:txBody>
                  <a:tcPr anchor="ctr" marL="64008" marR="45720" marT="18288" marB="18288">
                    <a:solidFill>
                      <a:srgbClr val="FFFFFF"/>
                    </a:solidFill>
                  </a:tcPr>
                </a:tc>
                <a:tc>
                  <a:txBody>
                    <a:bodyPr wrap="square"/>
                    <a:lstStyle/>
                    <a:p>
                      <a:r>
                        <a:rPr sz="830" b="0">
                          <a:solidFill>
                            <a:srgbClr val="222A35"/>
                          </a:solidFill>
                          <a:latin typeface="Calibri"/>
                        </a:rPr>
                        <a:t>~22 mo (2008 median)</a:t>
                      </a:r>
                    </a:p>
                  </a:txBody>
                  <a:tcPr anchor="ctr" marL="64008" marR="45720" marT="18288" marB="18288">
                    <a:solidFill>
                      <a:srgbClr val="FFFFFF"/>
                    </a:solidFill>
                  </a:tcPr>
                </a:tc>
                <a:tc>
                  <a:txBody>
                    <a:bodyPr wrap="square"/>
                    <a:lstStyle/>
                    <a:p>
                      <a:r>
                        <a:rPr sz="830" b="0">
                          <a:solidFill>
                            <a:srgbClr val="222A35"/>
                          </a:solidFill>
                          <a:latin typeface="Calibri"/>
                        </a:rPr>
                        <a:t>Median 61 mo request-to-COD; 4–7+ yrs in NoVA / Phoenix / Dallas</a:t>
                      </a:r>
                    </a:p>
                  </a:txBody>
                  <a:tcPr anchor="ctr" marL="64008" marR="45720" marT="18288" marB="18288">
                    <a:solidFill>
                      <a:srgbClr val="FFFFFF"/>
                    </a:solidFill>
                  </a:tcPr>
                </a:tc>
                <a:tc>
                  <a:txBody>
                    <a:bodyPr wrap="square"/>
                    <a:lstStyle/>
                    <a:p>
                      <a:r>
                        <a:rPr sz="830" b="1">
                          <a:solidFill>
                            <a:srgbClr val="A8392E"/>
                          </a:solidFill>
                          <a:latin typeface="Calibri"/>
                        </a:rPr>
                        <a:t>Worsening</a:t>
                      </a:r>
                    </a:p>
                  </a:txBody>
                  <a:tcPr anchor="ctr" marL="64008" marR="45720" marT="18288" marB="18288">
                    <a:solidFill>
                      <a:srgbClr val="FFFFFF"/>
                    </a:solidFill>
                  </a:tcPr>
                </a:tc>
                <a:tc>
                  <a:txBody>
                    <a:bodyPr wrap="square"/>
                    <a:lstStyle/>
                    <a:p>
                      <a:r>
                        <a:rPr sz="830" b="0">
                          <a:solidFill>
                            <a:srgbClr val="222A35"/>
                          </a:solidFill>
                          <a:latin typeface="Calibri"/>
                        </a:rPr>
                        <a:t>~2,300 GW sits in US queues — more than installed US capacity</a:t>
                      </a:r>
                    </a:p>
                  </a:txBody>
                  <a:tcPr anchor="ctr" marL="64008" marR="45720" marT="18288" marB="18288">
                    <a:solidFill>
                      <a:srgbClr val="FFFFFF"/>
                    </a:solidFill>
                  </a:tcPr>
                </a:tc>
              </a:tr>
              <a:tr h="397764">
                <a:tc>
                  <a:txBody>
                    <a:bodyPr wrap="square"/>
                    <a:lstStyle/>
                    <a:p>
                      <a:r>
                        <a:rPr sz="830" b="0">
                          <a:solidFill>
                            <a:srgbClr val="222A35"/>
                          </a:solidFill>
                          <a:latin typeface="Calibri"/>
                        </a:rPr>
                        <a:t>Large power transformer</a:t>
                      </a:r>
                    </a:p>
                  </a:txBody>
                  <a:tcPr anchor="ctr" marL="64008" marR="45720" marT="18288" marB="18288">
                    <a:solidFill>
                      <a:srgbClr val="F1F4F8"/>
                    </a:solidFill>
                  </a:tcPr>
                </a:tc>
                <a:tc>
                  <a:txBody>
                    <a:bodyPr wrap="square"/>
                    <a:lstStyle/>
                    <a:p>
                      <a:r>
                        <a:rPr sz="830" b="0">
                          <a:solidFill>
                            <a:srgbClr val="222A35"/>
                          </a:solidFill>
                          <a:latin typeface="Calibri"/>
                        </a:rPr>
                        <a:t>24–30 mo</a:t>
                      </a:r>
                    </a:p>
                  </a:txBody>
                  <a:tcPr anchor="ctr" marL="64008" marR="45720" marT="18288" marB="18288">
                    <a:solidFill>
                      <a:srgbClr val="F1F4F8"/>
                    </a:solidFill>
                  </a:tcPr>
                </a:tc>
                <a:tc>
                  <a:txBody>
                    <a:bodyPr wrap="square"/>
                    <a:lstStyle/>
                    <a:p>
                      <a:r>
                        <a:rPr sz="830" b="0">
                          <a:solidFill>
                            <a:srgbClr val="222A35"/>
                          </a:solidFill>
                          <a:latin typeface="Calibri"/>
                        </a:rPr>
                        <a:t>~128 wks average; 3–5 yrs for large/specialty units</a:t>
                      </a:r>
                    </a:p>
                  </a:txBody>
                  <a:tcPr anchor="ctr" marL="64008" marR="45720" marT="18288" marB="18288">
                    <a:solidFill>
                      <a:srgbClr val="F1F4F8"/>
                    </a:solidFill>
                  </a:tcPr>
                </a:tc>
                <a:tc>
                  <a:txBody>
                    <a:bodyPr wrap="square"/>
                    <a:lstStyle/>
                    <a:p>
                      <a:r>
                        <a:rPr sz="830" b="1">
                          <a:solidFill>
                            <a:srgbClr val="A8392E"/>
                          </a:solidFill>
                          <a:latin typeface="Calibri"/>
                        </a:rPr>
                        <a:t>Worsening</a:t>
                      </a:r>
                    </a:p>
                  </a:txBody>
                  <a:tcPr anchor="ctr" marL="64008" marR="45720" marT="18288" marB="18288">
                    <a:solidFill>
                      <a:srgbClr val="F1F4F8"/>
                    </a:solidFill>
                  </a:tcPr>
                </a:tc>
                <a:tc>
                  <a:txBody>
                    <a:bodyPr wrap="square"/>
                    <a:lstStyle/>
                    <a:p>
                      <a:r>
                        <a:rPr sz="830" b="0">
                          <a:solidFill>
                            <a:srgbClr val="222A35"/>
                          </a:solidFill>
                          <a:latin typeface="Calibri"/>
                        </a:rPr>
                        <a:t>Oligopoly (Hitachi, Siemens, GEV, ABB) at 48–60 mo; new lines help 2027–28</a:t>
                      </a:r>
                    </a:p>
                  </a:txBody>
                  <a:tcPr anchor="ctr" marL="64008" marR="45720" marT="18288" marB="18288">
                    <a:solidFill>
                      <a:srgbClr val="F1F4F8"/>
                    </a:solidFill>
                  </a:tcPr>
                </a:tc>
              </a:tr>
              <a:tr h="397764">
                <a:tc>
                  <a:txBody>
                    <a:bodyPr wrap="square"/>
                    <a:lstStyle/>
                    <a:p>
                      <a:r>
                        <a:rPr sz="830" b="0">
                          <a:solidFill>
                            <a:srgbClr val="222A35"/>
                          </a:solidFill>
                          <a:latin typeface="Calibri"/>
                        </a:rPr>
                        <a:t>GSU transformer</a:t>
                      </a:r>
                    </a:p>
                  </a:txBody>
                  <a:tcPr anchor="ctr" marL="64008" marR="45720" marT="18288" marB="18288">
                    <a:solidFill>
                      <a:srgbClr val="FFFFFF"/>
                    </a:solidFill>
                  </a:tcPr>
                </a:tc>
                <a:tc>
                  <a:txBody>
                    <a:bodyPr wrap="square"/>
                    <a:lstStyle/>
                    <a:p>
                      <a:r>
                        <a:rPr sz="830" b="0">
                          <a:solidFill>
                            <a:srgbClr val="222A35"/>
                          </a:solidFill>
                          <a:latin typeface="Calibri"/>
                        </a:rPr>
                        <a:t>~50–80 wks</a:t>
                      </a:r>
                    </a:p>
                  </a:txBody>
                  <a:tcPr anchor="ctr" marL="64008" marR="45720" marT="18288" marB="18288">
                    <a:solidFill>
                      <a:srgbClr val="FFFFFF"/>
                    </a:solidFill>
                  </a:tcPr>
                </a:tc>
                <a:tc>
                  <a:txBody>
                    <a:bodyPr wrap="square"/>
                    <a:lstStyle/>
                    <a:p>
                      <a:r>
                        <a:rPr sz="830" b="0">
                          <a:solidFill>
                            <a:srgbClr val="222A35"/>
                          </a:solidFill>
                          <a:latin typeface="Calibri"/>
                        </a:rPr>
                        <a:t>144–160+ wks (Q1-26)</a:t>
                      </a:r>
                    </a:p>
                  </a:txBody>
                  <a:tcPr anchor="ctr" marL="64008" marR="45720" marT="18288" marB="18288">
                    <a:solidFill>
                      <a:srgbClr val="FFFFFF"/>
                    </a:solidFill>
                  </a:tcPr>
                </a:tc>
                <a:tc>
                  <a:txBody>
                    <a:bodyPr wrap="square"/>
                    <a:lstStyle/>
                    <a:p>
                      <a:r>
                        <a:rPr sz="830" b="1">
                          <a:solidFill>
                            <a:srgbClr val="A8392E"/>
                          </a:solidFill>
                          <a:latin typeface="Calibri"/>
                        </a:rPr>
                        <a:t>Worsening</a:t>
                      </a:r>
                    </a:p>
                  </a:txBody>
                  <a:tcPr anchor="ctr" marL="64008" marR="45720" marT="18288" marB="18288">
                    <a:solidFill>
                      <a:srgbClr val="FFFFFF"/>
                    </a:solidFill>
                  </a:tcPr>
                </a:tc>
                <a:tc>
                  <a:txBody>
                    <a:bodyPr wrap="square"/>
                    <a:lstStyle/>
                    <a:p>
                      <a:r>
                        <a:rPr sz="830" b="0">
                          <a:solidFill>
                            <a:srgbClr val="222A35"/>
                          </a:solidFill>
                          <a:latin typeface="Calibri"/>
                        </a:rPr>
                        <a:t>Demand +274% since 2019 (Wood Mackenzie); winding labor is the floor</a:t>
                      </a:r>
                    </a:p>
                  </a:txBody>
                  <a:tcPr anchor="ctr" marL="64008" marR="45720" marT="18288" marB="18288">
                    <a:solidFill>
                      <a:srgbClr val="FFFFFF"/>
                    </a:solidFill>
                  </a:tcPr>
                </a:tc>
              </a:tr>
              <a:tr h="397764">
                <a:tc>
                  <a:txBody>
                    <a:bodyPr wrap="square"/>
                    <a:lstStyle/>
                    <a:p>
                      <a:r>
                        <a:rPr sz="830" b="0">
                          <a:solidFill>
                            <a:srgbClr val="222A35"/>
                          </a:solidFill>
                          <a:latin typeface="Calibri"/>
                        </a:rPr>
                        <a:t>HV circuit breaker</a:t>
                      </a:r>
                    </a:p>
                  </a:txBody>
                  <a:tcPr anchor="ctr" marL="64008" marR="45720" marT="18288" marB="18288">
                    <a:solidFill>
                      <a:srgbClr val="F1F4F8"/>
                    </a:solidFill>
                  </a:tcPr>
                </a:tc>
                <a:tc>
                  <a:txBody>
                    <a:bodyPr wrap="square"/>
                    <a:lstStyle/>
                    <a:p>
                      <a:r>
                        <a:rPr sz="830" b="0">
                          <a:solidFill>
                            <a:srgbClr val="222A35"/>
                          </a:solidFill>
                          <a:latin typeface="Calibri"/>
                        </a:rPr>
                        <a:t>77 wks (2023)</a:t>
                      </a:r>
                    </a:p>
                  </a:txBody>
                  <a:tcPr anchor="ctr" marL="64008" marR="45720" marT="18288" marB="18288">
                    <a:solidFill>
                      <a:srgbClr val="F1F4F8"/>
                    </a:solidFill>
                  </a:tcPr>
                </a:tc>
                <a:tc>
                  <a:txBody>
                    <a:bodyPr wrap="square"/>
                    <a:lstStyle/>
                    <a:p>
                      <a:r>
                        <a:rPr sz="830" b="0">
                          <a:solidFill>
                            <a:srgbClr val="222A35"/>
                          </a:solidFill>
                          <a:latin typeface="Calibri"/>
                        </a:rPr>
                        <a:t>~125 wks</a:t>
                      </a:r>
                    </a:p>
                  </a:txBody>
                  <a:tcPr anchor="ctr" marL="64008" marR="45720" marT="18288" marB="18288">
                    <a:solidFill>
                      <a:srgbClr val="F1F4F8"/>
                    </a:solidFill>
                  </a:tcPr>
                </a:tc>
                <a:tc>
                  <a:txBody>
                    <a:bodyPr wrap="square"/>
                    <a:lstStyle/>
                    <a:p>
                      <a:r>
                        <a:rPr sz="830" b="1">
                          <a:solidFill>
                            <a:srgbClr val="A8392E"/>
                          </a:solidFill>
                          <a:latin typeface="Calibri"/>
                        </a:rPr>
                        <a:t>Worsening</a:t>
                      </a:r>
                    </a:p>
                  </a:txBody>
                  <a:tcPr anchor="ctr" marL="64008" marR="45720" marT="18288" marB="18288">
                    <a:solidFill>
                      <a:srgbClr val="F1F4F8"/>
                    </a:solidFill>
                  </a:tcPr>
                </a:tc>
                <a:tc>
                  <a:txBody>
                    <a:bodyPr wrap="square"/>
                    <a:lstStyle/>
                    <a:p>
                      <a:r>
                        <a:rPr sz="830" b="0">
                          <a:solidFill>
                            <a:srgbClr val="222A35"/>
                          </a:solidFill>
                          <a:latin typeface="Calibri"/>
                        </a:rPr>
                        <a:t>Prices +4–10% expected over the next year</a:t>
                      </a:r>
                    </a:p>
                  </a:txBody>
                  <a:tcPr anchor="ctr" marL="64008" marR="45720" marT="18288" marB="18288">
                    <a:solidFill>
                      <a:srgbClr val="F1F4F8"/>
                    </a:solidFill>
                  </a:tcPr>
                </a:tc>
              </a:tr>
              <a:tr h="397764">
                <a:tc>
                  <a:txBody>
                    <a:bodyPr wrap="square"/>
                    <a:lstStyle/>
                    <a:p>
                      <a:r>
                        <a:rPr sz="830" b="0">
                          <a:solidFill>
                            <a:srgbClr val="222A35"/>
                          </a:solidFill>
                          <a:latin typeface="Calibri"/>
                        </a:rPr>
                        <a:t>MV switchgear</a:t>
                      </a:r>
                    </a:p>
                  </a:txBody>
                  <a:tcPr anchor="ctr" marL="64008" marR="45720" marT="18288" marB="18288">
                    <a:solidFill>
                      <a:srgbClr val="FFFFFF"/>
                    </a:solidFill>
                  </a:tcPr>
                </a:tc>
                <a:tc>
                  <a:txBody>
                    <a:bodyPr wrap="square"/>
                    <a:lstStyle/>
                    <a:p>
                      <a:r>
                        <a:rPr sz="830" b="0">
                          <a:solidFill>
                            <a:srgbClr val="222A35"/>
                          </a:solidFill>
                          <a:latin typeface="Calibri"/>
                        </a:rPr>
                        <a:t>A few months</a:t>
                      </a:r>
                    </a:p>
                  </a:txBody>
                  <a:tcPr anchor="ctr" marL="64008" marR="45720" marT="18288" marB="18288">
                    <a:solidFill>
                      <a:srgbClr val="FFFFFF"/>
                    </a:solidFill>
                  </a:tcPr>
                </a:tc>
                <a:tc>
                  <a:txBody>
                    <a:bodyPr wrap="square"/>
                    <a:lstStyle/>
                    <a:p>
                      <a:r>
                        <a:rPr sz="830" b="0">
                          <a:solidFill>
                            <a:srgbClr val="222A35"/>
                          </a:solidFill>
                          <a:latin typeface="Calibri"/>
                        </a:rPr>
                        <a:t>AIS 80–110 wks; GIS 90–130 wks</a:t>
                      </a:r>
                    </a:p>
                  </a:txBody>
                  <a:tcPr anchor="ctr" marL="64008" marR="45720" marT="18288" marB="18288">
                    <a:solidFill>
                      <a:srgbClr val="FFFFFF"/>
                    </a:solidFill>
                  </a:tcPr>
                </a:tc>
                <a:tc>
                  <a:txBody>
                    <a:bodyPr wrap="square"/>
                    <a:lstStyle/>
                    <a:p>
                      <a:r>
                        <a:rPr sz="830" b="1">
                          <a:solidFill>
                            <a:srgbClr val="A8392E"/>
                          </a:solidFill>
                          <a:latin typeface="Calibri"/>
                        </a:rPr>
                        <a:t>Tight</a:t>
                      </a:r>
                    </a:p>
                  </a:txBody>
                  <a:tcPr anchor="ctr" marL="64008" marR="45720" marT="18288" marB="18288">
                    <a:solidFill>
                      <a:srgbClr val="FFFFFF"/>
                    </a:solidFill>
                  </a:tcPr>
                </a:tc>
                <a:tc>
                  <a:txBody>
                    <a:bodyPr wrap="square"/>
                    <a:lstStyle/>
                    <a:p>
                      <a:r>
                        <a:rPr sz="830" b="0">
                          <a:solidFill>
                            <a:srgbClr val="222A35"/>
                          </a:solidFill>
                          <a:latin typeface="Calibri"/>
                        </a:rPr>
                        <a:t>Effectively sold out into 2028</a:t>
                      </a:r>
                    </a:p>
                  </a:txBody>
                  <a:tcPr anchor="ctr" marL="64008" marR="45720" marT="18288" marB="18288">
                    <a:solidFill>
                      <a:srgbClr val="FFFFFF"/>
                    </a:solidFill>
                  </a:tcPr>
                </a:tc>
              </a:tr>
              <a:tr h="397764">
                <a:tc>
                  <a:txBody>
                    <a:bodyPr wrap="square"/>
                    <a:lstStyle/>
                    <a:p>
                      <a:r>
                        <a:rPr sz="830" b="0">
                          <a:solidFill>
                            <a:srgbClr val="222A35"/>
                          </a:solidFill>
                          <a:latin typeface="Calibri"/>
                        </a:rPr>
                        <a:t>Heavy-frame gas turbine</a:t>
                      </a:r>
                    </a:p>
                  </a:txBody>
                  <a:tcPr anchor="ctr" marL="64008" marR="45720" marT="18288" marB="18288">
                    <a:solidFill>
                      <a:srgbClr val="F1F4F8"/>
                    </a:solidFill>
                  </a:tcPr>
                </a:tc>
                <a:tc>
                  <a:txBody>
                    <a:bodyPr wrap="square"/>
                    <a:lstStyle/>
                    <a:p>
                      <a:r>
                        <a:rPr sz="830" b="0">
                          <a:solidFill>
                            <a:srgbClr val="222A35"/>
                          </a:solidFill>
                          <a:latin typeface="Calibri"/>
                        </a:rPr>
                        <a:t>~2–3 yrs (plant)</a:t>
                      </a:r>
                    </a:p>
                  </a:txBody>
                  <a:tcPr anchor="ctr" marL="64008" marR="45720" marT="18288" marB="18288">
                    <a:solidFill>
                      <a:srgbClr val="F1F4F8"/>
                    </a:solidFill>
                  </a:tcPr>
                </a:tc>
                <a:tc>
                  <a:txBody>
                    <a:bodyPr wrap="square"/>
                    <a:lstStyle/>
                    <a:p>
                      <a:r>
                        <a:rPr sz="830" b="0">
                          <a:solidFill>
                            <a:srgbClr val="222A35"/>
                          </a:solidFill>
                          <a:latin typeface="Calibri"/>
                        </a:rPr>
                        <a:t>Slots booked to end of decade; new CCGT ~5 yrs (vs 3.5 in 2023)</a:t>
                      </a:r>
                    </a:p>
                  </a:txBody>
                  <a:tcPr anchor="ctr" marL="64008" marR="45720" marT="18288" marB="18288">
                    <a:solidFill>
                      <a:srgbClr val="F1F4F8"/>
                    </a:solidFill>
                  </a:tcPr>
                </a:tc>
                <a:tc>
                  <a:txBody>
                    <a:bodyPr wrap="square"/>
                    <a:lstStyle/>
                    <a:p>
                      <a:r>
                        <a:rPr sz="830" b="1">
                          <a:solidFill>
                            <a:srgbClr val="A8392E"/>
                          </a:solidFill>
                          <a:latin typeface="Calibri"/>
                        </a:rPr>
                        <a:t>Worsening</a:t>
                      </a:r>
                    </a:p>
                  </a:txBody>
                  <a:tcPr anchor="ctr" marL="64008" marR="45720" marT="18288" marB="18288">
                    <a:solidFill>
                      <a:srgbClr val="F1F4F8"/>
                    </a:solidFill>
                  </a:tcPr>
                </a:tc>
                <a:tc>
                  <a:txBody>
                    <a:bodyPr wrap="square"/>
                    <a:lstStyle/>
                    <a:p>
                      <a:r>
                        <a:rPr sz="830" b="0">
                          <a:solidFill>
                            <a:srgbClr val="222A35"/>
                          </a:solidFill>
                          <a:latin typeface="Calibri"/>
                        </a:rPr>
                        <a:t>GE Vernova backlog 100 GW, guiding 110+ GW; CCGT costs +49%</a:t>
                      </a:r>
                    </a:p>
                  </a:txBody>
                  <a:tcPr anchor="ctr" marL="64008" marR="45720" marT="18288" marB="18288">
                    <a:solidFill>
                      <a:srgbClr val="F1F4F8"/>
                    </a:solidFill>
                  </a:tcPr>
                </a:tc>
              </a:tr>
              <a:tr h="397764">
                <a:tc>
                  <a:txBody>
                    <a:bodyPr wrap="square"/>
                    <a:lstStyle/>
                    <a:p>
                      <a:r>
                        <a:rPr sz="830" b="0">
                          <a:solidFill>
                            <a:srgbClr val="222A35"/>
                          </a:solidFill>
                          <a:latin typeface="Calibri"/>
                        </a:rPr>
                        <a:t>HV cable (subsea/UG)</a:t>
                      </a:r>
                    </a:p>
                  </a:txBody>
                  <a:tcPr anchor="ctr" marL="64008" marR="45720" marT="18288" marB="18288">
                    <a:solidFill>
                      <a:srgbClr val="FFFFFF"/>
                    </a:solidFill>
                  </a:tcPr>
                </a:tc>
                <a:tc>
                  <a:txBody>
                    <a:bodyPr wrap="square"/>
                    <a:lstStyle/>
                    <a:p>
                      <a:r>
                        <a:rPr sz="830" b="0">
                          <a:solidFill>
                            <a:srgbClr val="222A35"/>
                          </a:solidFill>
                          <a:latin typeface="Calibri"/>
                        </a:rPr>
                        <a:t>~1–2 yrs</a:t>
                      </a:r>
                    </a:p>
                  </a:txBody>
                  <a:tcPr anchor="ctr" marL="64008" marR="45720" marT="18288" marB="18288">
                    <a:solidFill>
                      <a:srgbClr val="FFFFFF"/>
                    </a:solidFill>
                  </a:tcPr>
                </a:tc>
                <a:tc>
                  <a:txBody>
                    <a:bodyPr wrap="square"/>
                    <a:lstStyle/>
                    <a:p>
                      <a:r>
                        <a:rPr sz="830" b="0">
                          <a:solidFill>
                            <a:srgbClr val="222A35"/>
                          </a:solidFill>
                          <a:latin typeface="Calibri"/>
                        </a:rPr>
                        <a:t>Producers fully booked through 2029</a:t>
                      </a:r>
                    </a:p>
                  </a:txBody>
                  <a:tcPr anchor="ctr" marL="64008" marR="45720" marT="18288" marB="18288">
                    <a:solidFill>
                      <a:srgbClr val="FFFFFF"/>
                    </a:solidFill>
                  </a:tcPr>
                </a:tc>
                <a:tc>
                  <a:txBody>
                    <a:bodyPr wrap="square"/>
                    <a:lstStyle/>
                    <a:p>
                      <a:r>
                        <a:rPr sz="830" b="1">
                          <a:solidFill>
                            <a:srgbClr val="A8392E"/>
                          </a:solidFill>
                          <a:latin typeface="Calibri"/>
                        </a:rPr>
                        <a:t>Tight</a:t>
                      </a:r>
                    </a:p>
                  </a:txBody>
                  <a:tcPr anchor="ctr" marL="64008" marR="45720" marT="18288" marB="18288">
                    <a:solidFill>
                      <a:srgbClr val="FFFFFF"/>
                    </a:solidFill>
                  </a:tcPr>
                </a:tc>
                <a:tc>
                  <a:txBody>
                    <a:bodyPr wrap="square"/>
                    <a:lstStyle/>
                    <a:p>
                      <a:r>
                        <a:rPr sz="830" b="0">
                          <a:solidFill>
                            <a:srgbClr val="222A35"/>
                          </a:solidFill>
                          <a:latin typeface="Calibri"/>
                        </a:rPr>
                        <a:t>Prysmian / Nexans / NKT at capacity</a:t>
                      </a:r>
                    </a:p>
                  </a:txBody>
                  <a:tcPr anchor="ctr" marL="64008" marR="45720" marT="18288" marB="18288">
                    <a:solidFill>
                      <a:srgbClr val="FFFFFF"/>
                    </a:solidFill>
                  </a:tcPr>
                </a:tc>
              </a:tr>
              <a:tr h="397764">
                <a:tc>
                  <a:txBody>
                    <a:bodyPr wrap="square"/>
                    <a:lstStyle/>
                    <a:p>
                      <a:r>
                        <a:rPr sz="830" b="0">
                          <a:solidFill>
                            <a:srgbClr val="222A35"/>
                          </a:solidFill>
                          <a:latin typeface="Calibri"/>
                        </a:rPr>
                        <a:t>Data-center GPU (reserved)</a:t>
                      </a:r>
                    </a:p>
                  </a:txBody>
                  <a:tcPr anchor="ctr" marL="64008" marR="45720" marT="18288" marB="18288">
                    <a:solidFill>
                      <a:srgbClr val="F1F4F8"/>
                    </a:solidFill>
                  </a:tcPr>
                </a:tc>
                <a:tc>
                  <a:txBody>
                    <a:bodyPr wrap="square"/>
                    <a:lstStyle/>
                    <a:p>
                      <a:r>
                        <a:rPr sz="830" b="0">
                          <a:solidFill>
                            <a:srgbClr val="222A35"/>
                          </a:solidFill>
                          <a:latin typeface="Calibri"/>
                        </a:rPr>
                        <a:t>8–16 wks</a:t>
                      </a:r>
                    </a:p>
                  </a:txBody>
                  <a:tcPr anchor="ctr" marL="64008" marR="45720" marT="18288" marB="18288">
                    <a:solidFill>
                      <a:srgbClr val="F1F4F8"/>
                    </a:solidFill>
                  </a:tcPr>
                </a:tc>
                <a:tc>
                  <a:txBody>
                    <a:bodyPr wrap="square"/>
                    <a:lstStyle/>
                    <a:p>
                      <a:r>
                        <a:rPr sz="830" b="0">
                          <a:solidFill>
                            <a:srgbClr val="222A35"/>
                          </a:solidFill>
                          <a:latin typeface="Calibri"/>
                        </a:rPr>
                        <a:t>36–52 wks</a:t>
                      </a:r>
                    </a:p>
                  </a:txBody>
                  <a:tcPr anchor="ctr" marL="64008" marR="45720" marT="18288" marB="18288">
                    <a:solidFill>
                      <a:srgbClr val="F1F4F8"/>
                    </a:solidFill>
                  </a:tcPr>
                </a:tc>
                <a:tc>
                  <a:txBody>
                    <a:bodyPr wrap="square"/>
                    <a:lstStyle/>
                    <a:p>
                      <a:r>
                        <a:rPr sz="830" b="1">
                          <a:solidFill>
                            <a:srgbClr val="C2903A"/>
                          </a:solidFill>
                          <a:latin typeface="Calibri"/>
                        </a:rPr>
                        <a:t>Stable-tight</a:t>
                      </a:r>
                    </a:p>
                  </a:txBody>
                  <a:tcPr anchor="ctr" marL="64008" marR="45720" marT="18288" marB="18288">
                    <a:solidFill>
                      <a:srgbClr val="F1F4F8"/>
                    </a:solidFill>
                  </a:tcPr>
                </a:tc>
                <a:tc>
                  <a:txBody>
                    <a:bodyPr wrap="square"/>
                    <a:lstStyle/>
                    <a:p>
                      <a:r>
                        <a:rPr sz="830" b="0">
                          <a:solidFill>
                            <a:srgbClr val="222A35"/>
                          </a:solidFill>
                          <a:latin typeface="Calibri"/>
                        </a:rPr>
                        <a:t>H100/H200 contract pricing +~40% Oct-25→Mar-26 — driven by memory</a:t>
                      </a:r>
                    </a:p>
                  </a:txBody>
                  <a:tcPr anchor="ctr" marL="64008" marR="45720" marT="18288" marB="18288">
                    <a:solidFill>
                      <a:srgbClr val="F1F4F8"/>
                    </a:solidFill>
                  </a:tcPr>
                </a:tc>
              </a:tr>
              <a:tr h="397764">
                <a:tc>
                  <a:txBody>
                    <a:bodyPr wrap="square"/>
                    <a:lstStyle/>
                    <a:p>
                      <a:r>
                        <a:rPr sz="830" b="0">
                          <a:solidFill>
                            <a:srgbClr val="222A35"/>
                          </a:solidFill>
                          <a:latin typeface="Calibri"/>
                        </a:rPr>
                        <a:t>CoWoS packaging slot</a:t>
                      </a:r>
                    </a:p>
                  </a:txBody>
                  <a:tcPr anchor="ctr" marL="64008" marR="45720" marT="18288" marB="18288">
                    <a:solidFill>
                      <a:srgbClr val="FFFFFF"/>
                    </a:solidFill>
                  </a:tcPr>
                </a:tc>
                <a:tc>
                  <a:txBody>
                    <a:bodyPr wrap="square"/>
                    <a:lstStyle/>
                    <a:p>
                      <a:r>
                        <a:rPr sz="830" b="0">
                          <a:solidFill>
                            <a:srgbClr val="222A35"/>
                          </a:solidFill>
                          <a:latin typeface="Calibri"/>
                        </a:rPr>
                        <a:t>n/a</a:t>
                      </a:r>
                    </a:p>
                  </a:txBody>
                  <a:tcPr anchor="ctr" marL="64008" marR="45720" marT="18288" marB="18288">
                    <a:solidFill>
                      <a:srgbClr val="FFFFFF"/>
                    </a:solidFill>
                  </a:tcPr>
                </a:tc>
                <a:tc>
                  <a:txBody>
                    <a:bodyPr wrap="square"/>
                    <a:lstStyle/>
                    <a:p>
                      <a:r>
                        <a:rPr sz="830" b="0">
                          <a:solidFill>
                            <a:srgbClr val="222A35"/>
                          </a:solidFill>
                          <a:latin typeface="Calibri"/>
                        </a:rPr>
                        <a:t>52–78 wks; allocated through mid-2027</a:t>
                      </a:r>
                    </a:p>
                  </a:txBody>
                  <a:tcPr anchor="ctr" marL="64008" marR="45720" marT="18288" marB="18288">
                    <a:solidFill>
                      <a:srgbClr val="FFFFFF"/>
                    </a:solidFill>
                  </a:tcPr>
                </a:tc>
                <a:tc>
                  <a:txBody>
                    <a:bodyPr wrap="square"/>
                    <a:lstStyle/>
                    <a:p>
                      <a:r>
                        <a:rPr sz="830" b="1">
                          <a:solidFill>
                            <a:srgbClr val="C2903A"/>
                          </a:solidFill>
                          <a:latin typeface="Calibri"/>
                        </a:rPr>
                        <a:t>Tight</a:t>
                      </a:r>
                    </a:p>
                  </a:txBody>
                  <a:tcPr anchor="ctr" marL="64008" marR="45720" marT="18288" marB="18288">
                    <a:solidFill>
                      <a:srgbClr val="FFFFFF"/>
                    </a:solidFill>
                  </a:tcPr>
                </a:tc>
                <a:tc>
                  <a:txBody>
                    <a:bodyPr wrap="square"/>
                    <a:lstStyle/>
                    <a:p>
                      <a:r>
                        <a:rPr sz="830" b="0">
                          <a:solidFill>
                            <a:srgbClr val="222A35"/>
                          </a:solidFill>
                          <a:latin typeface="Calibri"/>
                        </a:rPr>
                        <a:t>Capacity doubling to 120–130k wpm by Q4-26; NVIDIA holds ~60%</a:t>
                      </a:r>
                    </a:p>
                  </a:txBody>
                  <a:tcPr anchor="ctr" marL="64008" marR="45720" marT="18288" marB="18288">
                    <a:solidFill>
                      <a:srgbClr val="FFFFFF"/>
                    </a:solidFill>
                  </a:tcPr>
                </a:tc>
              </a:tr>
              <a:tr h="397764">
                <a:tc>
                  <a:txBody>
                    <a:bodyPr wrap="square"/>
                    <a:lstStyle/>
                    <a:p>
                      <a:r>
                        <a:rPr sz="830" b="0">
                          <a:solidFill>
                            <a:srgbClr val="222A35"/>
                          </a:solidFill>
                          <a:latin typeface="Calibri"/>
                        </a:rPr>
                        <a:t>HBM4 memory</a:t>
                      </a:r>
                    </a:p>
                  </a:txBody>
                  <a:tcPr anchor="ctr" marL="64008" marR="45720" marT="18288" marB="18288">
                    <a:solidFill>
                      <a:srgbClr val="F1F4F8"/>
                    </a:solidFill>
                  </a:tcPr>
                </a:tc>
                <a:tc>
                  <a:txBody>
                    <a:bodyPr wrap="square"/>
                    <a:lstStyle/>
                    <a:p>
                      <a:r>
                        <a:rPr sz="830" b="0">
                          <a:solidFill>
                            <a:srgbClr val="222A35"/>
                          </a:solidFill>
                          <a:latin typeface="Calibri"/>
                        </a:rPr>
                        <a:t>n/a</a:t>
                      </a:r>
                    </a:p>
                  </a:txBody>
                  <a:tcPr anchor="ctr" marL="64008" marR="45720" marT="18288" marB="18288">
                    <a:solidFill>
                      <a:srgbClr val="F1F4F8"/>
                    </a:solidFill>
                  </a:tcPr>
                </a:tc>
                <a:tc>
                  <a:txBody>
                    <a:bodyPr wrap="square"/>
                    <a:lstStyle/>
                    <a:p>
                      <a:r>
                        <a:rPr sz="830" b="0">
                          <a:solidFill>
                            <a:srgbClr val="222A35"/>
                          </a:solidFill>
                          <a:latin typeface="Calibri"/>
                        </a:rPr>
                        <a:t>2026 output 100% sold out; fill rates 60–70%</a:t>
                      </a:r>
                    </a:p>
                  </a:txBody>
                  <a:tcPr anchor="ctr" marL="64008" marR="45720" marT="18288" marB="18288">
                    <a:solidFill>
                      <a:srgbClr val="F1F4F8"/>
                    </a:solidFill>
                  </a:tcPr>
                </a:tc>
                <a:tc>
                  <a:txBody>
                    <a:bodyPr wrap="square"/>
                    <a:lstStyle/>
                    <a:p>
                      <a:r>
                        <a:rPr sz="830" b="1">
                          <a:solidFill>
                            <a:srgbClr val="A8392E"/>
                          </a:solidFill>
                          <a:latin typeface="Calibri"/>
                        </a:rPr>
                        <a:t>Worsening</a:t>
                      </a:r>
                    </a:p>
                  </a:txBody>
                  <a:tcPr anchor="ctr" marL="64008" marR="45720" marT="18288" marB="18288">
                    <a:solidFill>
                      <a:srgbClr val="F1F4F8"/>
                    </a:solidFill>
                  </a:tcPr>
                </a:tc>
                <a:tc>
                  <a:txBody>
                    <a:bodyPr wrap="square"/>
                    <a:lstStyle/>
                    <a:p>
                      <a:r>
                        <a:rPr sz="830" b="0">
                          <a:solidFill>
                            <a:srgbClr val="222A35"/>
                          </a:solidFill>
                          <a:latin typeface="Calibri"/>
                        </a:rPr>
                        <a:t>Deficit seen through 2027; NVIDIA weighing stack downgrades</a:t>
                      </a:r>
                    </a:p>
                  </a:txBody>
                  <a:tcPr anchor="ctr" marL="64008" marR="45720" marT="18288" marB="18288">
                    <a:solidFill>
                      <a:srgbClr val="F1F4F8"/>
                    </a:solidFill>
                  </a:tcPr>
                </a:tc>
              </a:tr>
              <a:tr h="397764">
                <a:tc>
                  <a:txBody>
                    <a:bodyPr wrap="square"/>
                    <a:lstStyle/>
                    <a:p>
                      <a:r>
                        <a:rPr sz="830" b="0">
                          <a:solidFill>
                            <a:srgbClr val="222A35"/>
                          </a:solidFill>
                          <a:latin typeface="Calibri"/>
                        </a:rPr>
                        <a:t>Skilled labor</a:t>
                      </a:r>
                    </a:p>
                  </a:txBody>
                  <a:tcPr anchor="ctr" marL="64008" marR="45720" marT="18288" marB="18288">
                    <a:solidFill>
                      <a:srgbClr val="FFFFFF"/>
                    </a:solidFill>
                  </a:tcPr>
                </a:tc>
                <a:tc>
                  <a:txBody>
                    <a:bodyPr wrap="square"/>
                    <a:lstStyle/>
                    <a:p>
                      <a:r>
                        <a:rPr sz="830" b="0">
                          <a:solidFill>
                            <a:srgbClr val="222A35"/>
                          </a:solidFill>
                          <a:latin typeface="Calibri"/>
                        </a:rPr>
                        <a:t>n/a</a:t>
                      </a:r>
                    </a:p>
                  </a:txBody>
                  <a:tcPr anchor="ctr" marL="64008" marR="45720" marT="18288" marB="18288">
                    <a:solidFill>
                      <a:srgbClr val="FFFFFF"/>
                    </a:solidFill>
                  </a:tcPr>
                </a:tc>
                <a:tc>
                  <a:txBody>
                    <a:bodyPr wrap="square"/>
                    <a:lstStyle/>
                    <a:p>
                      <a:r>
                        <a:rPr sz="830" b="0">
                          <a:solidFill>
                            <a:srgbClr val="222A35"/>
                          </a:solidFill>
                          <a:latin typeface="Calibri"/>
                        </a:rPr>
                        <a:t>~439k US construction-worker shortfall</a:t>
                      </a:r>
                    </a:p>
                  </a:txBody>
                  <a:tcPr anchor="ctr" marL="64008" marR="45720" marT="18288" marB="18288">
                    <a:solidFill>
                      <a:srgbClr val="FFFFFF"/>
                    </a:solidFill>
                  </a:tcPr>
                </a:tc>
                <a:tc>
                  <a:txBody>
                    <a:bodyPr wrap="square"/>
                    <a:lstStyle/>
                    <a:p>
                      <a:r>
                        <a:rPr sz="830" b="1">
                          <a:solidFill>
                            <a:srgbClr val="A8392E"/>
                          </a:solidFill>
                          <a:latin typeface="Calibri"/>
                        </a:rPr>
                        <a:t>Structural</a:t>
                      </a:r>
                    </a:p>
                  </a:txBody>
                  <a:tcPr anchor="ctr" marL="64008" marR="45720" marT="18288" marB="18288">
                    <a:solidFill>
                      <a:srgbClr val="FFFFFF"/>
                    </a:solidFill>
                  </a:tcPr>
                </a:tc>
                <a:tc>
                  <a:txBody>
                    <a:bodyPr wrap="square"/>
                    <a:lstStyle/>
                    <a:p>
                      <a:r>
                        <a:rPr sz="830" b="0">
                          <a:solidFill>
                            <a:srgbClr val="222A35"/>
                          </a:solidFill>
                          <a:latin typeface="Calibri"/>
                        </a:rPr>
                        <a:t>Coil winders, electricians, HV engineers; retirements outpace entry</a:t>
                      </a:r>
                    </a:p>
                  </a:txBody>
                  <a:tcPr anchor="ctr" marL="64008" marR="45720" marT="18288" marB="18288">
                    <a:solidFill>
                      <a:srgbClr val="FFFFFF"/>
                    </a:solidFill>
                  </a:tcPr>
                </a:tc>
              </a:tr>
            </a:tbl>
          </a:graphicData>
        </a:graphic>
      </p:graphicFrame>
      <p:sp>
        <p:nvSpPr>
          <p:cNvPr id="10" name="TextBox 9"/>
          <p:cNvSpPr txBox="1"/>
          <p:nvPr/>
        </p:nvSpPr>
        <p:spPr>
          <a:xfrm>
            <a:off x="502920" y="6291072"/>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Wood Mackenzie; POWER Magazine; LBNL Queued Up (2026); BloombergNEF; TrendForce; company disclosures. Figures approximate.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BOTTLENECKS</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The constraint stack: rank-ordered, with time-to-relief</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"The binding constraint is a transformer, not a chip" — each layer must clear before the next one binds</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6</a:t>
            </a:r>
          </a:p>
        </p:txBody>
      </p:sp>
      <p:sp>
        <p:nvSpPr>
          <p:cNvPr id="9" name="Rounded Rectangle 8"/>
          <p:cNvSpPr/>
          <p:nvPr/>
        </p:nvSpPr>
        <p:spPr>
          <a:xfrm>
            <a:off x="502920" y="1481328"/>
            <a:ext cx="11183112" cy="886968"/>
          </a:xfrm>
          <a:prstGeom prst="roundRect">
            <a:avLst>
              <a:gd name="adj" fmla="val 9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1481328"/>
            <a:ext cx="566928" cy="886968"/>
          </a:xfrm>
          <a:prstGeom prst="roundRect">
            <a:avLst>
              <a:gd name="adj" fmla="val 9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02920" y="1719072"/>
            <a:ext cx="566928" cy="411480"/>
          </a:xfrm>
          <a:prstGeom prst="rect">
            <a:avLst/>
          </a:prstGeom>
          <a:noFill/>
        </p:spPr>
        <p:txBody>
          <a:bodyPr wrap="square" anchor="t">
            <a:spAutoFit/>
          </a:bodyPr>
          <a:lstStyle/>
          <a:p>
            <a:pPr algn="ctr">
              <a:lnSpc>
                <a:spcPct val="100000"/>
              </a:lnSpc>
              <a:spcAft>
                <a:spcPts val="0"/>
              </a:spcAft>
            </a:pPr>
            <a:r>
              <a:rPr b="1" sz="1500">
                <a:solidFill>
                  <a:srgbClr val="FFFFFF"/>
                </a:solidFill>
                <a:latin typeface="Calibri"/>
              </a:rPr>
              <a:t>#1</a:t>
            </a:r>
          </a:p>
        </p:txBody>
      </p:sp>
      <p:sp>
        <p:nvSpPr>
          <p:cNvPr id="12" name="TextBox 11"/>
          <p:cNvSpPr txBox="1"/>
          <p:nvPr/>
        </p:nvSpPr>
        <p:spPr>
          <a:xfrm>
            <a:off x="1234440" y="1554480"/>
            <a:ext cx="7863840" cy="310896"/>
          </a:xfrm>
          <a:prstGeom prst="rect">
            <a:avLst/>
          </a:prstGeom>
          <a:noFill/>
        </p:spPr>
        <p:txBody>
          <a:bodyPr wrap="square" anchor="t">
            <a:spAutoFit/>
          </a:bodyPr>
          <a:lstStyle/>
          <a:p>
            <a:pPr algn="l">
              <a:lnSpc>
                <a:spcPct val="100000"/>
              </a:lnSpc>
              <a:spcAft>
                <a:spcPts val="0"/>
              </a:spcAft>
            </a:pPr>
            <a:r>
              <a:rPr b="1" sz="1200">
                <a:solidFill>
                  <a:srgbClr val="0B1D3A"/>
                </a:solidFill>
                <a:latin typeface="Calibri"/>
              </a:rPr>
              <a:t>Energized power (interconnection + generation)</a:t>
            </a:r>
          </a:p>
        </p:txBody>
      </p:sp>
      <p:sp>
        <p:nvSpPr>
          <p:cNvPr id="13" name="TextBox 12"/>
          <p:cNvSpPr txBox="1"/>
          <p:nvPr/>
        </p:nvSpPr>
        <p:spPr>
          <a:xfrm>
            <a:off x="1234440" y="1874520"/>
            <a:ext cx="10241280" cy="457200"/>
          </a:xfrm>
          <a:prstGeom prst="rect">
            <a:avLst/>
          </a:prstGeom>
          <a:noFill/>
        </p:spPr>
        <p:txBody>
          <a:bodyPr wrap="square" anchor="t">
            <a:spAutoFit/>
          </a:bodyPr>
          <a:lstStyle/>
          <a:p>
            <a:pPr algn="l">
              <a:lnSpc>
                <a:spcPct val="98000"/>
              </a:lnSpc>
              <a:spcAft>
                <a:spcPts val="0"/>
              </a:spcAft>
            </a:pPr>
            <a:r>
              <a:rPr b="0" sz="950">
                <a:solidFill>
                  <a:srgbClr val="222A35"/>
                </a:solidFill>
                <a:latin typeface="Calibri"/>
              </a:rPr>
              <a:t>Firm grid connection is the long pole: median ~5 yrs, hubs 4–7+. Buildings finish in 2–3 yrs and then wait. Relief: 2029+ (queue reform, behind-the-meter bridges).</a:t>
            </a:r>
          </a:p>
        </p:txBody>
      </p:sp>
      <p:sp>
        <p:nvSpPr>
          <p:cNvPr id="14" name="Rounded Rectangle 13"/>
          <p:cNvSpPr/>
          <p:nvPr/>
        </p:nvSpPr>
        <p:spPr>
          <a:xfrm>
            <a:off x="9646920" y="1554480"/>
            <a:ext cx="1874519" cy="274320"/>
          </a:xfrm>
          <a:prstGeom prst="roundRect">
            <a:avLst>
              <a:gd name="adj" fmla="val 50000"/>
            </a:avLst>
          </a:prstGeom>
          <a:solidFill>
            <a:srgbClr val="A839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46920" y="1572768"/>
            <a:ext cx="1874519" cy="237744"/>
          </a:xfrm>
          <a:prstGeom prst="rect">
            <a:avLst/>
          </a:prstGeom>
          <a:noFill/>
        </p:spPr>
        <p:txBody>
          <a:bodyPr wrap="square" anchor="t">
            <a:spAutoFit/>
          </a:bodyPr>
          <a:lstStyle/>
          <a:p>
            <a:pPr algn="ctr">
              <a:lnSpc>
                <a:spcPct val="100000"/>
              </a:lnSpc>
              <a:spcAft>
                <a:spcPts val="0"/>
              </a:spcAft>
            </a:pPr>
            <a:r>
              <a:rPr b="1" sz="900">
                <a:solidFill>
                  <a:srgbClr val="FFFFFF"/>
                </a:solidFill>
                <a:latin typeface="Calibri"/>
              </a:rPr>
              <a:t>BINDING</a:t>
            </a:r>
          </a:p>
        </p:txBody>
      </p:sp>
      <p:sp>
        <p:nvSpPr>
          <p:cNvPr id="16" name="Rounded Rectangle 15"/>
          <p:cNvSpPr/>
          <p:nvPr/>
        </p:nvSpPr>
        <p:spPr>
          <a:xfrm>
            <a:off x="502920" y="2459736"/>
            <a:ext cx="10680192" cy="886968"/>
          </a:xfrm>
          <a:prstGeom prst="roundRect">
            <a:avLst>
              <a:gd name="adj" fmla="val 9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02920" y="2459736"/>
            <a:ext cx="566928" cy="886968"/>
          </a:xfrm>
          <a:prstGeom prst="roundRect">
            <a:avLst>
              <a:gd name="adj" fmla="val 9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2920" y="2697480"/>
            <a:ext cx="566928" cy="411480"/>
          </a:xfrm>
          <a:prstGeom prst="rect">
            <a:avLst/>
          </a:prstGeom>
          <a:noFill/>
        </p:spPr>
        <p:txBody>
          <a:bodyPr wrap="square" anchor="t">
            <a:spAutoFit/>
          </a:bodyPr>
          <a:lstStyle/>
          <a:p>
            <a:pPr algn="ctr">
              <a:lnSpc>
                <a:spcPct val="100000"/>
              </a:lnSpc>
              <a:spcAft>
                <a:spcPts val="0"/>
              </a:spcAft>
            </a:pPr>
            <a:r>
              <a:rPr b="1" sz="1500">
                <a:solidFill>
                  <a:srgbClr val="FFFFFF"/>
                </a:solidFill>
                <a:latin typeface="Calibri"/>
              </a:rPr>
              <a:t>#2</a:t>
            </a:r>
          </a:p>
        </p:txBody>
      </p:sp>
      <p:sp>
        <p:nvSpPr>
          <p:cNvPr id="19" name="TextBox 18"/>
          <p:cNvSpPr txBox="1"/>
          <p:nvPr/>
        </p:nvSpPr>
        <p:spPr>
          <a:xfrm>
            <a:off x="1234440" y="2532888"/>
            <a:ext cx="7863840" cy="310896"/>
          </a:xfrm>
          <a:prstGeom prst="rect">
            <a:avLst/>
          </a:prstGeom>
          <a:noFill/>
        </p:spPr>
        <p:txBody>
          <a:bodyPr wrap="square" anchor="t">
            <a:spAutoFit/>
          </a:bodyPr>
          <a:lstStyle/>
          <a:p>
            <a:pPr algn="l">
              <a:lnSpc>
                <a:spcPct val="100000"/>
              </a:lnSpc>
              <a:spcAft>
                <a:spcPts val="0"/>
              </a:spcAft>
            </a:pPr>
            <a:r>
              <a:rPr b="1" sz="1200">
                <a:solidFill>
                  <a:srgbClr val="0B1D3A"/>
                </a:solidFill>
                <a:latin typeface="Calibri"/>
              </a:rPr>
              <a:t>Electrical equipment (transformers, breakers, switchgear, turbines)</a:t>
            </a:r>
          </a:p>
        </p:txBody>
      </p:sp>
      <p:sp>
        <p:nvSpPr>
          <p:cNvPr id="20" name="TextBox 19"/>
          <p:cNvSpPr txBox="1"/>
          <p:nvPr/>
        </p:nvSpPr>
        <p:spPr>
          <a:xfrm>
            <a:off x="1234440" y="2852928"/>
            <a:ext cx="10241280" cy="457200"/>
          </a:xfrm>
          <a:prstGeom prst="rect">
            <a:avLst/>
          </a:prstGeom>
          <a:noFill/>
        </p:spPr>
        <p:txBody>
          <a:bodyPr wrap="square" anchor="t">
            <a:spAutoFit/>
          </a:bodyPr>
          <a:lstStyle/>
          <a:p>
            <a:pPr algn="l">
              <a:lnSpc>
                <a:spcPct val="98000"/>
              </a:lnSpc>
              <a:spcAft>
                <a:spcPts val="0"/>
              </a:spcAft>
            </a:pPr>
            <a:r>
              <a:rPr b="0" sz="950">
                <a:solidFill>
                  <a:srgbClr val="222A35"/>
                </a:solidFill>
                <a:latin typeface="Calibri"/>
              </a:rPr>
              <a:t>Multi-year backlogs across the complex; announced factory expansions become material only in 2027–28 and are labor-limited.</a:t>
            </a:r>
          </a:p>
        </p:txBody>
      </p:sp>
      <p:sp>
        <p:nvSpPr>
          <p:cNvPr id="21" name="Rounded Rectangle 20"/>
          <p:cNvSpPr/>
          <p:nvPr/>
        </p:nvSpPr>
        <p:spPr>
          <a:xfrm>
            <a:off x="9646920" y="2532888"/>
            <a:ext cx="1874519" cy="274320"/>
          </a:xfrm>
          <a:prstGeom prst="roundRect">
            <a:avLst>
              <a:gd name="adj" fmla="val 50000"/>
            </a:avLst>
          </a:prstGeom>
          <a:solidFill>
            <a:srgbClr val="A839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46920" y="2551176"/>
            <a:ext cx="1874519" cy="237744"/>
          </a:xfrm>
          <a:prstGeom prst="rect">
            <a:avLst/>
          </a:prstGeom>
          <a:noFill/>
        </p:spPr>
        <p:txBody>
          <a:bodyPr wrap="square" anchor="t">
            <a:spAutoFit/>
          </a:bodyPr>
          <a:lstStyle/>
          <a:p>
            <a:pPr algn="ctr">
              <a:lnSpc>
                <a:spcPct val="100000"/>
              </a:lnSpc>
              <a:spcAft>
                <a:spcPts val="0"/>
              </a:spcAft>
            </a:pPr>
            <a:r>
              <a:rPr b="1" sz="900">
                <a:solidFill>
                  <a:srgbClr val="FFFFFF"/>
                </a:solidFill>
                <a:latin typeface="Calibri"/>
              </a:rPr>
              <a:t>BINDING</a:t>
            </a:r>
          </a:p>
        </p:txBody>
      </p:sp>
      <p:sp>
        <p:nvSpPr>
          <p:cNvPr id="23" name="Rounded Rectangle 22"/>
          <p:cNvSpPr/>
          <p:nvPr/>
        </p:nvSpPr>
        <p:spPr>
          <a:xfrm>
            <a:off x="502920" y="3438144"/>
            <a:ext cx="10177272" cy="886968"/>
          </a:xfrm>
          <a:prstGeom prst="roundRect">
            <a:avLst>
              <a:gd name="adj" fmla="val 9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02920" y="3438144"/>
            <a:ext cx="566928" cy="886968"/>
          </a:xfrm>
          <a:prstGeom prst="roundRect">
            <a:avLst>
              <a:gd name="adj" fmla="val 9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02920" y="3675888"/>
            <a:ext cx="566928" cy="411480"/>
          </a:xfrm>
          <a:prstGeom prst="rect">
            <a:avLst/>
          </a:prstGeom>
          <a:noFill/>
        </p:spPr>
        <p:txBody>
          <a:bodyPr wrap="square" anchor="t">
            <a:spAutoFit/>
          </a:bodyPr>
          <a:lstStyle/>
          <a:p>
            <a:pPr algn="ctr">
              <a:lnSpc>
                <a:spcPct val="100000"/>
              </a:lnSpc>
              <a:spcAft>
                <a:spcPts val="0"/>
              </a:spcAft>
            </a:pPr>
            <a:r>
              <a:rPr b="1" sz="1500">
                <a:solidFill>
                  <a:srgbClr val="FFFFFF"/>
                </a:solidFill>
                <a:latin typeface="Calibri"/>
              </a:rPr>
              <a:t>#3</a:t>
            </a:r>
          </a:p>
        </p:txBody>
      </p:sp>
      <p:sp>
        <p:nvSpPr>
          <p:cNvPr id="26" name="TextBox 25"/>
          <p:cNvSpPr txBox="1"/>
          <p:nvPr/>
        </p:nvSpPr>
        <p:spPr>
          <a:xfrm>
            <a:off x="1234440" y="3511296"/>
            <a:ext cx="7863840" cy="310896"/>
          </a:xfrm>
          <a:prstGeom prst="rect">
            <a:avLst/>
          </a:prstGeom>
          <a:noFill/>
        </p:spPr>
        <p:txBody>
          <a:bodyPr wrap="square" anchor="t">
            <a:spAutoFit/>
          </a:bodyPr>
          <a:lstStyle/>
          <a:p>
            <a:pPr algn="l">
              <a:lnSpc>
                <a:spcPct val="100000"/>
              </a:lnSpc>
              <a:spcAft>
                <a:spcPts val="0"/>
              </a:spcAft>
            </a:pPr>
            <a:r>
              <a:rPr b="1" sz="1200">
                <a:solidFill>
                  <a:srgbClr val="0B1D3A"/>
                </a:solidFill>
                <a:latin typeface="Calibri"/>
              </a:rPr>
              <a:t>HBM memory + CoWoS advanced packaging</a:t>
            </a:r>
          </a:p>
        </p:txBody>
      </p:sp>
      <p:sp>
        <p:nvSpPr>
          <p:cNvPr id="27" name="TextBox 26"/>
          <p:cNvSpPr txBox="1"/>
          <p:nvPr/>
        </p:nvSpPr>
        <p:spPr>
          <a:xfrm>
            <a:off x="1234440" y="3831336"/>
            <a:ext cx="10241280" cy="457200"/>
          </a:xfrm>
          <a:prstGeom prst="rect">
            <a:avLst/>
          </a:prstGeom>
          <a:noFill/>
        </p:spPr>
        <p:txBody>
          <a:bodyPr wrap="square" anchor="t">
            <a:spAutoFit/>
          </a:bodyPr>
          <a:lstStyle/>
          <a:p>
            <a:pPr algn="l">
              <a:lnSpc>
                <a:spcPct val="98000"/>
              </a:lnSpc>
              <a:spcAft>
                <a:spcPts val="0"/>
              </a:spcAft>
            </a:pPr>
            <a:r>
              <a:rPr b="0" sz="950">
                <a:solidFill>
                  <a:srgbClr val="222A35"/>
                </a:solidFill>
                <a:latin typeface="Calibri"/>
              </a:rPr>
              <a:t>Memory — not GPU die — is the silicon constraint. 2026 HBM4 sold out; CoWoS allocated through mid-2027 even as capacity doubles.</a:t>
            </a:r>
          </a:p>
        </p:txBody>
      </p:sp>
      <p:sp>
        <p:nvSpPr>
          <p:cNvPr id="28" name="Rounded Rectangle 27"/>
          <p:cNvSpPr/>
          <p:nvPr/>
        </p:nvSpPr>
        <p:spPr>
          <a:xfrm>
            <a:off x="9646920" y="3511296"/>
            <a:ext cx="1874519" cy="274320"/>
          </a:xfrm>
          <a:prstGeom prst="roundRect">
            <a:avLst>
              <a:gd name="adj" fmla="val 50000"/>
            </a:avLst>
          </a:prstGeom>
          <a:solidFill>
            <a:srgbClr val="A839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46920" y="3529584"/>
            <a:ext cx="1874519" cy="237744"/>
          </a:xfrm>
          <a:prstGeom prst="rect">
            <a:avLst/>
          </a:prstGeom>
          <a:noFill/>
        </p:spPr>
        <p:txBody>
          <a:bodyPr wrap="square" anchor="t">
            <a:spAutoFit/>
          </a:bodyPr>
          <a:lstStyle/>
          <a:p>
            <a:pPr algn="ctr">
              <a:lnSpc>
                <a:spcPct val="100000"/>
              </a:lnSpc>
              <a:spcAft>
                <a:spcPts val="0"/>
              </a:spcAft>
            </a:pPr>
            <a:r>
              <a:rPr b="1" sz="900">
                <a:solidFill>
                  <a:srgbClr val="FFFFFF"/>
                </a:solidFill>
                <a:latin typeface="Calibri"/>
              </a:rPr>
              <a:t>BINDING THRU 2027</a:t>
            </a:r>
          </a:p>
        </p:txBody>
      </p:sp>
      <p:sp>
        <p:nvSpPr>
          <p:cNvPr id="30" name="Rounded Rectangle 29"/>
          <p:cNvSpPr/>
          <p:nvPr/>
        </p:nvSpPr>
        <p:spPr>
          <a:xfrm>
            <a:off x="502920" y="4416552"/>
            <a:ext cx="9674351" cy="886968"/>
          </a:xfrm>
          <a:prstGeom prst="roundRect">
            <a:avLst>
              <a:gd name="adj" fmla="val 9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502920" y="4416552"/>
            <a:ext cx="566928" cy="886968"/>
          </a:xfrm>
          <a:prstGeom prst="roundRect">
            <a:avLst>
              <a:gd name="adj" fmla="val 9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02920" y="4654296"/>
            <a:ext cx="566928" cy="411480"/>
          </a:xfrm>
          <a:prstGeom prst="rect">
            <a:avLst/>
          </a:prstGeom>
          <a:noFill/>
        </p:spPr>
        <p:txBody>
          <a:bodyPr wrap="square" anchor="t">
            <a:spAutoFit/>
          </a:bodyPr>
          <a:lstStyle/>
          <a:p>
            <a:pPr algn="ctr">
              <a:lnSpc>
                <a:spcPct val="100000"/>
              </a:lnSpc>
              <a:spcAft>
                <a:spcPts val="0"/>
              </a:spcAft>
            </a:pPr>
            <a:r>
              <a:rPr b="1" sz="1500">
                <a:solidFill>
                  <a:srgbClr val="FFFFFF"/>
                </a:solidFill>
                <a:latin typeface="Calibri"/>
              </a:rPr>
              <a:t>#4</a:t>
            </a:r>
          </a:p>
        </p:txBody>
      </p:sp>
      <p:sp>
        <p:nvSpPr>
          <p:cNvPr id="33" name="TextBox 32"/>
          <p:cNvSpPr txBox="1"/>
          <p:nvPr/>
        </p:nvSpPr>
        <p:spPr>
          <a:xfrm>
            <a:off x="1234440" y="4489704"/>
            <a:ext cx="7863840" cy="310896"/>
          </a:xfrm>
          <a:prstGeom prst="rect">
            <a:avLst/>
          </a:prstGeom>
          <a:noFill/>
        </p:spPr>
        <p:txBody>
          <a:bodyPr wrap="square" anchor="t">
            <a:spAutoFit/>
          </a:bodyPr>
          <a:lstStyle/>
          <a:p>
            <a:pPr algn="l">
              <a:lnSpc>
                <a:spcPct val="100000"/>
              </a:lnSpc>
              <a:spcAft>
                <a:spcPts val="0"/>
              </a:spcAft>
            </a:pPr>
            <a:r>
              <a:rPr b="1" sz="1200">
                <a:solidFill>
                  <a:srgbClr val="0B1D3A"/>
                </a:solidFill>
                <a:latin typeface="Calibri"/>
              </a:rPr>
              <a:t>Skilled labor (winders, electricians, HV engineers)</a:t>
            </a:r>
          </a:p>
        </p:txBody>
      </p:sp>
      <p:sp>
        <p:nvSpPr>
          <p:cNvPr id="34" name="TextBox 33"/>
          <p:cNvSpPr txBox="1"/>
          <p:nvPr/>
        </p:nvSpPr>
        <p:spPr>
          <a:xfrm>
            <a:off x="1234440" y="4809744"/>
            <a:ext cx="10241280" cy="457200"/>
          </a:xfrm>
          <a:prstGeom prst="rect">
            <a:avLst/>
          </a:prstGeom>
          <a:noFill/>
        </p:spPr>
        <p:txBody>
          <a:bodyPr wrap="square" anchor="t">
            <a:spAutoFit/>
          </a:bodyPr>
          <a:lstStyle/>
          <a:p>
            <a:pPr algn="l">
              <a:lnSpc>
                <a:spcPct val="98000"/>
              </a:lnSpc>
              <a:spcAft>
                <a:spcPts val="0"/>
              </a:spcAft>
            </a:pPr>
            <a:r>
              <a:rPr b="0" sz="950">
                <a:solidFill>
                  <a:srgbClr val="222A35"/>
                </a:solidFill>
                <a:latin typeface="Calibri"/>
              </a:rPr>
              <a:t>~439k construction shortfall; ~1/3 of critical-infrastructure technical staff at or near retirement. No cyclical relief mechanism.</a:t>
            </a:r>
          </a:p>
        </p:txBody>
      </p:sp>
      <p:sp>
        <p:nvSpPr>
          <p:cNvPr id="35" name="Rounded Rectangle 34"/>
          <p:cNvSpPr/>
          <p:nvPr/>
        </p:nvSpPr>
        <p:spPr>
          <a:xfrm>
            <a:off x="9646920" y="4489704"/>
            <a:ext cx="1874519" cy="274320"/>
          </a:xfrm>
          <a:prstGeom prst="roundRect">
            <a:avLst>
              <a:gd name="adj" fmla="val 50000"/>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646920" y="4507992"/>
            <a:ext cx="1874519" cy="237744"/>
          </a:xfrm>
          <a:prstGeom prst="rect">
            <a:avLst/>
          </a:prstGeom>
          <a:noFill/>
        </p:spPr>
        <p:txBody>
          <a:bodyPr wrap="square" anchor="t">
            <a:spAutoFit/>
          </a:bodyPr>
          <a:lstStyle/>
          <a:p>
            <a:pPr algn="ctr">
              <a:lnSpc>
                <a:spcPct val="100000"/>
              </a:lnSpc>
              <a:spcAft>
                <a:spcPts val="0"/>
              </a:spcAft>
            </a:pPr>
            <a:r>
              <a:rPr b="1" sz="900">
                <a:solidFill>
                  <a:srgbClr val="FFFFFF"/>
                </a:solidFill>
                <a:latin typeface="Calibri"/>
              </a:rPr>
              <a:t>CHRONIC</a:t>
            </a:r>
          </a:p>
        </p:txBody>
      </p:sp>
      <p:sp>
        <p:nvSpPr>
          <p:cNvPr id="37" name="Rounded Rectangle 36"/>
          <p:cNvSpPr/>
          <p:nvPr/>
        </p:nvSpPr>
        <p:spPr>
          <a:xfrm>
            <a:off x="502920" y="5394960"/>
            <a:ext cx="9171431" cy="886968"/>
          </a:xfrm>
          <a:prstGeom prst="roundRect">
            <a:avLst>
              <a:gd name="adj" fmla="val 9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502920" y="5394960"/>
            <a:ext cx="566928" cy="886968"/>
          </a:xfrm>
          <a:prstGeom prst="roundRect">
            <a:avLst>
              <a:gd name="adj" fmla="val 9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02920" y="5632704"/>
            <a:ext cx="566928" cy="411480"/>
          </a:xfrm>
          <a:prstGeom prst="rect">
            <a:avLst/>
          </a:prstGeom>
          <a:noFill/>
        </p:spPr>
        <p:txBody>
          <a:bodyPr wrap="square" anchor="t">
            <a:spAutoFit/>
          </a:bodyPr>
          <a:lstStyle/>
          <a:p>
            <a:pPr algn="ctr">
              <a:lnSpc>
                <a:spcPct val="100000"/>
              </a:lnSpc>
              <a:spcAft>
                <a:spcPts val="0"/>
              </a:spcAft>
            </a:pPr>
            <a:r>
              <a:rPr b="1" sz="1500">
                <a:solidFill>
                  <a:srgbClr val="FFFFFF"/>
                </a:solidFill>
                <a:latin typeface="Calibri"/>
              </a:rPr>
              <a:t>#5</a:t>
            </a:r>
          </a:p>
        </p:txBody>
      </p:sp>
      <p:sp>
        <p:nvSpPr>
          <p:cNvPr id="40" name="TextBox 39"/>
          <p:cNvSpPr txBox="1"/>
          <p:nvPr/>
        </p:nvSpPr>
        <p:spPr>
          <a:xfrm>
            <a:off x="1234440" y="5468112"/>
            <a:ext cx="7863840" cy="310896"/>
          </a:xfrm>
          <a:prstGeom prst="rect">
            <a:avLst/>
          </a:prstGeom>
          <a:noFill/>
        </p:spPr>
        <p:txBody>
          <a:bodyPr wrap="square" anchor="t">
            <a:spAutoFit/>
          </a:bodyPr>
          <a:lstStyle/>
          <a:p>
            <a:pPr algn="l">
              <a:lnSpc>
                <a:spcPct val="100000"/>
              </a:lnSpc>
              <a:spcAft>
                <a:spcPts val="0"/>
              </a:spcAft>
            </a:pPr>
            <a:r>
              <a:rPr b="1" sz="1200">
                <a:solidFill>
                  <a:srgbClr val="0B1D3A"/>
                </a:solidFill>
                <a:latin typeface="Calibri"/>
              </a:rPr>
              <a:t>NOT the constraint: shells, steel, GPU die, land, fiber</a:t>
            </a:r>
          </a:p>
        </p:txBody>
      </p:sp>
      <p:sp>
        <p:nvSpPr>
          <p:cNvPr id="41" name="TextBox 40"/>
          <p:cNvSpPr txBox="1"/>
          <p:nvPr/>
        </p:nvSpPr>
        <p:spPr>
          <a:xfrm>
            <a:off x="1234440" y="5788152"/>
            <a:ext cx="10241280" cy="457200"/>
          </a:xfrm>
          <a:prstGeom prst="rect">
            <a:avLst/>
          </a:prstGeom>
          <a:noFill/>
        </p:spPr>
        <p:txBody>
          <a:bodyPr wrap="square" anchor="t">
            <a:spAutoFit/>
          </a:bodyPr>
          <a:lstStyle/>
          <a:p>
            <a:pPr algn="l">
              <a:lnSpc>
                <a:spcPct val="98000"/>
              </a:lnSpc>
              <a:spcAft>
                <a:spcPts val="0"/>
              </a:spcAft>
            </a:pPr>
            <a:r>
              <a:rPr b="0" sz="950">
                <a:solidFill>
                  <a:srgbClr val="222A35"/>
                </a:solidFill>
                <a:latin typeface="Calibri"/>
              </a:rPr>
              <a:t>Shell construction runs 12–18 months and is rarely the long pole; compute-die supply has normalized. Don't underwrite scarcity here.</a:t>
            </a:r>
          </a:p>
        </p:txBody>
      </p:sp>
      <p:sp>
        <p:nvSpPr>
          <p:cNvPr id="42" name="Rounded Rectangle 41"/>
          <p:cNvSpPr/>
          <p:nvPr/>
        </p:nvSpPr>
        <p:spPr>
          <a:xfrm>
            <a:off x="9646920" y="5468112"/>
            <a:ext cx="1874519" cy="274320"/>
          </a:xfrm>
          <a:prstGeom prst="roundRect">
            <a:avLst>
              <a:gd name="adj" fmla="val 50000"/>
            </a:avLst>
          </a:prstGeom>
          <a:solidFill>
            <a:srgbClr val="1E6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646920" y="5486400"/>
            <a:ext cx="1874519" cy="237744"/>
          </a:xfrm>
          <a:prstGeom prst="rect">
            <a:avLst/>
          </a:prstGeom>
          <a:noFill/>
        </p:spPr>
        <p:txBody>
          <a:bodyPr wrap="square" anchor="t">
            <a:spAutoFit/>
          </a:bodyPr>
          <a:lstStyle/>
          <a:p>
            <a:pPr algn="ctr">
              <a:lnSpc>
                <a:spcPct val="100000"/>
              </a:lnSpc>
              <a:spcAft>
                <a:spcPts val="0"/>
              </a:spcAft>
            </a:pPr>
            <a:r>
              <a:rPr b="1" sz="900">
                <a:solidFill>
                  <a:srgbClr val="FFFFFF"/>
                </a:solidFill>
                <a:latin typeface="Calibri"/>
              </a:rPr>
              <a:t>CLEAR</a:t>
            </a:r>
          </a:p>
        </p:txBody>
      </p:sp>
      <p:sp>
        <p:nvSpPr>
          <p:cNvPr id="44" name="TextBox 43"/>
          <p:cNvSpPr txBox="1"/>
          <p:nvPr/>
        </p:nvSpPr>
        <p:spPr>
          <a:xfrm>
            <a:off x="502920" y="6382512"/>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Artifipedia grid-interconnection analysis; LBNL; TrendForce; Allianz Research; team assessment.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DEEP DIVE — POWER</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Speed-to-power: built in year 3, energized in year 5–7</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The interconnection queue — not the crane — sets the schedule, and every month in the gap is idle capex</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7</a:t>
            </a:r>
          </a:p>
        </p:txBody>
      </p:sp>
      <p:graphicFrame>
        <p:nvGraphicFramePr>
          <p:cNvPr id="9" name="Chart 8"/>
          <p:cNvGraphicFramePr>
            <a:graphicFrameLocks noGrp="1"/>
          </p:cNvGraphicFramePr>
          <p:nvPr/>
        </p:nvGraphicFramePr>
        <p:xfrm>
          <a:off x="502920" y="1554480"/>
          <a:ext cx="4937760" cy="3291840"/>
        </p:xfrm>
        <a:graphic>
          <a:graphicData uri="http://schemas.openxmlformats.org/drawingml/2006/chart">
            <c:chart xmlns:c="http://schemas.openxmlformats.org/drawingml/2006/chart" r:id="rId2"/>
          </a:graphicData>
        </a:graphic>
      </p:graphicFrame>
      <p:sp>
        <p:nvSpPr>
          <p:cNvPr id="10" name="TextBox 9"/>
          <p:cNvSpPr txBox="1"/>
          <p:nvPr/>
        </p:nvSpPr>
        <p:spPr>
          <a:xfrm>
            <a:off x="502920" y="4892040"/>
            <a:ext cx="4937760" cy="502920"/>
          </a:xfrm>
          <a:prstGeom prst="rect">
            <a:avLst/>
          </a:prstGeom>
          <a:noFill/>
        </p:spPr>
        <p:txBody>
          <a:bodyPr wrap="square" anchor="t">
            <a:spAutoFit/>
          </a:bodyPr>
          <a:lstStyle/>
          <a:p>
            <a:pPr algn="l">
              <a:lnSpc>
                <a:spcPct val="100000"/>
              </a:lnSpc>
              <a:spcAft>
                <a:spcPts val="400"/>
              </a:spcAft>
            </a:pPr>
            <a:r>
              <a:rPr b="0" sz="850">
                <a:solidFill>
                  <a:srgbClr val="66707D"/>
                </a:solidFill>
                <a:latin typeface="Calibri"/>
              </a:rPr>
              <a:t>Median months from interconnection request to commercial operation, US (LBNL Queued Up 2026). Studies alone: median 45 months in 2025.</a:t>
            </a:r>
          </a:p>
        </p:txBody>
      </p:sp>
      <p:sp>
        <p:nvSpPr>
          <p:cNvPr id="11" name="TextBox 10"/>
          <p:cNvSpPr txBox="1"/>
          <p:nvPr/>
        </p:nvSpPr>
        <p:spPr>
          <a:xfrm>
            <a:off x="5806440" y="1554480"/>
            <a:ext cx="5897880" cy="3200400"/>
          </a:xfrm>
          <a:prstGeom prst="rect">
            <a:avLst/>
          </a:prstGeom>
          <a:noFill/>
        </p:spPr>
        <p:txBody>
          <a:bodyPr wrap="square" anchor="t">
            <a:spAutoFit/>
          </a:bodyPr>
          <a:lstStyle/>
          <a:p>
            <a:pPr algn="l">
              <a:lnSpc>
                <a:spcPct val="105000"/>
              </a:lnSpc>
              <a:spcAft>
                <a:spcPts val="800"/>
              </a:spcAft>
            </a:pPr>
            <a:r>
              <a:rPr b="1" sz="1000">
                <a:solidFill>
                  <a:srgbClr val="0B1D3A"/>
                </a:solidFill>
                <a:latin typeface="Calibri"/>
              </a:rPr>
              <a:t>The queue is the scarcest asset.  </a:t>
            </a:r>
            <a:r>
              <a:rPr b="0" sz="1000">
                <a:solidFill>
                  <a:srgbClr val="222A35"/>
                </a:solidFill>
                <a:latin typeface="Calibri"/>
              </a:rPr>
              <a:t>~2,300 GW of generation and storage waits in US queues — more than total installed US capacity. Queue position belongs to the utility, not the operator: capital, GPUs and permits don't move you forward.</a:t>
            </a:r>
          </a:p>
          <a:p>
            <a:pPr algn="l">
              <a:lnSpc>
                <a:spcPct val="105000"/>
              </a:lnSpc>
              <a:spcAft>
                <a:spcPts val="800"/>
              </a:spcAft>
            </a:pPr>
            <a:r>
              <a:rPr b="1" sz="1000">
                <a:solidFill>
                  <a:srgbClr val="0B1D3A"/>
                </a:solidFill>
                <a:latin typeface="Calibri"/>
              </a:rPr>
              <a:t>Demand shock meets aging grid.  </a:t>
            </a:r>
            <a:r>
              <a:rPr b="0" sz="1000">
                <a:solidFill>
                  <a:srgbClr val="222A35"/>
                </a:solidFill>
                <a:latin typeface="Calibri"/>
              </a:rPr>
              <a:t>NERC's 10-year forecast added +224 GW of summer peak demand (+24% vs prior year), driven by data-center load; NERC has issued a rare Level 3 alert on DC load oscillations.</a:t>
            </a:r>
          </a:p>
          <a:p>
            <a:pPr algn="l">
              <a:lnSpc>
                <a:spcPct val="105000"/>
              </a:lnSpc>
              <a:spcAft>
                <a:spcPts val="800"/>
              </a:spcAft>
            </a:pPr>
            <a:r>
              <a:rPr b="1" sz="1000">
                <a:solidFill>
                  <a:srgbClr val="0B1D3A"/>
                </a:solidFill>
                <a:latin typeface="Calibri"/>
              </a:rPr>
              <a:t>Half the 2026 pipeline is at risk.  </a:t>
            </a:r>
            <a:r>
              <a:rPr b="0" sz="1000">
                <a:solidFill>
                  <a:srgbClr val="222A35"/>
                </a:solidFill>
                <a:latin typeface="Calibri"/>
              </a:rPr>
              <a:t>Allianz Research estimates ~30% supply shortage in key power equipment and expects roughly half of the ~12 GW of planned 2026 US data-center capacity to slip or cancel.</a:t>
            </a:r>
          </a:p>
          <a:p>
            <a:pPr algn="l">
              <a:lnSpc>
                <a:spcPct val="105000"/>
              </a:lnSpc>
              <a:spcAft>
                <a:spcPts val="800"/>
              </a:spcAft>
            </a:pPr>
            <a:r>
              <a:rPr b="1" sz="1000">
                <a:solidFill>
                  <a:srgbClr val="0B1D3A"/>
                </a:solidFill>
                <a:latin typeface="Calibri"/>
              </a:rPr>
              <a:t>The bridge: behind-the-meter generation.  </a:t>
            </a:r>
            <a:r>
              <a:rPr b="0" sz="1000">
                <a:solidFill>
                  <a:srgbClr val="222A35"/>
                </a:solidFill>
                <a:latin typeface="Calibri"/>
              </a:rPr>
              <a:t>On-site turbines/gensets convert a 5–7 yr utility wait into a 12–18 month equipment schedule; flexible/curtailable interconnection can unlock ~98–100 GW of new load at ~0.5% annual curtailment (Duke/Nicholas Institute).</a:t>
            </a:r>
          </a:p>
        </p:txBody>
      </p:sp>
      <p:sp>
        <p:nvSpPr>
          <p:cNvPr id="12" name="Rounded Rectangle 11"/>
          <p:cNvSpPr/>
          <p:nvPr/>
        </p:nvSpPr>
        <p:spPr>
          <a:xfrm>
            <a:off x="5806440" y="5074920"/>
            <a:ext cx="5897880" cy="1005840"/>
          </a:xfrm>
          <a:prstGeom prst="roundRect">
            <a:avLst>
              <a:gd name="adj" fmla="val 8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035040" y="5193792"/>
            <a:ext cx="5486400" cy="822960"/>
          </a:xfrm>
          <a:prstGeom prst="rect">
            <a:avLst/>
          </a:prstGeom>
          <a:noFill/>
        </p:spPr>
        <p:txBody>
          <a:bodyPr wrap="square" anchor="t">
            <a:spAutoFit/>
          </a:bodyPr>
          <a:lstStyle/>
          <a:p>
            <a:pPr algn="l">
              <a:lnSpc>
                <a:spcPct val="105000"/>
              </a:lnSpc>
              <a:spcAft>
                <a:spcPts val="400"/>
              </a:spcAft>
            </a:pPr>
            <a:r>
              <a:rPr b="1" sz="1050">
                <a:solidFill>
                  <a:srgbClr val="C2903A"/>
                </a:solidFill>
                <a:latin typeface="Calibri"/>
              </a:rPr>
              <a:t>Analyst take:  </a:t>
            </a:r>
            <a:r>
              <a:rPr b="0" sz="1050">
                <a:solidFill>
                  <a:srgbClr val="FFFFFF"/>
                </a:solidFill>
                <a:latin typeface="Calibri"/>
              </a:rPr>
              <a:t>"MW energized" is the KPI that converts capex into revenue. We value operators on secured, dated power — not on announced megawatts.</a:t>
            </a:r>
          </a:p>
        </p:txBody>
      </p:sp>
      <p:sp>
        <p:nvSpPr>
          <p:cNvPr id="14" name="TextBox 13"/>
          <p:cNvSpPr txBox="1"/>
          <p:nvPr/>
        </p:nvSpPr>
        <p:spPr>
          <a:xfrm>
            <a:off x="502920" y="6236208"/>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LBNL Queued Up 2026; NERC; Allianz Research; Duke Nicholas Institute; aidatacenterguide.com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DEEP DIVE — ELECTRICAL EQUIPMENT</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Transformers &amp; turbines: a supercycle meets a labor-limited oligopoly</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Lead times have doubled-to-tripled; announced capacity lands 2027–28 and does not shorten today's quotes</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8</a:t>
            </a:r>
          </a:p>
        </p:txBody>
      </p:sp>
      <p:graphicFrame>
        <p:nvGraphicFramePr>
          <p:cNvPr id="9" name="Chart 8"/>
          <p:cNvGraphicFramePr>
            <a:graphicFrameLocks noGrp="1"/>
          </p:cNvGraphicFramePr>
          <p:nvPr/>
        </p:nvGraphicFramePr>
        <p:xfrm>
          <a:off x="502920" y="1554480"/>
          <a:ext cx="5486400" cy="3017520"/>
        </p:xfrm>
        <a:graphic>
          <a:graphicData uri="http://schemas.openxmlformats.org/drawingml/2006/chart">
            <c:chart xmlns:c="http://schemas.openxmlformats.org/drawingml/2006/chart" r:id="rId2"/>
          </a:graphicData>
        </a:graphic>
      </p:graphicFrame>
      <p:sp>
        <p:nvSpPr>
          <p:cNvPr id="10" name="TextBox 9"/>
          <p:cNvSpPr txBox="1"/>
          <p:nvPr/>
        </p:nvSpPr>
        <p:spPr>
          <a:xfrm>
            <a:off x="502920" y="4617720"/>
            <a:ext cx="5486400" cy="457200"/>
          </a:xfrm>
          <a:prstGeom prst="rect">
            <a:avLst/>
          </a:prstGeom>
          <a:noFill/>
        </p:spPr>
        <p:txBody>
          <a:bodyPr wrap="square" anchor="t">
            <a:spAutoFit/>
          </a:bodyPr>
          <a:lstStyle/>
          <a:p>
            <a:pPr algn="l">
              <a:lnSpc>
                <a:spcPct val="100000"/>
              </a:lnSpc>
              <a:spcAft>
                <a:spcPts val="400"/>
              </a:spcAft>
            </a:pPr>
            <a:r>
              <a:rPr b="0" sz="850">
                <a:solidFill>
                  <a:srgbClr val="66707D"/>
                </a:solidFill>
                <a:latin typeface="Calibri"/>
              </a:rPr>
              <a:t>US average lead times, weeks. Specialty transformer units quoted at 3–5 years.</a:t>
            </a:r>
          </a:p>
        </p:txBody>
      </p:sp>
      <p:sp>
        <p:nvSpPr>
          <p:cNvPr id="11" name="Rounded Rectangle 10"/>
          <p:cNvSpPr/>
          <p:nvPr/>
        </p:nvSpPr>
        <p:spPr>
          <a:xfrm>
            <a:off x="502920" y="5120640"/>
            <a:ext cx="5486400" cy="9601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5212080"/>
            <a:ext cx="5166360" cy="822960"/>
          </a:xfrm>
          <a:prstGeom prst="rect">
            <a:avLst/>
          </a:prstGeom>
          <a:noFill/>
        </p:spPr>
        <p:txBody>
          <a:bodyPr wrap="square" anchor="t">
            <a:spAutoFit/>
          </a:bodyPr>
          <a:lstStyle/>
          <a:p>
            <a:pPr algn="l">
              <a:lnSpc>
                <a:spcPct val="102000"/>
              </a:lnSpc>
              <a:spcAft>
                <a:spcPts val="400"/>
              </a:spcAft>
            </a:pPr>
            <a:r>
              <a:rPr b="1" sz="1000">
                <a:solidFill>
                  <a:srgbClr val="0B1D3A"/>
                </a:solidFill>
                <a:latin typeface="Calibri"/>
              </a:rPr>
              <a:t>The real constraint is a missing trade:  </a:t>
            </a:r>
            <a:r>
              <a:rPr b="0" sz="1000">
                <a:solidFill>
                  <a:srgbClr val="222A35"/>
                </a:solidFill>
                <a:latin typeface="Calibri"/>
              </a:rPr>
              <a:t>transformer output is gated by a ~15,000-person US workforce that hand-winds copper coils — capex cannot compress a 144-week GSU quote in 2026.</a:t>
            </a:r>
          </a:p>
        </p:txBody>
      </p:sp>
      <p:sp>
        <p:nvSpPr>
          <p:cNvPr id="13" name="TextBox 12"/>
          <p:cNvSpPr txBox="1"/>
          <p:nvPr/>
        </p:nvSpPr>
        <p:spPr>
          <a:xfrm>
            <a:off x="6355080" y="1554480"/>
            <a:ext cx="5349240" cy="4389120"/>
          </a:xfrm>
          <a:prstGeom prst="rect">
            <a:avLst/>
          </a:prstGeom>
          <a:noFill/>
        </p:spPr>
        <p:txBody>
          <a:bodyPr wrap="square" anchor="t">
            <a:spAutoFit/>
          </a:bodyPr>
          <a:lstStyle/>
          <a:p>
            <a:pPr algn="l">
              <a:lnSpc>
                <a:spcPct val="105000"/>
              </a:lnSpc>
              <a:spcAft>
                <a:spcPts val="900"/>
              </a:spcAft>
            </a:pPr>
            <a:r>
              <a:rPr b="1" sz="1000">
                <a:solidFill>
                  <a:srgbClr val="0B1D3A"/>
                </a:solidFill>
                <a:latin typeface="Calibri"/>
              </a:rPr>
              <a:t>Turbines are scarcer still.  </a:t>
            </a:r>
            <a:r>
              <a:rPr b="0" sz="1000">
                <a:solidFill>
                  <a:srgbClr val="222A35"/>
                </a:solidFill>
                <a:latin typeface="Calibri"/>
              </a:rPr>
              <a:t>GE Vernova's gas-turbine backlog reached 100 GW in Q1-26 (guiding ≥110 GW by year-end); Siemens Energy sold 194 turbines in 2025 vs 100 in 2024, and slots at major makers are booked into the next decade.</a:t>
            </a:r>
          </a:p>
          <a:p>
            <a:pPr algn="l">
              <a:lnSpc>
                <a:spcPct val="105000"/>
              </a:lnSpc>
              <a:spcAft>
                <a:spcPts val="900"/>
              </a:spcAft>
            </a:pPr>
            <a:r>
              <a:rPr b="1" sz="1000">
                <a:solidFill>
                  <a:srgbClr val="0B1D3A"/>
                </a:solidFill>
                <a:latin typeface="Calibri"/>
              </a:rPr>
              <a:t>Plant economics inflating.  </a:t>
            </a:r>
            <a:r>
              <a:rPr b="0" sz="1000">
                <a:solidFill>
                  <a:srgbClr val="222A35"/>
                </a:solidFill>
                <a:latin typeface="Calibri"/>
              </a:rPr>
              <a:t>New CCGT lead time is ~5 years (from 3.5 in 2023) with costs +49% (BloombergNEF). Gas-fired capacity needed now is effectively rationed by the turbine queue.</a:t>
            </a:r>
          </a:p>
          <a:p>
            <a:pPr algn="l">
              <a:lnSpc>
                <a:spcPct val="105000"/>
              </a:lnSpc>
              <a:spcAft>
                <a:spcPts val="900"/>
              </a:spcAft>
            </a:pPr>
            <a:r>
              <a:rPr b="1" sz="1000">
                <a:solidFill>
                  <a:srgbClr val="0B1D3A"/>
                </a:solidFill>
                <a:latin typeface="Calibri"/>
              </a:rPr>
              <a:t>Capacity response is real but late.  </a:t>
            </a:r>
            <a:r>
              <a:rPr b="0" sz="1000">
                <a:solidFill>
                  <a:srgbClr val="222A35"/>
                </a:solidFill>
                <a:latin typeface="Calibri"/>
              </a:rPr>
              <a:t>Siemens committed $1bn+ to US grid/turbine manufacturing; new transformer plants in Virginia and North Carolina come online 2027–28; GOES steel ramps mid-2028.</a:t>
            </a:r>
          </a:p>
          <a:p>
            <a:pPr algn="l">
              <a:lnSpc>
                <a:spcPct val="105000"/>
              </a:lnSpc>
              <a:spcAft>
                <a:spcPts val="900"/>
              </a:spcAft>
            </a:pPr>
            <a:r>
              <a:rPr b="1" sz="1000">
                <a:solidFill>
                  <a:srgbClr val="0B1D3A"/>
                </a:solidFill>
                <a:latin typeface="Calibri"/>
              </a:rPr>
              <a:t>The TAM re-rating.  </a:t>
            </a:r>
            <a:r>
              <a:rPr b="0" sz="1000">
                <a:solidFill>
                  <a:srgbClr val="222A35"/>
                </a:solidFill>
                <a:latin typeface="Calibri"/>
              </a:rPr>
              <a:t>US data-center electrical-equipment spend: ~$20bn (2025) → ~$65bn (2030E). Transformer prices seen +4–10% over the next year — pricing power sits with the oligopoly.</a:t>
            </a:r>
          </a:p>
        </p:txBody>
      </p:sp>
      <p:sp>
        <p:nvSpPr>
          <p:cNvPr id="14" name="TextBox 13"/>
          <p:cNvSpPr txBox="1"/>
          <p:nvPr/>
        </p:nvSpPr>
        <p:spPr>
          <a:xfrm>
            <a:off x="502920" y="6236208"/>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GE Vernova and Siemens Energy disclosures; BloombergNEF; Wood Mackenzie; POWER Magazine; Manufacturing Mag.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DEEP DIVE — SILICON &amp; MEMORY</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The silicon gate is memory and packaging — not the GPU compute die</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HBM — not the compute die — is the binding silicon constraint through 2027; packaging slots are the second gate</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9</a:t>
            </a:r>
          </a:p>
        </p:txBody>
      </p:sp>
      <p:graphicFrame>
        <p:nvGraphicFramePr>
          <p:cNvPr id="9" name="Table 8"/>
          <p:cNvGraphicFramePr>
            <a:graphicFrameLocks noGrp="1"/>
          </p:cNvGraphicFramePr>
          <p:nvPr/>
        </p:nvGraphicFramePr>
        <p:xfrm>
          <a:off x="502920" y="1481328"/>
          <a:ext cx="11183112" cy="4133088"/>
        </p:xfrm>
        <a:graphic>
          <a:graphicData uri="http://schemas.openxmlformats.org/drawingml/2006/table">
            <a:tbl>
              <a:tblPr>
                <a:tableStyleId>{5C22544A-7EE6-4342-B048-85BDC9FD1C3A}</a:tableStyleId>
              </a:tblPr>
              <a:tblGrid>
                <a:gridCol w="1417320"/>
                <a:gridCol w="4882896"/>
                <a:gridCol w="4882896"/>
              </a:tblGrid>
              <a:tr h="292608">
                <a:tc>
                  <a:txBody>
                    <a:bodyPr wrap="square"/>
                    <a:lstStyle/>
                    <a:p>
                      <a:r>
                        <a:rPr sz="1000" b="1">
                          <a:solidFill>
                            <a:srgbClr val="FFFFFF"/>
                          </a:solidFill>
                          <a:latin typeface="Calibri"/>
                        </a:rPr>
                        <a:t>Layer</a:t>
                      </a:r>
                    </a:p>
                  </a:txBody>
                  <a:tcPr anchor="ctr" marL="64008" marR="45720" marT="18288" marB="18288">
                    <a:solidFill>
                      <a:srgbClr val="0B1D3A"/>
                    </a:solidFill>
                  </a:tcPr>
                </a:tc>
                <a:tc>
                  <a:txBody>
                    <a:bodyPr wrap="square"/>
                    <a:lstStyle/>
                    <a:p>
                      <a:r>
                        <a:rPr sz="1000" b="1">
                          <a:solidFill>
                            <a:srgbClr val="FFFFFF"/>
                          </a:solidFill>
                          <a:latin typeface="Calibri"/>
                        </a:rPr>
                        <a:t>Status (mid-2026)</a:t>
                      </a:r>
                    </a:p>
                  </a:txBody>
                  <a:tcPr anchor="ctr" marL="64008" marR="45720" marT="18288" marB="18288">
                    <a:solidFill>
                      <a:srgbClr val="0B1D3A"/>
                    </a:solidFill>
                  </a:tcPr>
                </a:tc>
                <a:tc>
                  <a:txBody>
                    <a:bodyPr wrap="square"/>
                    <a:lstStyle/>
                    <a:p>
                      <a:r>
                        <a:rPr sz="1000" b="1">
                          <a:solidFill>
                            <a:srgbClr val="FFFFFF"/>
                          </a:solidFill>
                          <a:latin typeface="Calibri"/>
                        </a:rPr>
                        <a:t>Implication</a:t>
                      </a:r>
                    </a:p>
                  </a:txBody>
                  <a:tcPr anchor="ctr" marL="64008" marR="45720" marT="18288" marB="18288">
                    <a:solidFill>
                      <a:srgbClr val="0B1D3A"/>
                    </a:solidFill>
                  </a:tcPr>
                </a:tc>
              </a:tr>
              <a:tr h="768096">
                <a:tc>
                  <a:txBody>
                    <a:bodyPr wrap="square"/>
                    <a:lstStyle/>
                    <a:p>
                      <a:r>
                        <a:rPr sz="900" b="0">
                          <a:solidFill>
                            <a:srgbClr val="222A35"/>
                          </a:solidFill>
                          <a:latin typeface="Calibri"/>
                        </a:rPr>
                        <a:t>HBM4 supply</a:t>
                      </a:r>
                    </a:p>
                  </a:txBody>
                  <a:tcPr anchor="ctr" marL="64008" marR="45720" marT="18288" marB="18288">
                    <a:solidFill>
                      <a:srgbClr val="FFFFFF"/>
                    </a:solidFill>
                  </a:tcPr>
                </a:tc>
                <a:tc>
                  <a:txBody>
                    <a:bodyPr wrap="square"/>
                    <a:lstStyle/>
                    <a:p>
                      <a:r>
                        <a:rPr sz="900" b="0">
                          <a:solidFill>
                            <a:srgbClr val="222A35"/>
                          </a:solidFill>
                          <a:latin typeface="Calibri"/>
                        </a:rPr>
                        <a:t>100% of 2026 output sold out on LTAs; customer fill rates 60–70%; deficit seen through 2027</a:t>
                      </a:r>
                    </a:p>
                  </a:txBody>
                  <a:tcPr anchor="ctr" marL="64008" marR="45720" marT="18288" marB="18288">
                    <a:solidFill>
                      <a:srgbClr val="FFFFFF"/>
                    </a:solidFill>
                  </a:tcPr>
                </a:tc>
                <a:tc>
                  <a:txBody>
                    <a:bodyPr wrap="square"/>
                    <a:lstStyle/>
                    <a:p>
                      <a:r>
                        <a:rPr sz="900" b="0">
                          <a:solidFill>
                            <a:srgbClr val="222A35"/>
                          </a:solidFill>
                          <a:latin typeface="Calibri"/>
                        </a:rPr>
                        <a:t>Pricing power with SK Hynix (~60% share), Samsung, Micron; HBM opex now moving hyperscaler capex guides</a:t>
                      </a:r>
                    </a:p>
                  </a:txBody>
                  <a:tcPr anchor="ctr" marL="64008" marR="45720" marT="18288" marB="18288">
                    <a:solidFill>
                      <a:srgbClr val="FFFFFF"/>
                    </a:solidFill>
                  </a:tcPr>
                </a:tc>
              </a:tr>
              <a:tr h="768096">
                <a:tc>
                  <a:txBody>
                    <a:bodyPr wrap="square"/>
                    <a:lstStyle/>
                    <a:p>
                      <a:r>
                        <a:rPr sz="900" b="0">
                          <a:solidFill>
                            <a:srgbClr val="222A35"/>
                          </a:solidFill>
                          <a:latin typeface="Calibri"/>
                        </a:rPr>
                        <a:t>HBM economics</a:t>
                      </a:r>
                    </a:p>
                  </a:txBody>
                  <a:tcPr anchor="ctr" marL="64008" marR="45720" marT="18288" marB="18288">
                    <a:solidFill>
                      <a:srgbClr val="F1F4F8"/>
                    </a:solidFill>
                  </a:tcPr>
                </a:tc>
                <a:tc>
                  <a:txBody>
                    <a:bodyPr wrap="square"/>
                    <a:lstStyle/>
                    <a:p>
                      <a:r>
                        <a:rPr sz="900" b="0">
                          <a:solidFill>
                            <a:srgbClr val="222A35"/>
                          </a:solidFill>
                          <a:latin typeface="Calibri"/>
                        </a:rPr>
                        <a:t>HBM3e contract prices +~20% y/y; HBM4 BOM ~2x HBM3e</a:t>
                      </a:r>
                    </a:p>
                  </a:txBody>
                  <a:tcPr anchor="ctr" marL="64008" marR="45720" marT="18288" marB="18288">
                    <a:solidFill>
                      <a:srgbClr val="F1F4F8"/>
                    </a:solidFill>
                  </a:tcPr>
                </a:tc>
                <a:tc>
                  <a:txBody>
                    <a:bodyPr wrap="square"/>
                    <a:lstStyle/>
                    <a:p>
                      <a:r>
                        <a:rPr sz="900" b="0">
                          <a:solidFill>
                            <a:srgbClr val="222A35"/>
                          </a:solidFill>
                          <a:latin typeface="Calibri"/>
                        </a:rPr>
                        <a:t>Bernstein: HBM prices would need to ~triple to match conventional DRAM margin per wafer — pricing is cyclical, not structural</a:t>
                      </a:r>
                    </a:p>
                  </a:txBody>
                  <a:tcPr anchor="ctr" marL="64008" marR="45720" marT="18288" marB="18288">
                    <a:solidFill>
                      <a:srgbClr val="F1F4F8"/>
                    </a:solidFill>
                  </a:tcPr>
                </a:tc>
              </a:tr>
              <a:tr h="768096">
                <a:tc>
                  <a:txBody>
                    <a:bodyPr wrap="square"/>
                    <a:lstStyle/>
                    <a:p>
                      <a:r>
                        <a:rPr sz="900" b="0">
                          <a:solidFill>
                            <a:srgbClr val="222A35"/>
                          </a:solidFill>
                          <a:latin typeface="Calibri"/>
                        </a:rPr>
                        <a:t>CoWoS packaging</a:t>
                      </a:r>
                    </a:p>
                  </a:txBody>
                  <a:tcPr anchor="ctr" marL="64008" marR="45720" marT="18288" marB="18288">
                    <a:solidFill>
                      <a:srgbClr val="FFFFFF"/>
                    </a:solidFill>
                  </a:tcPr>
                </a:tc>
                <a:tc>
                  <a:txBody>
                    <a:bodyPr wrap="square"/>
                    <a:lstStyle/>
                    <a:p>
                      <a:r>
                        <a:rPr sz="900" b="0">
                          <a:solidFill>
                            <a:srgbClr val="222A35"/>
                          </a:solidFill>
                          <a:latin typeface="Calibri"/>
                        </a:rPr>
                        <a:t>Doubling to 120–130k wpm by Q4-26, yet fully allocated through mid-2027; lead times 52–78 wks</a:t>
                      </a:r>
                    </a:p>
                  </a:txBody>
                  <a:tcPr anchor="ctr" marL="64008" marR="45720" marT="18288" marB="18288">
                    <a:solidFill>
                      <a:srgbClr val="FFFFFF"/>
                    </a:solidFill>
                  </a:tcPr>
                </a:tc>
                <a:tc>
                  <a:txBody>
                    <a:bodyPr wrap="square"/>
                    <a:lstStyle/>
                    <a:p>
                      <a:r>
                        <a:rPr sz="900" b="0">
                          <a:solidFill>
                            <a:srgbClr val="222A35"/>
                          </a:solidFill>
                          <a:latin typeface="Calibri"/>
                        </a:rPr>
                        <a:t>NVIDIA holds ~60% of allocation — a moat made of booking windows</a:t>
                      </a:r>
                    </a:p>
                  </a:txBody>
                  <a:tcPr anchor="ctr" marL="64008" marR="45720" marT="18288" marB="18288">
                    <a:solidFill>
                      <a:srgbClr val="FFFFFF"/>
                    </a:solidFill>
                  </a:tcPr>
                </a:tc>
              </a:tr>
              <a:tr h="768096">
                <a:tc>
                  <a:txBody>
                    <a:bodyPr wrap="square"/>
                    <a:lstStyle/>
                    <a:p>
                      <a:r>
                        <a:rPr sz="900" b="0">
                          <a:solidFill>
                            <a:srgbClr val="222A35"/>
                          </a:solidFill>
                          <a:latin typeface="Calibri"/>
                        </a:rPr>
                        <a:t>GPU pricing</a:t>
                      </a:r>
                    </a:p>
                  </a:txBody>
                  <a:tcPr anchor="ctr" marL="64008" marR="45720" marT="18288" marB="18288">
                    <a:solidFill>
                      <a:srgbClr val="F1F4F8"/>
                    </a:solidFill>
                  </a:tcPr>
                </a:tc>
                <a:tc>
                  <a:txBody>
                    <a:bodyPr wrap="square"/>
                    <a:lstStyle/>
                    <a:p>
                      <a:r>
                        <a:rPr sz="900" b="0">
                          <a:solidFill>
                            <a:srgbClr val="222A35"/>
                          </a:solidFill>
                          <a:latin typeface="Calibri"/>
                        </a:rPr>
                        <a:t>H100/H200 contract pricing +~40% Oct-25→Mar-26; reserved lead times 36–52 wks</a:t>
                      </a:r>
                    </a:p>
                  </a:txBody>
                  <a:tcPr anchor="ctr" marL="64008" marR="45720" marT="18288" marB="18288">
                    <a:solidFill>
                      <a:srgbClr val="F1F4F8"/>
                    </a:solidFill>
                  </a:tcPr>
                </a:tc>
                <a:tc>
                  <a:txBody>
                    <a:bodyPr wrap="square"/>
                    <a:lstStyle/>
                    <a:p>
                      <a:r>
                        <a:rPr sz="900" b="0">
                          <a:solidFill>
                            <a:srgbClr val="222A35"/>
                          </a:solidFill>
                          <a:latin typeface="Calibri"/>
                        </a:rPr>
                        <a:t>Driven by memory pass-through, not die scarcity; spot rentals falling ($8→$2/hr H100) while reserved rises</a:t>
                      </a:r>
                    </a:p>
                  </a:txBody>
                  <a:tcPr anchor="ctr" marL="64008" marR="45720" marT="18288" marB="18288">
                    <a:solidFill>
                      <a:srgbClr val="F1F4F8"/>
                    </a:solidFill>
                  </a:tcPr>
                </a:tc>
              </a:tr>
              <a:tr h="768096">
                <a:tc>
                  <a:txBody>
                    <a:bodyPr wrap="square"/>
                    <a:lstStyle/>
                    <a:p>
                      <a:r>
                        <a:rPr sz="900" b="0">
                          <a:solidFill>
                            <a:srgbClr val="222A35"/>
                          </a:solidFill>
                          <a:latin typeface="Calibri"/>
                        </a:rPr>
                        <a:t>Spec responses</a:t>
                      </a:r>
                    </a:p>
                  </a:txBody>
                  <a:tcPr anchor="ctr" marL="64008" marR="45720" marT="18288" marB="18288">
                    <a:solidFill>
                      <a:srgbClr val="FFFFFF"/>
                    </a:solidFill>
                  </a:tcPr>
                </a:tc>
                <a:tc>
                  <a:txBody>
                    <a:bodyPr wrap="square"/>
                    <a:lstStyle/>
                    <a:p>
                      <a:r>
                        <a:rPr sz="900" b="0">
                          <a:solidFill>
                            <a:srgbClr val="222A35"/>
                          </a:solidFill>
                          <a:latin typeface="Calibri"/>
                        </a:rPr>
                        <a:t>NVIDIA evaluating Rubin Ultra HBM downgrades (12-hi→8-hi); 12→8 stacks = ~50% more accelerators per DRAM input</a:t>
                      </a:r>
                    </a:p>
                  </a:txBody>
                  <a:tcPr anchor="ctr" marL="64008" marR="45720" marT="18288" marB="18288">
                    <a:solidFill>
                      <a:srgbClr val="FFFFFF"/>
                    </a:solidFill>
                  </a:tcPr>
                </a:tc>
                <a:tc>
                  <a:txBody>
                    <a:bodyPr wrap="square"/>
                    <a:lstStyle/>
                    <a:p>
                      <a:r>
                        <a:rPr sz="900" b="0">
                          <a:solidFill>
                            <a:srgbClr val="222A35"/>
                          </a:solidFill>
                          <a:latin typeface="Calibri"/>
                        </a:rPr>
                        <a:t>Output preserved at lower performance/card — early, quantifiable demand destruction for memory content</a:t>
                      </a:r>
                    </a:p>
                  </a:txBody>
                  <a:tcPr anchor="ctr" marL="64008" marR="45720" marT="18288" marB="18288">
                    <a:solidFill>
                      <a:srgbClr val="FFFFFF"/>
                    </a:solidFill>
                  </a:tcPr>
                </a:tc>
              </a:tr>
            </a:tbl>
          </a:graphicData>
        </a:graphic>
      </p:graphicFrame>
      <p:sp>
        <p:nvSpPr>
          <p:cNvPr id="10" name="Rounded Rectangle 9"/>
          <p:cNvSpPr/>
          <p:nvPr/>
        </p:nvSpPr>
        <p:spPr>
          <a:xfrm>
            <a:off x="502920" y="5623560"/>
            <a:ext cx="11183112" cy="566928"/>
          </a:xfrm>
          <a:prstGeom prst="roundRect">
            <a:avLst>
              <a:gd name="adj" fmla="val 12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31520" y="5715000"/>
            <a:ext cx="10789920" cy="41148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Analyst take:  </a:t>
            </a:r>
            <a:r>
              <a:rPr b="0" sz="1050">
                <a:solidFill>
                  <a:srgbClr val="FFFFFF"/>
                </a:solidFill>
                <a:latin typeface="Calibri"/>
              </a:rPr>
              <a:t>the "chip shortage" of 2023–24 was solved; the 2026 shortage is memory and packaging. Model accelerator units off HBM stacks and CoWoS wafers, not off GPU die starts.</a:t>
            </a:r>
          </a:p>
        </p:txBody>
      </p:sp>
      <p:sp>
        <p:nvSpPr>
          <p:cNvPr id="12" name="TextBox 11"/>
          <p:cNvSpPr txBox="1"/>
          <p:nvPr/>
        </p:nvSpPr>
        <p:spPr>
          <a:xfrm>
            <a:off x="502920" y="6309360"/>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TrendForce; Micron / SK Hynix / Samsung disclosures; Silicon Analysts; Stratpace Advisory; Value Add VC.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NON-CONSENSUS VIEW #1</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The depreciation wall is the dated, mechanical risk to 2027–28 orders</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Consensus debates "bubble vs no bubble"; we track a public-filings-visible margin event</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10</a:t>
            </a:r>
          </a:p>
        </p:txBody>
      </p:sp>
      <p:sp>
        <p:nvSpPr>
          <p:cNvPr id="9" name="Rectangle 8"/>
          <p:cNvSpPr/>
          <p:nvPr/>
        </p:nvSpPr>
        <p:spPr>
          <a:xfrm>
            <a:off x="502920" y="1481328"/>
            <a:ext cx="5477256" cy="38404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1536192"/>
            <a:ext cx="5120640" cy="274320"/>
          </a:xfrm>
          <a:prstGeom prst="rect">
            <a:avLst/>
          </a:prstGeom>
          <a:noFill/>
        </p:spPr>
        <p:txBody>
          <a:bodyPr wrap="square" anchor="t">
            <a:spAutoFit/>
          </a:bodyPr>
          <a:lstStyle/>
          <a:p>
            <a:pPr algn="l">
              <a:lnSpc>
                <a:spcPct val="100000"/>
              </a:lnSpc>
              <a:spcAft>
                <a:spcPts val="0"/>
              </a:spcAft>
            </a:pPr>
            <a:r>
              <a:rPr b="1" sz="1100">
                <a:solidFill>
                  <a:srgbClr val="222A35"/>
                </a:solidFill>
                <a:latin typeface="Calibri"/>
              </a:rPr>
              <a:t>WHAT CONSENSUS BELIEVES</a:t>
            </a:r>
          </a:p>
        </p:txBody>
      </p:sp>
      <p:sp>
        <p:nvSpPr>
          <p:cNvPr id="11" name="Rectangle 10"/>
          <p:cNvSpPr/>
          <p:nvPr/>
        </p:nvSpPr>
        <p:spPr>
          <a:xfrm>
            <a:off x="502920" y="1865376"/>
            <a:ext cx="5477256" cy="32461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011680"/>
            <a:ext cx="5074920" cy="3017520"/>
          </a:xfrm>
          <a:prstGeom prst="rect">
            <a:avLst/>
          </a:prstGeom>
          <a:noFill/>
        </p:spPr>
        <p:txBody>
          <a:bodyPr wrap="square" anchor="t">
            <a:spAutoFit/>
          </a:bodyPr>
          <a:lstStyle/>
          <a:p>
            <a:pPr algn="l">
              <a:lnSpc>
                <a:spcPct val="105000"/>
              </a:lnSpc>
              <a:spcAft>
                <a:spcPts val="800"/>
              </a:spcAft>
            </a:pPr>
            <a:r>
              <a:rPr b="0" sz="1000">
                <a:solidFill>
                  <a:srgbClr val="222A35"/>
                </a:solidFill>
                <a:latin typeface="Calibri"/>
              </a:rPr>
              <a:t>Five-to-six-year server schedules are justified by the "value cascade": GPUs move from frontier training to inference and stay productive for years.</a:t>
            </a:r>
          </a:p>
          <a:p>
            <a:pPr algn="l">
              <a:lnSpc>
                <a:spcPct val="105000"/>
              </a:lnSpc>
              <a:spcAft>
                <a:spcPts val="800"/>
              </a:spcAft>
            </a:pPr>
            <a:r>
              <a:rPr b="0" sz="1000">
                <a:solidFill>
                  <a:srgbClr val="222A35"/>
                </a:solidFill>
                <a:latin typeface="Calibri"/>
              </a:rPr>
              <a:t>Depreciation is an accounting abstraction; what matters is demand, which remains supply-constrained.</a:t>
            </a:r>
          </a:p>
          <a:p>
            <a:pPr algn="l">
              <a:lnSpc>
                <a:spcPct val="105000"/>
              </a:lnSpc>
              <a:spcAft>
                <a:spcPts val="800"/>
              </a:spcAft>
            </a:pPr>
            <a:r>
              <a:rPr b="0" sz="1000">
                <a:solidFill>
                  <a:srgbClr val="222A35"/>
                </a:solidFill>
                <a:latin typeface="Calibri"/>
              </a:rPr>
              <a:t>Useful-life extensions (Microsoft DC/office 15→25 yrs) show assets last longer, supporting current EPS.</a:t>
            </a:r>
          </a:p>
        </p:txBody>
      </p:sp>
      <p:sp>
        <p:nvSpPr>
          <p:cNvPr id="13" name="Rectangle 12"/>
          <p:cNvSpPr/>
          <p:nvPr/>
        </p:nvSpPr>
        <p:spPr>
          <a:xfrm>
            <a:off x="6208776" y="1481328"/>
            <a:ext cx="5477256" cy="384048"/>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1656" y="1536192"/>
            <a:ext cx="5120640" cy="274320"/>
          </a:xfrm>
          <a:prstGeom prst="rect">
            <a:avLst/>
          </a:prstGeom>
          <a:noFill/>
        </p:spPr>
        <p:txBody>
          <a:bodyPr wrap="square" anchor="t">
            <a:spAutoFit/>
          </a:bodyPr>
          <a:lstStyle/>
          <a:p>
            <a:pPr algn="l">
              <a:lnSpc>
                <a:spcPct val="100000"/>
              </a:lnSpc>
              <a:spcAft>
                <a:spcPts val="0"/>
              </a:spcAft>
            </a:pPr>
            <a:r>
              <a:rPr b="1" sz="1100">
                <a:solidFill>
                  <a:srgbClr val="FFFFFF"/>
                </a:solidFill>
                <a:latin typeface="Calibri"/>
              </a:rPr>
              <a:t>OUR VIEW</a:t>
            </a:r>
            <a:r>
              <a:rPr b="0" sz="1000">
                <a:solidFill>
                  <a:srgbClr val="C2903A"/>
                </a:solidFill>
                <a:latin typeface="Calibri"/>
              </a:rPr>
              <a:t>   — variant perception</a:t>
            </a:r>
          </a:p>
        </p:txBody>
      </p:sp>
      <p:sp>
        <p:nvSpPr>
          <p:cNvPr id="15" name="Rectangle 14"/>
          <p:cNvSpPr/>
          <p:nvPr/>
        </p:nvSpPr>
        <p:spPr>
          <a:xfrm>
            <a:off x="6208776" y="1865376"/>
            <a:ext cx="5477256" cy="3246120"/>
          </a:xfrm>
          <a:prstGeom prst="rect">
            <a:avLst/>
          </a:prstGeom>
          <a:solidFill>
            <a:srgbClr val="1A33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011680"/>
            <a:ext cx="5074920" cy="3017520"/>
          </a:xfrm>
          <a:prstGeom prst="rect">
            <a:avLst/>
          </a:prstGeom>
          <a:noFill/>
        </p:spPr>
        <p:txBody>
          <a:bodyPr wrap="square" anchor="t">
            <a:spAutoFit/>
          </a:bodyPr>
          <a:lstStyle/>
          <a:p>
            <a:pPr algn="l">
              <a:lnSpc>
                <a:spcPct val="105000"/>
              </a:lnSpc>
              <a:spcAft>
                <a:spcPts val="800"/>
              </a:spcAft>
            </a:pPr>
            <a:r>
              <a:rPr b="1" sz="1000">
                <a:solidFill>
                  <a:srgbClr val="C2903A"/>
                </a:solidFill>
                <a:latin typeface="Calibri"/>
              </a:rPr>
              <a:t>The gap is enormous and dated.  </a:t>
            </a:r>
            <a:r>
              <a:rPr b="0" sz="1000">
                <a:solidFill>
                  <a:srgbClr val="FFFFFF"/>
                </a:solidFill>
                <a:latin typeface="Calibri"/>
              </a:rPr>
              <a:t>Trailing-4Q Big-4 capex ~$434bn vs ~$149bn/yr recognized D&amp;A. As recognized D&amp;A compounds 30–40% annually into 2027–29, margins compress mechanically.</a:t>
            </a:r>
          </a:p>
          <a:p>
            <a:pPr algn="l">
              <a:lnSpc>
                <a:spcPct val="105000"/>
              </a:lnSpc>
              <a:spcAft>
                <a:spcPts val="800"/>
              </a:spcAft>
            </a:pPr>
            <a:r>
              <a:rPr b="1" sz="1000">
                <a:solidFill>
                  <a:srgbClr val="C2903A"/>
                </a:solidFill>
                <a:latin typeface="Calibri"/>
              </a:rPr>
              <a:t>The cascade is being repriced in real time.  </a:t>
            </a:r>
            <a:r>
              <a:rPr b="0" sz="1000">
                <a:solidFill>
                  <a:srgbClr val="FFFFFF"/>
                </a:solidFill>
                <a:latin typeface="Calibri"/>
              </a:rPr>
              <a:t>H100 rentals fell $8→$2/GPU-hr; Rubin targets ~10x better inference token cost than Blackwell. Six-year schedules assume revenue rates the market has already broken.</a:t>
            </a:r>
          </a:p>
          <a:p>
            <a:pPr algn="l">
              <a:lnSpc>
                <a:spcPct val="105000"/>
              </a:lnSpc>
              <a:spcAft>
                <a:spcPts val="800"/>
              </a:spcAft>
            </a:pPr>
            <a:r>
              <a:rPr b="1" sz="1000">
                <a:solidFill>
                  <a:srgbClr val="C2903A"/>
                </a:solidFill>
                <a:latin typeface="Calibri"/>
              </a:rPr>
              <a:t>Managements are pre-funding it.  </a:t>
            </a:r>
            <a:r>
              <a:rPr b="0" sz="1000">
                <a:solidFill>
                  <a:srgbClr val="FFFFFF"/>
                </a:solidFill>
                <a:latin typeface="Calibri"/>
              </a:rPr>
              <a:t>Meta $30bn, Alphabet ~$56bn, Amazon $40bn of debt plus SPVs; Amazon has already reversed a useful-life extension. CFOs facing margin questions moderate capex (Amazon 2022–23 is the template).</a:t>
            </a:r>
          </a:p>
        </p:txBody>
      </p:sp>
      <p:sp>
        <p:nvSpPr>
          <p:cNvPr id="17" name="Rounded Rectangle 16"/>
          <p:cNvSpPr/>
          <p:nvPr/>
        </p:nvSpPr>
        <p:spPr>
          <a:xfrm>
            <a:off x="502920" y="5285232"/>
            <a:ext cx="11183112" cy="502920"/>
          </a:xfrm>
          <a:prstGeom prst="roundRect">
            <a:avLst>
              <a:gd name="adj" fmla="val 12000"/>
            </a:avLst>
          </a:prstGeom>
          <a:solidFill>
            <a:srgbClr val="FFFFFF"/>
          </a:solidFill>
          <a:ln w="9525">
            <a:solidFill>
              <a:srgbClr val="A839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5367528"/>
            <a:ext cx="10789920" cy="365760"/>
          </a:xfrm>
          <a:prstGeom prst="rect">
            <a:avLst/>
          </a:prstGeom>
          <a:noFill/>
        </p:spPr>
        <p:txBody>
          <a:bodyPr wrap="square" anchor="t">
            <a:spAutoFit/>
          </a:bodyPr>
          <a:lstStyle/>
          <a:p>
            <a:pPr algn="l">
              <a:lnSpc>
                <a:spcPct val="100000"/>
              </a:lnSpc>
              <a:spcAft>
                <a:spcPts val="0"/>
              </a:spcAft>
            </a:pPr>
            <a:r>
              <a:rPr b="1" sz="950">
                <a:solidFill>
                  <a:srgbClr val="A8392E"/>
                </a:solidFill>
                <a:latin typeface="Calibri"/>
              </a:rPr>
              <a:t>What would prove us wrong:  </a:t>
            </a:r>
            <a:r>
              <a:rPr b="0" sz="950">
                <a:solidFill>
                  <a:srgbClr val="222A35"/>
                </a:solidFill>
                <a:latin typeface="Calibri"/>
              </a:rPr>
              <a:t>Take-or-pay renewals in 2026–27 re-price at or above original rates; older-generation fleets sustain high utilization at stable pricing; further credible useful-life extensions for accelerators.</a:t>
            </a:r>
          </a:p>
        </p:txBody>
      </p:sp>
      <p:sp>
        <p:nvSpPr>
          <p:cNvPr id="19" name="TextBox 18"/>
          <p:cNvSpPr txBox="1"/>
          <p:nvPr/>
        </p:nvSpPr>
        <p:spPr>
          <a:xfrm>
            <a:off x="502920" y="5897880"/>
            <a:ext cx="11183112" cy="411480"/>
          </a:xfrm>
          <a:prstGeom prst="rect">
            <a:avLst/>
          </a:prstGeom>
          <a:noFill/>
        </p:spPr>
        <p:txBody>
          <a:bodyPr wrap="square" anchor="t">
            <a:spAutoFit/>
          </a:bodyPr>
          <a:lstStyle/>
          <a:p>
            <a:pPr algn="l">
              <a:lnSpc>
                <a:spcPct val="100000"/>
              </a:lnSpc>
              <a:spcAft>
                <a:spcPts val="0"/>
              </a:spcAft>
            </a:pPr>
            <a:r>
              <a:rPr b="1" sz="1000">
                <a:solidFill>
                  <a:srgbClr val="0B1D3A"/>
                </a:solidFill>
                <a:latin typeface="Calibri"/>
              </a:rPr>
              <a:t>How to express it:  </a:t>
            </a:r>
            <a:r>
              <a:rPr b="0" sz="1000">
                <a:solidFill>
                  <a:srgbClr val="222A35"/>
                </a:solidFill>
                <a:latin typeface="Calibri"/>
              </a:rPr>
              <a:t>Treat useful-life disclosures (10-K estimate-change paragraphs, Jan–Feb) as the leading indicator for the supplier chain; fade 2028 consensus capex growth for GPU-levered names, not 2026–27.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NON-CONSENSUS VIEW #2</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Power — not silicon — sets the 2027+ growth rate</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Consensus still models accelerator allocations as the gate on compute revenue; the gate has moved</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11</a:t>
            </a:r>
          </a:p>
        </p:txBody>
      </p:sp>
      <p:sp>
        <p:nvSpPr>
          <p:cNvPr id="9" name="Rectangle 8"/>
          <p:cNvSpPr/>
          <p:nvPr/>
        </p:nvSpPr>
        <p:spPr>
          <a:xfrm>
            <a:off x="502920" y="1481328"/>
            <a:ext cx="5477256" cy="38404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1536192"/>
            <a:ext cx="5120640" cy="274320"/>
          </a:xfrm>
          <a:prstGeom prst="rect">
            <a:avLst/>
          </a:prstGeom>
          <a:noFill/>
        </p:spPr>
        <p:txBody>
          <a:bodyPr wrap="square" anchor="t">
            <a:spAutoFit/>
          </a:bodyPr>
          <a:lstStyle/>
          <a:p>
            <a:pPr algn="l">
              <a:lnSpc>
                <a:spcPct val="100000"/>
              </a:lnSpc>
              <a:spcAft>
                <a:spcPts val="0"/>
              </a:spcAft>
            </a:pPr>
            <a:r>
              <a:rPr b="1" sz="1100">
                <a:solidFill>
                  <a:srgbClr val="222A35"/>
                </a:solidFill>
                <a:latin typeface="Calibri"/>
              </a:rPr>
              <a:t>WHAT CONSENSUS BELIEVES</a:t>
            </a:r>
          </a:p>
        </p:txBody>
      </p:sp>
      <p:sp>
        <p:nvSpPr>
          <p:cNvPr id="11" name="Rectangle 10"/>
          <p:cNvSpPr/>
          <p:nvPr/>
        </p:nvSpPr>
        <p:spPr>
          <a:xfrm>
            <a:off x="502920" y="1865376"/>
            <a:ext cx="5477256" cy="32461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011680"/>
            <a:ext cx="5074920" cy="3017520"/>
          </a:xfrm>
          <a:prstGeom prst="rect">
            <a:avLst/>
          </a:prstGeom>
          <a:noFill/>
        </p:spPr>
        <p:txBody>
          <a:bodyPr wrap="square" anchor="t">
            <a:spAutoFit/>
          </a:bodyPr>
          <a:lstStyle/>
          <a:p>
            <a:pPr algn="l">
              <a:lnSpc>
                <a:spcPct val="105000"/>
              </a:lnSpc>
              <a:spcAft>
                <a:spcPts val="800"/>
              </a:spcAft>
            </a:pPr>
            <a:r>
              <a:rPr b="0" sz="1000">
                <a:solidFill>
                  <a:srgbClr val="222A35"/>
                </a:solidFill>
                <a:latin typeface="Calibri"/>
              </a:rPr>
              <a:t>GPU supply (TSMC wafers, HBM, CoWoS) determines how much AI capacity comes online each quarter.</a:t>
            </a:r>
          </a:p>
          <a:p>
            <a:pPr algn="l">
              <a:lnSpc>
                <a:spcPct val="105000"/>
              </a:lnSpc>
              <a:spcAft>
                <a:spcPts val="800"/>
              </a:spcAft>
            </a:pPr>
            <a:r>
              <a:rPr b="0" sz="1000">
                <a:solidFill>
                  <a:srgbClr val="222A35"/>
                </a:solidFill>
                <a:latin typeface="Calibri"/>
              </a:rPr>
              <a:t>Power is a cost line and an ESG topic; utilities will catch up as they always have.</a:t>
            </a:r>
          </a:p>
          <a:p>
            <a:pPr algn="l">
              <a:lnSpc>
                <a:spcPct val="105000"/>
              </a:lnSpc>
              <a:spcAft>
                <a:spcPts val="800"/>
              </a:spcAft>
            </a:pPr>
            <a:r>
              <a:rPr b="0" sz="1000">
                <a:solidFill>
                  <a:srgbClr val="222A35"/>
                </a:solidFill>
                <a:latin typeface="Calibri"/>
              </a:rPr>
              <a:t>Announced megawatts and capex guides are good proxies for future compute revenue.</a:t>
            </a:r>
          </a:p>
        </p:txBody>
      </p:sp>
      <p:sp>
        <p:nvSpPr>
          <p:cNvPr id="13" name="Rectangle 12"/>
          <p:cNvSpPr/>
          <p:nvPr/>
        </p:nvSpPr>
        <p:spPr>
          <a:xfrm>
            <a:off x="6208776" y="1481328"/>
            <a:ext cx="5477256" cy="384048"/>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1656" y="1536192"/>
            <a:ext cx="5120640" cy="274320"/>
          </a:xfrm>
          <a:prstGeom prst="rect">
            <a:avLst/>
          </a:prstGeom>
          <a:noFill/>
        </p:spPr>
        <p:txBody>
          <a:bodyPr wrap="square" anchor="t">
            <a:spAutoFit/>
          </a:bodyPr>
          <a:lstStyle/>
          <a:p>
            <a:pPr algn="l">
              <a:lnSpc>
                <a:spcPct val="100000"/>
              </a:lnSpc>
              <a:spcAft>
                <a:spcPts val="0"/>
              </a:spcAft>
            </a:pPr>
            <a:r>
              <a:rPr b="1" sz="1100">
                <a:solidFill>
                  <a:srgbClr val="FFFFFF"/>
                </a:solidFill>
                <a:latin typeface="Calibri"/>
              </a:rPr>
              <a:t>OUR VIEW</a:t>
            </a:r>
            <a:r>
              <a:rPr b="0" sz="1000">
                <a:solidFill>
                  <a:srgbClr val="C2903A"/>
                </a:solidFill>
                <a:latin typeface="Calibri"/>
              </a:rPr>
              <a:t>   — variant perception</a:t>
            </a:r>
          </a:p>
        </p:txBody>
      </p:sp>
      <p:sp>
        <p:nvSpPr>
          <p:cNvPr id="15" name="Rectangle 14"/>
          <p:cNvSpPr/>
          <p:nvPr/>
        </p:nvSpPr>
        <p:spPr>
          <a:xfrm>
            <a:off x="6208776" y="1865376"/>
            <a:ext cx="5477256" cy="3246120"/>
          </a:xfrm>
          <a:prstGeom prst="rect">
            <a:avLst/>
          </a:prstGeom>
          <a:solidFill>
            <a:srgbClr val="1A33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011680"/>
            <a:ext cx="5074920" cy="3017520"/>
          </a:xfrm>
          <a:prstGeom prst="rect">
            <a:avLst/>
          </a:prstGeom>
          <a:noFill/>
        </p:spPr>
        <p:txBody>
          <a:bodyPr wrap="square" anchor="t">
            <a:spAutoFit/>
          </a:bodyPr>
          <a:lstStyle/>
          <a:p>
            <a:pPr algn="l">
              <a:lnSpc>
                <a:spcPct val="105000"/>
              </a:lnSpc>
              <a:spcAft>
                <a:spcPts val="800"/>
              </a:spcAft>
            </a:pPr>
            <a:r>
              <a:rPr b="1" sz="1000">
                <a:solidFill>
                  <a:srgbClr val="C2903A"/>
                </a:solidFill>
                <a:latin typeface="Calibri"/>
              </a:rPr>
              <a:t>Chips wait on megawatts.  </a:t>
            </a:r>
            <a:r>
              <a:rPr b="0" sz="1000">
                <a:solidFill>
                  <a:srgbClr val="FFFFFF"/>
                </a:solidFill>
                <a:latin typeface="Calibri"/>
              </a:rPr>
              <a:t>Buildings finish in 2–3 yrs; firm power arrives in 5–7. Up to half of planned 2026 US capacity (~12 GW) may slip or cancel — with GPUs already allocated.</a:t>
            </a:r>
          </a:p>
          <a:p>
            <a:pPr algn="l">
              <a:lnSpc>
                <a:spcPct val="105000"/>
              </a:lnSpc>
              <a:spcAft>
                <a:spcPts val="800"/>
              </a:spcAft>
            </a:pPr>
            <a:r>
              <a:rPr b="1" sz="1000">
                <a:solidFill>
                  <a:srgbClr val="C2903A"/>
                </a:solidFill>
                <a:latin typeface="Calibri"/>
              </a:rPr>
              <a:t>Speed-to-power is the scarce capability.  </a:t>
            </a:r>
            <a:r>
              <a:rPr b="0" sz="1000">
                <a:solidFill>
                  <a:srgbClr val="FFFFFF"/>
                </a:solidFill>
                <a:latin typeface="Calibri"/>
              </a:rPr>
              <a:t>Behind-the-meter generation (12–18 mo), flexible/curtailable interconnection, and queue position differentiate operators far more than chip access in 2027.</a:t>
            </a:r>
          </a:p>
          <a:p>
            <a:pPr algn="l">
              <a:lnSpc>
                <a:spcPct val="105000"/>
              </a:lnSpc>
              <a:spcAft>
                <a:spcPts val="800"/>
              </a:spcAft>
            </a:pPr>
            <a:r>
              <a:rPr b="1" sz="1000">
                <a:solidFill>
                  <a:srgbClr val="C2903A"/>
                </a:solidFill>
                <a:latin typeface="Calibri"/>
              </a:rPr>
              <a:t>The KPI to model is MW energized, on dates.  </a:t>
            </a:r>
            <a:r>
              <a:rPr b="0" sz="1000">
                <a:solidFill>
                  <a:srgbClr val="FFFFFF"/>
                </a:solidFill>
                <a:latin typeface="Calibri"/>
              </a:rPr>
              <a:t>Press-release megawatts are worthless; energization schedules convert capex to revenue. This favors the equipment oligopoly, grid E&amp;C, and power-secured operators over late-queue developers.</a:t>
            </a:r>
          </a:p>
        </p:txBody>
      </p:sp>
      <p:sp>
        <p:nvSpPr>
          <p:cNvPr id="17" name="Rounded Rectangle 16"/>
          <p:cNvSpPr/>
          <p:nvPr/>
        </p:nvSpPr>
        <p:spPr>
          <a:xfrm>
            <a:off x="502920" y="5285232"/>
            <a:ext cx="11183112" cy="502920"/>
          </a:xfrm>
          <a:prstGeom prst="roundRect">
            <a:avLst>
              <a:gd name="adj" fmla="val 12000"/>
            </a:avLst>
          </a:prstGeom>
          <a:solidFill>
            <a:srgbClr val="FFFFFF"/>
          </a:solidFill>
          <a:ln w="9525">
            <a:solidFill>
              <a:srgbClr val="A839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5367528"/>
            <a:ext cx="10789920" cy="365760"/>
          </a:xfrm>
          <a:prstGeom prst="rect">
            <a:avLst/>
          </a:prstGeom>
          <a:noFill/>
        </p:spPr>
        <p:txBody>
          <a:bodyPr wrap="square" anchor="t">
            <a:spAutoFit/>
          </a:bodyPr>
          <a:lstStyle/>
          <a:p>
            <a:pPr algn="l">
              <a:lnSpc>
                <a:spcPct val="100000"/>
              </a:lnSpc>
              <a:spcAft>
                <a:spcPts val="0"/>
              </a:spcAft>
            </a:pPr>
            <a:r>
              <a:rPr b="1" sz="950">
                <a:solidFill>
                  <a:srgbClr val="A8392E"/>
                </a:solidFill>
                <a:latin typeface="Calibri"/>
              </a:rPr>
              <a:t>What would prove us wrong:  </a:t>
            </a:r>
            <a:r>
              <a:rPr b="0" sz="950">
                <a:solidFill>
                  <a:srgbClr val="222A35"/>
                </a:solidFill>
                <a:latin typeface="Calibri"/>
              </a:rPr>
              <a:t>FERC fast-tracking plus flexible-load tariffs materially compress time-to-power in 2027; turbine/transformer capacity additions land earlier than the 2027–28 guidance.</a:t>
            </a:r>
          </a:p>
        </p:txBody>
      </p:sp>
      <p:sp>
        <p:nvSpPr>
          <p:cNvPr id="19" name="TextBox 18"/>
          <p:cNvSpPr txBox="1"/>
          <p:nvPr/>
        </p:nvSpPr>
        <p:spPr>
          <a:xfrm>
            <a:off x="502920" y="5897880"/>
            <a:ext cx="11183112" cy="411480"/>
          </a:xfrm>
          <a:prstGeom prst="rect">
            <a:avLst/>
          </a:prstGeom>
          <a:noFill/>
        </p:spPr>
        <p:txBody>
          <a:bodyPr wrap="square" anchor="t">
            <a:spAutoFit/>
          </a:bodyPr>
          <a:lstStyle/>
          <a:p>
            <a:pPr algn="l">
              <a:lnSpc>
                <a:spcPct val="100000"/>
              </a:lnSpc>
              <a:spcAft>
                <a:spcPts val="0"/>
              </a:spcAft>
            </a:pPr>
            <a:r>
              <a:rPr b="1" sz="1000">
                <a:solidFill>
                  <a:srgbClr val="0B1D3A"/>
                </a:solidFill>
                <a:latin typeface="Calibri"/>
              </a:rPr>
              <a:t>How to express it:  </a:t>
            </a:r>
            <a:r>
              <a:rPr b="0" sz="1000">
                <a:solidFill>
                  <a:srgbClr val="222A35"/>
                </a:solidFill>
                <a:latin typeface="Calibri"/>
              </a:rPr>
              <a:t>Overweight grid equipment and electrical E&amp;C (backlog visibility to 2030); within operators, pay the scarcity premium for secured, dated power; underweight late-queue speculative developers.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NON-CONSENSUS VIEW #3</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HBM pricing power peaks before HBM capacity does</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Consensus extrapolates the memory supercycle through 2027; we see the top forming in the order book</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12</a:t>
            </a:r>
          </a:p>
        </p:txBody>
      </p:sp>
      <p:sp>
        <p:nvSpPr>
          <p:cNvPr id="9" name="Rectangle 8"/>
          <p:cNvSpPr/>
          <p:nvPr/>
        </p:nvSpPr>
        <p:spPr>
          <a:xfrm>
            <a:off x="502920" y="1481328"/>
            <a:ext cx="5477256" cy="38404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1536192"/>
            <a:ext cx="5120640" cy="274320"/>
          </a:xfrm>
          <a:prstGeom prst="rect">
            <a:avLst/>
          </a:prstGeom>
          <a:noFill/>
        </p:spPr>
        <p:txBody>
          <a:bodyPr wrap="square" anchor="t">
            <a:spAutoFit/>
          </a:bodyPr>
          <a:lstStyle/>
          <a:p>
            <a:pPr algn="l">
              <a:lnSpc>
                <a:spcPct val="100000"/>
              </a:lnSpc>
              <a:spcAft>
                <a:spcPts val="0"/>
              </a:spcAft>
            </a:pPr>
            <a:r>
              <a:rPr b="1" sz="1100">
                <a:solidFill>
                  <a:srgbClr val="222A35"/>
                </a:solidFill>
                <a:latin typeface="Calibri"/>
              </a:rPr>
              <a:t>WHAT CONSENSUS BELIEVES</a:t>
            </a:r>
          </a:p>
        </p:txBody>
      </p:sp>
      <p:sp>
        <p:nvSpPr>
          <p:cNvPr id="11" name="Rectangle 10"/>
          <p:cNvSpPr/>
          <p:nvPr/>
        </p:nvSpPr>
        <p:spPr>
          <a:xfrm>
            <a:off x="502920" y="1865376"/>
            <a:ext cx="5477256" cy="32461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011680"/>
            <a:ext cx="5074920" cy="3017520"/>
          </a:xfrm>
          <a:prstGeom prst="rect">
            <a:avLst/>
          </a:prstGeom>
          <a:noFill/>
        </p:spPr>
        <p:txBody>
          <a:bodyPr wrap="square" anchor="t">
            <a:spAutoFit/>
          </a:bodyPr>
          <a:lstStyle/>
          <a:p>
            <a:pPr algn="l">
              <a:lnSpc>
                <a:spcPct val="105000"/>
              </a:lnSpc>
              <a:spcAft>
                <a:spcPts val="800"/>
              </a:spcAft>
            </a:pPr>
            <a:r>
              <a:rPr b="0" sz="1000">
                <a:solidFill>
                  <a:srgbClr val="222A35"/>
                </a:solidFill>
                <a:latin typeface="Calibri"/>
              </a:rPr>
              <a:t>HBM is sold out through 2027; pricing power is structural. Supplier operating profits re-rate (KRW 85–89tn forecasts, +286–539% y/y).</a:t>
            </a:r>
          </a:p>
          <a:p>
            <a:pPr algn="l">
              <a:lnSpc>
                <a:spcPct val="105000"/>
              </a:lnSpc>
              <a:spcAft>
                <a:spcPts val="800"/>
              </a:spcAft>
            </a:pPr>
            <a:r>
              <a:rPr b="0" sz="1000">
                <a:solidFill>
                  <a:srgbClr val="222A35"/>
                </a:solidFill>
                <a:latin typeface="Calibri"/>
              </a:rPr>
              <a:t>HBM4's ~2x BOM step-up entrenches the premium; AI demand is price-inelastic.</a:t>
            </a:r>
          </a:p>
          <a:p>
            <a:pPr algn="l">
              <a:lnSpc>
                <a:spcPct val="105000"/>
              </a:lnSpc>
              <a:spcAft>
                <a:spcPts val="800"/>
              </a:spcAft>
            </a:pPr>
            <a:r>
              <a:rPr b="0" sz="1000">
                <a:solidFill>
                  <a:srgbClr val="222A35"/>
                </a:solidFill>
                <a:latin typeface="Calibri"/>
              </a:rPr>
              <a:t>SK Hynix's ~60% share and qualification lead make allocation leverage durable.</a:t>
            </a:r>
          </a:p>
        </p:txBody>
      </p:sp>
      <p:sp>
        <p:nvSpPr>
          <p:cNvPr id="13" name="Rectangle 12"/>
          <p:cNvSpPr/>
          <p:nvPr/>
        </p:nvSpPr>
        <p:spPr>
          <a:xfrm>
            <a:off x="6208776" y="1481328"/>
            <a:ext cx="5477256" cy="384048"/>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1656" y="1536192"/>
            <a:ext cx="5120640" cy="274320"/>
          </a:xfrm>
          <a:prstGeom prst="rect">
            <a:avLst/>
          </a:prstGeom>
          <a:noFill/>
        </p:spPr>
        <p:txBody>
          <a:bodyPr wrap="square" anchor="t">
            <a:spAutoFit/>
          </a:bodyPr>
          <a:lstStyle/>
          <a:p>
            <a:pPr algn="l">
              <a:lnSpc>
                <a:spcPct val="100000"/>
              </a:lnSpc>
              <a:spcAft>
                <a:spcPts val="0"/>
              </a:spcAft>
            </a:pPr>
            <a:r>
              <a:rPr b="1" sz="1100">
                <a:solidFill>
                  <a:srgbClr val="FFFFFF"/>
                </a:solidFill>
                <a:latin typeface="Calibri"/>
              </a:rPr>
              <a:t>OUR VIEW</a:t>
            </a:r>
            <a:r>
              <a:rPr b="0" sz="1000">
                <a:solidFill>
                  <a:srgbClr val="C2903A"/>
                </a:solidFill>
                <a:latin typeface="Calibri"/>
              </a:rPr>
              <a:t>   — variant perception</a:t>
            </a:r>
          </a:p>
        </p:txBody>
      </p:sp>
      <p:sp>
        <p:nvSpPr>
          <p:cNvPr id="15" name="Rectangle 14"/>
          <p:cNvSpPr/>
          <p:nvPr/>
        </p:nvSpPr>
        <p:spPr>
          <a:xfrm>
            <a:off x="6208776" y="1865376"/>
            <a:ext cx="5477256" cy="3246120"/>
          </a:xfrm>
          <a:prstGeom prst="rect">
            <a:avLst/>
          </a:prstGeom>
          <a:solidFill>
            <a:srgbClr val="1A33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011680"/>
            <a:ext cx="5074920" cy="3017520"/>
          </a:xfrm>
          <a:prstGeom prst="rect">
            <a:avLst/>
          </a:prstGeom>
          <a:noFill/>
        </p:spPr>
        <p:txBody>
          <a:bodyPr wrap="square" anchor="t">
            <a:spAutoFit/>
          </a:bodyPr>
          <a:lstStyle/>
          <a:p>
            <a:pPr algn="l">
              <a:lnSpc>
                <a:spcPct val="105000"/>
              </a:lnSpc>
              <a:spcAft>
                <a:spcPts val="800"/>
              </a:spcAft>
            </a:pPr>
            <a:r>
              <a:rPr b="1" sz="1000">
                <a:solidFill>
                  <a:srgbClr val="C2903A"/>
                </a:solidFill>
                <a:latin typeface="Calibri"/>
              </a:rPr>
              <a:t>Spec downgrades are demand destruction.  </a:t>
            </a:r>
            <a:r>
              <a:rPr b="0" sz="1000">
                <a:solidFill>
                  <a:srgbClr val="FFFFFF"/>
                </a:solidFill>
                <a:latin typeface="Calibri"/>
              </a:rPr>
              <a:t>NVIDIA is evaluating Rubin Ultra with 8-high instead of 12-high stacks; 12→8 stacks yields ~50% more accelerators per DRAM input. Customers are engineering memory OUT at the margin.</a:t>
            </a:r>
          </a:p>
          <a:p>
            <a:pPr algn="l">
              <a:lnSpc>
                <a:spcPct val="105000"/>
              </a:lnSpc>
              <a:spcAft>
                <a:spcPts val="800"/>
              </a:spcAft>
            </a:pPr>
            <a:r>
              <a:rPr b="1" sz="1000">
                <a:solidFill>
                  <a:srgbClr val="C2903A"/>
                </a:solidFill>
                <a:latin typeface="Calibri"/>
              </a:rPr>
              <a:t>The margin math caps the upside.  </a:t>
            </a:r>
            <a:r>
              <a:rPr b="0" sz="1000">
                <a:solidFill>
                  <a:srgbClr val="FFFFFF"/>
                </a:solidFill>
                <a:latin typeface="Calibri"/>
              </a:rPr>
              <a:t>HBM prices would need to ~triple to match conventional DRAM margin per wafer capacity (Bernstein). As capacity scales, mix shifts back toward commodity DRAM economics.</a:t>
            </a:r>
          </a:p>
          <a:p>
            <a:pPr algn="l">
              <a:lnSpc>
                <a:spcPct val="105000"/>
              </a:lnSpc>
              <a:spcAft>
                <a:spcPts val="800"/>
              </a:spcAft>
            </a:pPr>
            <a:r>
              <a:rPr b="1" sz="1000">
                <a:solidFill>
                  <a:srgbClr val="C2903A"/>
                </a:solidFill>
                <a:latin typeface="Calibri"/>
              </a:rPr>
              <a:t>Watch the 2027 crossover.  </a:t>
            </a:r>
            <a:r>
              <a:rPr b="0" sz="1000">
                <a:solidFill>
                  <a:srgbClr val="FFFFFF"/>
                </a:solidFill>
                <a:latin typeface="Calibri"/>
              </a:rPr>
              <a:t>All three vendors are HBM4-qualified; CoWoS doubles by Q4-26. When fill rates normalize above ~85%, contract-price momentum turns first — before volume does.</a:t>
            </a:r>
          </a:p>
        </p:txBody>
      </p:sp>
      <p:sp>
        <p:nvSpPr>
          <p:cNvPr id="17" name="Rounded Rectangle 16"/>
          <p:cNvSpPr/>
          <p:nvPr/>
        </p:nvSpPr>
        <p:spPr>
          <a:xfrm>
            <a:off x="502920" y="5285232"/>
            <a:ext cx="11183112" cy="502920"/>
          </a:xfrm>
          <a:prstGeom prst="roundRect">
            <a:avLst>
              <a:gd name="adj" fmla="val 12000"/>
            </a:avLst>
          </a:prstGeom>
          <a:solidFill>
            <a:srgbClr val="FFFFFF"/>
          </a:solidFill>
          <a:ln w="9525">
            <a:solidFill>
              <a:srgbClr val="A839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5367528"/>
            <a:ext cx="10789920" cy="365760"/>
          </a:xfrm>
          <a:prstGeom prst="rect">
            <a:avLst/>
          </a:prstGeom>
          <a:noFill/>
        </p:spPr>
        <p:txBody>
          <a:bodyPr wrap="square" anchor="t">
            <a:spAutoFit/>
          </a:bodyPr>
          <a:lstStyle/>
          <a:p>
            <a:pPr algn="l">
              <a:lnSpc>
                <a:spcPct val="100000"/>
              </a:lnSpc>
              <a:spcAft>
                <a:spcPts val="0"/>
              </a:spcAft>
            </a:pPr>
            <a:r>
              <a:rPr b="1" sz="950">
                <a:solidFill>
                  <a:srgbClr val="A8392E"/>
                </a:solidFill>
                <a:latin typeface="Calibri"/>
              </a:rPr>
              <a:t>What would prove us wrong:  </a:t>
            </a:r>
            <a:r>
              <a:rPr b="0" sz="950">
                <a:solidFill>
                  <a:srgbClr val="222A35"/>
                </a:solidFill>
                <a:latin typeface="Calibri"/>
              </a:rPr>
              <a:t>HBM4E 16-high qualifies on schedule with strong yields and NVIDIA reverts to full-spec configurations; 2027 fill rates stay below ~70% despite capacity adds.</a:t>
            </a:r>
          </a:p>
        </p:txBody>
      </p:sp>
      <p:sp>
        <p:nvSpPr>
          <p:cNvPr id="19" name="TextBox 18"/>
          <p:cNvSpPr txBox="1"/>
          <p:nvPr/>
        </p:nvSpPr>
        <p:spPr>
          <a:xfrm>
            <a:off x="502920" y="5897880"/>
            <a:ext cx="11183112" cy="411480"/>
          </a:xfrm>
          <a:prstGeom prst="rect">
            <a:avLst/>
          </a:prstGeom>
          <a:noFill/>
        </p:spPr>
        <p:txBody>
          <a:bodyPr wrap="square" anchor="t">
            <a:spAutoFit/>
          </a:bodyPr>
          <a:lstStyle/>
          <a:p>
            <a:pPr algn="l">
              <a:lnSpc>
                <a:spcPct val="100000"/>
              </a:lnSpc>
              <a:spcAft>
                <a:spcPts val="0"/>
              </a:spcAft>
            </a:pPr>
            <a:r>
              <a:rPr b="1" sz="1000">
                <a:solidFill>
                  <a:srgbClr val="0B1D3A"/>
                </a:solidFill>
                <a:latin typeface="Calibri"/>
              </a:rPr>
              <a:t>How to express it:  </a:t>
            </a:r>
            <a:r>
              <a:rPr b="0" sz="1000">
                <a:solidFill>
                  <a:srgbClr val="222A35"/>
                </a:solidFill>
                <a:latin typeface="Calibri"/>
              </a:rPr>
              <a:t>Stay long memory through the 2026 sold-out window, but roll exposure toward suppliers with commodity-DRAM torque and packaging/equipment names as the HBM premium mean-reverts into 2027–28.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NON-CONSENSUS VIEW #4</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Circular financing means the cycle can crack without AI 'failing'</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The right lesson from 1999–2001: usage kept doubling while the balance sheets built on it collapsed</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13</a:t>
            </a:r>
          </a:p>
        </p:txBody>
      </p:sp>
      <p:sp>
        <p:nvSpPr>
          <p:cNvPr id="9" name="Rectangle 8"/>
          <p:cNvSpPr/>
          <p:nvPr/>
        </p:nvSpPr>
        <p:spPr>
          <a:xfrm>
            <a:off x="502920" y="1481328"/>
            <a:ext cx="5477256" cy="384048"/>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1536192"/>
            <a:ext cx="5120640" cy="274320"/>
          </a:xfrm>
          <a:prstGeom prst="rect">
            <a:avLst/>
          </a:prstGeom>
          <a:noFill/>
        </p:spPr>
        <p:txBody>
          <a:bodyPr wrap="square" anchor="t">
            <a:spAutoFit/>
          </a:bodyPr>
          <a:lstStyle/>
          <a:p>
            <a:pPr algn="l">
              <a:lnSpc>
                <a:spcPct val="100000"/>
              </a:lnSpc>
              <a:spcAft>
                <a:spcPts val="0"/>
              </a:spcAft>
            </a:pPr>
            <a:r>
              <a:rPr b="1" sz="1100">
                <a:solidFill>
                  <a:srgbClr val="222A35"/>
                </a:solidFill>
                <a:latin typeface="Calibri"/>
              </a:rPr>
              <a:t>WHAT CONSENSUS BELIEVES</a:t>
            </a:r>
          </a:p>
        </p:txBody>
      </p:sp>
      <p:sp>
        <p:nvSpPr>
          <p:cNvPr id="11" name="Rectangle 10"/>
          <p:cNvSpPr/>
          <p:nvPr/>
        </p:nvSpPr>
        <p:spPr>
          <a:xfrm>
            <a:off x="502920" y="1865376"/>
            <a:ext cx="5477256" cy="32461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011680"/>
            <a:ext cx="5074920" cy="3017520"/>
          </a:xfrm>
          <a:prstGeom prst="rect">
            <a:avLst/>
          </a:prstGeom>
          <a:noFill/>
        </p:spPr>
        <p:txBody>
          <a:bodyPr wrap="square" anchor="t">
            <a:spAutoFit/>
          </a:bodyPr>
          <a:lstStyle/>
          <a:p>
            <a:pPr algn="l">
              <a:lnSpc>
                <a:spcPct val="105000"/>
              </a:lnSpc>
              <a:spcAft>
                <a:spcPts val="800"/>
              </a:spcAft>
            </a:pPr>
            <a:r>
              <a:rPr b="0" sz="1000">
                <a:solidFill>
                  <a:srgbClr val="222A35"/>
                </a:solidFill>
                <a:latin typeface="Calibri"/>
              </a:rPr>
              <a:t>Demand is real and contracted 18–24 months forward, so the financing structure is a footnote.</a:t>
            </a:r>
          </a:p>
          <a:p>
            <a:pPr algn="l">
              <a:lnSpc>
                <a:spcPct val="105000"/>
              </a:lnSpc>
              <a:spcAft>
                <a:spcPts val="800"/>
              </a:spcAft>
            </a:pPr>
            <a:r>
              <a:rPr b="0" sz="1000">
                <a:solidFill>
                  <a:srgbClr val="222A35"/>
                </a:solidFill>
                <a:latin typeface="Calibri"/>
              </a:rPr>
              <a:t>Hyperscalers fund capex from operating cash flow; this is nothing like dot-com vendor financing.</a:t>
            </a:r>
          </a:p>
          <a:p>
            <a:pPr algn="l">
              <a:lnSpc>
                <a:spcPct val="105000"/>
              </a:lnSpc>
              <a:spcAft>
                <a:spcPts val="800"/>
              </a:spcAft>
            </a:pPr>
            <a:r>
              <a:rPr b="0" sz="1000">
                <a:solidFill>
                  <a:srgbClr val="222A35"/>
                </a:solidFill>
                <a:latin typeface="Calibri"/>
              </a:rPr>
              <a:t>A correction requires an AI 'disappointment' — falling model quality or user churn.</a:t>
            </a:r>
          </a:p>
        </p:txBody>
      </p:sp>
      <p:sp>
        <p:nvSpPr>
          <p:cNvPr id="13" name="Rectangle 12"/>
          <p:cNvSpPr/>
          <p:nvPr/>
        </p:nvSpPr>
        <p:spPr>
          <a:xfrm>
            <a:off x="6208776" y="1481328"/>
            <a:ext cx="5477256" cy="384048"/>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1656" y="1536192"/>
            <a:ext cx="5120640" cy="274320"/>
          </a:xfrm>
          <a:prstGeom prst="rect">
            <a:avLst/>
          </a:prstGeom>
          <a:noFill/>
        </p:spPr>
        <p:txBody>
          <a:bodyPr wrap="square" anchor="t">
            <a:spAutoFit/>
          </a:bodyPr>
          <a:lstStyle/>
          <a:p>
            <a:pPr algn="l">
              <a:lnSpc>
                <a:spcPct val="100000"/>
              </a:lnSpc>
              <a:spcAft>
                <a:spcPts val="0"/>
              </a:spcAft>
            </a:pPr>
            <a:r>
              <a:rPr b="1" sz="1100">
                <a:solidFill>
                  <a:srgbClr val="FFFFFF"/>
                </a:solidFill>
                <a:latin typeface="Calibri"/>
              </a:rPr>
              <a:t>OUR VIEW</a:t>
            </a:r>
            <a:r>
              <a:rPr b="0" sz="1000">
                <a:solidFill>
                  <a:srgbClr val="C2903A"/>
                </a:solidFill>
                <a:latin typeface="Calibri"/>
              </a:rPr>
              <a:t>   — variant perception</a:t>
            </a:r>
          </a:p>
        </p:txBody>
      </p:sp>
      <p:sp>
        <p:nvSpPr>
          <p:cNvPr id="15" name="Rectangle 14"/>
          <p:cNvSpPr/>
          <p:nvPr/>
        </p:nvSpPr>
        <p:spPr>
          <a:xfrm>
            <a:off x="6208776" y="1865376"/>
            <a:ext cx="5477256" cy="3246120"/>
          </a:xfrm>
          <a:prstGeom prst="rect">
            <a:avLst/>
          </a:prstGeom>
          <a:solidFill>
            <a:srgbClr val="1A33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011680"/>
            <a:ext cx="5074920" cy="3017520"/>
          </a:xfrm>
          <a:prstGeom prst="rect">
            <a:avLst/>
          </a:prstGeom>
          <a:noFill/>
        </p:spPr>
        <p:txBody>
          <a:bodyPr wrap="square" anchor="t">
            <a:spAutoFit/>
          </a:bodyPr>
          <a:lstStyle/>
          <a:p>
            <a:pPr algn="l">
              <a:lnSpc>
                <a:spcPct val="105000"/>
              </a:lnSpc>
              <a:spcAft>
                <a:spcPts val="800"/>
              </a:spcAft>
            </a:pPr>
            <a:r>
              <a:rPr b="1" sz="1000">
                <a:solidFill>
                  <a:srgbClr val="C2903A"/>
                </a:solidFill>
                <a:latin typeface="Calibri"/>
              </a:rPr>
              <a:t>The loop is documented.  </a:t>
            </a:r>
            <a:r>
              <a:rPr b="0" sz="1000">
                <a:solidFill>
                  <a:srgbClr val="FFFFFF"/>
                </a:solidFill>
                <a:latin typeface="Calibri"/>
              </a:rPr>
              <a:t>Chipmakers and hyperscalers take equity in labs that spend the proceeds on their compute (BIS systemic-risk work; Bloomberg's Microsoft–OpenAI–NVIDIA deal graph). Revenue circulates inside the ecosystem before it arrives from end customers.</a:t>
            </a:r>
          </a:p>
          <a:p>
            <a:pPr algn="l">
              <a:lnSpc>
                <a:spcPct val="105000"/>
              </a:lnSpc>
              <a:spcAft>
                <a:spcPts val="800"/>
              </a:spcAft>
            </a:pPr>
            <a:r>
              <a:rPr b="1" sz="1000">
                <a:solidFill>
                  <a:srgbClr val="C2903A"/>
                </a:solidFill>
                <a:latin typeface="Calibri"/>
              </a:rPr>
              <a:t>The marginal buyer is unprofitable.  </a:t>
            </a:r>
            <a:r>
              <a:rPr b="0" sz="1000">
                <a:solidFill>
                  <a:srgbClr val="FFFFFF"/>
                </a:solidFill>
                <a:latin typeface="Calibri"/>
              </a:rPr>
              <a:t>OpenAI reportedly burns ~$60bn/yr on compute against ~$13bn revenue; neoclouds carry junk-rated debt against 2–3 yr assets. A 20–30% order cut by one large buyer cascades through chips, power and construction.</a:t>
            </a:r>
          </a:p>
          <a:p>
            <a:pPr algn="l">
              <a:lnSpc>
                <a:spcPct val="105000"/>
              </a:lnSpc>
              <a:spcAft>
                <a:spcPts val="800"/>
              </a:spcAft>
            </a:pPr>
            <a:r>
              <a:rPr b="1" sz="1000">
                <a:solidFill>
                  <a:srgbClr val="C2903A"/>
                </a:solidFill>
                <a:latin typeface="Calibri"/>
              </a:rPr>
              <a:t>A correction needs only deceleration.  </a:t>
            </a:r>
            <a:r>
              <a:rPr b="0" sz="1000">
                <a:solidFill>
                  <a:srgbClr val="FFFFFF"/>
                </a:solidFill>
                <a:latin typeface="Calibri"/>
              </a:rPr>
              <a:t>Spending must merely stop rising for write-downs, credit tightening and capex cuts to feed each other. Telecom traffic doubled straight through 2001 — infrastructure equities fell anyway.</a:t>
            </a:r>
          </a:p>
        </p:txBody>
      </p:sp>
      <p:sp>
        <p:nvSpPr>
          <p:cNvPr id="17" name="Rounded Rectangle 16"/>
          <p:cNvSpPr/>
          <p:nvPr/>
        </p:nvSpPr>
        <p:spPr>
          <a:xfrm>
            <a:off x="502920" y="5285232"/>
            <a:ext cx="11183112" cy="502920"/>
          </a:xfrm>
          <a:prstGeom prst="roundRect">
            <a:avLst>
              <a:gd name="adj" fmla="val 12000"/>
            </a:avLst>
          </a:prstGeom>
          <a:solidFill>
            <a:srgbClr val="FFFFFF"/>
          </a:solidFill>
          <a:ln w="9525">
            <a:solidFill>
              <a:srgbClr val="A839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5367528"/>
            <a:ext cx="10789920" cy="365760"/>
          </a:xfrm>
          <a:prstGeom prst="rect">
            <a:avLst/>
          </a:prstGeom>
          <a:noFill/>
        </p:spPr>
        <p:txBody>
          <a:bodyPr wrap="square" anchor="t">
            <a:spAutoFit/>
          </a:bodyPr>
          <a:lstStyle/>
          <a:p>
            <a:pPr algn="l">
              <a:lnSpc>
                <a:spcPct val="100000"/>
              </a:lnSpc>
              <a:spcAft>
                <a:spcPts val="0"/>
              </a:spcAft>
            </a:pPr>
            <a:r>
              <a:rPr b="1" sz="950">
                <a:solidFill>
                  <a:srgbClr val="A8392E"/>
                </a:solidFill>
                <a:latin typeface="Calibri"/>
              </a:rPr>
              <a:t>What would prove us wrong:  </a:t>
            </a:r>
            <a:r>
              <a:rPr b="0" sz="950">
                <a:solidFill>
                  <a:srgbClr val="222A35"/>
                </a:solidFill>
                <a:latin typeface="Calibri"/>
              </a:rPr>
              <a:t>Frontier-lab revenue compounds fast enough to close the burn gap; financing shifts from vendor equity and SPVs to end-customer cash contracts at stable prices.</a:t>
            </a:r>
          </a:p>
        </p:txBody>
      </p:sp>
      <p:sp>
        <p:nvSpPr>
          <p:cNvPr id="19" name="TextBox 18"/>
          <p:cNvSpPr txBox="1"/>
          <p:nvPr/>
        </p:nvSpPr>
        <p:spPr>
          <a:xfrm>
            <a:off x="502920" y="5897880"/>
            <a:ext cx="11183112" cy="411480"/>
          </a:xfrm>
          <a:prstGeom prst="rect">
            <a:avLst/>
          </a:prstGeom>
          <a:noFill/>
        </p:spPr>
        <p:txBody>
          <a:bodyPr wrap="square" anchor="t">
            <a:spAutoFit/>
          </a:bodyPr>
          <a:lstStyle/>
          <a:p>
            <a:pPr algn="l">
              <a:lnSpc>
                <a:spcPct val="100000"/>
              </a:lnSpc>
              <a:spcAft>
                <a:spcPts val="0"/>
              </a:spcAft>
            </a:pPr>
            <a:r>
              <a:rPr b="1" sz="1000">
                <a:solidFill>
                  <a:srgbClr val="0B1D3A"/>
                </a:solidFill>
                <a:latin typeface="Calibri"/>
              </a:rPr>
              <a:t>How to express it:  </a:t>
            </a:r>
            <a:r>
              <a:rPr b="0" sz="1000">
                <a:solidFill>
                  <a:srgbClr val="222A35"/>
                </a:solidFill>
                <a:latin typeface="Calibri"/>
              </a:rPr>
              <a:t>This is a risk-management view, not a short call on 2026: demand conservative multiples for GPU-rental and single-customer exposure; prefer diversified toll collectors with non-AI demand (grid, utilities).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POSITIONING</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Sector scorecard: own the toll collectors, be selective on the toll payers</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Framework stances — pricing power against the bottlenecks determines who keeps the economics</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14</a:t>
            </a:r>
          </a:p>
        </p:txBody>
      </p:sp>
      <p:graphicFrame>
        <p:nvGraphicFramePr>
          <p:cNvPr id="9" name="Table 8"/>
          <p:cNvGraphicFramePr>
            <a:graphicFrameLocks noGrp="1"/>
          </p:cNvGraphicFramePr>
          <p:nvPr/>
        </p:nvGraphicFramePr>
        <p:xfrm>
          <a:off x="502920" y="1481328"/>
          <a:ext cx="11183112" cy="4279392"/>
        </p:xfrm>
        <a:graphic>
          <a:graphicData uri="http://schemas.openxmlformats.org/drawingml/2006/table">
            <a:tbl>
              <a:tblPr>
                <a:tableStyleId>{5C22544A-7EE6-4342-B048-85BDC9FD1C3A}</a:tableStyleId>
              </a:tblPr>
              <a:tblGrid>
                <a:gridCol w="2999232"/>
                <a:gridCol w="1691640"/>
                <a:gridCol w="3429000"/>
                <a:gridCol w="3063240"/>
              </a:tblGrid>
              <a:tr h="310896">
                <a:tc>
                  <a:txBody>
                    <a:bodyPr wrap="square"/>
                    <a:lstStyle/>
                    <a:p>
                      <a:r>
                        <a:rPr sz="1000" b="1">
                          <a:solidFill>
                            <a:srgbClr val="FFFFFF"/>
                          </a:solidFill>
                          <a:latin typeface="Calibri"/>
                        </a:rPr>
                        <a:t>Subsector</a:t>
                      </a:r>
                    </a:p>
                  </a:txBody>
                  <a:tcPr anchor="ctr" marL="64008" marR="45720" marT="18288" marB="18288">
                    <a:solidFill>
                      <a:srgbClr val="0B1D3A"/>
                    </a:solidFill>
                  </a:tcPr>
                </a:tc>
                <a:tc>
                  <a:txBody>
                    <a:bodyPr wrap="square"/>
                    <a:lstStyle/>
                    <a:p>
                      <a:r>
                        <a:rPr sz="1000" b="1">
                          <a:solidFill>
                            <a:srgbClr val="FFFFFF"/>
                          </a:solidFill>
                          <a:latin typeface="Calibri"/>
                        </a:rPr>
                        <a:t>Stance</a:t>
                      </a:r>
                    </a:p>
                  </a:txBody>
                  <a:tcPr anchor="ctr" marL="64008" marR="45720" marT="18288" marB="18288">
                    <a:solidFill>
                      <a:srgbClr val="0B1D3A"/>
                    </a:solidFill>
                  </a:tcPr>
                </a:tc>
                <a:tc>
                  <a:txBody>
                    <a:bodyPr wrap="square"/>
                    <a:lstStyle/>
                    <a:p>
                      <a:r>
                        <a:rPr sz="1000" b="1">
                          <a:solidFill>
                            <a:srgbClr val="FFFFFF"/>
                          </a:solidFill>
                          <a:latin typeface="Calibri"/>
                        </a:rPr>
                        <a:t>Why</a:t>
                      </a:r>
                    </a:p>
                  </a:txBody>
                  <a:tcPr anchor="ctr" marL="64008" marR="45720" marT="18288" marB="18288">
                    <a:solidFill>
                      <a:srgbClr val="0B1D3A"/>
                    </a:solidFill>
                  </a:tcPr>
                </a:tc>
                <a:tc>
                  <a:txBody>
                    <a:bodyPr wrap="square"/>
                    <a:lstStyle/>
                    <a:p>
                      <a:r>
                        <a:rPr sz="1000" b="1">
                          <a:solidFill>
                            <a:srgbClr val="FFFFFF"/>
                          </a:solidFill>
                          <a:latin typeface="Calibri"/>
                        </a:rPr>
                        <a:t>Key risk</a:t>
                      </a:r>
                    </a:p>
                  </a:txBody>
                  <a:tcPr anchor="ctr" marL="64008" marR="45720" marT="18288" marB="18288">
                    <a:solidFill>
                      <a:srgbClr val="0B1D3A"/>
                    </a:solidFill>
                  </a:tcPr>
                </a:tc>
              </a:tr>
              <a:tr h="566928">
                <a:tc>
                  <a:txBody>
                    <a:bodyPr wrap="square"/>
                    <a:lstStyle/>
                    <a:p>
                      <a:r>
                        <a:rPr sz="880" b="0">
                          <a:solidFill>
                            <a:srgbClr val="222A35"/>
                          </a:solidFill>
                          <a:latin typeface="Calibri"/>
                        </a:rPr>
                        <a:t>Power equipment OEMs (transformers, switchgear, turbines)</a:t>
                      </a:r>
                    </a:p>
                  </a:txBody>
                  <a:tcPr anchor="ctr" marL="64008" marR="45720" marT="18288" marB="18288">
                    <a:solidFill>
                      <a:srgbClr val="FFFFFF"/>
                    </a:solidFill>
                  </a:tcPr>
                </a:tc>
                <a:tc>
                  <a:txBody>
                    <a:bodyPr wrap="square"/>
                    <a:lstStyle/>
                    <a:p>
                      <a:r>
                        <a:rPr sz="880" b="1">
                          <a:solidFill>
                            <a:srgbClr val="1E6F4A"/>
                          </a:solidFill>
                          <a:latin typeface="Calibri"/>
                        </a:rPr>
                        <a:t>Overweight</a:t>
                      </a:r>
                    </a:p>
                  </a:txBody>
                  <a:tcPr anchor="ctr" marL="64008" marR="45720" marT="18288" marB="18288">
                    <a:solidFill>
                      <a:srgbClr val="FFFFFF"/>
                    </a:solidFill>
                  </a:tcPr>
                </a:tc>
                <a:tc>
                  <a:txBody>
                    <a:bodyPr wrap="square"/>
                    <a:lstStyle/>
                    <a:p>
                      <a:r>
                        <a:rPr sz="880" b="0">
                          <a:solidFill>
                            <a:srgbClr val="222A35"/>
                          </a:solidFill>
                          <a:latin typeface="Calibri"/>
                        </a:rPr>
                        <a:t>Backlogs to 2030; prices +4–10%; oligopoly with labor moat</a:t>
                      </a:r>
                    </a:p>
                  </a:txBody>
                  <a:tcPr anchor="ctr" marL="64008" marR="45720" marT="18288" marB="18288">
                    <a:solidFill>
                      <a:srgbClr val="FFFFFF"/>
                    </a:solidFill>
                  </a:tcPr>
                </a:tc>
                <a:tc>
                  <a:txBody>
                    <a:bodyPr wrap="square"/>
                    <a:lstStyle/>
                    <a:p>
                      <a:r>
                        <a:rPr sz="880" b="0">
                          <a:solidFill>
                            <a:srgbClr val="222A35"/>
                          </a:solidFill>
                          <a:latin typeface="Calibri"/>
                        </a:rPr>
                        <a:t>Double-ordering unwinds into 2028 capacity adds</a:t>
                      </a:r>
                    </a:p>
                  </a:txBody>
                  <a:tcPr anchor="ctr" marL="64008" marR="45720" marT="18288" marB="18288">
                    <a:solidFill>
                      <a:srgbClr val="FFFFFF"/>
                    </a:solidFill>
                  </a:tcPr>
                </a:tc>
              </a:tr>
              <a:tr h="566928">
                <a:tc>
                  <a:txBody>
                    <a:bodyPr wrap="square"/>
                    <a:lstStyle/>
                    <a:p>
                      <a:r>
                        <a:rPr sz="880" b="0">
                          <a:solidFill>
                            <a:srgbClr val="222A35"/>
                          </a:solidFill>
                          <a:latin typeface="Calibri"/>
                        </a:rPr>
                        <a:t>Electrical E&amp;C / grid contractors</a:t>
                      </a:r>
                    </a:p>
                  </a:txBody>
                  <a:tcPr anchor="ctr" marL="64008" marR="45720" marT="18288" marB="18288">
                    <a:solidFill>
                      <a:srgbClr val="F1F4F8"/>
                    </a:solidFill>
                  </a:tcPr>
                </a:tc>
                <a:tc>
                  <a:txBody>
                    <a:bodyPr wrap="square"/>
                    <a:lstStyle/>
                    <a:p>
                      <a:r>
                        <a:rPr sz="880" b="1">
                          <a:solidFill>
                            <a:srgbClr val="1E6F4A"/>
                          </a:solidFill>
                          <a:latin typeface="Calibri"/>
                        </a:rPr>
                        <a:t>Overweight</a:t>
                      </a:r>
                    </a:p>
                  </a:txBody>
                  <a:tcPr anchor="ctr" marL="64008" marR="45720" marT="18288" marB="18288">
                    <a:solidFill>
                      <a:srgbClr val="F1F4F8"/>
                    </a:solidFill>
                  </a:tcPr>
                </a:tc>
                <a:tc>
                  <a:txBody>
                    <a:bodyPr wrap="square"/>
                    <a:lstStyle/>
                    <a:p>
                      <a:r>
                        <a:rPr sz="880" b="0">
                          <a:solidFill>
                            <a:srgbClr val="222A35"/>
                          </a:solidFill>
                          <a:latin typeface="Calibri"/>
                        </a:rPr>
                        <a:t>Labor-constrained trades = durable pricing power</a:t>
                      </a:r>
                    </a:p>
                  </a:txBody>
                  <a:tcPr anchor="ctr" marL="64008" marR="45720" marT="18288" marB="18288">
                    <a:solidFill>
                      <a:srgbClr val="F1F4F8"/>
                    </a:solidFill>
                  </a:tcPr>
                </a:tc>
                <a:tc>
                  <a:txBody>
                    <a:bodyPr wrap="square"/>
                    <a:lstStyle/>
                    <a:p>
                      <a:r>
                        <a:rPr sz="880" b="0">
                          <a:solidFill>
                            <a:srgbClr val="222A35"/>
                          </a:solidFill>
                          <a:latin typeface="Calibri"/>
                        </a:rPr>
                        <a:t>Wage inflation outpacing contract escalators</a:t>
                      </a:r>
                    </a:p>
                  </a:txBody>
                  <a:tcPr anchor="ctr" marL="64008" marR="45720" marT="18288" marB="18288">
                    <a:solidFill>
                      <a:srgbClr val="F1F4F8"/>
                    </a:solidFill>
                  </a:tcPr>
                </a:tc>
              </a:tr>
              <a:tr h="566928">
                <a:tc>
                  <a:txBody>
                    <a:bodyPr wrap="square"/>
                    <a:lstStyle/>
                    <a:p>
                      <a:r>
                        <a:rPr sz="880" b="0">
                          <a:solidFill>
                            <a:srgbClr val="222A35"/>
                          </a:solidFill>
                          <a:latin typeface="Calibri"/>
                        </a:rPr>
                        <a:t>Utilities / IPPs with DC load growth</a:t>
                      </a:r>
                    </a:p>
                  </a:txBody>
                  <a:tcPr anchor="ctr" marL="64008" marR="45720" marT="18288" marB="18288">
                    <a:solidFill>
                      <a:srgbClr val="FFFFFF"/>
                    </a:solidFill>
                  </a:tcPr>
                </a:tc>
                <a:tc>
                  <a:txBody>
                    <a:bodyPr wrap="square"/>
                    <a:lstStyle/>
                    <a:p>
                      <a:r>
                        <a:rPr sz="880" b="1">
                          <a:solidFill>
                            <a:srgbClr val="1E6F4A"/>
                          </a:solidFill>
                          <a:latin typeface="Calibri"/>
                        </a:rPr>
                        <a:t>Overweight (selective)</a:t>
                      </a:r>
                    </a:p>
                  </a:txBody>
                  <a:tcPr anchor="ctr" marL="64008" marR="45720" marT="18288" marB="18288">
                    <a:solidFill>
                      <a:srgbClr val="FFFFFF"/>
                    </a:solidFill>
                  </a:tcPr>
                </a:tc>
                <a:tc>
                  <a:txBody>
                    <a:bodyPr wrap="square"/>
                    <a:lstStyle/>
                    <a:p>
                      <a:r>
                        <a:rPr sz="880" b="0">
                          <a:solidFill>
                            <a:srgbClr val="222A35"/>
                          </a:solidFill>
                          <a:latin typeface="Calibri"/>
                        </a:rPr>
                        <a:t>Rate-base growth; speed-to-power deals command premiums</a:t>
                      </a:r>
                    </a:p>
                  </a:txBody>
                  <a:tcPr anchor="ctr" marL="64008" marR="45720" marT="18288" marB="18288">
                    <a:solidFill>
                      <a:srgbClr val="FFFFFF"/>
                    </a:solidFill>
                  </a:tcPr>
                </a:tc>
                <a:tc>
                  <a:txBody>
                    <a:bodyPr wrap="square"/>
                    <a:lstStyle/>
                    <a:p>
                      <a:r>
                        <a:rPr sz="880" b="0">
                          <a:solidFill>
                            <a:srgbClr val="222A35"/>
                          </a:solidFill>
                          <a:latin typeface="Calibri"/>
                        </a:rPr>
                        <a:t>Regulatory pushback on ratepayer cost allocation</a:t>
                      </a:r>
                    </a:p>
                  </a:txBody>
                  <a:tcPr anchor="ctr" marL="64008" marR="45720" marT="18288" marB="18288">
                    <a:solidFill>
                      <a:srgbClr val="FFFFFF"/>
                    </a:solidFill>
                  </a:tcPr>
                </a:tc>
              </a:tr>
              <a:tr h="566928">
                <a:tc>
                  <a:txBody>
                    <a:bodyPr wrap="square"/>
                    <a:lstStyle/>
                    <a:p>
                      <a:r>
                        <a:rPr sz="880" b="0">
                          <a:solidFill>
                            <a:srgbClr val="222A35"/>
                          </a:solidFill>
                          <a:latin typeface="Calibri"/>
                        </a:rPr>
                        <a:t>Memory (HBM complex)</a:t>
                      </a:r>
                    </a:p>
                  </a:txBody>
                  <a:tcPr anchor="ctr" marL="64008" marR="45720" marT="18288" marB="18288">
                    <a:solidFill>
                      <a:srgbClr val="F1F4F8"/>
                    </a:solidFill>
                  </a:tcPr>
                </a:tc>
                <a:tc>
                  <a:txBody>
                    <a:bodyPr wrap="square"/>
                    <a:lstStyle/>
                    <a:p>
                      <a:r>
                        <a:rPr sz="880" b="1">
                          <a:solidFill>
                            <a:srgbClr val="C2903A"/>
                          </a:solidFill>
                          <a:latin typeface="Calibri"/>
                        </a:rPr>
                        <a:t>Overweight near term</a:t>
                      </a:r>
                    </a:p>
                  </a:txBody>
                  <a:tcPr anchor="ctr" marL="64008" marR="45720" marT="18288" marB="18288">
                    <a:solidFill>
                      <a:srgbClr val="F1F4F8"/>
                    </a:solidFill>
                  </a:tcPr>
                </a:tc>
                <a:tc>
                  <a:txBody>
                    <a:bodyPr wrap="square"/>
                    <a:lstStyle/>
                    <a:p>
                      <a:r>
                        <a:rPr sz="880" b="0">
                          <a:solidFill>
                            <a:srgbClr val="222A35"/>
                          </a:solidFill>
                          <a:latin typeface="Calibri"/>
                        </a:rPr>
                        <a:t>2026–27 sold out; ASPs rising; fill rates 60–70%</a:t>
                      </a:r>
                    </a:p>
                  </a:txBody>
                  <a:tcPr anchor="ctr" marL="64008" marR="45720" marT="18288" marB="18288">
                    <a:solidFill>
                      <a:srgbClr val="F1F4F8"/>
                    </a:solidFill>
                  </a:tcPr>
                </a:tc>
                <a:tc>
                  <a:txBody>
                    <a:bodyPr wrap="square"/>
                    <a:lstStyle/>
                    <a:p>
                      <a:r>
                        <a:rPr sz="880" b="0">
                          <a:solidFill>
                            <a:srgbClr val="222A35"/>
                          </a:solidFill>
                          <a:latin typeface="Calibri"/>
                        </a:rPr>
                        <a:t>Our NC#3: spec downgrades + 2027 capacity crossover</a:t>
                      </a:r>
                    </a:p>
                  </a:txBody>
                  <a:tcPr anchor="ctr" marL="64008" marR="45720" marT="18288" marB="18288">
                    <a:solidFill>
                      <a:srgbClr val="F1F4F8"/>
                    </a:solidFill>
                  </a:tcPr>
                </a:tc>
              </a:tr>
              <a:tr h="566928">
                <a:tc>
                  <a:txBody>
                    <a:bodyPr wrap="square"/>
                    <a:lstStyle/>
                    <a:p>
                      <a:r>
                        <a:rPr sz="880" b="0">
                          <a:solidFill>
                            <a:srgbClr val="222A35"/>
                          </a:solidFill>
                          <a:latin typeface="Calibri"/>
                        </a:rPr>
                        <a:t>GPU / accelerator complex</a:t>
                      </a:r>
                    </a:p>
                  </a:txBody>
                  <a:tcPr anchor="ctr" marL="64008" marR="45720" marT="18288" marB="18288">
                    <a:solidFill>
                      <a:srgbClr val="FFFFFF"/>
                    </a:solidFill>
                  </a:tcPr>
                </a:tc>
                <a:tc>
                  <a:txBody>
                    <a:bodyPr wrap="square"/>
                    <a:lstStyle/>
                    <a:p>
                      <a:r>
                        <a:rPr sz="880" b="1">
                          <a:solidFill>
                            <a:srgbClr val="C2903A"/>
                          </a:solidFill>
                          <a:latin typeface="Calibri"/>
                        </a:rPr>
                        <a:t>Neutral-positive</a:t>
                      </a:r>
                    </a:p>
                  </a:txBody>
                  <a:tcPr anchor="ctr" marL="64008" marR="45720" marT="18288" marB="18288">
                    <a:solidFill>
                      <a:srgbClr val="FFFFFF"/>
                    </a:solidFill>
                  </a:tcPr>
                </a:tc>
                <a:tc>
                  <a:txBody>
                    <a:bodyPr wrap="square"/>
                    <a:lstStyle/>
                    <a:p>
                      <a:r>
                        <a:rPr sz="880" b="0">
                          <a:solidFill>
                            <a:srgbClr val="222A35"/>
                          </a:solidFill>
                          <a:latin typeface="Calibri"/>
                        </a:rPr>
                        <a:t>Allocation economics intact; CoWoS moat via booking windows</a:t>
                      </a:r>
                    </a:p>
                  </a:txBody>
                  <a:tcPr anchor="ctr" marL="64008" marR="45720" marT="18288" marB="18288">
                    <a:solidFill>
                      <a:srgbClr val="FFFFFF"/>
                    </a:solidFill>
                  </a:tcPr>
                </a:tc>
                <a:tc>
                  <a:txBody>
                    <a:bodyPr wrap="square"/>
                    <a:lstStyle/>
                    <a:p>
                      <a:r>
                        <a:rPr sz="880" b="0">
                          <a:solidFill>
                            <a:srgbClr val="222A35"/>
                          </a:solidFill>
                          <a:latin typeface="Calibri"/>
                        </a:rPr>
                        <a:t>Memory cost pass-through; customer depreciation wall (NC#1)</a:t>
                      </a:r>
                    </a:p>
                  </a:txBody>
                  <a:tcPr anchor="ctr" marL="64008" marR="45720" marT="18288" marB="18288">
                    <a:solidFill>
                      <a:srgbClr val="FFFFFF"/>
                    </a:solidFill>
                  </a:tcPr>
                </a:tc>
              </a:tr>
              <a:tr h="566928">
                <a:tc>
                  <a:txBody>
                    <a:bodyPr wrap="square"/>
                    <a:lstStyle/>
                    <a:p>
                      <a:r>
                        <a:rPr sz="880" b="0">
                          <a:solidFill>
                            <a:srgbClr val="222A35"/>
                          </a:solidFill>
                          <a:latin typeface="Calibri"/>
                        </a:rPr>
                        <a:t>Neoclouds / GPU rental</a:t>
                      </a:r>
                    </a:p>
                  </a:txBody>
                  <a:tcPr anchor="ctr" marL="64008" marR="45720" marT="18288" marB="18288">
                    <a:solidFill>
                      <a:srgbClr val="F1F4F8"/>
                    </a:solidFill>
                  </a:tcPr>
                </a:tc>
                <a:tc>
                  <a:txBody>
                    <a:bodyPr wrap="square"/>
                    <a:lstStyle/>
                    <a:p>
                      <a:r>
                        <a:rPr sz="880" b="1">
                          <a:solidFill>
                            <a:srgbClr val="A8392E"/>
                          </a:solidFill>
                          <a:latin typeface="Calibri"/>
                        </a:rPr>
                        <a:t>Underweight</a:t>
                      </a:r>
                    </a:p>
                  </a:txBody>
                  <a:tcPr anchor="ctr" marL="64008" marR="45720" marT="18288" marB="18288">
                    <a:solidFill>
                      <a:srgbClr val="F1F4F8"/>
                    </a:solidFill>
                  </a:tcPr>
                </a:tc>
                <a:tc>
                  <a:txBody>
                    <a:bodyPr wrap="square"/>
                    <a:lstStyle/>
                    <a:p>
                      <a:r>
                        <a:rPr sz="880" b="0">
                          <a:solidFill>
                            <a:srgbClr val="222A35"/>
                          </a:solidFill>
                          <a:latin typeface="Calibri"/>
                        </a:rPr>
                        <a:t>Commodity service; spot rates $8→$2/hr; debt vs 2–3 yr assets</a:t>
                      </a:r>
                    </a:p>
                  </a:txBody>
                  <a:tcPr anchor="ctr" marL="64008" marR="45720" marT="18288" marB="18288">
                    <a:solidFill>
                      <a:srgbClr val="F1F4F8"/>
                    </a:solidFill>
                  </a:tcPr>
                </a:tc>
                <a:tc>
                  <a:txBody>
                    <a:bodyPr wrap="square"/>
                    <a:lstStyle/>
                    <a:p>
                      <a:r>
                        <a:rPr sz="880" b="0">
                          <a:solidFill>
                            <a:srgbClr val="222A35"/>
                          </a:solidFill>
                          <a:latin typeface="Calibri"/>
                        </a:rPr>
                        <a:t>Take-or-pay renewals 2026–27 mark the model to market</a:t>
                      </a:r>
                    </a:p>
                  </a:txBody>
                  <a:tcPr anchor="ctr" marL="64008" marR="45720" marT="18288" marB="18288">
                    <a:solidFill>
                      <a:srgbClr val="F1F4F8"/>
                    </a:solidFill>
                  </a:tcPr>
                </a:tc>
              </a:tr>
              <a:tr h="566928">
                <a:tc>
                  <a:txBody>
                    <a:bodyPr wrap="square"/>
                    <a:lstStyle/>
                    <a:p>
                      <a:r>
                        <a:rPr sz="880" b="0">
                          <a:solidFill>
                            <a:srgbClr val="222A35"/>
                          </a:solidFill>
                          <a:latin typeface="Calibri"/>
                        </a:rPr>
                        <a:t>Data center REITs / colos</a:t>
                      </a:r>
                    </a:p>
                  </a:txBody>
                  <a:tcPr anchor="ctr" marL="64008" marR="45720" marT="18288" marB="18288">
                    <a:solidFill>
                      <a:srgbClr val="FFFFFF"/>
                    </a:solidFill>
                  </a:tcPr>
                </a:tc>
                <a:tc>
                  <a:txBody>
                    <a:bodyPr wrap="square"/>
                    <a:lstStyle/>
                    <a:p>
                      <a:r>
                        <a:rPr sz="880" b="1">
                          <a:solidFill>
                            <a:srgbClr val="C2903A"/>
                          </a:solidFill>
                          <a:latin typeface="Calibri"/>
                        </a:rPr>
                        <a:t>Selective</a:t>
                      </a:r>
                    </a:p>
                  </a:txBody>
                  <a:tcPr anchor="ctr" marL="64008" marR="45720" marT="18288" marB="18288">
                    <a:solidFill>
                      <a:srgbClr val="FFFFFF"/>
                    </a:solidFill>
                  </a:tcPr>
                </a:tc>
                <a:tc>
                  <a:txBody>
                    <a:bodyPr wrap="square"/>
                    <a:lstStyle/>
                    <a:p>
                      <a:r>
                        <a:rPr sz="880" b="0">
                          <a:solidFill>
                            <a:srgbClr val="222A35"/>
                          </a:solidFill>
                          <a:latin typeface="Calibri"/>
                        </a:rPr>
                        <a:t>Power-secured portfolios earn a scarcity premium</a:t>
                      </a:r>
                    </a:p>
                  </a:txBody>
                  <a:tcPr anchor="ctr" marL="64008" marR="45720" marT="18288" marB="18288">
                    <a:solidFill>
                      <a:srgbClr val="FFFFFF"/>
                    </a:solidFill>
                  </a:tcPr>
                </a:tc>
                <a:tc>
                  <a:txBody>
                    <a:bodyPr wrap="square"/>
                    <a:lstStyle/>
                    <a:p>
                      <a:r>
                        <a:rPr sz="880" b="0">
                          <a:solidFill>
                            <a:srgbClr val="222A35"/>
                          </a:solidFill>
                          <a:latin typeface="Calibri"/>
                        </a:rPr>
                        <a:t>Late-queue developments strand capex in the 5–7 yr gap</a:t>
                      </a:r>
                    </a:p>
                  </a:txBody>
                  <a:tcPr anchor="ctr" marL="64008" marR="45720" marT="18288" marB="18288">
                    <a:solidFill>
                      <a:srgbClr val="FFFFFF"/>
                    </a:solidFill>
                  </a:tcPr>
                </a:tc>
              </a:tr>
            </a:tbl>
          </a:graphicData>
        </a:graphic>
      </p:graphicFrame>
      <p:sp>
        <p:nvSpPr>
          <p:cNvPr id="10" name="TextBox 9"/>
          <p:cNvSpPr txBox="1"/>
          <p:nvPr/>
        </p:nvSpPr>
        <p:spPr>
          <a:xfrm>
            <a:off x="502920" y="5806440"/>
            <a:ext cx="11183112" cy="457200"/>
          </a:xfrm>
          <a:prstGeom prst="rect">
            <a:avLst/>
          </a:prstGeom>
          <a:noFill/>
        </p:spPr>
        <p:txBody>
          <a:bodyPr wrap="square" anchor="t">
            <a:spAutoFit/>
          </a:bodyPr>
          <a:lstStyle/>
          <a:p>
            <a:pPr algn="l">
              <a:lnSpc>
                <a:spcPct val="100000"/>
              </a:lnSpc>
              <a:spcAft>
                <a:spcPts val="400"/>
              </a:spcAft>
            </a:pPr>
            <a:r>
              <a:rPr b="1" sz="1000">
                <a:solidFill>
                  <a:srgbClr val="0B1D3A"/>
                </a:solidFill>
                <a:latin typeface="Calibri"/>
              </a:rPr>
              <a:t>Unifying logic:  </a:t>
            </a:r>
            <a:r>
              <a:rPr b="0" sz="1000">
                <a:solidFill>
                  <a:srgbClr val="222A35"/>
                </a:solidFill>
                <a:latin typeface="Calibri"/>
              </a:rPr>
              <a:t>every bottleneck on slide 6 is somebody's income statement. Own the constraint; rent the beneficiaries of its relief; avoid balance sheets that assume the constraint never binds.</a:t>
            </a:r>
          </a:p>
        </p:txBody>
      </p:sp>
      <p:sp>
        <p:nvSpPr>
          <p:cNvPr id="11" name="TextBox 10"/>
          <p:cNvSpPr txBox="1"/>
          <p:nvPr/>
        </p:nvSpPr>
        <p:spPr>
          <a:xfrm>
            <a:off x="502920" y="6309360"/>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Team framework. Stances are illustrative, not 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MONITORING</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The dashboard: ten series that will flag it before the tape does</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Each indicator maps to a specific call; cadence and source noted for reproducibility</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15</a:t>
            </a:r>
          </a:p>
        </p:txBody>
      </p:sp>
      <p:graphicFrame>
        <p:nvGraphicFramePr>
          <p:cNvPr id="9" name="Table 8"/>
          <p:cNvGraphicFramePr>
            <a:graphicFrameLocks noGrp="1"/>
          </p:cNvGraphicFramePr>
          <p:nvPr/>
        </p:nvGraphicFramePr>
        <p:xfrm>
          <a:off x="502920" y="1481328"/>
          <a:ext cx="11183111" cy="4636008"/>
        </p:xfrm>
        <a:graphic>
          <a:graphicData uri="http://schemas.openxmlformats.org/drawingml/2006/table">
            <a:tbl>
              <a:tblPr>
                <a:tableStyleId>{5C22544A-7EE6-4342-B048-85BDC9FD1C3A}</a:tableStyleId>
              </a:tblPr>
              <a:tblGrid>
                <a:gridCol w="3931920"/>
                <a:gridCol w="1298448"/>
                <a:gridCol w="1033271"/>
                <a:gridCol w="4919472"/>
              </a:tblGrid>
              <a:tr h="292608">
                <a:tc>
                  <a:txBody>
                    <a:bodyPr wrap="square"/>
                    <a:lstStyle/>
                    <a:p>
                      <a:r>
                        <a:rPr sz="950" b="1">
                          <a:solidFill>
                            <a:srgbClr val="FFFFFF"/>
                          </a:solidFill>
                          <a:latin typeface="Calibri"/>
                        </a:rPr>
                        <a:t>Indicator</a:t>
                      </a:r>
                    </a:p>
                  </a:txBody>
                  <a:tcPr anchor="ctr" marL="64008" marR="45720" marT="18288" marB="18288">
                    <a:solidFill>
                      <a:srgbClr val="0B1D3A"/>
                    </a:solidFill>
                  </a:tcPr>
                </a:tc>
                <a:tc>
                  <a:txBody>
                    <a:bodyPr wrap="square"/>
                    <a:lstStyle/>
                    <a:p>
                      <a:r>
                        <a:rPr sz="950" b="1">
                          <a:solidFill>
                            <a:srgbClr val="FFFFFF"/>
                          </a:solidFill>
                          <a:latin typeface="Calibri"/>
                        </a:rPr>
                        <a:t>Cadence</a:t>
                      </a:r>
                    </a:p>
                  </a:txBody>
                  <a:tcPr anchor="ctr" marL="64008" marR="45720" marT="18288" marB="18288">
                    <a:solidFill>
                      <a:srgbClr val="0B1D3A"/>
                    </a:solidFill>
                  </a:tcPr>
                </a:tc>
                <a:tc>
                  <a:txBody>
                    <a:bodyPr wrap="square"/>
                    <a:lstStyle/>
                    <a:p>
                      <a:r>
                        <a:rPr sz="950" b="1">
                          <a:solidFill>
                            <a:srgbClr val="FFFFFF"/>
                          </a:solidFill>
                          <a:latin typeface="Calibri"/>
                        </a:rPr>
                        <a:t>Maps to</a:t>
                      </a:r>
                    </a:p>
                  </a:txBody>
                  <a:tcPr anchor="ctr" marL="64008" marR="45720" marT="18288" marB="18288">
                    <a:solidFill>
                      <a:srgbClr val="0B1D3A"/>
                    </a:solidFill>
                  </a:tcPr>
                </a:tc>
                <a:tc>
                  <a:txBody>
                    <a:bodyPr wrap="square"/>
                    <a:lstStyle/>
                    <a:p>
                      <a:r>
                        <a:rPr sz="950" b="1">
                          <a:solidFill>
                            <a:srgbClr val="FFFFFF"/>
                          </a:solidFill>
                          <a:latin typeface="Calibri"/>
                        </a:rPr>
                        <a:t>What it tells us</a:t>
                      </a:r>
                    </a:p>
                  </a:txBody>
                  <a:tcPr anchor="ctr" marL="64008" marR="45720" marT="18288" marB="18288">
                    <a:solidFill>
                      <a:srgbClr val="0B1D3A"/>
                    </a:solidFill>
                  </a:tcPr>
                </a:tc>
              </a:tr>
              <a:tr h="434340">
                <a:tc>
                  <a:txBody>
                    <a:bodyPr wrap="square"/>
                    <a:lstStyle/>
                    <a:p>
                      <a:r>
                        <a:rPr sz="840" b="0">
                          <a:solidFill>
                            <a:srgbClr val="222A35"/>
                          </a:solidFill>
                          <a:latin typeface="Calibri"/>
                        </a:rPr>
                        <a:t>Useful-life / estimate-change paragraphs in hyperscaler 10-Ks</a:t>
                      </a:r>
                    </a:p>
                  </a:txBody>
                  <a:tcPr anchor="ctr" marL="64008" marR="45720" marT="18288" marB="18288">
                    <a:solidFill>
                      <a:srgbClr val="FFFFFF"/>
                    </a:solidFill>
                  </a:tcPr>
                </a:tc>
                <a:tc>
                  <a:txBody>
                    <a:bodyPr wrap="square"/>
                    <a:lstStyle/>
                    <a:p>
                      <a:r>
                        <a:rPr sz="840" b="0">
                          <a:solidFill>
                            <a:srgbClr val="222A35"/>
                          </a:solidFill>
                          <a:latin typeface="Calibri"/>
                        </a:rPr>
                        <a:t>Annual (Jan–Feb)</a:t>
                      </a:r>
                    </a:p>
                  </a:txBody>
                  <a:tcPr anchor="ctr" marL="64008" marR="45720" marT="18288" marB="18288">
                    <a:solidFill>
                      <a:srgbClr val="FFFFFF"/>
                    </a:solidFill>
                  </a:tcPr>
                </a:tc>
                <a:tc>
                  <a:txBody>
                    <a:bodyPr wrap="square"/>
                    <a:lstStyle/>
                    <a:p>
                      <a:r>
                        <a:rPr sz="840" b="0">
                          <a:solidFill>
                            <a:srgbClr val="222A35"/>
                          </a:solidFill>
                          <a:latin typeface="Calibri"/>
                        </a:rPr>
                        <a:t>NC#1</a:t>
                      </a:r>
                    </a:p>
                  </a:txBody>
                  <a:tcPr anchor="ctr" marL="64008" marR="45720" marT="18288" marB="18288">
                    <a:solidFill>
                      <a:srgbClr val="FFFFFF"/>
                    </a:solidFill>
                  </a:tcPr>
                </a:tc>
                <a:tc>
                  <a:txBody>
                    <a:bodyPr wrap="square"/>
                    <a:lstStyle/>
                    <a:p>
                      <a:r>
                        <a:rPr sz="840" b="0">
                          <a:solidFill>
                            <a:srgbClr val="222A35"/>
                          </a:solidFill>
                          <a:latin typeface="Calibri"/>
                        </a:rPr>
                        <a:t>First public sign of the depreciation wall; Amazon already reversed one extension</a:t>
                      </a:r>
                    </a:p>
                  </a:txBody>
                  <a:tcPr anchor="ctr" marL="64008" marR="45720" marT="18288" marB="18288">
                    <a:solidFill>
                      <a:srgbClr val="FFFFFF"/>
                    </a:solidFill>
                  </a:tcPr>
                </a:tc>
              </a:tr>
              <a:tr h="434340">
                <a:tc>
                  <a:txBody>
                    <a:bodyPr wrap="square"/>
                    <a:lstStyle/>
                    <a:p>
                      <a:r>
                        <a:rPr sz="840" b="0">
                          <a:solidFill>
                            <a:srgbClr val="222A35"/>
                          </a:solidFill>
                          <a:latin typeface="Calibri"/>
                        </a:rPr>
                        <a:t>Hyperscaler capex guides + finance-lease / SPV mix</a:t>
                      </a:r>
                    </a:p>
                  </a:txBody>
                  <a:tcPr anchor="ctr" marL="64008" marR="45720" marT="18288" marB="18288">
                    <a:solidFill>
                      <a:srgbClr val="F1F4F8"/>
                    </a:solidFill>
                  </a:tcPr>
                </a:tc>
                <a:tc>
                  <a:txBody>
                    <a:bodyPr wrap="square"/>
                    <a:lstStyle/>
                    <a:p>
                      <a:r>
                        <a:rPr sz="840" b="0">
                          <a:solidFill>
                            <a:srgbClr val="222A35"/>
                          </a:solidFill>
                          <a:latin typeface="Calibri"/>
                        </a:rPr>
                        <a:t>Quarterly</a:t>
                      </a:r>
                    </a:p>
                  </a:txBody>
                  <a:tcPr anchor="ctr" marL="64008" marR="45720" marT="18288" marB="18288">
                    <a:solidFill>
                      <a:srgbClr val="F1F4F8"/>
                    </a:solidFill>
                  </a:tcPr>
                </a:tc>
                <a:tc>
                  <a:txBody>
                    <a:bodyPr wrap="square"/>
                    <a:lstStyle/>
                    <a:p>
                      <a:r>
                        <a:rPr sz="840" b="0">
                          <a:solidFill>
                            <a:srgbClr val="222A35"/>
                          </a:solidFill>
                          <a:latin typeface="Calibri"/>
                        </a:rPr>
                        <a:t>NC#1, #4</a:t>
                      </a:r>
                    </a:p>
                  </a:txBody>
                  <a:tcPr anchor="ctr" marL="64008" marR="45720" marT="18288" marB="18288">
                    <a:solidFill>
                      <a:srgbClr val="F1F4F8"/>
                    </a:solidFill>
                  </a:tcPr>
                </a:tc>
                <a:tc>
                  <a:txBody>
                    <a:bodyPr wrap="square"/>
                    <a:lstStyle/>
                    <a:p>
                      <a:r>
                        <a:rPr sz="840" b="0">
                          <a:solidFill>
                            <a:srgbClr val="222A35"/>
                          </a:solidFill>
                          <a:latin typeface="Calibri"/>
                        </a:rPr>
                        <a:t>Commitment vs accounting optics; pre-funding behavior</a:t>
                      </a:r>
                    </a:p>
                  </a:txBody>
                  <a:tcPr anchor="ctr" marL="64008" marR="45720" marT="18288" marB="18288">
                    <a:solidFill>
                      <a:srgbClr val="F1F4F8"/>
                    </a:solidFill>
                  </a:tcPr>
                </a:tc>
              </a:tr>
              <a:tr h="434340">
                <a:tc>
                  <a:txBody>
                    <a:bodyPr wrap="square"/>
                    <a:lstStyle/>
                    <a:p>
                      <a:r>
                        <a:rPr sz="840" b="0">
                          <a:solidFill>
                            <a:srgbClr val="222A35"/>
                          </a:solidFill>
                          <a:latin typeface="Calibri"/>
                        </a:rPr>
                        <a:t>HBM contract negotiations, customer fill rates</a:t>
                      </a:r>
                    </a:p>
                  </a:txBody>
                  <a:tcPr anchor="ctr" marL="64008" marR="45720" marT="18288" marB="18288">
                    <a:solidFill>
                      <a:srgbClr val="FFFFFF"/>
                    </a:solidFill>
                  </a:tcPr>
                </a:tc>
                <a:tc>
                  <a:txBody>
                    <a:bodyPr wrap="square"/>
                    <a:lstStyle/>
                    <a:p>
                      <a:r>
                        <a:rPr sz="840" b="0">
                          <a:solidFill>
                            <a:srgbClr val="222A35"/>
                          </a:solidFill>
                          <a:latin typeface="Calibri"/>
                        </a:rPr>
                        <a:t>Quarterly</a:t>
                      </a:r>
                    </a:p>
                  </a:txBody>
                  <a:tcPr anchor="ctr" marL="64008" marR="45720" marT="18288" marB="18288">
                    <a:solidFill>
                      <a:srgbClr val="FFFFFF"/>
                    </a:solidFill>
                  </a:tcPr>
                </a:tc>
                <a:tc>
                  <a:txBody>
                    <a:bodyPr wrap="square"/>
                    <a:lstStyle/>
                    <a:p>
                      <a:r>
                        <a:rPr sz="840" b="0">
                          <a:solidFill>
                            <a:srgbClr val="222A35"/>
                          </a:solidFill>
                          <a:latin typeface="Calibri"/>
                        </a:rPr>
                        <a:t>NC#3</a:t>
                      </a:r>
                    </a:p>
                  </a:txBody>
                  <a:tcPr anchor="ctr" marL="64008" marR="45720" marT="18288" marB="18288">
                    <a:solidFill>
                      <a:srgbClr val="FFFFFF"/>
                    </a:solidFill>
                  </a:tcPr>
                </a:tc>
                <a:tc>
                  <a:txBody>
                    <a:bodyPr wrap="square"/>
                    <a:lstStyle/>
                    <a:p>
                      <a:r>
                        <a:rPr sz="840" b="0">
                          <a:solidFill>
                            <a:srgbClr val="222A35"/>
                          </a:solidFill>
                          <a:latin typeface="Calibri"/>
                        </a:rPr>
                        <a:t>Fill rates normalizing above ~85% = pricing power rolling over</a:t>
                      </a:r>
                    </a:p>
                  </a:txBody>
                  <a:tcPr anchor="ctr" marL="64008" marR="45720" marT="18288" marB="18288">
                    <a:solidFill>
                      <a:srgbClr val="FFFFFF"/>
                    </a:solidFill>
                  </a:tcPr>
                </a:tc>
              </a:tr>
              <a:tr h="434340">
                <a:tc>
                  <a:txBody>
                    <a:bodyPr wrap="square"/>
                    <a:lstStyle/>
                    <a:p>
                      <a:r>
                        <a:rPr sz="840" b="0">
                          <a:solidFill>
                            <a:srgbClr val="222A35"/>
                          </a:solidFill>
                          <a:latin typeface="Calibri"/>
                        </a:rPr>
                        <a:t>CoWoS capacity and allocation (target 120–130k wpm Q4-26)</a:t>
                      </a:r>
                    </a:p>
                  </a:txBody>
                  <a:tcPr anchor="ctr" marL="64008" marR="45720" marT="18288" marB="18288">
                    <a:solidFill>
                      <a:srgbClr val="F1F4F8"/>
                    </a:solidFill>
                  </a:tcPr>
                </a:tc>
                <a:tc>
                  <a:txBody>
                    <a:bodyPr wrap="square"/>
                    <a:lstStyle/>
                    <a:p>
                      <a:r>
                        <a:rPr sz="840" b="0">
                          <a:solidFill>
                            <a:srgbClr val="222A35"/>
                          </a:solidFill>
                          <a:latin typeface="Calibri"/>
                        </a:rPr>
                        <a:t>Monthly (trade press)</a:t>
                      </a:r>
                    </a:p>
                  </a:txBody>
                  <a:tcPr anchor="ctr" marL="64008" marR="45720" marT="18288" marB="18288">
                    <a:solidFill>
                      <a:srgbClr val="F1F4F8"/>
                    </a:solidFill>
                  </a:tcPr>
                </a:tc>
                <a:tc>
                  <a:txBody>
                    <a:bodyPr wrap="square"/>
                    <a:lstStyle/>
                    <a:p>
                      <a:r>
                        <a:rPr sz="840" b="0">
                          <a:solidFill>
                            <a:srgbClr val="222A35"/>
                          </a:solidFill>
                          <a:latin typeface="Calibri"/>
                        </a:rPr>
                        <a:t>NC#3</a:t>
                      </a:r>
                    </a:p>
                  </a:txBody>
                  <a:tcPr anchor="ctr" marL="64008" marR="45720" marT="18288" marB="18288">
                    <a:solidFill>
                      <a:srgbClr val="F1F4F8"/>
                    </a:solidFill>
                  </a:tcPr>
                </a:tc>
                <a:tc>
                  <a:txBody>
                    <a:bodyPr wrap="square"/>
                    <a:lstStyle/>
                    <a:p>
                      <a:r>
                        <a:rPr sz="840" b="0">
                          <a:solidFill>
                            <a:srgbClr val="222A35"/>
                          </a:solidFill>
                          <a:latin typeface="Calibri"/>
                        </a:rPr>
                        <a:t>Packaging constraint easing; NVIDIA share of allocation</a:t>
                      </a:r>
                    </a:p>
                  </a:txBody>
                  <a:tcPr anchor="ctr" marL="64008" marR="45720" marT="18288" marB="18288">
                    <a:solidFill>
                      <a:srgbClr val="F1F4F8"/>
                    </a:solidFill>
                  </a:tcPr>
                </a:tc>
              </a:tr>
              <a:tr h="434340">
                <a:tc>
                  <a:txBody>
                    <a:bodyPr wrap="square"/>
                    <a:lstStyle/>
                    <a:p>
                      <a:r>
                        <a:rPr sz="840" b="0">
                          <a:solidFill>
                            <a:srgbClr val="222A35"/>
                          </a:solidFill>
                          <a:latin typeface="Calibri"/>
                        </a:rPr>
                        <a:t>GEV / Siemens Energy / Hitachi orders, book-to-bill, slot pricing</a:t>
                      </a:r>
                    </a:p>
                  </a:txBody>
                  <a:tcPr anchor="ctr" marL="64008" marR="45720" marT="18288" marB="18288">
                    <a:solidFill>
                      <a:srgbClr val="FFFFFF"/>
                    </a:solidFill>
                  </a:tcPr>
                </a:tc>
                <a:tc>
                  <a:txBody>
                    <a:bodyPr wrap="square"/>
                    <a:lstStyle/>
                    <a:p>
                      <a:r>
                        <a:rPr sz="840" b="0">
                          <a:solidFill>
                            <a:srgbClr val="222A35"/>
                          </a:solidFill>
                          <a:latin typeface="Calibri"/>
                        </a:rPr>
                        <a:t>Quarterly</a:t>
                      </a:r>
                    </a:p>
                  </a:txBody>
                  <a:tcPr anchor="ctr" marL="64008" marR="45720" marT="18288" marB="18288">
                    <a:solidFill>
                      <a:srgbClr val="FFFFFF"/>
                    </a:solidFill>
                  </a:tcPr>
                </a:tc>
                <a:tc>
                  <a:txBody>
                    <a:bodyPr wrap="square"/>
                    <a:lstStyle/>
                    <a:p>
                      <a:r>
                        <a:rPr sz="840" b="0">
                          <a:solidFill>
                            <a:srgbClr val="222A35"/>
                          </a:solidFill>
                          <a:latin typeface="Calibri"/>
                        </a:rPr>
                        <a:t>Positioning</a:t>
                      </a:r>
                    </a:p>
                  </a:txBody>
                  <a:tcPr anchor="ctr" marL="64008" marR="45720" marT="18288" marB="18288">
                    <a:solidFill>
                      <a:srgbClr val="FFFFFF"/>
                    </a:solidFill>
                  </a:tcPr>
                </a:tc>
                <a:tc>
                  <a:txBody>
                    <a:bodyPr wrap="square"/>
                    <a:lstStyle/>
                    <a:p>
                      <a:r>
                        <a:rPr sz="840" b="0">
                          <a:solidFill>
                            <a:srgbClr val="222A35"/>
                          </a:solidFill>
                          <a:latin typeface="Calibri"/>
                        </a:rPr>
                        <a:t>Duration of the equipment cycle; backlog quality vs double-ordering</a:t>
                      </a:r>
                    </a:p>
                  </a:txBody>
                  <a:tcPr anchor="ctr" marL="64008" marR="45720" marT="18288" marB="18288">
                    <a:solidFill>
                      <a:srgbClr val="FFFFFF"/>
                    </a:solidFill>
                  </a:tcPr>
                </a:tc>
              </a:tr>
              <a:tr h="434340">
                <a:tc>
                  <a:txBody>
                    <a:bodyPr wrap="square"/>
                    <a:lstStyle/>
                    <a:p>
                      <a:r>
                        <a:rPr sz="840" b="0">
                          <a:solidFill>
                            <a:srgbClr val="222A35"/>
                          </a:solidFill>
                          <a:latin typeface="Calibri"/>
                        </a:rPr>
                        <a:t>LBNL Queued Up; FERC interconnection reform dockets</a:t>
                      </a:r>
                    </a:p>
                  </a:txBody>
                  <a:tcPr anchor="ctr" marL="64008" marR="45720" marT="18288" marB="18288">
                    <a:solidFill>
                      <a:srgbClr val="F1F4F8"/>
                    </a:solidFill>
                  </a:tcPr>
                </a:tc>
                <a:tc>
                  <a:txBody>
                    <a:bodyPr wrap="square"/>
                    <a:lstStyle/>
                    <a:p>
                      <a:r>
                        <a:rPr sz="840" b="0">
                          <a:solidFill>
                            <a:srgbClr val="222A35"/>
                          </a:solidFill>
                          <a:latin typeface="Calibri"/>
                        </a:rPr>
                        <a:t>Annual+</a:t>
                      </a:r>
                    </a:p>
                  </a:txBody>
                  <a:tcPr anchor="ctr" marL="64008" marR="45720" marT="18288" marB="18288">
                    <a:solidFill>
                      <a:srgbClr val="F1F4F8"/>
                    </a:solidFill>
                  </a:tcPr>
                </a:tc>
                <a:tc>
                  <a:txBody>
                    <a:bodyPr wrap="square"/>
                    <a:lstStyle/>
                    <a:p>
                      <a:r>
                        <a:rPr sz="840" b="0">
                          <a:solidFill>
                            <a:srgbClr val="222A35"/>
                          </a:solidFill>
                          <a:latin typeface="Calibri"/>
                        </a:rPr>
                        <a:t>NC#2</a:t>
                      </a:r>
                    </a:p>
                  </a:txBody>
                  <a:tcPr anchor="ctr" marL="64008" marR="45720" marT="18288" marB="18288">
                    <a:solidFill>
                      <a:srgbClr val="F1F4F8"/>
                    </a:solidFill>
                  </a:tcPr>
                </a:tc>
                <a:tc>
                  <a:txBody>
                    <a:bodyPr wrap="square"/>
                    <a:lstStyle/>
                    <a:p>
                      <a:r>
                        <a:rPr sz="840" b="0">
                          <a:solidFill>
                            <a:srgbClr val="222A35"/>
                          </a:solidFill>
                          <a:latin typeface="Calibri"/>
                        </a:rPr>
                        <a:t>Structural relief in time-to-power (median 61 months today)</a:t>
                      </a:r>
                    </a:p>
                  </a:txBody>
                  <a:tcPr anchor="ctr" marL="64008" marR="45720" marT="18288" marB="18288">
                    <a:solidFill>
                      <a:srgbClr val="F1F4F8"/>
                    </a:solidFill>
                  </a:tcPr>
                </a:tc>
              </a:tr>
              <a:tr h="434340">
                <a:tc>
                  <a:txBody>
                    <a:bodyPr wrap="square"/>
                    <a:lstStyle/>
                    <a:p>
                      <a:r>
                        <a:rPr sz="840" b="0">
                          <a:solidFill>
                            <a:srgbClr val="222A35"/>
                          </a:solidFill>
                          <a:latin typeface="Calibri"/>
                        </a:rPr>
                        <a:t>MW energized vs MW announced, by operator</a:t>
                      </a:r>
                    </a:p>
                  </a:txBody>
                  <a:tcPr anchor="ctr" marL="64008" marR="45720" marT="18288" marB="18288">
                    <a:solidFill>
                      <a:srgbClr val="FFFFFF"/>
                    </a:solidFill>
                  </a:tcPr>
                </a:tc>
                <a:tc>
                  <a:txBody>
                    <a:bodyPr wrap="square"/>
                    <a:lstStyle/>
                    <a:p>
                      <a:r>
                        <a:rPr sz="840" b="0">
                          <a:solidFill>
                            <a:srgbClr val="222A35"/>
                          </a:solidFill>
                          <a:latin typeface="Calibri"/>
                        </a:rPr>
                        <a:t>Ongoing</a:t>
                      </a:r>
                    </a:p>
                  </a:txBody>
                  <a:tcPr anchor="ctr" marL="64008" marR="45720" marT="18288" marB="18288">
                    <a:solidFill>
                      <a:srgbClr val="FFFFFF"/>
                    </a:solidFill>
                  </a:tcPr>
                </a:tc>
                <a:tc>
                  <a:txBody>
                    <a:bodyPr wrap="square"/>
                    <a:lstStyle/>
                    <a:p>
                      <a:r>
                        <a:rPr sz="840" b="0">
                          <a:solidFill>
                            <a:srgbClr val="222A35"/>
                          </a:solidFill>
                          <a:latin typeface="Calibri"/>
                        </a:rPr>
                        <a:t>NC#2</a:t>
                      </a:r>
                    </a:p>
                  </a:txBody>
                  <a:tcPr anchor="ctr" marL="64008" marR="45720" marT="18288" marB="18288">
                    <a:solidFill>
                      <a:srgbClr val="FFFFFF"/>
                    </a:solidFill>
                  </a:tcPr>
                </a:tc>
                <a:tc>
                  <a:txBody>
                    <a:bodyPr wrap="square"/>
                    <a:lstStyle/>
                    <a:p>
                      <a:r>
                        <a:rPr sz="840" b="0">
                          <a:solidFill>
                            <a:srgbClr val="222A35"/>
                          </a:solidFill>
                          <a:latin typeface="Calibri"/>
                        </a:rPr>
                        <a:t>The real revenue gate; press releases are not power</a:t>
                      </a:r>
                    </a:p>
                  </a:txBody>
                  <a:tcPr anchor="ctr" marL="64008" marR="45720" marT="18288" marB="18288">
                    <a:solidFill>
                      <a:srgbClr val="FFFFFF"/>
                    </a:solidFill>
                  </a:tcPr>
                </a:tc>
              </a:tr>
              <a:tr h="434340">
                <a:tc>
                  <a:txBody>
                    <a:bodyPr wrap="square"/>
                    <a:lstStyle/>
                    <a:p>
                      <a:r>
                        <a:rPr sz="840" b="0">
                          <a:solidFill>
                            <a:srgbClr val="222A35"/>
                          </a:solidFill>
                          <a:latin typeface="Calibri"/>
                        </a:rPr>
                        <a:t>H100/H200 spot rental rates; take-or-pay renewal pricing</a:t>
                      </a:r>
                    </a:p>
                  </a:txBody>
                  <a:tcPr anchor="ctr" marL="64008" marR="45720" marT="18288" marB="18288">
                    <a:solidFill>
                      <a:srgbClr val="F1F4F8"/>
                    </a:solidFill>
                  </a:tcPr>
                </a:tc>
                <a:tc>
                  <a:txBody>
                    <a:bodyPr wrap="square"/>
                    <a:lstStyle/>
                    <a:p>
                      <a:r>
                        <a:rPr sz="840" b="0">
                          <a:solidFill>
                            <a:srgbClr val="222A35"/>
                          </a:solidFill>
                          <a:latin typeface="Calibri"/>
                        </a:rPr>
                        <a:t>Ongoing</a:t>
                      </a:r>
                    </a:p>
                  </a:txBody>
                  <a:tcPr anchor="ctr" marL="64008" marR="45720" marT="18288" marB="18288">
                    <a:solidFill>
                      <a:srgbClr val="F1F4F8"/>
                    </a:solidFill>
                  </a:tcPr>
                </a:tc>
                <a:tc>
                  <a:txBody>
                    <a:bodyPr wrap="square"/>
                    <a:lstStyle/>
                    <a:p>
                      <a:r>
                        <a:rPr sz="840" b="0">
                          <a:solidFill>
                            <a:srgbClr val="222A35"/>
                          </a:solidFill>
                          <a:latin typeface="Calibri"/>
                        </a:rPr>
                        <a:t>NC#1</a:t>
                      </a:r>
                    </a:p>
                  </a:txBody>
                  <a:tcPr anchor="ctr" marL="64008" marR="45720" marT="18288" marB="18288">
                    <a:solidFill>
                      <a:srgbClr val="F1F4F8"/>
                    </a:solidFill>
                  </a:tcPr>
                </a:tc>
                <a:tc>
                  <a:txBody>
                    <a:bodyPr wrap="square"/>
                    <a:lstStyle/>
                    <a:p>
                      <a:r>
                        <a:rPr sz="840" b="0">
                          <a:solidFill>
                            <a:srgbClr val="222A35"/>
                          </a:solidFill>
                          <a:latin typeface="Calibri"/>
                        </a:rPr>
                        <a:t>Health of the 'value cascade' that underpins 5–6 yr schedules</a:t>
                      </a:r>
                    </a:p>
                  </a:txBody>
                  <a:tcPr anchor="ctr" marL="64008" marR="45720" marT="18288" marB="18288">
                    <a:solidFill>
                      <a:srgbClr val="F1F4F8"/>
                    </a:solidFill>
                  </a:tcPr>
                </a:tc>
              </a:tr>
              <a:tr h="434340">
                <a:tc>
                  <a:txBody>
                    <a:bodyPr wrap="square"/>
                    <a:lstStyle/>
                    <a:p>
                      <a:r>
                        <a:rPr sz="840" b="0">
                          <a:solidFill>
                            <a:srgbClr val="222A35"/>
                          </a:solidFill>
                          <a:latin typeface="Calibri"/>
                        </a:rPr>
                        <a:t>Transformer / switchgear lead-time surveys (Wood Mackenzie, POWER)</a:t>
                      </a:r>
                    </a:p>
                  </a:txBody>
                  <a:tcPr anchor="ctr" marL="64008" marR="45720" marT="18288" marB="18288">
                    <a:solidFill>
                      <a:srgbClr val="FFFFFF"/>
                    </a:solidFill>
                  </a:tcPr>
                </a:tc>
                <a:tc>
                  <a:txBody>
                    <a:bodyPr wrap="square"/>
                    <a:lstStyle/>
                    <a:p>
                      <a:r>
                        <a:rPr sz="840" b="0">
                          <a:solidFill>
                            <a:srgbClr val="222A35"/>
                          </a:solidFill>
                          <a:latin typeface="Calibri"/>
                        </a:rPr>
                        <a:t>Quarterly</a:t>
                      </a:r>
                    </a:p>
                  </a:txBody>
                  <a:tcPr anchor="ctr" marL="64008" marR="45720" marT="18288" marB="18288">
                    <a:solidFill>
                      <a:srgbClr val="FFFFFF"/>
                    </a:solidFill>
                  </a:tcPr>
                </a:tc>
                <a:tc>
                  <a:txBody>
                    <a:bodyPr wrap="square"/>
                    <a:lstStyle/>
                    <a:p>
                      <a:r>
                        <a:rPr sz="840" b="0">
                          <a:solidFill>
                            <a:srgbClr val="222A35"/>
                          </a:solidFill>
                          <a:latin typeface="Calibri"/>
                        </a:rPr>
                        <a:t>Lead-time board</a:t>
                      </a:r>
                    </a:p>
                  </a:txBody>
                  <a:tcPr anchor="ctr" marL="64008" marR="45720" marT="18288" marB="18288">
                    <a:solidFill>
                      <a:srgbClr val="FFFFFF"/>
                    </a:solidFill>
                  </a:tcPr>
                </a:tc>
                <a:tc>
                  <a:txBody>
                    <a:bodyPr wrap="square"/>
                    <a:lstStyle/>
                    <a:p>
                      <a:r>
                        <a:rPr sz="840" b="0">
                          <a:solidFill>
                            <a:srgbClr val="222A35"/>
                          </a:solidFill>
                          <a:latin typeface="Calibri"/>
                        </a:rPr>
                        <a:t>Directional turn = first sign of the 2027–28 capacity landing</a:t>
                      </a:r>
                    </a:p>
                  </a:txBody>
                  <a:tcPr anchor="ctr" marL="64008" marR="45720" marT="18288" marB="18288">
                    <a:solidFill>
                      <a:srgbClr val="FFFFFF"/>
                    </a:solidFill>
                  </a:tcPr>
                </a:tc>
              </a:tr>
              <a:tr h="434340">
                <a:tc>
                  <a:txBody>
                    <a:bodyPr wrap="square"/>
                    <a:lstStyle/>
                    <a:p>
                      <a:r>
                        <a:rPr sz="840" b="0">
                          <a:solidFill>
                            <a:srgbClr val="222A35"/>
                          </a:solidFill>
                          <a:latin typeface="Calibri"/>
                        </a:rPr>
                        <a:t>NERC reliability assessments and alerts</a:t>
                      </a:r>
                    </a:p>
                  </a:txBody>
                  <a:tcPr anchor="ctr" marL="64008" marR="45720" marT="18288" marB="18288">
                    <a:solidFill>
                      <a:srgbClr val="F1F4F8"/>
                    </a:solidFill>
                  </a:tcPr>
                </a:tc>
                <a:tc>
                  <a:txBody>
                    <a:bodyPr wrap="square"/>
                    <a:lstStyle/>
                    <a:p>
                      <a:r>
                        <a:rPr sz="840" b="0">
                          <a:solidFill>
                            <a:srgbClr val="222A35"/>
                          </a:solidFill>
                          <a:latin typeface="Calibri"/>
                        </a:rPr>
                        <a:t>Semiannual</a:t>
                      </a:r>
                    </a:p>
                  </a:txBody>
                  <a:tcPr anchor="ctr" marL="64008" marR="45720" marT="18288" marB="18288">
                    <a:solidFill>
                      <a:srgbClr val="F1F4F8"/>
                    </a:solidFill>
                  </a:tcPr>
                </a:tc>
                <a:tc>
                  <a:txBody>
                    <a:bodyPr wrap="square"/>
                    <a:lstStyle/>
                    <a:p>
                      <a:r>
                        <a:rPr sz="840" b="0">
                          <a:solidFill>
                            <a:srgbClr val="222A35"/>
                          </a:solidFill>
                          <a:latin typeface="Calibri"/>
                        </a:rPr>
                        <a:t>NC#2</a:t>
                      </a:r>
                    </a:p>
                  </a:txBody>
                  <a:tcPr anchor="ctr" marL="64008" marR="45720" marT="18288" marB="18288">
                    <a:solidFill>
                      <a:srgbClr val="F1F4F8"/>
                    </a:solidFill>
                  </a:tcPr>
                </a:tc>
                <a:tc>
                  <a:txBody>
                    <a:bodyPr wrap="square"/>
                    <a:lstStyle/>
                    <a:p>
                      <a:r>
                        <a:rPr sz="840" b="0">
                          <a:solidFill>
                            <a:srgbClr val="222A35"/>
                          </a:solidFill>
                          <a:latin typeface="Calibri"/>
                        </a:rPr>
                        <a:t>Siting constraints; grid stress from DC load oscillations</a:t>
                      </a:r>
                    </a:p>
                  </a:txBody>
                  <a:tcPr anchor="ctr" marL="64008" marR="45720" marT="18288" marB="18288">
                    <a:solidFill>
                      <a:srgbClr val="F1F4F8"/>
                    </a:solidFill>
                  </a:tcPr>
                </a:tc>
              </a:tr>
            </a:tbl>
          </a:graphicData>
        </a:graphic>
      </p:graphicFrame>
      <p:sp>
        <p:nvSpPr>
          <p:cNvPr id="10" name="TextBox 9"/>
          <p:cNvSpPr txBox="1"/>
          <p:nvPr/>
        </p:nvSpPr>
        <p:spPr>
          <a:xfrm>
            <a:off x="502920" y="6309360"/>
            <a:ext cx="11155680" cy="274320"/>
          </a:xfrm>
          <a:prstGeom prst="rect">
            <a:avLst/>
          </a:prstGeom>
          <a:noFill/>
        </p:spPr>
        <p:txBody>
          <a:bodyPr wrap="square" anchor="t">
            <a:spAutoFit/>
          </a:bodyPr>
          <a:lstStyle/>
          <a:p>
            <a:pPr algn="l">
              <a:lnSpc>
                <a:spcPct val="100000"/>
              </a:lnSpc>
              <a:spcAft>
                <a:spcPts val="0"/>
              </a:spcAft>
            </a:pPr>
            <a:r>
              <a:rPr b="1" sz="800">
                <a:solidFill>
                  <a:srgbClr val="66707D"/>
                </a:solidFill>
                <a:latin typeface="Calibri"/>
              </a:rPr>
              <a:t>Source: </a:t>
            </a:r>
            <a:r>
              <a:rPr b="0" sz="800">
                <a:solidFill>
                  <a:srgbClr val="66707D"/>
                </a:solidFill>
                <a:latin typeface="Calibri"/>
              </a:rPr>
              <a:t>Team compilation. NC# = non-consensus view number (slides 10–13).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C29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56032"/>
            <a:ext cx="10058400" cy="274320"/>
          </a:xfrm>
          <a:prstGeom prst="rect">
            <a:avLst/>
          </a:prstGeom>
          <a:noFill/>
        </p:spPr>
        <p:txBody>
          <a:bodyPr wrap="square" anchor="t">
            <a:spAutoFit/>
          </a:bodyPr>
          <a:lstStyle/>
          <a:p>
            <a:pPr algn="l">
              <a:lnSpc>
                <a:spcPct val="100000"/>
              </a:lnSpc>
              <a:spcAft>
                <a:spcPts val="0"/>
              </a:spcAft>
            </a:pPr>
            <a:r>
              <a:rPr b="1" sz="1050">
                <a:solidFill>
                  <a:srgbClr val="C2903A"/>
                </a:solidFill>
                <a:latin typeface="Calibri"/>
              </a:rPr>
              <a:t>RISKS &amp; DISCLOSURES</a:t>
            </a:r>
          </a:p>
        </p:txBody>
      </p:sp>
      <p:sp>
        <p:nvSpPr>
          <p:cNvPr id="4" name="TextBox 3"/>
          <p:cNvSpPr txBox="1"/>
          <p:nvPr/>
        </p:nvSpPr>
        <p:spPr>
          <a:xfrm>
            <a:off x="502920" y="502920"/>
            <a:ext cx="11155680" cy="566928"/>
          </a:xfrm>
          <a:prstGeom prst="rect">
            <a:avLst/>
          </a:prstGeom>
          <a:noFill/>
        </p:spPr>
        <p:txBody>
          <a:bodyPr wrap="square" anchor="t">
            <a:spAutoFit/>
          </a:bodyPr>
          <a:lstStyle/>
          <a:p>
            <a:pPr algn="l">
              <a:lnSpc>
                <a:spcPct val="100000"/>
              </a:lnSpc>
              <a:spcAft>
                <a:spcPts val="0"/>
              </a:spcAft>
            </a:pPr>
            <a:r>
              <a:rPr b="1" sz="2300">
                <a:solidFill>
                  <a:srgbClr val="0B1D3A"/>
                </a:solidFill>
                <a:latin typeface="Calibri"/>
              </a:rPr>
              <a:t>What breaks the thesis — in either direction</a:t>
            </a:r>
          </a:p>
        </p:txBody>
      </p:sp>
      <p:sp>
        <p:nvSpPr>
          <p:cNvPr id="5" name="TextBox 4"/>
          <p:cNvSpPr txBox="1"/>
          <p:nvPr/>
        </p:nvSpPr>
        <p:spPr>
          <a:xfrm>
            <a:off x="502920" y="1033271"/>
            <a:ext cx="11155680" cy="292608"/>
          </a:xfrm>
          <a:prstGeom prst="rect">
            <a:avLst/>
          </a:prstGeom>
          <a:noFill/>
        </p:spPr>
        <p:txBody>
          <a:bodyPr wrap="square" anchor="t">
            <a:spAutoFit/>
          </a:bodyPr>
          <a:lstStyle/>
          <a:p>
            <a:pPr algn="l">
              <a:lnSpc>
                <a:spcPct val="100000"/>
              </a:lnSpc>
              <a:spcAft>
                <a:spcPts val="0"/>
              </a:spcAft>
            </a:pPr>
            <a:r>
              <a:rPr b="0" sz="1200">
                <a:solidFill>
                  <a:srgbClr val="66707D"/>
                </a:solidFill>
                <a:latin typeface="Calibri"/>
              </a:rPr>
              <a:t>We hold the constraint views with conviction and the cycle views with humility</a:t>
            </a:r>
          </a:p>
        </p:txBody>
      </p:sp>
      <p:sp>
        <p:nvSpPr>
          <p:cNvPr id="6" name="Rectangle 5"/>
          <p:cNvSpPr/>
          <p:nvPr/>
        </p:nvSpPr>
        <p:spPr>
          <a:xfrm>
            <a:off x="0" y="6528816"/>
            <a:ext cx="12191695" cy="1016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02920" y="6565392"/>
            <a:ext cx="7863840" cy="256032"/>
          </a:xfrm>
          <a:prstGeom prst="rect">
            <a:avLst/>
          </a:prstGeom>
          <a:noFill/>
        </p:spPr>
        <p:txBody>
          <a:bodyPr wrap="square" anchor="t">
            <a:spAutoFit/>
          </a:bodyPr>
          <a:lstStyle/>
          <a:p>
            <a:pPr algn="l">
              <a:lnSpc>
                <a:spcPct val="100000"/>
              </a:lnSpc>
              <a:spcAft>
                <a:spcPts val="0"/>
              </a:spcAft>
            </a:pPr>
            <a:r>
              <a:rPr b="0" sz="800">
                <a:solidFill>
                  <a:srgbClr val="66707D"/>
                </a:solidFill>
                <a:latin typeface="Calibri"/>
              </a:rPr>
              <a:t>Data Center Infrastructure  |  Sector Research  |  August 2026   —   Illustrative sellside research template. Not investment advice.</a:t>
            </a:r>
          </a:p>
        </p:txBody>
      </p:sp>
      <p:sp>
        <p:nvSpPr>
          <p:cNvPr id="8" name="TextBox 7"/>
          <p:cNvSpPr txBox="1"/>
          <p:nvPr/>
        </p:nvSpPr>
        <p:spPr>
          <a:xfrm>
            <a:off x="11292840" y="6565392"/>
            <a:ext cx="457200" cy="256032"/>
          </a:xfrm>
          <a:prstGeom prst="rect">
            <a:avLst/>
          </a:prstGeom>
          <a:noFill/>
        </p:spPr>
        <p:txBody>
          <a:bodyPr wrap="square" anchor="t">
            <a:spAutoFit/>
          </a:bodyPr>
          <a:lstStyle/>
          <a:p>
            <a:pPr algn="r">
              <a:lnSpc>
                <a:spcPct val="100000"/>
              </a:lnSpc>
              <a:spcAft>
                <a:spcPts val="0"/>
              </a:spcAft>
            </a:pPr>
            <a:r>
              <a:rPr b="1" sz="900">
                <a:solidFill>
                  <a:srgbClr val="66707D"/>
                </a:solidFill>
                <a:latin typeface="Calibri"/>
              </a:rPr>
              <a:t>16</a:t>
            </a:r>
          </a:p>
        </p:txBody>
      </p:sp>
      <p:sp>
        <p:nvSpPr>
          <p:cNvPr id="9" name="Rectangle 8"/>
          <p:cNvSpPr/>
          <p:nvPr/>
        </p:nvSpPr>
        <p:spPr>
          <a:xfrm>
            <a:off x="502920" y="1481328"/>
            <a:ext cx="5477256" cy="384048"/>
          </a:xfrm>
          <a:prstGeom prst="rect">
            <a:avLst/>
          </a:prstGeom>
          <a:solidFill>
            <a:srgbClr val="1E6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1536192"/>
            <a:ext cx="5120640" cy="274320"/>
          </a:xfrm>
          <a:prstGeom prst="rect">
            <a:avLst/>
          </a:prstGeom>
          <a:noFill/>
        </p:spPr>
        <p:txBody>
          <a:bodyPr wrap="square" anchor="t">
            <a:spAutoFit/>
          </a:bodyPr>
          <a:lstStyle/>
          <a:p>
            <a:pPr algn="l">
              <a:lnSpc>
                <a:spcPct val="100000"/>
              </a:lnSpc>
              <a:spcAft>
                <a:spcPts val="0"/>
              </a:spcAft>
            </a:pPr>
            <a:r>
              <a:rPr b="1" sz="1100">
                <a:solidFill>
                  <a:srgbClr val="FFFFFF"/>
                </a:solidFill>
                <a:latin typeface="Calibri"/>
              </a:rPr>
              <a:t>UPSIDE RISKS (to our cautious calls)</a:t>
            </a:r>
          </a:p>
        </p:txBody>
      </p:sp>
      <p:sp>
        <p:nvSpPr>
          <p:cNvPr id="11" name="Rectangle 10"/>
          <p:cNvSpPr/>
          <p:nvPr/>
        </p:nvSpPr>
        <p:spPr>
          <a:xfrm>
            <a:off x="502920" y="1865376"/>
            <a:ext cx="5477256" cy="33832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011680"/>
            <a:ext cx="5074920" cy="3154680"/>
          </a:xfrm>
          <a:prstGeom prst="rect">
            <a:avLst/>
          </a:prstGeom>
          <a:noFill/>
        </p:spPr>
        <p:txBody>
          <a:bodyPr wrap="square" anchor="t">
            <a:spAutoFit/>
          </a:bodyPr>
          <a:lstStyle/>
          <a:p>
            <a:pPr algn="l">
              <a:lnSpc>
                <a:spcPct val="105000"/>
              </a:lnSpc>
              <a:spcAft>
                <a:spcPts val="900"/>
              </a:spcAft>
            </a:pPr>
            <a:r>
              <a:rPr b="1" sz="1000">
                <a:solidFill>
                  <a:srgbClr val="0B1D3A"/>
                </a:solidFill>
                <a:latin typeface="Calibri"/>
              </a:rPr>
              <a:t>Inference demand steepens.  </a:t>
            </a:r>
            <a:r>
              <a:rPr b="0" sz="1000">
                <a:solidFill>
                  <a:srgbClr val="222A35"/>
                </a:solidFill>
                <a:latin typeface="Calibri"/>
              </a:rPr>
              <a:t>Token demand outgrows efficiency gains, sustaining the value cascade and validating long useful lives.</a:t>
            </a:r>
          </a:p>
          <a:p>
            <a:pPr algn="l">
              <a:lnSpc>
                <a:spcPct val="105000"/>
              </a:lnSpc>
              <a:spcAft>
                <a:spcPts val="900"/>
              </a:spcAft>
            </a:pPr>
            <a:r>
              <a:rPr b="1" sz="1000">
                <a:solidFill>
                  <a:srgbClr val="0B1D3A"/>
                </a:solidFill>
                <a:latin typeface="Calibri"/>
              </a:rPr>
              <a:t>Power reform lands early.  </a:t>
            </a:r>
            <a:r>
              <a:rPr b="0" sz="1000">
                <a:solidFill>
                  <a:srgbClr val="222A35"/>
                </a:solidFill>
                <a:latin typeface="Calibri"/>
              </a:rPr>
              <a:t>FERC fast-tracking plus flexible-load tariffs compress time-to-power; the 2029 relief arrives in 2027.</a:t>
            </a:r>
          </a:p>
          <a:p>
            <a:pPr algn="l">
              <a:lnSpc>
                <a:spcPct val="105000"/>
              </a:lnSpc>
              <a:spcAft>
                <a:spcPts val="900"/>
              </a:spcAft>
            </a:pPr>
            <a:r>
              <a:rPr b="1" sz="1000">
                <a:solidFill>
                  <a:srgbClr val="0B1D3A"/>
                </a:solidFill>
                <a:latin typeface="Calibri"/>
              </a:rPr>
              <a:t>Supply-side positive surprise.  </a:t>
            </a:r>
            <a:r>
              <a:rPr b="0" sz="1000">
                <a:solidFill>
                  <a:srgbClr val="222A35"/>
                </a:solidFill>
                <a:latin typeface="Calibri"/>
              </a:rPr>
              <a:t>Samsung HBM4 yield ramp and CoWoS overshoot ease silicon constraints; equipment capacity beats schedules.</a:t>
            </a:r>
          </a:p>
          <a:p>
            <a:pPr algn="l">
              <a:lnSpc>
                <a:spcPct val="105000"/>
              </a:lnSpc>
              <a:spcAft>
                <a:spcPts val="900"/>
              </a:spcAft>
            </a:pPr>
            <a:r>
              <a:rPr b="1" sz="1000">
                <a:solidFill>
                  <a:srgbClr val="0B1D3A"/>
                </a:solidFill>
                <a:latin typeface="Calibri"/>
              </a:rPr>
              <a:t>Monetization broadens.  </a:t>
            </a:r>
            <a:r>
              <a:rPr b="0" sz="1000">
                <a:solidFill>
                  <a:srgbClr val="222A35"/>
                </a:solidFill>
                <a:latin typeface="Calibri"/>
              </a:rPr>
              <a:t>Enterprise AI revenue diversifies the buyer base beyond frontier labs, defusing circularity risk.</a:t>
            </a:r>
          </a:p>
        </p:txBody>
      </p:sp>
      <p:sp>
        <p:nvSpPr>
          <p:cNvPr id="13" name="Rectangle 12"/>
          <p:cNvSpPr/>
          <p:nvPr/>
        </p:nvSpPr>
        <p:spPr>
          <a:xfrm>
            <a:off x="6208776" y="1481328"/>
            <a:ext cx="5477256" cy="384048"/>
          </a:xfrm>
          <a:prstGeom prst="rect">
            <a:avLst/>
          </a:prstGeom>
          <a:solidFill>
            <a:srgbClr val="A839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1656" y="1536192"/>
            <a:ext cx="5120640" cy="274320"/>
          </a:xfrm>
          <a:prstGeom prst="rect">
            <a:avLst/>
          </a:prstGeom>
          <a:noFill/>
        </p:spPr>
        <p:txBody>
          <a:bodyPr wrap="square" anchor="t">
            <a:spAutoFit/>
          </a:bodyPr>
          <a:lstStyle/>
          <a:p>
            <a:pPr algn="l">
              <a:lnSpc>
                <a:spcPct val="100000"/>
              </a:lnSpc>
              <a:spcAft>
                <a:spcPts val="0"/>
              </a:spcAft>
            </a:pPr>
            <a:r>
              <a:rPr b="1" sz="1100">
                <a:solidFill>
                  <a:srgbClr val="FFFFFF"/>
                </a:solidFill>
                <a:latin typeface="Calibri"/>
              </a:rPr>
              <a:t>DOWNSIDE RISKS (to our constructive calls)</a:t>
            </a:r>
          </a:p>
        </p:txBody>
      </p:sp>
      <p:sp>
        <p:nvSpPr>
          <p:cNvPr id="15" name="Rectangle 14"/>
          <p:cNvSpPr/>
          <p:nvPr/>
        </p:nvSpPr>
        <p:spPr>
          <a:xfrm>
            <a:off x="6208776" y="1865376"/>
            <a:ext cx="5477256" cy="33832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011680"/>
            <a:ext cx="5074920" cy="3154680"/>
          </a:xfrm>
          <a:prstGeom prst="rect">
            <a:avLst/>
          </a:prstGeom>
          <a:noFill/>
        </p:spPr>
        <p:txBody>
          <a:bodyPr wrap="square" anchor="t">
            <a:spAutoFit/>
          </a:bodyPr>
          <a:lstStyle/>
          <a:p>
            <a:pPr algn="l">
              <a:lnSpc>
                <a:spcPct val="105000"/>
              </a:lnSpc>
              <a:spcAft>
                <a:spcPts val="900"/>
              </a:spcAft>
            </a:pPr>
            <a:r>
              <a:rPr b="1" sz="1000">
                <a:solidFill>
                  <a:srgbClr val="0B1D3A"/>
                </a:solidFill>
                <a:latin typeface="Calibri"/>
              </a:rPr>
              <a:t>One buyer blinks.  </a:t>
            </a:r>
            <a:r>
              <a:rPr b="0" sz="1000">
                <a:solidFill>
                  <a:srgbClr val="222A35"/>
                </a:solidFill>
                <a:latin typeface="Calibri"/>
              </a:rPr>
              <a:t>A 20–30% order cut by a single hyperscaler cascades through equipment backlogs — how much is double-ordered?</a:t>
            </a:r>
          </a:p>
          <a:p>
            <a:pPr algn="l">
              <a:lnSpc>
                <a:spcPct val="105000"/>
              </a:lnSpc>
              <a:spcAft>
                <a:spcPts val="900"/>
              </a:spcAft>
            </a:pPr>
            <a:r>
              <a:rPr b="1" sz="1000">
                <a:solidFill>
                  <a:srgbClr val="0B1D3A"/>
                </a:solidFill>
                <a:latin typeface="Calibri"/>
              </a:rPr>
              <a:t>Memory inflation bites compute demand.  </a:t>
            </a:r>
            <a:r>
              <a:rPr b="0" sz="1000">
                <a:solidFill>
                  <a:srgbClr val="222A35"/>
                </a:solidFill>
                <a:latin typeface="Calibri"/>
              </a:rPr>
              <a:t>HBM/DRAM cost pass-through compresses GPU orders and hyperscaler margins simultaneously.</a:t>
            </a:r>
          </a:p>
          <a:p>
            <a:pPr algn="l">
              <a:lnSpc>
                <a:spcPct val="105000"/>
              </a:lnSpc>
              <a:spcAft>
                <a:spcPts val="900"/>
              </a:spcAft>
            </a:pPr>
            <a:r>
              <a:rPr b="1" sz="1000">
                <a:solidFill>
                  <a:srgbClr val="0B1D3A"/>
                </a:solidFill>
                <a:latin typeface="Calibri"/>
              </a:rPr>
              <a:t>Politics of power.  </a:t>
            </a:r>
            <a:r>
              <a:rPr b="0" sz="1000">
                <a:solidFill>
                  <a:srgbClr val="222A35"/>
                </a:solidFill>
                <a:latin typeface="Calibri"/>
              </a:rPr>
              <a:t>Ratepayer backlash, local moratoria and grid-reliability alerts slow siting faster than reform speeds it.</a:t>
            </a:r>
          </a:p>
          <a:p>
            <a:pPr algn="l">
              <a:lnSpc>
                <a:spcPct val="105000"/>
              </a:lnSpc>
              <a:spcAft>
                <a:spcPts val="900"/>
              </a:spcAft>
            </a:pPr>
            <a:r>
              <a:rPr b="1" sz="1000">
                <a:solidFill>
                  <a:srgbClr val="0B1D3A"/>
                </a:solidFill>
                <a:latin typeface="Calibri"/>
              </a:rPr>
              <a:t>Backlog quality.  </a:t>
            </a:r>
            <a:r>
              <a:rPr b="0" sz="1000">
                <a:solidFill>
                  <a:srgbClr val="222A35"/>
                </a:solidFill>
                <a:latin typeface="Calibri"/>
              </a:rPr>
              <a:t>Equipment 'orders' include reservations and slots; cancellation terms are untested in a downturn.</a:t>
            </a:r>
          </a:p>
        </p:txBody>
      </p:sp>
      <p:sp>
        <p:nvSpPr>
          <p:cNvPr id="17" name="Rounded Rectangle 16"/>
          <p:cNvSpPr/>
          <p:nvPr/>
        </p:nvSpPr>
        <p:spPr>
          <a:xfrm>
            <a:off x="502920" y="5440680"/>
            <a:ext cx="11183112" cy="914400"/>
          </a:xfrm>
          <a:prstGeom prst="roundRect">
            <a:avLst>
              <a:gd name="adj" fmla="val 6000"/>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5541264"/>
            <a:ext cx="10744200" cy="777240"/>
          </a:xfrm>
          <a:prstGeom prst="rect">
            <a:avLst/>
          </a:prstGeom>
          <a:noFill/>
        </p:spPr>
        <p:txBody>
          <a:bodyPr wrap="square" anchor="t">
            <a:spAutoFit/>
          </a:bodyPr>
          <a:lstStyle/>
          <a:p>
            <a:pPr algn="l">
              <a:lnSpc>
                <a:spcPct val="105000"/>
              </a:lnSpc>
              <a:spcAft>
                <a:spcPts val="400"/>
              </a:spcAft>
            </a:pPr>
            <a:r>
              <a:rPr b="1" sz="850">
                <a:solidFill>
                  <a:srgbClr val="C2903A"/>
                </a:solidFill>
                <a:latin typeface="Calibri"/>
              </a:rPr>
              <a:t>Disclosures: </a:t>
            </a:r>
            <a:r>
              <a:rPr b="0" sz="850">
                <a:solidFill>
                  <a:srgbClr val="FFFFFF"/>
                </a:solidFill>
                <a:latin typeface="Calibri"/>
              </a:rPr>
              <a:t>This document is an illustrative research template prepared for demonstration purposes. It is not investment research, an offer, or investment advice. Figures are compiled from public sources as of August 2026, may be approximate or estimated, and should be independently verified. Sources include company filings and calls, LBNL, NERC, Wood Mackenzie, BloombergNEF, TrendForce, and trade press. Past performance is not indicative of future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
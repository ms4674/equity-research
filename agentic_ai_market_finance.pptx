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agentic AI market ($B)</c:v>
                </c:pt>
              </c:strCache>
            </c:strRef>
          </c:tx>
          <c:dPt>
            <c:idx val="0"/>
            <c:spPr>
              <a:solidFill>
                <a:srgbClr val="18A999"/>
              </a:solidFill>
            </c:spPr>
          </c:dPt>
          <c:dPt>
            <c:idx val="1"/>
            <c:spPr>
              <a:solidFill>
                <a:srgbClr val="18A999"/>
              </a:solidFill>
            </c:spPr>
          </c:dPt>
          <c:dPt>
            <c:idx val="2"/>
            <c:spPr>
              <a:solidFill>
                <a:srgbClr val="E8A33D"/>
              </a:solidFill>
            </c:spPr>
          </c:dPt>
          <c:dPt>
            <c:idx val="3"/>
            <c:spPr>
              <a:solidFill>
                <a:srgbClr val="18A999"/>
              </a:solidFill>
            </c:spPr>
          </c:dPt>
          <c:dPt>
            <c:idx val="4"/>
            <c:spPr>
              <a:solidFill>
                <a:srgbClr val="18A999"/>
              </a:solidFill>
            </c:spPr>
          </c:dPt>
          <c:dPt>
            <c:idx val="5"/>
            <c:spPr>
              <a:solidFill>
                <a:srgbClr val="18A999"/>
              </a:solidFill>
            </c:spPr>
          </c:dPt>
          <c:dPt>
            <c:idx val="6"/>
            <c:spPr>
              <a:solidFill>
                <a:srgbClr val="18A999"/>
              </a:solidFill>
            </c:spPr>
          </c:dPt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2.58</c:v>
                </c:pt>
                <c:pt idx="1">
                  <c:v>3.67</c:v>
                </c:pt>
                <c:pt idx="2">
                  <c:v>5.37</c:v>
                </c:pt>
                <c:pt idx="3">
                  <c:v>7.85</c:v>
                </c:pt>
                <c:pt idx="4">
                  <c:v>11.48</c:v>
                </c:pt>
                <c:pt idx="5">
                  <c:v>16.79</c:v>
                </c:pt>
                <c:pt idx="6">
                  <c:v>24.5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sz="1100" b="1">
                  <a:solidFill>
                    <a:srgbClr val="0B1E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1200">
                <a:solidFill>
                  <a:srgbClr val="1B2A4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enterprises (%)</c:v>
                </c:pt>
              </c:strCache>
            </c:strRef>
          </c:tx>
          <c:dPt>
            <c:idx val="0"/>
            <c:spPr>
              <a:solidFill>
                <a:srgbClr val="C0534F"/>
              </a:solidFill>
            </c:spPr>
          </c:dPt>
          <c:dPt>
            <c:idx val="1"/>
            <c:spPr>
              <a:solidFill>
                <a:srgbClr val="18A999"/>
              </a:solidFill>
            </c:spPr>
          </c:dPt>
          <c:dPt>
            <c:idx val="2"/>
            <c:spPr>
              <a:solidFill>
                <a:srgbClr val="18A999"/>
              </a:solidFill>
            </c:spPr>
          </c:dPt>
          <c:dPt>
            <c:idx val="3"/>
            <c:spPr>
              <a:solidFill>
                <a:srgbClr val="0B1E3D"/>
              </a:solidFill>
            </c:spPr>
          </c:dPt>
          <c:cat>
            <c:strRef>
              <c:f>Sheet1!$A$2:$A$5</c:f>
              <c:strCache>
                <c:ptCount val="4"/>
                <c:pt idx="0">
                  <c:v>Agentic projects predicted
to be scrapped by 2027</c:v>
                </c:pt>
                <c:pt idx="1">
                  <c:v>Scaling agents in ≥1
business function</c:v>
                </c:pt>
                <c:pt idx="2">
                  <c:v>Actively piloting today</c:v>
                </c:pt>
                <c:pt idx="3">
                  <c:v>Plan to deploy agents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52</c:v>
                </c:pt>
                <c:pt idx="3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0B1E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1050">
                <a:solidFill>
                  <a:srgbClr val="1B2A4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institutions (%)</c:v>
                </c:pt>
              </c:strCache>
            </c:strRef>
          </c:tx>
          <c:dPt>
            <c:idx val="0"/>
            <c:spPr>
              <a:solidFill>
                <a:srgbClr val="5A6B85"/>
              </a:solidFill>
            </c:spPr>
          </c:dPt>
          <c:dPt>
            <c:idx val="1"/>
            <c:spPr>
              <a:solidFill>
                <a:srgbClr val="0B1E3D"/>
              </a:solidFill>
            </c:spPr>
          </c:dPt>
          <c:dPt>
            <c:idx val="2"/>
            <c:spPr>
              <a:solidFill>
                <a:srgbClr val="18A999"/>
              </a:solidFill>
            </c:spPr>
          </c:dPt>
          <c:dPt>
            <c:idx val="3"/>
            <c:spPr>
              <a:solidFill>
                <a:srgbClr val="18A999"/>
              </a:solidFill>
            </c:spPr>
          </c:dPt>
          <c:dPt>
            <c:idx val="4"/>
            <c:spPr>
              <a:solidFill>
                <a:srgbClr val="E8A33D"/>
              </a:solidFill>
            </c:spPr>
          </c:dPt>
          <c:cat>
            <c:strRef>
              <c:f>Sheet1!$A$2:$A$6</c:f>
              <c:strCache>
                <c:ptCount val="5"/>
                <c:pt idx="0">
                  <c:v>Scaling or transforming today</c:v>
                </c:pt>
                <c:pt idx="1">
                  <c:v>Traditional FIs actively adopting</c:v>
                </c:pt>
                <c:pt idx="2">
                  <c:v>Fintechs actively adopting</c:v>
                </c:pt>
                <c:pt idx="3">
                  <c:v>All FIs actively adopting</c:v>
                </c:pt>
                <c:pt idx="4">
                  <c:v>Expect meaningful deployment by 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45</c:v>
                </c:pt>
                <c:pt idx="2">
                  <c:v>57</c:v>
                </c:pt>
                <c:pt idx="3">
                  <c:v>52</c:v>
                </c:pt>
                <c:pt idx="4">
                  <c:v>81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0B1E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8DFEA"/>
            </a:solidFill>
          </a:ln>
        </c:spPr>
        <c:txPr>
          <a:bodyPr/>
          <a:lstStyle/>
          <a:p>
            <a:pPr>
              <a:defRPr sz="1050">
                <a:solidFill>
                  <a:srgbClr val="1B2A4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0" y="640080"/>
            <a:ext cx="4206240" cy="548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0" b="1">
                <a:solidFill>
                  <a:srgbClr val="142E5C"/>
                </a:solidFill>
                <a:latin typeface="Calibri Light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MARKET BRIEFING  · 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574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Calibri Light"/>
              </a:rPr>
              <a:t>The Agentic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5D0E0"/>
                </a:solidFill>
                <a:latin typeface="Calibri"/>
              </a:rPr>
              <a:t>State of the agentic AI market — and how AI agents are
rewiring financial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34840"/>
            <a:ext cx="1005840" cy="4445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C9BB5"/>
                </a:solidFill>
                <a:latin typeface="Calibri"/>
              </a:rPr>
              <a:t>From copilots to autonomous execution: sizing the market, mapping adoption, and locating real ROI in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Five things to know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2121408" cy="44805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2121408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E3D"/>
                </a:solidFill>
                <a:latin typeface="Calibri"/>
              </a:rPr>
              <a:t>$19B → $206B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1828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Global agentic AI market: $19.3B in 2026, projected $205.9B by 2033 (40.2% CAGR). Gartner counts $206.5B of 2026 spend on purpose-built agent software — up 139% YoY.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600200"/>
            <a:ext cx="2121408" cy="44805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98064" y="1600200"/>
            <a:ext cx="2121408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E3D"/>
                </a:solidFill>
                <a:latin typeface="Calibri"/>
              </a:rPr>
              <a:t>83% vs 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514600"/>
            <a:ext cx="1828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The adoption gap is the story: 83% of enterprises plan to deploy agents, but only ~23% are scaling them in even one function. Pilots stall on integration and governance, not on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00200"/>
            <a:ext cx="2121408" cy="44805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600200"/>
            <a:ext cx="2121408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E3D"/>
                </a:solidFill>
                <a:latin typeface="Calibri"/>
              </a:rPr>
              <a:t>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514600"/>
            <a:ext cx="1828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Financial services is the leading vertical: 52% of institutions are actively adopting agentic AI, and BFSI captures ~72% of specialized agent-platform spend. Fintechs lead incumbents 57% to 45%.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00200"/>
            <a:ext cx="2121408" cy="44805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6" y="1600200"/>
            <a:ext cx="2121408" cy="50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E3D"/>
                </a:solidFill>
                <a:latin typeface="Calibri"/>
              </a:rPr>
              <a:t>30–60%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14600"/>
            <a:ext cx="1828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Where agents reach production in finance, returns are measurable: 40–70% fewer false positives, 50%+ faster SAR cycles, 30–60% analyst productivity gains, payback in 8–18 months.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1600200"/>
            <a:ext cx="2121408" cy="448056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91472" y="1600200"/>
            <a:ext cx="2121408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1828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E3D"/>
                </a:solidFill>
                <a:latin typeface="Calibri"/>
              </a:rPr>
              <a:t>Aug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2514600"/>
            <a:ext cx="18288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Governance is now the gating factor: the EU AI Act's high-risk regime covers credit scoring and fraud detection this month, with fines up to €35M or 7% of global turnover.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14476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5A6B85"/>
                </a:solidFill>
                <a:latin typeface="Calibri"/>
              </a:rPr>
              <a:t>the market has moved from “what is an agent?” to “who can run one under audit?” — and finance is where that test is being run first.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From automation to autonomy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A6B85"/>
                </a:solidFill>
                <a:latin typeface="Calibri"/>
              </a:rPr>
              <a:t>Agentic AI systems plan, reason, use tools, and act across multi-step workflows with limited human instruction — a step change from rule-based automation and prompt-response copilots.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A999"/>
                </a:solidFill>
                <a:latin typeface="Calibri"/>
              </a:rPr>
              <a:t>2000s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B1E3D"/>
                </a:solidFill>
                <a:latin typeface="Calibri"/>
              </a:rPr>
              <a:t>RPA &amp;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1828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A6B85"/>
                </a:solidFill>
                <a:latin typeface="Calibri"/>
              </a:rPr>
              <a:t>Scripted clicks and macros. Fast but brittle; breaks when the process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246120"/>
            <a:ext cx="27432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A33D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4" y="233172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A999"/>
                </a:solidFill>
                <a:latin typeface="Calibri"/>
              </a:rPr>
              <a:t>2016+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761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B1E3D"/>
                </a:solidFill>
                <a:latin typeface="Calibri"/>
              </a:rPr>
              <a:t>ML &amp; chatbots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00400"/>
            <a:ext cx="1828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A6B85"/>
                </a:solidFill>
                <a:latin typeface="Calibri"/>
              </a:rPr>
              <a:t>Predictions and FAQ-style answers. Insight, but a human still executes.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246120"/>
            <a:ext cx="27432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A33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33172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8A999"/>
                </a:solidFill>
                <a:latin typeface="Calibri"/>
              </a:rPr>
              <a:t>2023+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761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B1E3D"/>
                </a:solidFill>
                <a:latin typeface="Calibri"/>
              </a:rPr>
              <a:t>GenAI copilots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200400"/>
            <a:ext cx="1828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A6B85"/>
                </a:solidFill>
                <a:latin typeface="Calibri"/>
              </a:rPr>
              <a:t>Drafts, summaries, code suggestions. Human prompts every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3246120"/>
            <a:ext cx="27432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A33D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233172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  <a:latin typeface="Calibri"/>
              </a:rPr>
              <a:t>2025+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61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200400"/>
            <a:ext cx="1828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5D0E0"/>
                </a:solidFill>
                <a:latin typeface="Calibri"/>
              </a:rPr>
              <a:t>Goal in, outcome out: plans tasks, calls tools and APIs, acts under policy.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27432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A33D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2331720"/>
            <a:ext cx="2121408" cy="2286000"/>
          </a:xfrm>
          <a:prstGeom prst="roundRect">
            <a:avLst>
              <a:gd name="adj" fmla="val 6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24871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A33D"/>
                </a:solidFill>
                <a:latin typeface="Calibri"/>
              </a:rPr>
              <a:t>2026→2030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76148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Multi-agent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3200400"/>
            <a:ext cx="1828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5D0E0"/>
                </a:solidFill>
                <a:latin typeface="Calibri"/>
              </a:rPr>
              <a:t>Specialized agents orchestrated end-to-end; humans supervise by exception.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8920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E3D"/>
                </a:solidFill>
                <a:latin typeface="Calibri"/>
              </a:rPr>
              <a:t>What makes an agent different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25780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Autonomy with guardrails —</a:t>
            </a:r>
            <a:r>
              <a:rPr sz="1250">
                <a:solidFill>
                  <a:srgbClr val="1B2A41"/>
                </a:solidFill>
                <a:latin typeface="Calibri"/>
              </a:rPr>
              <a:t> pursues a goal across many steps, escalating to humans only at defined checkpoints.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Tool use —</a:t>
            </a:r>
            <a:r>
              <a:rPr sz="1250">
                <a:solidFill>
                  <a:srgbClr val="1B2A41"/>
                </a:solidFill>
                <a:latin typeface="Calibri"/>
              </a:rPr>
              <a:t> reads systems of record, calls APIs, writes back results; the agent executes work rather than describing it.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Memory and adaptation —</a:t>
            </a:r>
            <a:r>
              <a:rPr sz="1250">
                <a:solidFill>
                  <a:srgbClr val="1B2A41"/>
                </a:solidFill>
                <a:latin typeface="Calibri"/>
              </a:rPr>
              <a:t> retains context across a workflow and adjusts to new information mid-task.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STATE OF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How big is the agentic AI market? Depends who's counting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6B85"/>
                </a:solidFill>
                <a:latin typeface="Calibri"/>
              </a:rPr>
              <a:t>Analyst estimates for 2026 span $9B to $206B because each firm draws the perimeter differently — pure-play platforms vs. all agent software embedded in the enterprise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11057839" cy="384048"/>
          </a:xfrm>
          <a:prstGeom prst="roundRect">
            <a:avLst>
              <a:gd name="adj" fmla="val 12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2128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536" y="22128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Scope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7336" y="22128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2026 market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2016" y="22128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Trajectory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06040"/>
            <a:ext cx="11057839" cy="7132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7157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Gartner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7157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All purpose-built AI agent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71576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$206.5B in 2026 (+139% YoY from $86.4B)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271576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A6B85"/>
                </a:solidFill>
                <a:latin typeface="Calibri"/>
              </a:rPr>
              <a:t>~62.7% CAGR → ~$985B by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4290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MarketsandMarkets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4290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Agentic platforms, orchestration &amp;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34290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$19.3B in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34290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A6B85"/>
                </a:solidFill>
                <a:latin typeface="Calibri"/>
              </a:rPr>
              <a:t>40.2% CAGR → $205.9B by 2033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32504"/>
            <a:ext cx="11057839" cy="71323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142232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Fortune Business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414223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Broad pure-play agentic AI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41422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$9.1B in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41422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A6B85"/>
                </a:solidFill>
                <a:latin typeface="Calibri"/>
              </a:rPr>
              <a:t>40.5% CAGR → $139.2B by 2034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855464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Grand View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485546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B2A41"/>
                </a:solidFill>
                <a:latin typeface="Calibri"/>
              </a:rPr>
              <a:t>Enterprise-specific agentic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7336" y="485546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$5.4B in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4855464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A6B85"/>
                </a:solidFill>
                <a:latin typeface="Calibri"/>
              </a:rPr>
              <a:t>46.2% CAGR → $24.5B by 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80644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The consensus that matters:  </a:t>
            </a:r>
            <a:r>
              <a:rPr sz="1300" b="0">
                <a:solidFill>
                  <a:srgbClr val="5A6B85"/>
                </a:solidFill>
                <a:latin typeface="Calibri"/>
              </a:rPr>
              <a:t>whatever the perimeter, every major forecast lands in a 40–55% CAGR band through 2030 — the fastest-growing category inside a $2.59T global AI spend.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STATE OF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Pilots are converting to production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691640"/>
          <a:ext cx="72237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98932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85"/>
                </a:solidFill>
                <a:latin typeface="Calibri"/>
              </a:rPr>
              <a:t>Enterprise-specific agentic AI revenue, Grand View Research (2026 est. onward). 2026 highlighted.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69164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18A999"/>
                </a:solidFill>
                <a:latin typeface="Calibri"/>
              </a:rPr>
              <a:t>46%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compound annual growth 2025–2030 — pilots become core infrastructure by 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97180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E8A33D"/>
                </a:solidFill>
                <a:latin typeface="Calibri"/>
              </a:rPr>
              <a:t>$2.59T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total worldwide AI spend forecast for 2026 (+47% YoY); agent software is its fastest-growing slice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425196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18A999"/>
                </a:solidFill>
                <a:latin typeface="Calibri"/>
              </a:rPr>
              <a:t>72%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of the 2026 agentic market is software — platforms, orchestration and governance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577840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A6B85"/>
                </a:solidFill>
                <a:latin typeface="Calibri"/>
              </a:rPr>
              <a:t>Services grow even faster than software: once platforms land, spend shifts to integration, governance and workflow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STATE OF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The adoption reality gap: intent far outruns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645920"/>
          <a:ext cx="6309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76072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B85"/>
                </a:solidFill>
                <a:latin typeface="Calibri"/>
              </a:rPr>
              <a:t>Sources: Cisco (Oct 2025), McKinsey State of AI (2025), Gartner (2025–26).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645920"/>
            <a:ext cx="4343400" cy="132588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Only ~1 in 4 converts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The deployment-reality index (scaling ÷ planning) sits at ~28: for every four enterprises that intend to run agents, one has them in scaled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773936"/>
            <a:ext cx="50292" cy="106984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3108960"/>
            <a:ext cx="4343400" cy="132588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Why pilots stall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The bottleneck is rarely the model. Legacy integration, data controls, security reviews and unclear ownership of agent decisions stop pilots at the 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3236976"/>
            <a:ext cx="50292" cy="106984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69480" y="4572000"/>
            <a:ext cx="4343400" cy="132588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The shake-out is priced in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Gartner expects over 40% of agentic projects to be scrapped by 2027 on cost and unclear ROI — spend keeps growing anyway, concentrated on survivors with governed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700016"/>
            <a:ext cx="50292" cy="106984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STATE OF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Landscape: platforms consolidate, standards emerge, capital follows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Microsoft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Copilot Studio embedded across the enterprise estate; agents woven into M365, Dynamics, GitHub.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00784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2544" y="1572768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Salesforce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Agentforce: 29,000+ deals and ~$800M ARR by Q4 FY26; ARR up 330% YoY — fastest enterprise ramp.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544" y="1700784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572768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Google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Vertex AI + Agentspace; launched the A2A interoperability protocol with 50+ partners, donated to Linux Foundation.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700784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AWS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Bedrock ecosystem with sandboxed agent compute; the default infrastructure play.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35808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2907792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OpenAI / Anthropic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Frontier models and APIs powering most agent stacks; co-creators of open agent standards (AGENTS.md, MCP).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52544" y="3035808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907792"/>
            <a:ext cx="3657600" cy="120700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ServiceNow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50">
                <a:solidFill>
                  <a:srgbClr val="5A6B85"/>
                </a:solidFill>
                <a:latin typeface="Calibri"/>
              </a:rPr>
              <a:t>ITSM-native agents plus a cross-vendor orchestration platform to unify agents from multiple providers.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035808"/>
            <a:ext cx="50292" cy="95097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434840"/>
            <a:ext cx="11057839" cy="1524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5902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E3D"/>
                </a:solidFill>
                <a:latin typeface="Calibri"/>
              </a:rPr>
              <a:t>Standards &amp; business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93776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18A999"/>
                </a:solidFill>
                <a:latin typeface="Calibri"/>
              </a:rPr>
              <a:t>▪  </a:t>
            </a:r>
            <a:r>
              <a:rPr sz="1150" b="1">
                <a:solidFill>
                  <a:srgbClr val="1B2A41"/>
                </a:solidFill>
                <a:latin typeface="Calibri"/>
              </a:rPr>
              <a:t>Interoperability is arriving: </a:t>
            </a:r>
            <a:r>
              <a:rPr sz="1150">
                <a:solidFill>
                  <a:srgbClr val="1B2A41"/>
                </a:solidFill>
                <a:latin typeface="Calibri"/>
              </a:rPr>
              <a:t>MCP for tool access, A2A for agent-to-agent, AGENTS.md guiding 60k+ projects.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18A999"/>
                </a:solidFill>
                <a:latin typeface="Calibri"/>
              </a:rPr>
              <a:t>▪  </a:t>
            </a:r>
            <a:r>
              <a:rPr sz="1150" b="1">
                <a:solidFill>
                  <a:srgbClr val="1B2A41"/>
                </a:solidFill>
                <a:latin typeface="Calibri"/>
              </a:rPr>
              <a:t>Pricing is shifting </a:t>
            </a:r>
            <a:r>
              <a:rPr sz="1150">
                <a:solidFill>
                  <a:srgbClr val="1B2A41"/>
                </a:solidFill>
                <a:latin typeface="Calibri"/>
              </a:rPr>
              <a:t>from seats to outcomes — customers increasingly pay per completed task.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5902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E3D"/>
                </a:solidFill>
                <a:latin typeface="Calibri"/>
              </a:rPr>
              <a:t>Where the capital goes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93776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18A999"/>
                </a:solidFill>
                <a:latin typeface="Calibri"/>
              </a:rPr>
              <a:t>▪  </a:t>
            </a:r>
            <a:r>
              <a:rPr sz="1150" b="1">
                <a:solidFill>
                  <a:srgbClr val="1B2A41"/>
                </a:solidFill>
                <a:latin typeface="Calibri"/>
              </a:rPr>
              <a:t>21% of the CB Insights AI 100 </a:t>
            </a:r>
            <a:r>
              <a:rPr sz="1150">
                <a:solidFill>
                  <a:srgbClr val="1B2A41"/>
                </a:solidFill>
                <a:latin typeface="Calibri"/>
              </a:rPr>
              <a:t>(2025) are agent or agent-infrastructure companies.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18A999"/>
                </a:solidFill>
                <a:latin typeface="Calibri"/>
              </a:rPr>
              <a:t>▪  </a:t>
            </a:r>
            <a:r>
              <a:rPr sz="1150" b="1">
                <a:solidFill>
                  <a:srgbClr val="1B2A41"/>
                </a:solidFill>
                <a:latin typeface="Calibri"/>
              </a:rPr>
              <a:t>Horizontal agents raised $1.6B; </a:t>
            </a:r>
            <a:r>
              <a:rPr sz="1150">
                <a:solidFill>
                  <a:srgbClr val="1B2A41"/>
                </a:solidFill>
                <a:latin typeface="Calibri"/>
              </a:rPr>
              <a:t>infrastructure and vertical players ~$1.2B each — investors fund the integration layer where pilots stall.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1097280"/>
            <a:ext cx="4114800" cy="5029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0" b="1">
                <a:solidFill>
                  <a:srgbClr val="142E5C"/>
                </a:solidFill>
                <a:latin typeface="Calibri Light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 Light"/>
              </a:rPr>
              <a:t>AI agents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94760"/>
            <a:ext cx="1005840" cy="4445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06908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5D0E0"/>
                </a:solidFill>
                <a:latin typeface="Calibri"/>
              </a:rPr>
              <a:t>The most regulated industry is also the fastest adopter — because compliance forced the data discipline agents need to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Why finance leads every other vertical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66160" cy="13716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18A999"/>
                </a:solidFill>
                <a:latin typeface="Calibri"/>
              </a:rPr>
              <a:t>#1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BFSI is the largest agentic AI vertical — ~19% of enterprise spend and ~72% of specialized agent-platform spend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600200"/>
            <a:ext cx="3566160" cy="13716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E8A33D"/>
                </a:solidFill>
                <a:latin typeface="Calibri"/>
              </a:rPr>
              <a:t>$1.03B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BFSI agentic AI spend in 2026 — doubled from $493M in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00200"/>
            <a:ext cx="3566160" cy="13716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3000" b="1">
                <a:solidFill>
                  <a:srgbClr val="18A999"/>
                </a:solidFill>
                <a:latin typeface="Calibri"/>
              </a:rPr>
              <a:t>66%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of corporate finance functions expected to run meaningful agentic AI by 2030, up from 20% in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461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E3D"/>
                </a:solidFill>
                <a:latin typeface="Calibri"/>
              </a:rPr>
              <a:t>Four structural reasons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11880"/>
            <a:ext cx="5486400" cy="123444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Data discipline was already paid for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80">
                <a:solidFill>
                  <a:srgbClr val="5A6B85"/>
                </a:solidFill>
                <a:latin typeface="Calibri"/>
              </a:rPr>
              <a:t>Decades of GRC requirements forced clean, governed, auditable data — exactly what agents need to act reliably. The constraint that slowed cloud adoption now accelerates agent ROI.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739896"/>
            <a:ext cx="50292" cy="97840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3611880"/>
            <a:ext cx="5486400" cy="123444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Workflows are agent-shaped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80">
                <a:solidFill>
                  <a:srgbClr val="5A6B85"/>
                </a:solidFill>
                <a:latin typeface="Calibri"/>
              </a:rPr>
              <a:t>High-volume, rules-bounded, multi-step processes (KYC reviews, claims, reconciliations, alert triage) are the ideal first workloads for autonomous execution.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739896"/>
            <a:ext cx="50292" cy="97840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4974336"/>
            <a:ext cx="5486400" cy="123444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Cost pressure meets digital rails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80">
                <a:solidFill>
                  <a:srgbClr val="5A6B85"/>
                </a:solidFill>
                <a:latin typeface="Calibri"/>
              </a:rPr>
              <a:t>Persistent margin pressure plus mature digital infrastructure means the business case writes itself where headcount scales linearly with volume.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102352"/>
            <a:ext cx="50292" cy="97840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4974336"/>
            <a:ext cx="5486400" cy="123444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00" b="1">
                <a:solidFill>
                  <a:srgbClr val="0B1E3D"/>
                </a:solidFill>
                <a:latin typeface="Calibri"/>
              </a:rPr>
              <a:t>Fraud is an arms race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080">
                <a:solidFill>
                  <a:srgbClr val="5A6B85"/>
                </a:solidFill>
                <a:latin typeface="Calibri"/>
              </a:rPr>
              <a:t>~50% of fraud already involves AI and deepfake scams are up 2,000%+ in three years — defense at machine speed requires agents, not queues of analysts.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5102352"/>
            <a:ext cx="50292" cy="978408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Adoption: half the industry is in motion, a quarter is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645920"/>
          <a:ext cx="66751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7607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6B85"/>
                </a:solidFill>
                <a:latin typeface="Calibri"/>
              </a:rPr>
              <a:t>Source: Cambridge Centre for Alternative Finance, 2026 Global AI in Financial Services Report (survey of industry firms and 130 regulators).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402336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Fastest uptake on record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Agentic AI reached 52% active adoption within ~2 years of category emergence — faster than classical ML or GenAI at the same 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773936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3072384"/>
            <a:ext cx="402336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Fintechs set the pace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57% vs 45% for incumbents — and 19% vs 6% at the fully transforming stage. Legacy infrastructure, not ambition, is the drag.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200400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4498848"/>
            <a:ext cx="402336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400" b="1">
                <a:solidFill>
                  <a:srgbClr val="0B1E3D"/>
                </a:solidFill>
                <a:latin typeface="Calibri"/>
              </a:rPr>
              <a:t>Banking's execution gap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5A6B85"/>
                </a:solidFill>
                <a:latin typeface="Calibri"/>
              </a:rPr>
              <a:t>Only 16% of banking executives report use cases actually deployed; 52% remain in piloting. Regulators trail further — half are still exploring.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626864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Where agents work today: six proven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3657600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9222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Fraud &amp; financial crime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13432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Agents investigate alerts end-to-end: pull transaction history, check device fingerprints, cross-reference watchlists, and act under policy — at machine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27632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1627632"/>
            <a:ext cx="3657600" cy="508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9222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AML / KYC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13432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Autonomous evidence gathering, sanctions &amp; PEP screening, risk profiling and SAR drafting, with a human validating before filing.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27632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27632"/>
            <a:ext cx="3657600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92224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Credit &amp; underwriting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13432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Agents assemble borrower files, verify documents, run policy-bound risk assessments and route exceptions — compressing days into hours.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58767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58767"/>
            <a:ext cx="3657600" cy="508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23359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Wealth &amp; advisory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44567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Meeting prep, portfolio review drafts, personalized agendas and client-ready summaries — one firm saves ~20,000 advisor hours a year.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3858767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2544" y="3858767"/>
            <a:ext cx="3657600" cy="50800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4023359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Treasury &amp; finance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544567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Cash forecasting, reconciliations, payment-instruction validation and close automation inside the CFO stack.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58767"/>
            <a:ext cx="3657600" cy="2084831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858767"/>
            <a:ext cx="3657600" cy="508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59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E3D"/>
                </a:solidFill>
                <a:latin typeface="Calibri"/>
              </a:rPr>
              <a:t>Agentic payments &amp; commerce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44567"/>
            <a:ext cx="3291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1B2A41"/>
                </a:solidFill>
                <a:latin typeface="Calibri"/>
              </a:rPr>
              <a:t>Agents that transact on the customer's behalf — Mastercard Agent Pay, Visa Intelligent Commerce, PayPal's agent toolkit build the rails.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1081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Pattern:  </a:t>
            </a:r>
            <a:r>
              <a:rPr sz="1250" b="0">
                <a:solidFill>
                  <a:srgbClr val="5A6B85"/>
                </a:solidFill>
                <a:latin typeface="Calibri"/>
              </a:rPr>
              <a:t>the first production wins are back- and middle-office — high volume, clear policy, measurable unit cost — before customer-facing autonomy.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 Light"/>
              </a:rPr>
              <a:t>Measured impact where agents reached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18A999"/>
                </a:solidFill>
                <a:latin typeface="Calibri"/>
              </a:rPr>
              <a:t>−40–70%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false positives in fraud &amp; AML screening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2544" y="1645920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E8A33D"/>
                </a:solidFill>
                <a:latin typeface="Calibri"/>
              </a:rPr>
              <a:t>−50%+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SAR filing cycle time in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18A999"/>
                </a:solidFill>
                <a:latin typeface="Calibri"/>
              </a:rPr>
              <a:t>+30–60%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analyst &amp; investigator productivity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73552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E8A33D"/>
                </a:solidFill>
                <a:latin typeface="Calibri"/>
              </a:rPr>
              <a:t>−30–50%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manual workload in KYC / AML reviews (McKinsey)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3273552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18A999"/>
                </a:solidFill>
                <a:latin typeface="Calibri"/>
              </a:rPr>
              <a:t>8–18 mo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typical payback period on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73552"/>
            <a:ext cx="3657600" cy="1481328"/>
          </a:xfrm>
          <a:prstGeom prst="roundRect">
            <a:avLst>
              <a:gd name="adj" fmla="val 9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/>
            <a:r>
              <a:rPr sz="2700" b="1">
                <a:solidFill>
                  <a:srgbClr val="E8A33D"/>
                </a:solidFill>
                <a:latin typeface="Calibri"/>
              </a:rPr>
              <a:t>100%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100">
                <a:solidFill>
                  <a:srgbClr val="C5D0E0"/>
                </a:solidFill>
                <a:latin typeface="Calibri"/>
              </a:rPr>
              <a:t>policy adherence in agent decisioning vs. &lt;95% for human four-eyes review (Sardine)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29200"/>
            <a:ext cx="11057839" cy="1234440"/>
          </a:xfrm>
          <a:prstGeom prst="roundRect">
            <a:avLst>
              <a:gd name="adj" fmla="val 8000"/>
            </a:avLst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519379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8A33D"/>
                </a:solidFill>
                <a:latin typeface="Calibri"/>
              </a:rPr>
              <a:t>Case in point:
Klarna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5175504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C5D0E0"/>
                </a:solidFill>
                <a:latin typeface="Calibri"/>
              </a:rPr>
              <a:t>Its OpenAI-powered assistant handled 2.3M conversations in month one — two-thirds of all service chats, the workload of ~700 full-time agents — cutting resolution time from 11 minutes to under 2 and adding an estimated $40M in annual profit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Who's already doing it: named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27632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JPMorgan Chase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LAW — Legal Agentic Workflows: specialized agents processing custody and fund-services contracts at 92.9% accuracy across query types.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1344" y="1627632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BNY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Autonomous agents working in coding and payment-instruction validation — agents as digital employees with supervised authority.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755648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072384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Citi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Framed the “do-it-for-me economy” research agenda; piloting agent assistants (e.g. voice-enabled market insights) across wealth and markets.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3072384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Mastercard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Agent Pay: agentic payments rails so consumer and business agents can transact — built with IBM and Microsoft partnerships.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200400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4517136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PayPal &amp; Visa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Agent toolkits and “Intelligent Commerce” APIs enabling agents to buy securely on behalf of customers.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45152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4517136"/>
            <a:ext cx="5486400" cy="129844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46304" tIns="128016" bIns="91440"/>
          <a:lstStyle/>
          <a:p>
            <a:pPr algn="ctr"/>
            <a:r>
              <a:rPr sz="1350" b="1">
                <a:solidFill>
                  <a:srgbClr val="0B1E3D"/>
                </a:solidFill>
                <a:latin typeface="Calibri"/>
              </a:rPr>
              <a:t>Klarna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00">
                <a:solidFill>
                  <a:srgbClr val="5A6B85"/>
                </a:solidFill>
                <a:latin typeface="Calibri"/>
              </a:rPr>
              <a:t>Consumer-scale proof point: AI assistant absorbing two-thirds of customer service volume with measured profit impact.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4645152"/>
            <a:ext cx="50292" cy="1042416"/>
          </a:xfrm>
          <a:prstGeom prst="rect">
            <a:avLst/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10819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1E3D"/>
                </a:solidFill>
                <a:latin typeface="Calibri"/>
              </a:rPr>
              <a:t>Signal:  </a:t>
            </a:r>
            <a:r>
              <a:rPr sz="1250" b="0">
                <a:solidFill>
                  <a:srgbClr val="5A6B85"/>
                </a:solidFill>
                <a:latin typeface="Calibri"/>
              </a:rPr>
              <a:t>the largest, most-regulated institutions are past experimentation — they are naming systems, publishing accuracy figures, and building payment rails for an agent-to-agent economy.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AI AGENTS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The gating factor: governance, trust and the EU AI 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394960" cy="4343400"/>
          </a:xfrm>
          <a:prstGeom prst="roundRect">
            <a:avLst>
              <a:gd name="adj" fmla="val 5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REGULATORY 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76272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EU AI Act high-risk regime —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71800"/>
            <a:ext cx="4892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 b="1">
                <a:solidFill>
                  <a:srgbClr val="E6EBF3"/>
                </a:solidFill>
                <a:latin typeface="Calibri"/>
              </a:rPr>
              <a:t>Credit scoring and fraud detection </a:t>
            </a:r>
            <a:r>
              <a:rPr sz="1200">
                <a:solidFill>
                  <a:srgbClr val="E6EBF3"/>
                </a:solidFill>
                <a:latin typeface="Calibri"/>
              </a:rPr>
              <a:t>are explicitly classified high-risk AI systems.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 b="1">
                <a:solidFill>
                  <a:srgbClr val="E6EBF3"/>
                </a:solidFill>
                <a:latin typeface="Calibri"/>
              </a:rPr>
              <a:t>Institutions must demonstrate </a:t>
            </a:r>
            <a:r>
              <a:rPr sz="1200">
                <a:solidFill>
                  <a:srgbClr val="E6EBF3"/>
                </a:solidFill>
                <a:latin typeface="Calibri"/>
              </a:rPr>
              <a:t>explainability, human oversight, audit readiness and documented risk management.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 b="1">
                <a:solidFill>
                  <a:srgbClr val="E6EBF3"/>
                </a:solidFill>
                <a:latin typeface="Calibri"/>
              </a:rPr>
              <a:t>Penalties reach </a:t>
            </a:r>
            <a:r>
              <a:rPr sz="1200">
                <a:solidFill>
                  <a:srgbClr val="E6EBF3"/>
                </a:solidFill>
                <a:latin typeface="Calibri"/>
              </a:rPr>
              <a:t>€35M or 7% of global annual turnover.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 b="1">
                <a:solidFill>
                  <a:srgbClr val="E6EBF3"/>
                </a:solidFill>
                <a:latin typeface="Calibri"/>
              </a:rPr>
              <a:t>Only ~15% of CFOs </a:t>
            </a:r>
            <a:r>
              <a:rPr sz="1200">
                <a:solidFill>
                  <a:srgbClr val="E6EBF3"/>
                </a:solidFill>
                <a:latin typeface="Calibri"/>
              </a:rPr>
              <a:t>say they are ready to deploy and govern agents at scale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E3D"/>
                </a:solidFill>
                <a:latin typeface="Calibri"/>
              </a:rPr>
              <a:t>What regulators and boards now expect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Human-in-the-loop by design — </a:t>
            </a:r>
            <a:r>
              <a:rPr sz="1250">
                <a:solidFill>
                  <a:srgbClr val="1B2A41"/>
                </a:solidFill>
                <a:latin typeface="Calibri"/>
              </a:rPr>
              <a:t>autonomy graduated by risk tier; high-impact decisions gated on human validation.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Immutable audit trails — </a:t>
            </a:r>
            <a:r>
              <a:rPr sz="1250">
                <a:solidFill>
                  <a:srgbClr val="1B2A41"/>
                </a:solidFill>
                <a:latin typeface="Calibri"/>
              </a:rPr>
              <a:t>every agent action logged, replayable and attributable; explainable reasoning for any decision that materially affects a customer.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Agent identity &amp; entitlements — </a:t>
            </a:r>
            <a:r>
              <a:rPr sz="1250">
                <a:solidFill>
                  <a:srgbClr val="1B2A41"/>
                </a:solidFill>
                <a:latin typeface="Calibri"/>
              </a:rPr>
              <a:t>agents as first-class identities with least-privilege access, spend limits and revocable credentials.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Adversarial resilience — </a:t>
            </a:r>
            <a:r>
              <a:rPr sz="1250">
                <a:solidFill>
                  <a:srgbClr val="1B2A41"/>
                </a:solidFill>
                <a:latin typeface="Calibri"/>
              </a:rPr>
              <a:t>~50% of fraud already involves AI; deepfakes up 2,000%+ in three years. Agents are both the defense and a new attack surface.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2356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B1E3D"/>
                </a:solidFill>
                <a:latin typeface="Calibri"/>
              </a:rPr>
              <a:t>Read:  </a:t>
            </a:r>
            <a:r>
              <a:rPr sz="1200" b="0">
                <a:solidFill>
                  <a:srgbClr val="5A6B85"/>
                </a:solidFill>
                <a:latin typeface="Calibri"/>
              </a:rPr>
              <a:t>governance is not a tax on agentic AI in finance — it is the moat. Firms that built it first are the ones scaling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A999"/>
                </a:solidFill>
                <a:latin typeface="Calibri"/>
              </a:rPr>
              <a:t>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1"/>
                </a:solidFill>
                <a:latin typeface="Calibri Light"/>
              </a:rPr>
              <a:t>2026–2030: what happens next, and what to do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E3D"/>
                </a:solidFill>
                <a:latin typeface="Calibri"/>
              </a:rPr>
              <a:t>Where the market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Multi-agent orchestration </a:t>
            </a:r>
            <a:r>
              <a:rPr sz="1250">
                <a:solidFill>
                  <a:srgbClr val="1B2A41"/>
                </a:solidFill>
                <a:latin typeface="Calibri"/>
              </a:rPr>
              <a:t>becomes the default architecture: specialized agents chained end-to-end, humans supervising by exception.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Agentic commerce scales — </a:t>
            </a:r>
            <a:r>
              <a:rPr sz="1250">
                <a:solidFill>
                  <a:srgbClr val="1B2A41"/>
                </a:solidFill>
                <a:latin typeface="Calibri"/>
              </a:rPr>
              <a:t>agents intermediating B2B and consumer transactions on new payment rails from 2027–28.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Outcome-based pricing </a:t>
            </a:r>
            <a:r>
              <a:rPr sz="1250">
                <a:solidFill>
                  <a:srgbClr val="1B2A41"/>
                </a:solidFill>
                <a:latin typeface="Calibri"/>
              </a:rPr>
              <a:t>displaces seats; ROI becomes measurable per completed task, tightening the link between spend and value.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Consolidation: </a:t>
            </a:r>
            <a:r>
              <a:rPr sz="1250">
                <a:solidFill>
                  <a:srgbClr val="1B2A41"/>
                </a:solidFill>
                <a:latin typeface="Calibri"/>
              </a:rPr>
              <a:t>&gt;40% of today's projects fail, and spend concentrates on platforms with governance built in.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18A999"/>
                </a:solidFill>
                <a:latin typeface="Calibri"/>
              </a:rPr>
              <a:t>▪  </a:t>
            </a:r>
            <a:r>
              <a:rPr sz="1250" b="1">
                <a:solidFill>
                  <a:srgbClr val="1B2A41"/>
                </a:solidFill>
                <a:latin typeface="Calibri"/>
              </a:rPr>
              <a:t>81% of financial institutions </a:t>
            </a:r>
            <a:r>
              <a:rPr sz="1250">
                <a:solidFill>
                  <a:srgbClr val="1B2A41"/>
                </a:solidFill>
                <a:latin typeface="Calibri"/>
              </a:rPr>
              <a:t>expect meaningful agentic deployment by 2030 — the frontier moves from whether to how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E3D"/>
                </a:solidFill>
                <a:latin typeface="Calibri"/>
              </a:rPr>
              <a:t>A pragmatic playbook for finance leaders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0253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4767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Pick governed, high-volume workflows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58568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A6B85"/>
                </a:solidFill>
                <a:latin typeface="Calibri"/>
              </a:rPr>
              <a:t>Alert triage, KYC refresh, reconciliations — clear policy, measurable unit cost, contained blast radius.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0837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44951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90087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Build the audit layer before the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300983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A6B85"/>
                </a:solidFill>
                <a:latin typeface="Calibri"/>
              </a:rPr>
              <a:t>Logging, HITL checkpoints and entitlements up front make every later deployment faster to approve.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5079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87366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03250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Measure at task level; scale what pays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343398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A6B85"/>
                </a:solidFill>
                <a:latin typeface="Calibri"/>
              </a:rPr>
              <a:t>Target 8–18-month payback. Kill pilots that can't show task-level ROI — most of the 40% failure rate is avoidable selection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09320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129781"/>
            <a:ext cx="3840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074917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E3D"/>
                </a:solidFill>
                <a:latin typeface="Calibri"/>
              </a:rPr>
              <a:t>Stay portable via open standards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85813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5A6B85"/>
                </a:solidFill>
                <a:latin typeface="Calibri"/>
              </a:rPr>
              <a:t>MCP, A2A and AGENTS.md reduce switching costs as the vendor landscape consolidates.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B8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 Light"/>
              </a:rPr>
              <a:t>Sources &amp;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777240" cy="40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Gartner, AI Spending Forecast 1Q26 (May 2026) — agent software &amp; total AI spend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MarketsandMarkets, Agentic AI Market Report 2026–2033 (Aug 2026)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Grand View Research / Keyhole Software, Enterprise Agentic AI Market (Q2 2026)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Fortune Business Insights, Agentic AI Market 2026–2034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Cambridge Centre for Alternative Finance &amp; industry partners, 2026 Global AI in Financial Services Report (Apr 2026)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McKinsey, State of AI (2025) &amp; AI Trust Maturity Survey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Deloitte Insights, Agentic AI in Banking (2025)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Citi GPS, Agentic AI: Finance &amp; the “Do It For Me” Economy (Jan 2025)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SymphonyAI, FinCrime Frontier Survey 2025–26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CB Insights, AI 100 (2025); PitchBook, Agentic AI Analyst Notes (Q2 2026)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Cisco (Oct 2025) &amp; Axis Intelligence, Agentic AI Statistics 2026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E8A33D"/>
                </a:solidFill>
                <a:latin typeface="Calibri"/>
              </a:rPr>
              <a:t>▪  </a:t>
            </a:r>
            <a:r>
              <a:rPr sz="1200">
                <a:solidFill>
                  <a:srgbClr val="C5D0E0"/>
                </a:solidFill>
                <a:latin typeface="Calibri"/>
              </a:rPr>
              <a:t>Company disclosures: Salesforce FY26 earnings; JPMorgan, BNY, Mastercard, PayPal, Visa, Klarna announcements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669280"/>
            <a:ext cx="11057839" cy="12700"/>
          </a:xfrm>
          <a:prstGeom prst="rect">
            <a:avLst/>
          </a:prstGeom>
          <a:solidFill>
            <a:srgbClr val="14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85216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C9BB5"/>
                </a:solidFill>
                <a:latin typeface="Calibri"/>
              </a:rPr>
              <a:t>Note: market-size estimates differ by scope; figures are cited to their source's perimeter. Vendor metrics are self-reported. All data as published through August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The Agentic Shift  ·  Agentic AI Market &amp; Finance  · 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C9BB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
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Returns to intelligence — extended with per-task agent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CA3AF"/>
                </a:solidFill>
              </a:defRPr>
            </a:pPr>
            <a:r>
              <a:t>Avg input tokens, avg reasoning (thinking) tokens, and avg wall-clock duration per task — order-of-magnitude midpoints from public benchmarks (SWE-Bench, Tau-Bench, GAIA, OSWorld, FinanceBench, PaperQA2) and vendor disclosures.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3441680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468880"/>
                <a:gridCol w="3474720"/>
                <a:gridCol w="2286000"/>
                <a:gridCol w="2286000"/>
                <a:gridCol w="2286000"/>
              </a:tblGrid>
              <a:tr h="811530"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b="1" sz="1100">
                          <a:solidFill>
                            <a:srgbClr val="F9FAFB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b="1" sz="1100">
                          <a:solidFill>
                            <a:srgbClr val="F9FAFB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b="1" sz="1100">
                          <a:solidFill>
                            <a:srgbClr val="F9FAFB"/>
                          </a:solidFill>
                        </a:rPr>
                        <a:t>Why returns to intelligence are high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b="1" sz="1100">
                          <a:solidFill>
                            <a:srgbClr val="F9FAFB"/>
                          </a:solidFill>
                        </a:rPr>
                        <a:t>Avg input tokens / task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b="1" sz="1100">
                          <a:solidFill>
                            <a:srgbClr val="F9FAFB"/>
                          </a:solidFill>
                        </a:rPr>
                        <a:t>Avg reasoning tokens / task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 tIns="40000" bIns="40000"/>
                    <a:lstStyle/>
                    <a:p>
                      <a:pPr algn="l"/>
                      <a:r>
                        <a:rPr b="1" sz="1100">
                          <a:solidFill>
                            <a:srgbClr val="F9FAFB"/>
                          </a:solidFill>
                        </a:rPr>
                        <a:t>Avg agent task duration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1153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1000" b="1">
                          <a:solidFill>
                            <a:srgbClr val="60A5F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</a:rPr>
                        <a:t>Trading / market-making / quant execution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Extreme leverage + tight feedback + compounding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40,000 – 400,000 (≈120,000)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3,000 – 40,000 (≈12,000)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20 s – 10 min (≈1.5 min)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1153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1000" b="1">
                          <a:solidFill>
                            <a:srgbClr val="60A5F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</a:rPr>
                        <a:t>Ads ranking / recommender systems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Massive scale + measurable uplift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2,000 – 30,000 (≈8,000)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200 – 6,000 (≈1,500)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2 s – 1 min (≈10 s)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1153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1000" b="1">
                          <a:solidFill>
                            <a:srgbClr val="60A5F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</a:rPr>
                        <a:t>Cybersecurity (SOC + response)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High cost of failure + growing attack surface + automation thresholds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20,000 – 200,000 (≈60,000)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2,000 – 25,000 (≈8,000)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15 s – 10 min (≈1.5 min)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1153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1000" b="1">
                          <a:solidFill>
                            <a:srgbClr val="60A5F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</a:rPr>
                        <a:t>Fraud / credit / underwriting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Leverage + clear outcomes (loss rate)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8,000 – 120,000 (≈25,000)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1,000 – 15,000 (≈5,000)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10 s – 5 min (≈45 s)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1153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1000" b="1">
                          <a:solidFill>
                            <a:srgbClr val="60A5F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</a:rPr>
                        <a:t>Drug discovery / biotech R&amp;D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Huge payoff for better hypotheses + time-to-market value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100,000 – 1,500,000 (≈300,000)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10,000 – 150,000 (≈40,000)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2 min – 2 h (≈15 min)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1153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1000" b="1">
                          <a:solidFill>
                            <a:srgbClr val="60A5F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</a:rPr>
                        <a:t>Software engineering agents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Verifiable feedback + autonomy thresholds + huge labor spend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50,000 – 600,000 (≈150,000)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8,000 – 100,000 (≈30,000)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1 min – 45 min (≈10 min)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1153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1000" b="1">
                          <a:solidFill>
                            <a:srgbClr val="60A5F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 b="1">
                          <a:solidFill>
                            <a:srgbClr val="E5E7EB"/>
                          </a:solidFill>
                        </a:rPr>
                        <a:t>Complex enterprise ops (IT/SRE, finance ops, compliance)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Repetitive workflows + measurable KPIs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5,000 – 80,000 (≈20,000)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500 – 12,000 (≈3,000)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1000">
                          <a:solidFill>
                            <a:srgbClr val="E5E7EB"/>
                          </a:solidFill>
                        </a:rPr>
                        <a:t>5 s – 4 min (≈30 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7909560"/>
            <a:ext cx="1389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6B7280"/>
                </a:solidFill>
              </a:defRPr>
            </a:pPr>
            <a:r>
              <a:t>Sources: Anthropic / OpenAI system cards · SWE-Bench Verified · Tau-Bench · GAIA · OSWorld · FinanceBench · FutureHouse PaperQA2 · MSFT Security Copilot disclosures · CrowdStrike Charlotte AI · ServiceNow Now Assist disclosures.  Numbers are order-of-magnitude midpoints; refresh quarterly.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FAFB"/>
                </a:solidFill>
              </a:defRPr>
            </a:pPr>
            <a:r>
              <a:t>Where the LLM-agent layer actually sits — by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435608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5760720"/>
                <a:gridCol w="5212080"/>
              </a:tblGrid>
              <a:tr h="857250">
                <a:tc>
                  <a:txBody>
                    <a:bodyPr wrap="square" lIns="60000" rIns="60000"/>
                    <a:lstStyle/>
                    <a:p>
                      <a:r>
                        <a:rPr b="1" sz="1100">
                          <a:solidFill>
                            <a:srgbClr val="F9FAFB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/>
                    <a:lstStyle/>
                    <a:p>
                      <a:r>
                        <a:rPr b="1" sz="1100">
                          <a:solidFill>
                            <a:srgbClr val="F9FAFB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/>
                    <a:lstStyle/>
                    <a:p>
                      <a:r>
                        <a:rPr b="1" sz="1100">
                          <a:solidFill>
                            <a:srgbClr val="F9FAFB"/>
                          </a:solidFill>
                        </a:rPr>
                        <a:t>LLM-agent layer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wrap="square" lIns="60000" rIns="60000"/>
                    <a:lstStyle/>
                    <a:p>
                      <a:r>
                        <a:rPr b="1" sz="1100">
                          <a:solidFill>
                            <a:srgbClr val="F9FAFB"/>
                          </a:solidFill>
                        </a:rPr>
                        <a:t>Public benchmark / disclosure anchors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5725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950" b="1">
                          <a:solidFill>
                            <a:srgbClr val="60A5F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 b="1">
                          <a:solidFill>
                            <a:srgbClr val="E5E7EB"/>
                          </a:solidFill>
                        </a:rPr>
                        <a:t>Trading / market-making / quant execution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LLM agents sit on the *research/strategy/PM-copilot* layer (filings, transcripts, news, alt-data). HFT execution itself remains sub-millisecond RL/heuristic — no LLM in the hot path.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BloombergGPT (50B-token finance LM); JPM IndexGPT &amp; Athena; Bridgewater AIA Labs; Man Group / Two Sigma research copilots; FinanceBench (Patronus); FinGPT.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5725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950" b="1">
                          <a:solidFill>
                            <a:srgbClr val="60A5F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 b="1">
                          <a:solidFill>
                            <a:srgbClr val="E5E7EB"/>
                          </a:solidFill>
                        </a:rPr>
                        <a:t>Ads ranking / recommender systems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Core ranking is non-LLM (DLRM/HSTU/transformers on feature vectors, &lt;100 ms). LLM 'agents' here = campaign-orchestration copilots (Meta Advantage+, Google PMax, TikTok Symphony) and creative-generation agents.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Meta Advantage+ Shopping Campaigns; Google Performance Max &amp; Gemini-for-Ads; TikTok Symphony; Amazon Ads AI creative; Pinterest Performance+; Snap AR Genie.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5725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950" b="1">
                          <a:solidFill>
                            <a:srgbClr val="60A5F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 b="1">
                          <a:solidFill>
                            <a:srgbClr val="E5E7EB"/>
                          </a:solidFill>
                        </a:rPr>
                        <a:t>Cybersecurity (SOC + response)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Triage / investigation / response agents: CrowdStrike Charlotte AI, MSFT Security Copilot, Google SecLM/Sec-Gemini, Palo Alto Cortex XSIAM AI, Wiz, SentinelOne Purple AI, Dropzone AI.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MSFT Security Copilot per-investigation cost disclosures (FY24 earnings); CrowdStrike Charlotte AI public demos; Dropzone AI MTTR benchmarks; SOC.OS / Anvilogic; CyberSecEval (Meta).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5725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950" b="1">
                          <a:solidFill>
                            <a:srgbClr val="60A5F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 b="1">
                          <a:solidFill>
                            <a:srgbClr val="E5E7EB"/>
                          </a:solidFill>
                        </a:rPr>
                        <a:t>Fraud / credit / underwriting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Sub-100 ms scoring (XGBoost/GBM/RNN) is non-LLM. LLM agents wrap the *case-review / adverse-action / KYC narrative / manual-underwriting* layer: Stripe Radar Assistant, Sardine, Featurespace, Upstart manual review, Zest AI explainability.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Upstart / Zest AI public model docs; Klarna AML agent (2024 letter); Stripe Radar; Plaid Beacon; FICO Falcon; CFPB adverse-action LLM pilots.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5725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950" b="1">
                          <a:solidFill>
                            <a:srgbClr val="60A5F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 b="1">
                          <a:solidFill>
                            <a:srgbClr val="E5E7EB"/>
                          </a:solidFill>
                        </a:rPr>
                        <a:t>Drug discovery / biotech R&amp;D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Two layers: (a) structural / generative bio models (AlphaFold 3, Isomorphic, RFdiffusion, Recursion Phenom) — no LLM tokens; (b) LLM research agents: FutureHouse PaperQA2 / Crow / ChemCrow, Owkin K, Insilico Pharma.AI, BioNeMo agents.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FutureHouse PaperQA2 paper (2024) — average ~80-200 retrieved abstracts per question; ChemCrow paper; Sakana AI Scientist; Insilico Pharma.AI white-paper; Recursion Phenom-1.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5725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950" b="1">
                          <a:solidFill>
                            <a:srgbClr val="60A5F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 b="1">
                          <a:solidFill>
                            <a:srgbClr val="E5E7EB"/>
                          </a:solidFill>
                        </a:rPr>
                        <a:t>Software engineering agents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Coding agents and harnesses: Claude Code, OpenAI Codex / Codex CLI, Cursor Agent, Cognition Devin, GitHub Copilot Workspace, Replit Agent, Aider, OpenHands, SWE-agent.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SWE-Bench Verified / Lite leaderboards (Anthropic, OpenAI, Cognition); Tau-Bench-Code; LiveCodeBench; OpenAI Codex 2025 blog (avg task ~7-12 min); Anthropic Claude 4 'Sonnet thinking' system card; Cursor agent traces.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857250">
                <a:tc>
                  <a:txBody>
                    <a:bodyPr wrap="square" lIns="60000" rIns="60000" tIns="50000" bIns="50000"/>
                    <a:lstStyle/>
                    <a:p>
                      <a:pPr algn="ctr"/>
                      <a:r>
                        <a:rPr sz="950" b="1">
                          <a:solidFill>
                            <a:srgbClr val="60A5F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 b="1">
                          <a:solidFill>
                            <a:srgbClr val="E5E7EB"/>
                          </a:solidFill>
                        </a:rPr>
                        <a:t>Complex enterprise ops (IT/SRE, finance ops, compliance)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Ticket / incident / close-the-books / control-test agents: ServiceNow Now Assist, Workday Illuminate, MSFT Copilot for Service, PagerDuty AIOps, Glean, Moveworks, Trullion, Kira/ Harvey for compliance, BlackLine Studio360.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wrap="square" lIns="60000" rIns="60000" tIns="50000" bIns="50000"/>
                    <a:lstStyle/>
                    <a:p>
                      <a:pPr algn="l"/>
                      <a:r>
                        <a:rPr sz="950">
                          <a:solidFill>
                            <a:srgbClr val="E5E7EB"/>
                          </a:solidFill>
                        </a:rPr>
                        <a:t>Tau-Bench (Sierra) — telecom / retail / airline workflows; OSWorld; ServiceNow Now Assist deflection metrics (Q3-Q4 FY25); Workday Illuminate disclosures; PagerDuty AIOps; Glean usage data.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
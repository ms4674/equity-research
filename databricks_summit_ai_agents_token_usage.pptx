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1371600" cy="635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F00"/>
                </a:solidFill>
              </a:defRPr>
            </a:pPr>
            <a:r>
              <a:t>DATABRICKS DATA + AI SUMMIT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AI Agents &amp; Token Usage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0AEC0"/>
                </a:solidFill>
              </a:defRPr>
            </a:pPr>
            <a:r>
              <a:t>Enterprise Adoption, Cost Economics &amp; Production Insights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Consolidated from Data + AI Summit 2024, 2025 &amp; 2026 Sessions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572000"/>
            <a:ext cx="2286000" cy="14630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4572000"/>
            <a:ext cx="2286000" cy="508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7091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F00"/>
                </a:solidFill>
              </a:defRPr>
            </a:pPr>
            <a:r>
              <a:t>22,000+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212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</a:defRPr>
            </a:pPr>
            <a:r>
              <a:t>Summit 2025 Attendees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4572000"/>
            <a:ext cx="2286000" cy="14630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4572000"/>
            <a:ext cx="22860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47091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700+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212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</a:defRPr>
            </a:pPr>
            <a:r>
              <a:t>Sessions Presented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0" y="4572000"/>
            <a:ext cx="2286000" cy="14630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35040" y="4572000"/>
            <a:ext cx="22860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47091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</a:defRPr>
            </a:pPr>
            <a:r>
              <a:t>20,000+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5212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</a:defRPr>
            </a:pPr>
            <a:r>
              <a:t>Databricks Customers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0" y="4572000"/>
            <a:ext cx="2286000" cy="14630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595360" y="4572000"/>
            <a:ext cx="2286000" cy="50800"/>
          </a:xfrm>
          <a:prstGeom prst="rect">
            <a:avLst/>
          </a:prstGeom>
          <a:solidFill>
            <a:srgbClr val="A7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0" y="470916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755F7"/>
                </a:solidFill>
              </a:defRPr>
            </a:pPr>
            <a:r>
              <a:t>60%+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521208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</a:defRPr>
            </a:pPr>
            <a:r>
              <a:t>Fortune 500 on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097280" cy="508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800" cy="64008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F00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4447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Enterprise AI Agent Landscape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830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Market trends, adoption statistics, and growth trajectory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286000"/>
            <a:ext cx="5080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8600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3B82F6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2677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Key Summit Sessions on AI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606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Highlights from 2024, 2025, and 2026 summit presentations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108960"/>
            <a:ext cx="50800" cy="6400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10896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C55E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0906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Token Usage &amp; Cost Economics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429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Token consumption patterns, pricing, and optimization strategies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50800" cy="640080"/>
          </a:xfrm>
          <a:prstGeom prst="rect">
            <a:avLst/>
          </a:prstGeom>
          <a:solidFill>
            <a:srgbClr val="A7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319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755F7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913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Company Case Studies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251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Adidas, Walmart, AstraZeneca, Royal Bank of Canada, and more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754880"/>
            <a:ext cx="50800" cy="64008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7548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4B8A6"/>
                </a:solidFill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73659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State of AI Agents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5074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Multi-agent growth, governance impact, and production readiness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5577840"/>
            <a:ext cx="50800" cy="640080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557784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4D3D"/>
                </a:solidFill>
              </a:defRPr>
            </a:pPr>
            <a: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5595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Production Architecture &amp; Best Practices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897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EC0"/>
                </a:solidFill>
              </a:defRPr>
            </a:pPr>
            <a:r>
              <a:t>Compound AI systems, monitoring, and deployment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Enterprise AI Agent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468880" cy="14630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468880" cy="508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F00"/>
                </a:solidFill>
              </a:defRPr>
            </a:pPr>
            <a:r>
              <a:t>$58B → $474B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</a:defRPr>
            </a:pPr>
            <a:r>
              <a:t>Enterprise AI Market</a:t>
            </a:r>
            <a:br/>
            <a:r>
              <a:t>2025 → 2030 (52% CAGR)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463040"/>
            <a:ext cx="2468880" cy="14630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46304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6002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$644B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103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</a:defRPr>
            </a:pPr>
            <a:r>
              <a:t>GenAI Spend</a:t>
            </a:r>
            <a:br/>
            <a:r>
              <a:t>Forecast 2025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463040"/>
            <a:ext cx="2468880" cy="14630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46888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002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</a:defRPr>
            </a:pPr>
            <a:r>
              <a:t>$1.5T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103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</a:defRPr>
            </a:pPr>
            <a:r>
              <a:t>Total AI Spend</a:t>
            </a:r>
            <a:br/>
            <a:r>
              <a:t>Forecast 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463040"/>
            <a:ext cx="2468880" cy="14630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61120" y="1463040"/>
            <a:ext cx="2468880" cy="50800"/>
          </a:xfrm>
          <a:prstGeom prst="rect">
            <a:avLst/>
          </a:prstGeom>
          <a:solidFill>
            <a:srgbClr val="A7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6002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755F7"/>
                </a:solidFill>
              </a:defRPr>
            </a:pPr>
            <a:r>
              <a:t>75%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1031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</a:defRPr>
            </a:pPr>
            <a:r>
              <a:t>C-Suite Executives Rank</a:t>
            </a:r>
            <a:br/>
            <a:r>
              <a:t>AI as Top-3 Priority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291840"/>
            <a:ext cx="2468880" cy="14630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291840"/>
            <a:ext cx="246888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429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4B8A6"/>
                </a:solidFill>
              </a:defRPr>
            </a:pPr>
            <a:r>
              <a:t>11x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319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</a:defRPr>
            </a:pPr>
            <a:r>
              <a:t>More AI Models</a:t>
            </a:r>
            <a:br/>
            <a:r>
              <a:t>Deployed YoY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474720" y="3291840"/>
            <a:ext cx="2468880" cy="14630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74720" y="3291840"/>
            <a:ext cx="2468880" cy="50800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0" y="3429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84D3D"/>
                </a:solidFill>
              </a:defRPr>
            </a:pPr>
            <a:r>
              <a:t>3x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9319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</a:defRPr>
            </a:pPr>
            <a:r>
              <a:t>More Efficient at</a:t>
            </a:r>
            <a:br/>
            <a:r>
              <a:t>Production Deployment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291840"/>
            <a:ext cx="2468880" cy="14630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329184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429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377%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9319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</a:defRPr>
            </a:pPr>
            <a:r>
              <a:t>Vector Database</a:t>
            </a:r>
            <a:br/>
            <a:r>
              <a:t>Usage Growth YoY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1120" y="3291840"/>
            <a:ext cx="2468880" cy="14630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61120" y="3291840"/>
            <a:ext cx="2468880" cy="508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34290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F00"/>
                </a:solidFill>
              </a:defRPr>
            </a:pPr>
            <a:r>
              <a:t>76%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9319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</a:defRPr>
            </a:pPr>
            <a:r>
              <a:t>Companies Using LLMs</a:t>
            </a:r>
            <a:br/>
            <a:r>
              <a:t>Choose Open Source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1206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FF6F00"/>
                </a:solidFill>
              </a:defRPr>
            </a:pPr>
            <a:r>
              <a:t>Key Insight: Financial Services leads GPU usage growth at 88% over 6 months,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A0AEC0"/>
                </a:solidFill>
              </a:defRPr>
            </a:pPr>
            <a:r>
              <a:t>followed by Healthcare &amp; Life Sciences — highly regulated industries are the surprise early adopters of GenAI.</a:t>
            </a:r>
          </a:p>
          <a:p>
            <a:pPr algn="l">
              <a:spcAft>
                <a:spcPts val="600"/>
              </a:spcAft>
              <a:defRPr sz="1100" b="0">
                <a:solidFill>
                  <a:srgbClr val="707890"/>
                </a:solidFill>
              </a:defRPr>
            </a:pPr>
            <a:r>
              <a:t>Source: Databricks State of Data + AI Report 2024 — 10,000+ global customers including 300+ Fortune 500 companies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Key Summit Sessions: AI Agents (2024)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228600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63500" cy="22860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F00"/>
                </a:solidFill>
              </a:defRPr>
            </a:pPr>
            <a:r>
              <a:t>Mosaic AI: Compound AI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Databricks introduced Mosaic AI for building production-quality compound AI systems. Emphasis shifted from monolithic models to multi-component systems using tuned models, retrieval, tool use, and reasoning agents.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8745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New SDK for building, deploying &amp; evaluating AI agents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Foundation Model APIs with pay-per-token pricing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Mosaic AI Tool Catalog for enterprise function registries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Model Serving support for agents and RAG applications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515600" cy="228600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63500" cy="228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069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</a:defRPr>
            </a:pPr>
            <a:r>
              <a:t>GenAI Announcements Keynote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16,000+ in-person attendees and 60,000+ virtual participants from 140 countries. Focus on production-grade compound AI and fine-tuning support.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44348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Fine-tuning support for foundation models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70% of GenAI companies use vector databases for RAG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Llama 3 captured 39% of open-source usage within 4 weeks of launch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Hugging Face Transformers jumped from #4 to #2 most-adopted product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Key Summit Sessions: AI Agents (2025)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June 9–12, 2025 · San Francisco · 22,000+ Attendees · 700+ Sessions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291840" cy="508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F00"/>
                </a:solidFill>
              </a:defRPr>
            </a:pPr>
            <a:r>
              <a:t>Autonomous AI Agents in AI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Apurva Kumar — Walmart Global Tech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Architecture &amp; design principles for autonomous agents: containerization, orchestration, robustness, and real-time feedback loops.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645920"/>
            <a:ext cx="3291840" cy="201168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645920"/>
            <a:ext cx="329184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Agent Bricks: Building Multi-Agent Systems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194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Databricks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5146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Natural language interactions with structured databases and unstructured documents. KBQA evaluation, data governance, and vector search + structured DB retrieval.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1645920"/>
            <a:ext cx="3291840" cy="201168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80960" y="1645920"/>
            <a:ext cx="329184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18120" y="1783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</a:defRPr>
            </a:pPr>
            <a:r>
              <a:t>Multi-Agents in Production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21945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Tony Holdstock-Brown — Inngest CEO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51460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Techniques for building effective multi-agent networks deterministically while reducing compounding error rates across AI calls.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840480"/>
            <a:ext cx="3291840" cy="201168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840480"/>
            <a:ext cx="3291840" cy="50800"/>
          </a:xfrm>
          <a:prstGeom prst="rect">
            <a:avLst/>
          </a:prstGeom>
          <a:solidFill>
            <a:srgbClr val="A7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977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55F7"/>
                </a:solidFill>
              </a:defRPr>
            </a:pPr>
            <a:r>
              <a:t>Measure What Matters: Quality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389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Databricks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7091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Mosaic Agent Monitoring: user feedback integration, monitoring dashboards, quality evaluation using AI judges, and operational metrics tracking.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06240" y="3840480"/>
            <a:ext cx="3291840" cy="201168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6240" y="3840480"/>
            <a:ext cx="329184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3977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</a:defRPr>
            </a:pPr>
            <a:r>
              <a:t>Building Responsible AI Agents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389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Databricks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47091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Fairness, transparency, regulatory compliance. Bias monitoring, explainability (SHAP/LIME), Unity Catalog governance, and LLM security guardrails.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0" y="3840480"/>
            <a:ext cx="3291840" cy="201168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680960" y="3840480"/>
            <a:ext cx="3291840" cy="50800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18120" y="3977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4D3D"/>
                </a:solidFill>
              </a:defRPr>
            </a:pPr>
            <a:r>
              <a:t>Agentic AI in Finance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20" y="43891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Qubika (Sponsored)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470916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AI finance agents using LangChain, RAG, and Databricks unified platform including MLFlow and Mosaic AI integration.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Key Summit Sessions: AI Agents (2026)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June 15–18, 2026 · San Francisco · 800+ Sessions Expected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28600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5212080" cy="508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F00"/>
                </a:solidFill>
              </a:defRPr>
            </a:pPr>
            <a:r>
              <a:t>Beyond the Trace: adidas' Agent Digital Twin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adidas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Maps agent→tool→prompt→retrieval→model call→post-processing chains. Rollup of risk, quality, and unit economics across the fleet. Uses MLflow Tracing + Unity Catalog for audit evidence and DBU/cost signals.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24231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•  200+ serving endpoints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•  300+ data &amp; AI products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•  6,000+ registered models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•  600,000+ pipeline runs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645920"/>
            <a:ext cx="5212080" cy="228600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0" y="1645920"/>
            <a:ext cx="52120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7830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Deploying and Monitoring Agents on Databricks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1488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Databricks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42316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Hands-on course covering batch (AI Functions) and real-time (Model Serving) agent deployment. MLflow tracing, monitoring dashboards, and observability.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242316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•  Batch mode via AI Functions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•  Real-time REST endpoints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•  Built-in trace collection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•  Monitoring dashboards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14800"/>
            <a:ext cx="5212080" cy="228600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114800"/>
            <a:ext cx="521208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519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Building RAG Agents with Agent Bricks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617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Databricks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8920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Hands-on training using Vector Search, AI Playground, and Agent Bricks for building production RAG agents.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48920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•  Vector Search integration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•  AI Playground testing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•  Auto-optimized agents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•  No-code building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4114800"/>
            <a:ext cx="5212080" cy="228600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80" y="4114800"/>
            <a:ext cx="5212080" cy="50800"/>
          </a:xfrm>
          <a:prstGeom prst="rect">
            <a:avLst/>
          </a:prstGeom>
          <a:solidFill>
            <a:srgbClr val="A7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42519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55F7"/>
                </a:solidFill>
              </a:defRPr>
            </a:pPr>
            <a:r>
              <a:t>Building Tool-Calling Agents with MCP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6177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Databricks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89204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Creating agents with tool-calling capabilities using the Databricks Agent Framework and Model Context Protocol (MCP).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892040"/>
            <a:ext cx="2011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•  Model Context Protocol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•  Tool-calling capabilities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•  Agent Framework SDK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FFFFFF"/>
                </a:solidFill>
              </a:defRPr>
            </a:pPr>
            <a:r>
              <a:t>•  Enterprise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Token Usage &amp; Cost Economics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228600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029200" cy="508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F00"/>
                </a:solidFill>
              </a:defRPr>
            </a:pPr>
            <a:r>
              <a:t>Databricks Inference Pricing (DBRX)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Input Tokens:     $0.0005 / 1K tokens</a:t>
            </a:r>
          </a:p>
          <a:p>
            <a:pPr algn="l"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Output Tokens:   $0.0015 / 1K tokens</a:t>
            </a:r>
          </a:p>
          <a:p>
            <a:pPr algn="l"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Agent Evaluation:  $0.018 / judge request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AEC0"/>
                </a:solidFill>
              </a:defRPr>
            </a:pPr>
            <a:r>
              <a:t>(5,000 tokens per judge request increment)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371600"/>
            <a:ext cx="5029200" cy="228600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1371600"/>
            <a:ext cx="50292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Production Agent Costs (Monthly)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920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Inference (1M conversations):  $3,000 – $7,000</a:t>
            </a:r>
          </a:p>
          <a:p>
            <a:pPr algn="l">
              <a:spcAft>
                <a:spcPts val="800"/>
              </a:spcAft>
              <a:defRPr sz="1500" b="1">
                <a:solidFill>
                  <a:srgbClr val="FFFFFF"/>
                </a:solidFill>
              </a:defRPr>
            </a:pPr>
            <a:r>
              <a:t>Base Compute:                          $5,000 – $15,000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A0AEC0"/>
                </a:solidFill>
              </a:defRPr>
            </a:pPr>
            <a:r>
              <a:t>+ Storage, networking, and monitoring overhead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22C55E"/>
                </a:solidFill>
              </a:defRPr>
            </a:pPr>
            <a:r>
              <a:t>AI Functions: 3x faster, 4x lower cost vs. competitors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2468880" cy="14630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023360"/>
            <a:ext cx="2468880" cy="508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F00"/>
                </a:solidFill>
              </a:defRPr>
            </a:pPr>
            <a:r>
              <a:t>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663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</a:defRPr>
            </a:pPr>
            <a:r>
              <a:t>New Databases Created</a:t>
            </a:r>
            <a:br/>
            <a:r>
              <a:t>by AI Agents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74720" y="4023360"/>
            <a:ext cx="2468880" cy="14630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74720" y="402336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4160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97%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4663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</a:defRPr>
            </a:pPr>
            <a:r>
              <a:t>Test &amp; Dev Environments</a:t>
            </a:r>
            <a:br/>
            <a:r>
              <a:t>Created by Agents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023360"/>
            <a:ext cx="2468880" cy="14630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023360"/>
            <a:ext cx="246888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160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</a:defRPr>
            </a:pPr>
            <a:r>
              <a:t>98.5%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663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</a:defRPr>
            </a:pPr>
            <a:r>
              <a:t>Token Efficiency Achieved</a:t>
            </a:r>
            <a:br/>
            <a:r>
              <a:t>(adidas: 200K → 3K tokens)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4023360"/>
            <a:ext cx="2468880" cy="14630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61120" y="4023360"/>
            <a:ext cx="2468880" cy="50800"/>
          </a:xfrm>
          <a:prstGeom prst="rect">
            <a:avLst/>
          </a:prstGeom>
          <a:solidFill>
            <a:srgbClr val="A7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416052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755F7"/>
                </a:solidFill>
              </a:defRPr>
            </a:pPr>
            <a:r>
              <a:t>91.67%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4663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</a:defRPr>
            </a:pPr>
            <a:r>
              <a:t>Cost Savings Through</a:t>
            </a:r>
            <a:br/>
            <a:r>
              <a:t>Token Optimization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4D3D"/>
                </a:solidFill>
              </a:defRPr>
            </a:pPr>
            <a:r>
              <a:t>Gartner predicts &gt;40% of agentic AI projects will be canceled by end-2027 as costs rise and controls lag.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07890"/>
                </a:solidFill>
              </a:defRPr>
            </a:pPr>
            <a:r>
              <a:t>Sources: Databricks Summit Sessions, Getmonetizely Analysis, adidas Summit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Company Case Studies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645920" cy="50800"/>
          </a:xfrm>
          <a:prstGeom prst="rect">
            <a:avLst/>
          </a:prstGeom>
          <a:solidFill>
            <a:srgbClr val="A7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23774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383280" cy="508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4813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F00"/>
                </a:solidFill>
              </a:defRPr>
            </a:pPr>
            <a:r>
              <a:t>adidas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83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Agent Digital Twin for Governance &amp;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A0AEC0"/>
                </a:solidFill>
              </a:defRPr>
            </a:pPr>
            <a:r>
              <a:t>•  200+ serving endpoints, 300+ data &amp; AI products, 6,000+ registered models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A0AEC0"/>
                </a:solidFill>
              </a:defRPr>
            </a:pPr>
            <a:r>
              <a:t>•  98.5% token efficiency (200K → 3K input tokens)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A0AEC0"/>
                </a:solidFill>
              </a:defRPr>
            </a:pPr>
            <a:r>
              <a:t>•  91.67% cost savings through LLM transition &amp; optimization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A0AEC0"/>
                </a:solidFill>
              </a:defRPr>
            </a:pPr>
            <a:r>
              <a:t>•  Per-hop unit economics and cost leak forensics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A0AEC0"/>
                </a:solidFill>
              </a:defRPr>
            </a:pPr>
            <a:r>
              <a:t>•  MLflow Tracing + Unity Catalog for audit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383280" cy="23774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383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813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Walmart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783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Autonomous AI Agents &amp; Self-Service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A0AEC0"/>
                </a:solidFill>
              </a:defRPr>
            </a:pPr>
            <a:r>
              <a:t>•  90% reduction in time-to-value with AI/BI Genie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A0AEC0"/>
                </a:solidFill>
              </a:defRPr>
            </a:pPr>
            <a:r>
              <a:t>•  $5.6M annual savings from FTE hours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A0AEC0"/>
                </a:solidFill>
              </a:defRPr>
            </a:pPr>
            <a:r>
              <a:t>•  AI chatbot 'Sparky' driving increased average spend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A0AEC0"/>
                </a:solidFill>
              </a:defRPr>
            </a:pPr>
            <a:r>
              <a:t>•  Plans for conversational AI agents for store managers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A0AEC0"/>
                </a:solidFill>
              </a:defRPr>
            </a:pPr>
            <a:r>
              <a:t>•  Presented architecture for autonomous agents at 2025 Summit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371600"/>
            <a:ext cx="3383280" cy="23774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63840" y="1371600"/>
            <a:ext cx="338328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148132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AstraZeneca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1783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Clinical Trial Document 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10312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A0AEC0"/>
                </a:solidFill>
              </a:defRPr>
            </a:pPr>
            <a:r>
              <a:t>•  400,000+ clinical trial documents reviewed in under 60 minutes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A0AEC0"/>
                </a:solidFill>
              </a:defRPr>
            </a:pPr>
            <a:r>
              <a:t>•  No coding required using Agent Bricks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A0AEC0"/>
                </a:solidFill>
              </a:defRPr>
            </a:pPr>
            <a:r>
              <a:t>•  Surpassed open-source alternatives in accuracy metrics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A0AEC0"/>
                </a:solidFill>
              </a:defRPr>
            </a:pPr>
            <a:r>
              <a:t>•  Production-grade agent with enterprise data integration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3383280" cy="23774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931920"/>
            <a:ext cx="3383280" cy="50800"/>
          </a:xfrm>
          <a:prstGeom prst="rect">
            <a:avLst/>
          </a:prstGeom>
          <a:solidFill>
            <a:srgbClr val="A7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0416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55F7"/>
                </a:solidFill>
              </a:defRPr>
            </a:pPr>
            <a:r>
              <a:t>Royal Bank of Canada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343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AI Agents for Equity Research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6634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A0AEC0"/>
                </a:solidFill>
              </a:defRPr>
            </a:pPr>
            <a:r>
              <a:t>•  Reduced equity research work from days to minutes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A0AEC0"/>
                </a:solidFill>
              </a:defRPr>
            </a:pPr>
            <a:r>
              <a:t>•  Agents work with proprietary enterprise financial data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A0AEC0"/>
                </a:solidFill>
              </a:defRPr>
            </a:pPr>
            <a:r>
              <a:t>•  Highlighted by CEO Ali Ghodsi as key enterprise success story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A0AEC0"/>
                </a:solidFill>
              </a:defRPr>
            </a:pPr>
            <a:r>
              <a:t>•  Demonstrates value of agents with proprietary data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931920"/>
            <a:ext cx="3383280" cy="23774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931920"/>
            <a:ext cx="338328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40416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B8A6"/>
                </a:solidFill>
              </a:defRPr>
            </a:pPr>
            <a:r>
              <a:t>North Dakota University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343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Legislative Data Extraction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6634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A0AEC0"/>
                </a:solidFill>
              </a:defRPr>
            </a:pPr>
            <a:r>
              <a:t>•  Saved ~30 days of manual labor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A0AEC0"/>
                </a:solidFill>
              </a:defRPr>
            </a:pPr>
            <a:r>
              <a:t>•  Automated legislative data extraction and processing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A0AEC0"/>
                </a:solidFill>
              </a:defRPr>
            </a:pPr>
            <a:r>
              <a:t>•  Built using Agent Bricks no-code platform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3931920"/>
            <a:ext cx="3383280" cy="23774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863840" y="3931920"/>
            <a:ext cx="3383280" cy="50800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01000" y="40416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4D3D"/>
                </a:solidFill>
              </a:defRPr>
            </a:pPr>
            <a:r>
              <a:t>Hawaiian Electric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43434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AI Agent Accuracy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4663440"/>
            <a:ext cx="3108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A0AEC0"/>
                </a:solidFill>
              </a:defRPr>
            </a:pPr>
            <a:r>
              <a:t>•  Surpassed open-source alternatives in accuracy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A0AEC0"/>
                </a:solidFill>
              </a:defRPr>
            </a:pPr>
            <a:r>
              <a:t>•  Production agent deployment on Databricks platform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A0AEC0"/>
                </a:solidFill>
              </a:defRPr>
            </a:pPr>
            <a:r>
              <a:t>•  Enterprise-grade reliability metrics achieved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State of AI Agents Report (2026)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EC0"/>
                </a:solidFill>
              </a:defRPr>
            </a:pPr>
            <a:r>
              <a:t>Based on 20,000+ global customers · Published January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14630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2468880" cy="508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F00"/>
                </a:solidFill>
              </a:defRPr>
            </a:pPr>
            <a:r>
              <a:t>327%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</a:defRPr>
            </a:pPr>
            <a:r>
              <a:t>Multi-Agent Workflow</a:t>
            </a:r>
            <a:br/>
            <a:r>
              <a:t>Growth in 4 Months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645920"/>
            <a:ext cx="2468880" cy="14630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164592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783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80%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286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</a:defRPr>
            </a:pPr>
            <a:r>
              <a:t>New Databases Built</a:t>
            </a:r>
            <a:br/>
            <a:r>
              <a:t>by AI 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45920"/>
            <a:ext cx="2468880" cy="14630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645920"/>
            <a:ext cx="246888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783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</a:defRPr>
            </a:pPr>
            <a:r>
              <a:t>19%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86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</a:defRPr>
            </a:pPr>
            <a:r>
              <a:t>Organizations with Agents</a:t>
            </a:r>
            <a:br/>
            <a:r>
              <a:t>Deployed at Scale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645920"/>
            <a:ext cx="2468880" cy="14630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1645920"/>
            <a:ext cx="2468880" cy="50800"/>
          </a:xfrm>
          <a:prstGeom prst="rect">
            <a:avLst/>
          </a:prstGeom>
          <a:solidFill>
            <a:srgbClr val="A7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7830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755F7"/>
                </a:solidFill>
              </a:defRPr>
            </a:pPr>
            <a:r>
              <a:t>37%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2860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</a:defRPr>
            </a:pPr>
            <a:r>
              <a:t>Use Supervisor Agent</a:t>
            </a:r>
            <a:br/>
            <a:r>
              <a:t>Architecture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474720"/>
            <a:ext cx="5029200" cy="274320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474720"/>
            <a:ext cx="5029200" cy="508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4B8A6"/>
                </a:solidFill>
              </a:defRPr>
            </a:pPr>
            <a:r>
              <a:t>Governance Impact on Production Success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977639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3600" b="1">
                <a:solidFill>
                  <a:srgbClr val="FF6F00"/>
                </a:solidFill>
              </a:defRPr>
            </a:pPr>
            <a:r>
              <a:t>12x</a:t>
            </a:r>
          </a:p>
          <a:p>
            <a:pPr algn="l">
              <a:spcAft>
                <a:spcPts val="1600"/>
              </a:spcAft>
              <a:defRPr sz="1400" b="0">
                <a:solidFill>
                  <a:srgbClr val="FFFFFF"/>
                </a:solidFill>
              </a:defRPr>
            </a:pPr>
            <a:r>
              <a:t>More AI projects in production for companies using governance tools</a:t>
            </a:r>
          </a:p>
          <a:p>
            <a:pPr algn="l">
              <a:spcAft>
                <a:spcPts val="200"/>
              </a:spcAft>
              <a:defRPr sz="3600" b="1">
                <a:solidFill>
                  <a:srgbClr val="3B82F6"/>
                </a:solidFill>
              </a:defRPr>
            </a:pPr>
            <a:r>
              <a:t>6x</a:t>
            </a:r>
          </a:p>
          <a:p>
            <a:pPr algn="l">
              <a:spcAft>
                <a:spcPts val="1600"/>
              </a:spcAft>
              <a:defRPr sz="1400" b="0">
                <a:solidFill>
                  <a:srgbClr val="FFFFFF"/>
                </a:solidFill>
              </a:defRPr>
            </a:pPr>
            <a:r>
              <a:t>More production deployments for companies using evaluation tools</a:t>
            </a:r>
          </a:p>
          <a:p>
            <a:pPr algn="l">
              <a:spcAft>
                <a:spcPts val="200"/>
              </a:spcAft>
              <a:defRPr sz="3600" b="1">
                <a:solidFill>
                  <a:srgbClr val="22C55E"/>
                </a:solidFill>
              </a:defRPr>
            </a:pPr>
            <a:r>
              <a:t>7x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FFFFFF"/>
                </a:solidFill>
              </a:defRPr>
            </a:pPr>
            <a:r>
              <a:t>Growth in AI Gateway governance product usage in 9 months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3474720"/>
            <a:ext cx="5029200" cy="274320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5040" y="3474720"/>
            <a:ext cx="5029200" cy="50800"/>
          </a:xfrm>
          <a:prstGeom prst="rect">
            <a:avLst/>
          </a:prstGeom>
          <a:solidFill>
            <a:srgbClr val="A7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55F7"/>
                </a:solidFill>
              </a:defRPr>
            </a:pPr>
            <a:r>
              <a:t>Top AI Agent Use Cases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977639"/>
            <a:ext cx="4572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F6F00"/>
                </a:solidFill>
              </a:defRPr>
            </a:pPr>
            <a:r>
              <a:t>40%  Customer Experience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A0AEC0"/>
                </a:solidFill>
              </a:defRPr>
            </a:pPr>
            <a:r>
              <a:t>       Support, onboarding, and engagement agents</a:t>
            </a:r>
          </a:p>
          <a:p>
            <a:pPr algn="l">
              <a:spcAft>
                <a:spcPts val="600"/>
              </a:spcAft>
              <a:defRPr sz="1600" b="1">
                <a:solidFill>
                  <a:srgbClr val="3B82F6"/>
                </a:solidFill>
              </a:defRPr>
            </a:pPr>
            <a:r>
              <a:t>Market Intelligence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A0AEC0"/>
                </a:solidFill>
              </a:defRPr>
            </a:pPr>
            <a:r>
              <a:t>       Competitive analysis, trend monitoring, and research</a:t>
            </a:r>
          </a:p>
          <a:p>
            <a:pPr algn="l">
              <a:spcAft>
                <a:spcPts val="600"/>
              </a:spcAft>
              <a:defRPr sz="1600" b="1">
                <a:solidFill>
                  <a:srgbClr val="22C55E"/>
                </a:solidFill>
              </a:defRPr>
            </a:pPr>
            <a:r>
              <a:t>Predictive Maintenance</a:t>
            </a:r>
          </a:p>
          <a:p>
            <a:pPr algn="l">
              <a:spcAft>
                <a:spcPts val="1200"/>
              </a:spcAft>
              <a:defRPr sz="1200" b="0">
                <a:solidFill>
                  <a:srgbClr val="A0AEC0"/>
                </a:solidFill>
              </a:defRPr>
            </a:pPr>
            <a:r>
              <a:t>       Equipment monitoring, failure prediction, and scheduling</a:t>
            </a:r>
          </a:p>
          <a:p>
            <a:pPr algn="l">
              <a:spcAft>
                <a:spcPts val="600"/>
              </a:spcAft>
              <a:defRPr sz="1600" b="1">
                <a:solidFill>
                  <a:srgbClr val="A755F7"/>
                </a:solidFill>
              </a:defRPr>
            </a:pPr>
            <a:r>
              <a:t>Information Extraction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A0AEC0"/>
                </a:solidFill>
              </a:defRPr>
            </a:pPr>
            <a:r>
              <a:t>       Document processing, data extraction, and classification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Production Architecture &amp; 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2286000" cy="50800"/>
          </a:xfrm>
          <a:prstGeom prst="rect">
            <a:avLst/>
          </a:prstGeom>
          <a:solidFill>
            <a:srgbClr val="E84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228600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029200" cy="508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F00"/>
                </a:solidFill>
              </a:defRPr>
            </a:pPr>
            <a:r>
              <a:t>Compound AI Systems (Mosaic AI)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Tuned foundation models + fine-tuning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Retrieval-Augmented Generation (RAG)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Tool use via Model Context Protocol (MCP)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Reasoning agents with multi-step planning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Multi-agent orchestration (supervisor pattern)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A0AEC0"/>
                </a:solidFill>
              </a:defRPr>
            </a:pPr>
            <a:r>
              <a:t>Production systems increasingly use multiple components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A0AEC0"/>
                </a:solidFill>
              </a:defRPr>
            </a:pPr>
            <a:r>
              <a:t>rather than monolithic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371600"/>
            <a:ext cx="5029200" cy="228600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1371600"/>
            <a:ext cx="502920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MLflow 3.0 — Redesigned for GenAI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9202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Agent observability and tracing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Prompt versioning and management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Cross-platform monitoring (AWS, GCP, on-prem)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Works for agents deployed outside Databricks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Integrated with Unity Catalog for governance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A0AEC0"/>
                </a:solidFill>
              </a:defRPr>
            </a:pPr>
            <a:r>
              <a:t>Open-source, cloud-agnostic agent monitoring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A0AEC0"/>
                </a:solidFill>
              </a:defRPr>
            </a:pPr>
            <a:r>
              <a:t>that scales with enterprise needs.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029200" cy="228600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931920"/>
            <a:ext cx="502920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069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Agent Bricks — No-Code Agent Building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805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Auto-generates domain-specific agents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Accepts high-level task descriptions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Connects to enterprise data automatically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Auto-builds evaluations for quality assurance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Optimizes for both quality and cost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A0AEC0"/>
                </a:solidFill>
              </a:defRPr>
            </a:pPr>
            <a:r>
              <a:t>Use cases: information extraction, knowledge assistance,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A0AEC0"/>
                </a:solidFill>
              </a:defRPr>
            </a:pPr>
            <a:r>
              <a:t>and multi-agent systems.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3931920"/>
            <a:ext cx="5029200" cy="228600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931920"/>
            <a:ext cx="5029200" cy="50800"/>
          </a:xfrm>
          <a:prstGeom prst="rect">
            <a:avLst/>
          </a:prstGeom>
          <a:solidFill>
            <a:srgbClr val="A7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4069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55F7"/>
                </a:solidFill>
              </a:defRPr>
            </a:pPr>
            <a:r>
              <a:t>Monitoring &amp; Observability Best Practices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4805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Collect end-user feedback for iterative improvement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AI judges for continuous quality evaluation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Dimension-based analysis across time periods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Token usage tracking via AI Gateway system tables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FFFFFF"/>
                </a:solidFill>
              </a:defRPr>
            </a:pPr>
            <a:r>
              <a:t>•  Per-hop cost forensics for agent chains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A0AEC0"/>
                </a:solidFill>
              </a:defRPr>
            </a:pPr>
            <a:r>
              <a:t>system.ai_gateway.usage tables provide built-in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A0AEC0"/>
                </a:solidFill>
              </a:defRPr>
            </a:pPr>
            <a:r>
              <a:t>dashboards for cost, latency &amp;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CEO Vision &amp; Growth Trajectory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508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164592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63500" cy="164592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5087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0">
                <a:solidFill>
                  <a:srgbClr val="FFFFFF"/>
                </a:solidFill>
              </a:defRPr>
            </a:pPr>
            <a:r>
              <a:t>"It's very elusive to get AI that really works and understands that proprietary data</a:t>
            </a:r>
          </a:p>
          <a:p>
            <a:pPr algn="l">
              <a:spcAft>
                <a:spcPts val="800"/>
              </a:spcAft>
              <a:defRPr sz="1800" b="0">
                <a:solidFill>
                  <a:srgbClr val="FFFFFF"/>
                </a:solidFill>
              </a:defRPr>
            </a:pPr>
            <a:r>
              <a:t>that's inside enterprise... this could maybe get all the way to a trillion."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FF6F00"/>
                </a:solidFill>
              </a:defRPr>
            </a:pPr>
            <a:r>
              <a:t>— Ali Ghodsi, CEO &amp; Co-Founder, Databricks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2468880" cy="14630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2468880" cy="508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6F00"/>
                </a:solidFill>
              </a:defRPr>
            </a:pPr>
            <a:r>
              <a:t>$134B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</a:defRPr>
            </a:pPr>
            <a:r>
              <a:t>Latest Valuation</a:t>
            </a:r>
            <a:br/>
            <a:r>
              <a:t>($7B Equity + Debt Raise)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383280"/>
            <a:ext cx="2468880" cy="14630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3383280"/>
            <a:ext cx="24688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520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B82F6"/>
                </a:solidFill>
              </a:defRPr>
            </a:pPr>
            <a:r>
              <a:t>20,000+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0233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</a:defRPr>
            </a:pPr>
            <a:r>
              <a:t>Global Customers</a:t>
            </a:r>
            <a:br/>
            <a:r>
              <a:t>Across Industries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83280"/>
            <a:ext cx="2468880" cy="14630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383280"/>
            <a:ext cx="246888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520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</a:defRPr>
            </a:pPr>
            <a:r>
              <a:t>60%+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0233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</a:defRPr>
            </a:pPr>
            <a:r>
              <a:t>Fortune 500 Companies</a:t>
            </a:r>
            <a:br/>
            <a:r>
              <a:t>on Platform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3383280"/>
            <a:ext cx="2468880" cy="146304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3383280"/>
            <a:ext cx="2468880" cy="50800"/>
          </a:xfrm>
          <a:prstGeom prst="rect">
            <a:avLst/>
          </a:prstGeom>
          <a:solidFill>
            <a:srgbClr val="A7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0" y="352044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755F7"/>
                </a:solidFill>
              </a:defRPr>
            </a:pPr>
            <a:r>
              <a:t>80%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02336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EC0"/>
                </a:solidFill>
              </a:defRPr>
            </a:pPr>
            <a:r>
              <a:t>Databases Now</a:t>
            </a:r>
            <a:br/>
            <a:r>
              <a:t>Created by AI Agents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120640"/>
            <a:ext cx="3383280" cy="137160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5120640"/>
            <a:ext cx="3383280" cy="508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2303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F00"/>
                </a:solidFill>
              </a:defRPr>
            </a:pPr>
            <a:r>
              <a:t>1. Enterprise Data + AI Agents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532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AI agents that work with proprietary enterprise data represent the key differentiator. General AI knowledge is commoditized, but enterprise-specific AI creates unique value.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5120640"/>
            <a:ext cx="3383280" cy="137160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43400" y="5120640"/>
            <a:ext cx="3383280" cy="50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52303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</a:defRPr>
            </a:pPr>
            <a:r>
              <a:t>2. Explosive Database Growth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5532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80% of databases launched on Databricks are now created by AI agents, not humans. This drove the creation of Lakebase — a new elastic database for agent-scale workloads.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5120640"/>
            <a:ext cx="3383280" cy="137160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955280" y="5120640"/>
            <a:ext cx="3383280" cy="508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92440" y="52303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</a:defRPr>
            </a:pPr>
            <a:r>
              <a:t>3. Platform Openness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553212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EC0"/>
                </a:solidFill>
              </a:defRPr>
            </a:pPr>
            <a:r>
              <a:t>Cloud-agnostic, open-source approach (MLflow, Unity Catalog) attracts enterprises. Customers value flexibility to run on AWS, GCP, Azure, or on-premise.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371600" cy="508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91440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63500" cy="9144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F00"/>
                </a:solidFill>
              </a:defRPr>
            </a:pPr>
            <a:r>
              <a:t>AI Agents Are Reshaping Enterprise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80% of databases on Databricks are now created by AI agents. Multi-agent workflows grew 327% in just 4 months. The shift from single chatbots to autonomous multi-agent systems is accelerating.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423160"/>
            <a:ext cx="10515600" cy="91440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423160"/>
            <a:ext cx="63500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468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Token Optimization Is Critical for ROI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889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Companies like adidas achieved 98.5% token efficiency (200K → 3K tokens) and 91.67% cost savings. Without governance, Gartner predicts &gt;40% of agentic AI projects will be canceled by 2027.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474720"/>
            <a:ext cx="10515600" cy="91440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474720"/>
            <a:ext cx="63500" cy="9144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520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Governance Multiplies Production Success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4048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Companies using AI governance tools deploy 12x more projects to production. Evaluation tools yield 6x more deployments. AI Gateway governance usage grew 7x in 9 months.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10515600" cy="91440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526280"/>
            <a:ext cx="63500" cy="914400"/>
          </a:xfrm>
          <a:prstGeom prst="rect">
            <a:avLst/>
          </a:prstGeom>
          <a:solidFill>
            <a:srgbClr val="A7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55F7"/>
                </a:solidFill>
              </a:defRPr>
            </a:pPr>
            <a:r>
              <a:t>Enterprise Case Studies Show Massive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89204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Walmart saved $5.6M annually; AstraZeneca reviewed 400K documents in 60 minutes; Royal Bank of Canada reduced research from days to minutes; North Dakota University saved 30 days of manual labor.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577840"/>
            <a:ext cx="10515600" cy="914400"/>
          </a:xfrm>
          <a:prstGeom prst="roundRect">
            <a:avLst/>
          </a:prstGeom>
          <a:solidFill>
            <a:srgbClr val="25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577840"/>
            <a:ext cx="63500" cy="9144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623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</a:defRPr>
            </a:pPr>
            <a:r>
              <a:t>The Technology Stack Is Maturing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9436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EC0"/>
                </a:solidFill>
              </a:defRPr>
            </a:pPr>
            <a:r>
              <a:t>Mosaic AI for compound systems, MLflow 3.0 for observability, Agent Bricks for no-code building, and MCP for tool-calling — the enterprise agent platform is becoming production-ready.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Sources &amp; 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645920" cy="50800"/>
          </a:xfrm>
          <a:prstGeom prst="rect">
            <a:avLst/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A0AEC0"/>
                </a:solidFill>
              </a:defRPr>
            </a:pPr>
            <a:r>
              <a:t>1.  Databricks Data + AI Summit 2024 — Mosaic AI Compound Systems Keynote &amp; Sessions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A0AEC0"/>
                </a:solidFill>
              </a:defRPr>
            </a:pPr>
            <a:r>
              <a:t>2.  Databricks Data + AI Summit 2025 — Agent Sessions (June 9–12, San Francisco)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A0AEC0"/>
                </a:solidFill>
              </a:defRPr>
            </a:pPr>
            <a:r>
              <a:t>3.  Databricks Data + AI Summit 2026 — Agent Sessions (June 15–18, San Francisco)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A0AEC0"/>
                </a:solidFill>
              </a:defRPr>
            </a:pPr>
            <a:r>
              <a:t>4.  Databricks State of Data + AI Report 2024 (10,000+ customers, 300+ Fortune 500)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A0AEC0"/>
                </a:solidFill>
              </a:defRPr>
            </a:pPr>
            <a:r>
              <a:t>5.  Databricks State of AI Agents Report 2026 (20,000+ global customers)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A0AEC0"/>
                </a:solidFill>
              </a:defRPr>
            </a:pPr>
            <a:r>
              <a:t>6.  Databricks Blog: Enterprise AI Agent Trends — Use Cases, Governance &amp; Evaluations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A0AEC0"/>
                </a:solidFill>
              </a:defRPr>
            </a:pPr>
            <a:r>
              <a:t>7.  Databricks Blog: Mosaic AI Announcements at Data + AI Summit 2025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A0AEC0"/>
                </a:solidFill>
              </a:defRPr>
            </a:pPr>
            <a:r>
              <a:t>8.  adidas: Beyond the Trace — Agent Digital Twin for Governance, Cost, and ROI (Summit 2026)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A0AEC0"/>
                </a:solidFill>
              </a:defRPr>
            </a:pPr>
            <a:r>
              <a:t>9.  Walmart: Autonomous AI Agents in AI Infrastructure (Summit 2025)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A0AEC0"/>
                </a:solidFill>
              </a:defRPr>
            </a:pPr>
            <a:r>
              <a:t>10.  Walmart: Self-Service Assortment and Space Analytics at Walmart Scale (Summit 2025)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A0AEC0"/>
                </a:solidFill>
              </a:defRPr>
            </a:pPr>
            <a:r>
              <a:t>11.  AstraZeneca: Clinical Trial Document Processing via Agent Bricks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A0AEC0"/>
                </a:solidFill>
              </a:defRPr>
            </a:pPr>
            <a:r>
              <a:t>12.  Royal Bank of Canada: AI Agents for Equity Research (CEO Keynote Reference)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A0AEC0"/>
                </a:solidFill>
              </a:defRPr>
            </a:pPr>
            <a:r>
              <a:t>13.  Ali Ghodsi (Databricks CEO): Fortune Brainstorm AI Interview, December 2025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A0AEC0"/>
                </a:solidFill>
              </a:defRPr>
            </a:pPr>
            <a:r>
              <a:t>14.  Getmonetizely: Production-Grade AI Agents on Databricks Mosaic — Cost Analysis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A0AEC0"/>
                </a:solidFill>
              </a:defRPr>
            </a:pPr>
            <a:r>
              <a:t>15.  Databricks Docs: AI Gateway Usage Tracking (system.ai_gateway.usage tables)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890"/>
                </a:solidFill>
              </a:defRPr>
            </a:pPr>
            <a:r>
              <a:t>All data sourced from publicly available Databricks summit sessions, blog posts, and reports.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
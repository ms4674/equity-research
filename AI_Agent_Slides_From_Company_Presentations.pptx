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10515600" cy="1371600"/>
          </a:xfrm>
          <a:prstGeom prst="rect">
            <a:avLst/>
          </a:prstGeom>
          <a:noFill/>
        </p:spPr>
        <p:txBody>
          <a:bodyPr wrap="square">
            <a:spAutoFit/>
          </a:bodyPr>
          <a:lstStyle/>
          <a:p>
            <a:pPr>
              <a:defRPr sz="4800" b="1">
                <a:solidFill>
                  <a:srgbClr val="1A1A1A"/>
                </a:solidFill>
                <a:latin typeface="Arial"/>
              </a:defRPr>
            </a:pPr>
            <a:r>
              <a:t>AI Agent Slides</a:t>
            </a:r>
          </a:p>
          <a:p>
            <a:pPr>
              <a:spcBef>
                <a:spcPts val="1200"/>
              </a:spcBef>
              <a:defRPr sz="2800">
                <a:solidFill>
                  <a:srgbClr val="555555"/>
                </a:solidFill>
                <a:latin typeface="Arial"/>
              </a:defRPr>
            </a:pPr>
            <a:r>
              <a:t>From Company Presentations, Filings &amp; Webinars</a:t>
            </a:r>
          </a:p>
        </p:txBody>
      </p:sp>
      <p:sp>
        <p:nvSpPr>
          <p:cNvPr id="5" name="TextBox 4"/>
          <p:cNvSpPr txBox="1"/>
          <p:nvPr/>
        </p:nvSpPr>
        <p:spPr>
          <a:xfrm>
            <a:off x="731520" y="3657600"/>
            <a:ext cx="10515600" cy="1828800"/>
          </a:xfrm>
          <a:prstGeom prst="rect">
            <a:avLst/>
          </a:prstGeom>
          <a:noFill/>
        </p:spPr>
        <p:txBody>
          <a:bodyPr wrap="square">
            <a:spAutoFit/>
          </a:bodyPr>
          <a:lstStyle/>
          <a:p>
            <a:pPr>
              <a:defRPr sz="1600">
                <a:solidFill>
                  <a:srgbClr val="555555"/>
                </a:solidFill>
                <a:latin typeface="Arial"/>
              </a:defRPr>
            </a:pPr>
            <a:r>
              <a:t>Curated collection of publicly available decision frameworks, architecture diagrams, and strategy slides about AI agents from 30+ major technology companies, enterprise SaaS vendors, consulting firms, and venture capital investors.</a:t>
            </a:r>
          </a:p>
          <a:p>
            <a:pPr>
              <a:spcBef>
                <a:spcPts val="2000"/>
              </a:spcBef>
              <a:defRPr sz="1400">
                <a:solidFill>
                  <a:srgbClr val="888888"/>
                </a:solidFill>
                <a:latin typeface="Arial"/>
              </a:defRPr>
            </a:pPr>
            <a:r>
              <a:t>February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Companies Covered</a:t>
            </a:r>
          </a:p>
        </p:txBody>
      </p:sp>
      <p:graphicFrame>
        <p:nvGraphicFramePr>
          <p:cNvPr id="5" name="Table 4"/>
          <p:cNvGraphicFramePr>
            <a:graphicFrameLocks noGrp="1"/>
          </p:cNvGraphicFramePr>
          <p:nvPr/>
        </p:nvGraphicFramePr>
        <p:xfrm>
          <a:off x="731520" y="1645920"/>
          <a:ext cx="10515600" cy="3520440"/>
        </p:xfrm>
        <a:graphic>
          <a:graphicData uri="http://schemas.openxmlformats.org/drawingml/2006/table">
            <a:tbl>
              <a:tblPr firstRow="1" bandRow="1">
                <a:tableStyleId>{5C22544A-7EE6-4342-B048-85BDC9FD1C3A}</a:tableStyleId>
              </a:tblPr>
              <a:tblGrid>
                <a:gridCol w="2103120"/>
                <a:gridCol w="2103120"/>
                <a:gridCol w="2103120"/>
                <a:gridCol w="2103120"/>
                <a:gridCol w="2103120"/>
              </a:tblGrid>
              <a:tr h="502920">
                <a:tc>
                  <a:txBody>
                    <a:bodyPr wrap="square"/>
                    <a:lstStyle/>
                    <a:p>
                      <a:pPr>
                        <a:defRPr sz="1300" b="1">
                          <a:solidFill>
                            <a:srgbClr val="FFFFFF"/>
                          </a:solidFill>
                          <a:latin typeface="Arial"/>
                        </a:defRPr>
                      </a:pPr>
                      <a:r>
                        <a:t>Model Providers &amp; Infra</a:t>
                      </a:r>
                    </a:p>
                  </a:txBody>
                  <a:tcPr anchor="ctr" marL="137160" marR="137160" marT="73152" marB="73152">
                    <a:solidFill>
                      <a:srgbClr val="2D2D2D"/>
                    </a:solidFill>
                    <a:lnL w="0" cap="flat" cmpd="sng" algn="ctr">
                      <a:noFill/>
                    </a:lnL>
                    <a:lnR w="0" cap="flat" cmpd="sng" algn="ctr">
                      <a:noFill/>
                    </a:lnR>
                    <a:lnT w="0" cap="flat" cmpd="sng" algn="ctr">
                      <a:noFill/>
                    </a:lnT>
                    <a:lnB w="0" cap="flat" cmpd="sng" algn="ctr">
                      <a:noFill/>
                    </a:lnB>
                  </a:tcPr>
                </a:tc>
                <a:tc>
                  <a:txBody>
                    <a:bodyPr wrap="square"/>
                    <a:lstStyle/>
                    <a:p>
                      <a:pPr>
                        <a:defRPr sz="1300" b="1">
                          <a:solidFill>
                            <a:srgbClr val="FFFFFF"/>
                          </a:solidFill>
                          <a:latin typeface="Arial"/>
                        </a:defRPr>
                      </a:pPr>
                      <a:r>
                        <a:t>Enterprise SaaS</a:t>
                      </a:r>
                    </a:p>
                  </a:txBody>
                  <a:tcPr anchor="ctr" marL="137160" marR="137160" marT="73152" marB="73152">
                    <a:solidFill>
                      <a:srgbClr val="2D2D2D"/>
                    </a:solidFill>
                    <a:lnL w="0" cap="flat" cmpd="sng" algn="ctr">
                      <a:noFill/>
                    </a:lnL>
                    <a:lnR w="0" cap="flat" cmpd="sng" algn="ctr">
                      <a:noFill/>
                    </a:lnR>
                    <a:lnT w="0" cap="flat" cmpd="sng" algn="ctr">
                      <a:noFill/>
                    </a:lnT>
                    <a:lnB w="0" cap="flat" cmpd="sng" algn="ctr">
                      <a:noFill/>
                    </a:lnB>
                  </a:tcPr>
                </a:tc>
                <a:tc>
                  <a:txBody>
                    <a:bodyPr wrap="square"/>
                    <a:lstStyle/>
                    <a:p>
                      <a:pPr>
                        <a:defRPr sz="1300" b="1">
                          <a:solidFill>
                            <a:srgbClr val="FFFFFF"/>
                          </a:solidFill>
                          <a:latin typeface="Arial"/>
                        </a:defRPr>
                      </a:pPr>
                      <a:r>
                        <a:t>Enterprise SaaS (cont.)</a:t>
                      </a:r>
                    </a:p>
                  </a:txBody>
                  <a:tcPr anchor="ctr" marL="137160" marR="137160" marT="73152" marB="73152">
                    <a:solidFill>
                      <a:srgbClr val="2D2D2D"/>
                    </a:solidFill>
                    <a:lnL w="0" cap="flat" cmpd="sng" algn="ctr">
                      <a:noFill/>
                    </a:lnL>
                    <a:lnR w="0" cap="flat" cmpd="sng" algn="ctr">
                      <a:noFill/>
                    </a:lnR>
                    <a:lnT w="0" cap="flat" cmpd="sng" algn="ctr">
                      <a:noFill/>
                    </a:lnT>
                    <a:lnB w="0" cap="flat" cmpd="sng" algn="ctr">
                      <a:noFill/>
                    </a:lnB>
                  </a:tcPr>
                </a:tc>
                <a:tc>
                  <a:txBody>
                    <a:bodyPr wrap="square"/>
                    <a:lstStyle/>
                    <a:p>
                      <a:pPr>
                        <a:defRPr sz="1300" b="1">
                          <a:solidFill>
                            <a:srgbClr val="FFFFFF"/>
                          </a:solidFill>
                          <a:latin typeface="Arial"/>
                        </a:defRPr>
                      </a:pPr>
                      <a:r>
                        <a:t>Agent Frameworks</a:t>
                      </a:r>
                    </a:p>
                  </a:txBody>
                  <a:tcPr anchor="ctr" marL="137160" marR="137160" marT="73152" marB="73152">
                    <a:solidFill>
                      <a:srgbClr val="2D2D2D"/>
                    </a:solidFill>
                    <a:lnL w="0" cap="flat" cmpd="sng" algn="ctr">
                      <a:noFill/>
                    </a:lnL>
                    <a:lnR w="0" cap="flat" cmpd="sng" algn="ctr">
                      <a:noFill/>
                    </a:lnR>
                    <a:lnT w="0" cap="flat" cmpd="sng" algn="ctr">
                      <a:noFill/>
                    </a:lnT>
                    <a:lnB w="0" cap="flat" cmpd="sng" algn="ctr">
                      <a:noFill/>
                    </a:lnB>
                  </a:tcPr>
                </a:tc>
                <a:tc>
                  <a:txBody>
                    <a:bodyPr wrap="square"/>
                    <a:lstStyle/>
                    <a:p>
                      <a:pPr>
                        <a:defRPr sz="1300" b="1">
                          <a:solidFill>
                            <a:srgbClr val="FFFFFF"/>
                          </a:solidFill>
                          <a:latin typeface="Arial"/>
                        </a:defRPr>
                      </a:pPr>
                      <a:r>
                        <a:t>Investors &amp; Analysts</a:t>
                      </a:r>
                    </a:p>
                  </a:txBody>
                  <a:tcPr anchor="ctr" marL="137160" marR="137160" marT="73152" marB="73152">
                    <a:solidFill>
                      <a:srgbClr val="2D2D2D"/>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Anthropic</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Salesforce</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HubSpot</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Cognition AI (Devin)</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Sequoia Capital</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OpenAI</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ServiceNow</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Palantir</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LangChain / LangGraph</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a16z</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Google / DeepMind</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AWS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Snowflake</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CrewAI</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McKinsey</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Microsoft</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NVIDIA</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Databricks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Gartner</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Meta</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SAP</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Atlassian</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Accenture</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Apple</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Workday</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Box / Intuit</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bl>
          </a:graphicData>
        </a:graphic>
      </p:graphicFrame>
      <p:sp>
        <p:nvSpPr>
          <p:cNvPr id="6" name="TextBox 5"/>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30+ companies across technology, enterprise SaaS, AI infrastructure, and advisory firms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0"/>
            <a:ext cx="10515600" cy="1828800"/>
          </a:xfrm>
          <a:prstGeom prst="rect">
            <a:avLst/>
          </a:prstGeom>
          <a:noFill/>
        </p:spPr>
        <p:txBody>
          <a:bodyPr wrap="none">
            <a:spAutoFit/>
          </a:bodyPr>
          <a:lstStyle/>
          <a:p>
            <a:pPr>
              <a:defRPr sz="4000" b="1">
                <a:solidFill>
                  <a:srgbClr val="FFFFFF"/>
                </a:solidFill>
                <a:latin typeface="Arial"/>
              </a:defRPr>
            </a:pPr>
            <a:r>
              <a:t>MODEL PROVIDERS &amp; AI INFRASTRUCTURE</a:t>
            </a:r>
          </a:p>
          <a:p>
            <a:pPr>
              <a:spcBef>
                <a:spcPts val="1600"/>
              </a:spcBef>
              <a:defRPr sz="1800">
                <a:solidFill>
                  <a:srgbClr val="BBBBBB"/>
                </a:solidFill>
                <a:latin typeface="Arial"/>
              </a:defRPr>
            </a:pPr>
            <a:r>
              <a:t>Anthropic  |  OpenAI  |  Google  |  Microsoft  |  AWS  |  NVIDIA  |  Meta  |  Apple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"Should I build an agent?"</a:t>
            </a:r>
          </a:p>
        </p:txBody>
      </p:sp>
      <p:graphicFrame>
        <p:nvGraphicFramePr>
          <p:cNvPr id="5" name="Table 4"/>
          <p:cNvGraphicFramePr>
            <a:graphicFrameLocks noGrp="1"/>
          </p:cNvGraphicFramePr>
          <p:nvPr/>
        </p:nvGraphicFramePr>
        <p:xfrm>
          <a:off x="731520" y="1828800"/>
          <a:ext cx="10515600" cy="237744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Is the task complex enough?</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No → Workflows</a:t>
                      </a:r>
                      <a:br/>
                      <a:r>
                        <a:t>Yes → Agents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Is the task valuable enough?</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&lt;$0.1 → Workflows</a:t>
                      </a:r>
                      <a:br/>
                      <a:r>
                        <a:t>&gt;$1 → Agents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Are all parts of the task doable?</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No → Reduce scope</a:t>
                      </a:r>
                      <a:br/>
                      <a:r>
                        <a:t>Yes → Agents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What is the cost of error/error discovery?</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High → Human-in-the-loop</a:t>
                      </a:r>
                      <a:br/>
                      <a:r>
                        <a:t>Low → Agents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bl>
          </a:graphicData>
        </a:graphic>
      </p:graphicFrame>
      <p:sp>
        <p:nvSpPr>
          <p:cNvPr id="6" name="TextBox 5"/>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Anthropic / Asana joint presentation (2024-2025)  —  anthropic.com/research/building-effective-agents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Anthropic: Building Effective Agents</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Key frameworks from the canonical agent design guide (Dec 2024)</a:t>
            </a:r>
          </a:p>
        </p:txBody>
      </p:sp>
      <p:graphicFrame>
        <p:nvGraphicFramePr>
          <p:cNvPr id="6" name="Table 5"/>
          <p:cNvGraphicFramePr>
            <a:graphicFrameLocks noGrp="1"/>
          </p:cNvGraphicFramePr>
          <p:nvPr/>
        </p:nvGraphicFramePr>
        <p:xfrm>
          <a:off x="731520" y="2011680"/>
          <a:ext cx="10515600" cy="297180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Agents vs. Workflows spectrum</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Workflows: LLMs orchestrated through predefined code paths</a:t>
                      </a:r>
                      <a:br/>
                      <a:r>
                        <a:t>Agents: LLMs dynamically direct their own processes &amp; tool usage</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Agent loop</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Environment → LLM call → Tool use → Environment → (repeat)</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Augmented LLM</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LLM + Retrieval + Tools + Memory = foundational building block</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Common workflow patterns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Prompt chaining, Routing, Parallelization,</a:t>
                      </a:r>
                      <a:br/>
                      <a:r>
                        <a:t>Orchestrator-workers, Evaluator-optimizer</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When to use agents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Tasks requiring flexibility &amp; model-driven decisions → Agents</a:t>
                      </a:r>
                      <a:br/>
                      <a:r>
                        <a:t>Tasks needing predictability &amp; consistency → Workflows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bl>
          </a:graphicData>
        </a:graphic>
      </p:graphicFrame>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anthropic.com/research/building-effective-agents (Dec 2024)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OpenAI: A Practical Guide to Building Agents</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Dev Day 2024 keynote &amp; Agents SDK (March 2025)</a:t>
            </a:r>
          </a:p>
        </p:txBody>
      </p:sp>
      <p:graphicFrame>
        <p:nvGraphicFramePr>
          <p:cNvPr id="6" name="Table 5"/>
          <p:cNvGraphicFramePr>
            <a:graphicFrameLocks noGrp="1"/>
          </p:cNvGraphicFramePr>
          <p:nvPr/>
        </p:nvGraphicFramePr>
        <p:xfrm>
          <a:off x="731520" y="2011680"/>
          <a:ext cx="10515600" cy="297180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Agent definition</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"An agent is a system that independently accomplishes</a:t>
                      </a:r>
                      <a:br/>
                      <a:r>
                        <a:t>tasks on behalf of a user."</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Core components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Agent = Model + Tools + Instructions + Knowledge</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When to go agentic</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Multi-step reasoning + Tool use + Real-world actions → Agent</a:t>
                      </a:r>
                      <a:br/>
                      <a:r>
                        <a:t>Single-step, no tools needed → Simple API call</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Agent orchestration spectrum</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Function calling → Assistants API → Custom agent loops</a:t>
                      </a:r>
                      <a:br/>
                      <a:r>
                        <a:t>→ Multi-agent systems (Swarm)</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Agent evaluation</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Task completion rate, Cost per task,</a:t>
                      </a:r>
                      <a:br/>
                      <a:r>
                        <a:t>Latency, Safety metrics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bl>
          </a:graphicData>
        </a:graphic>
      </p:graphicFrame>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OpenAI Dev Day (2024)  |  cdn.openai.com/business-guides-and-resources/a-practical-guide-to-building-agents.pdf  |  Agents SDK (Mar 2025)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OpenAI: Multi-Agent &amp; Computer-Using Agents</a:t>
            </a:r>
          </a:p>
        </p:txBody>
      </p:sp>
      <p:graphicFrame>
        <p:nvGraphicFramePr>
          <p:cNvPr id="5" name="Table 4"/>
          <p:cNvGraphicFramePr>
            <a:graphicFrameLocks noGrp="1"/>
          </p:cNvGraphicFramePr>
          <p:nvPr/>
        </p:nvGraphicFramePr>
        <p:xfrm>
          <a:off x="731520" y="1645920"/>
          <a:ext cx="10515600" cy="178308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Swarm framework (Oct 2024)</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Multi-agent handoff architecture</a:t>
                      </a:r>
                      <a:br/>
                      <a:r>
                        <a:t>Core primitives: "Routines" and "Handoffs"</a:t>
                      </a:r>
                      <a:br/>
                      <a:r>
                        <a:t>Agent-to-agent communication patterns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Operator / CUA (Jan 2025)</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Agent interacting with web browsers autonomously</a:t>
                      </a:r>
                      <a:br/>
                      <a:r>
                        <a:t>Task completion workflow with oversight guardrails</a:t>
                      </a:r>
                      <a:br/>
                      <a:r>
                        <a:t>Safety controls for autonomous web navigation</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Agents SDK (Mar 2025)</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Agent loop: tool calls → handoffs → guardrails</a:t>
                      </a:r>
                      <a:br/>
                      <a:r>
                        <a:t>Built-in tracing and observability</a:t>
                      </a:r>
                      <a:br/>
                      <a:r>
                        <a:t>Multi-agent orchestration primitives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bl>
          </a:graphicData>
        </a:graphic>
      </p:graphicFrame>
      <p:sp>
        <p:nvSpPr>
          <p:cNvPr id="6" name="TextBox 5"/>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OpenAI blog  |  openai.com/index/new-tools-for-building-agents/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Google / DeepMind: The Age of Agents</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Cloud Next 2024-2025  |  Google I/O 2025</a:t>
            </a:r>
          </a:p>
        </p:txBody>
      </p:sp>
      <p:graphicFrame>
        <p:nvGraphicFramePr>
          <p:cNvPr id="6" name="Table 5"/>
          <p:cNvGraphicFramePr>
            <a:graphicFrameLocks noGrp="1"/>
          </p:cNvGraphicFramePr>
          <p:nvPr/>
        </p:nvGraphicFramePr>
        <p:xfrm>
          <a:off x="731520" y="2011680"/>
          <a:ext cx="10515600" cy="297180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AI maturity model</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Chatbots → Assistants → Agents → Multi-agent systems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Vertex AI Agent Builder</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Gemini models + Tools + Data stores</a:t>
                      </a:r>
                      <a:br/>
                      <a:r>
                        <a:t>Customer agent vs. Employee agent deployment patterns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Agent grounding</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Google Search grounding + Enterprise data</a:t>
                      </a:r>
                      <a:br/>
                      <a:r>
                        <a:t>Real-time data connection for agent accuracy</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Google I/O 2025 launches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Project Mariner (Chrome browser agent)</a:t>
                      </a:r>
                      <a:br/>
                      <a:r>
                        <a:t>Jules (AI coding agent)</a:t>
                      </a:r>
                      <a:br/>
                      <a:r>
                        <a:t>Agent-to-Agent protocol (A2A) specification</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Agent maturity ladder</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Retrieval → Extensions → Function calling</a:t>
                      </a:r>
                      <a:br/>
                      <a:r>
                        <a:t>→ Data agents → Multi-agent</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bl>
          </a:graphicData>
        </a:graphic>
      </p:graphicFrame>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Google Cloud Next (2024-2025)  |  Google I/O 2025  |  developers.googleblog.com/en/a2a-a-new-era-of-agent-interoperability/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Microsoft: Copilot as Agent Orchestrator</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Build 2024-2025  |  Ignite 2024  |  AutoGen Research</a:t>
            </a:r>
          </a:p>
        </p:txBody>
      </p:sp>
      <p:graphicFrame>
        <p:nvGraphicFramePr>
          <p:cNvPr id="6" name="Table 5"/>
          <p:cNvGraphicFramePr>
            <a:graphicFrameLocks noGrp="1"/>
          </p:cNvGraphicFramePr>
          <p:nvPr/>
        </p:nvGraphicFramePr>
        <p:xfrm>
          <a:off x="731520" y="2011680"/>
          <a:ext cx="10515600" cy="237744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"AI agents will reshape every</a:t>
                      </a:r>
                      <a:br/>
                      <a:r>
                        <a:t>software category" — Nadella</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SaaS → AI agents as the new application paradigm</a:t>
                      </a:r>
                      <a:br/>
                      <a:r>
                        <a:t>Every business process rebuilt around agents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Copilot agent types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Prompt-response → RAG-augmented → Autonomous agents</a:t>
                      </a:r>
                      <a:br/>
                      <a:r>
                        <a:t>Built in Copilot Studio (low-code)</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AutoGen multi-agent framework</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Multiple specialized agents conversing to solve tasks</a:t>
                      </a:r>
                      <a:br/>
                      <a:r>
                        <a:t>"Conversable agents" as composable building blocks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Agent memory &amp; planning</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Agents maintain state across sessions</a:t>
                      </a:r>
                      <a:br/>
                      <a:r>
                        <a:t>Long-term memory for personalized experiences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bl>
          </a:graphicData>
        </a:graphic>
      </p:graphicFrame>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Microsoft Build (2024-2025)  |  Ignite 2024  |  microsoft.github.io/autogen/  |  10-K FY2024-2025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0"/>
            <a:ext cx="10515600" cy="1828800"/>
          </a:xfrm>
          <a:prstGeom prst="rect">
            <a:avLst/>
          </a:prstGeom>
          <a:noFill/>
        </p:spPr>
        <p:txBody>
          <a:bodyPr wrap="none">
            <a:spAutoFit/>
          </a:bodyPr>
          <a:lstStyle/>
          <a:p>
            <a:pPr>
              <a:defRPr sz="4000" b="1">
                <a:solidFill>
                  <a:srgbClr val="FFFFFF"/>
                </a:solidFill>
                <a:latin typeface="Arial"/>
              </a:defRPr>
            </a:pPr>
            <a:r>
              <a:t>ENTERPRISE SaaS</a:t>
            </a:r>
          </a:p>
          <a:p>
            <a:pPr>
              <a:spcBef>
                <a:spcPts val="1600"/>
              </a:spcBef>
              <a:defRPr sz="1800">
                <a:solidFill>
                  <a:srgbClr val="BBBBBB"/>
                </a:solidFill>
                <a:latin typeface="Arial"/>
              </a:defRPr>
            </a:pPr>
            <a:r>
              <a:t>Salesforce  |  ServiceNow  |  AWS  |  NVIDIA  |  SAP  |  Workday  |  HubSpot  |  Palantir  |  and more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Salesforce: "The Third Wave of AI"</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Dreamforce 2024  |  Agentforce Launch  |  Marc Benioff keynote</a:t>
            </a:r>
          </a:p>
        </p:txBody>
      </p:sp>
      <p:graphicFrame>
        <p:nvGraphicFramePr>
          <p:cNvPr id="6" name="Table 5"/>
          <p:cNvGraphicFramePr>
            <a:graphicFrameLocks noGrp="1"/>
          </p:cNvGraphicFramePr>
          <p:nvPr/>
        </p:nvGraphicFramePr>
        <p:xfrm>
          <a:off x="731520" y="2011680"/>
          <a:ext cx="10515600" cy="356616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Three waves of AI</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Predictive AI → Generative AI → Agentic AI</a:t>
                      </a:r>
                      <a:br/>
                      <a:r>
                        <a:t>(Autonomous Agents)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Agentforce architecture</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Atlas Reasoning Engine + Data Cloud</a:t>
                      </a:r>
                      <a:br/>
                      <a:r>
                        <a:t>+ Trust Layer + Tools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Digital Labor model</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Agents as "digital workers"</a:t>
                      </a:r>
                      <a:br/>
                      <a:r>
                        <a:t>Billed per conversation, not per seat</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Agent builder (low-code)</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Topics → Instructions → Actions → Guardrails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Agent types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Service Agent, Sales Agent, Marketing Agent,</a:t>
                      </a:r>
                      <a:br/>
                      <a:r>
                        <a:t>Commerce Agent, Custom agents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Trust &amp; safety</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Einstein Trust Layer: toxicity detection,</a:t>
                      </a:r>
                      <a:br/>
                      <a:r>
                        <a:t>PII masking, prompt injection defense</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bl>
          </a:graphicData>
        </a:graphic>
      </p:graphicFrame>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Dreamforce 2024  |  salesforce.com/agentforce/  |  Q3/Q4 FY2025 Earnings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ServiceNow: AI Agents for Enterprise Workflows</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Knowledge 2024-2025  |  Investor Day</a:t>
            </a:r>
          </a:p>
        </p:txBody>
      </p:sp>
      <p:graphicFrame>
        <p:nvGraphicFramePr>
          <p:cNvPr id="6" name="Table 5"/>
          <p:cNvGraphicFramePr>
            <a:graphicFrameLocks noGrp="1"/>
          </p:cNvGraphicFramePr>
          <p:nvPr/>
        </p:nvGraphicFramePr>
        <p:xfrm>
          <a:off x="731520" y="2011680"/>
          <a:ext cx="10515600" cy="237744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Now Assist Agents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Agentic AI built into IT, HR, Customer Service,</a:t>
                      </a:r>
                      <a:br/>
                      <a:r>
                        <a:t>Security workflows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Evolution</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Rule-based virtual agents → LLM-powered</a:t>
                      </a:r>
                      <a:br/>
                      <a:r>
                        <a:t>autonomous AI agents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Agent orchestration</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Agents interact with ServiceNow's workflow engine</a:t>
                      </a:r>
                      <a:br/>
                      <a:r>
                        <a:t>for multi-step task resolution</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Key metric</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Now Assist agent attach rates in new deals</a:t>
                      </a:r>
                      <a:br/>
                      <a:r>
                        <a:t>"Agentic workflows" as future of enterprise automation</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bl>
          </a:graphicData>
        </a:graphic>
      </p:graphicFrame>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ServiceNow Knowledge (2024-2025)  |  servicenow.com/now-platform/ai-agents.html  |  10-K / Earnings 2024-2025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AWS: Agents for Amazon Bedrock</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re:Invent 2024  |  Matt Garman &amp; Swami Sivasubramanian keynotes</a:t>
            </a:r>
          </a:p>
        </p:txBody>
      </p:sp>
      <p:graphicFrame>
        <p:nvGraphicFramePr>
          <p:cNvPr id="6" name="Table 5"/>
          <p:cNvGraphicFramePr>
            <a:graphicFrameLocks noGrp="1"/>
          </p:cNvGraphicFramePr>
          <p:nvPr/>
        </p:nvGraphicFramePr>
        <p:xfrm>
          <a:off x="731520" y="2011680"/>
          <a:ext cx="10515600" cy="297180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Bedrock Agents architecture</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Foundation model + Action groups</a:t>
                      </a:r>
                      <a:br/>
                      <a:r>
                        <a:t>+ Knowledge bases + Guardrails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Agent orchestration flow</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User request → Agent reasoning → Action execution</a:t>
                      </a:r>
                      <a:br/>
                      <a:r>
                        <a:t>→ Response synthesis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Multi-agent collaboration</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Supervisor agent delegating to specialist agents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Automated Reasoning</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Formal verification layer to check agent outputs</a:t>
                      </a:r>
                      <a:br/>
                      <a:r>
                        <a:t>Mathematical proofs for correctness guarantees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Amazon Q</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AI agent for developers and business users</a:t>
                      </a:r>
                      <a:br/>
                      <a:r>
                        <a:t>Integrated across AWS console, IDE, and business apps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bl>
          </a:graphicData>
        </a:graphic>
      </p:graphicFrame>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AWS re:Invent 2024  |  aws.amazon.com/bedrock/agents/  |  Amazon Shareholder Letters 2024-2025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NVIDIA: "Agentic AI Is the Next Platform"</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GTC 2025  |  Jensen Huang keynote  |  Investor Day</a:t>
            </a:r>
          </a:p>
        </p:txBody>
      </p:sp>
      <p:graphicFrame>
        <p:nvGraphicFramePr>
          <p:cNvPr id="6" name="Table 5"/>
          <p:cNvGraphicFramePr>
            <a:graphicFrameLocks noGrp="1"/>
          </p:cNvGraphicFramePr>
          <p:nvPr/>
        </p:nvGraphicFramePr>
        <p:xfrm>
          <a:off x="731520" y="2011680"/>
          <a:ext cx="10515600" cy="297180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"Every company will have AI agent</a:t>
                      </a:r>
                      <a:br/>
                      <a:r>
                        <a:t>departments" — Jensen Huang</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Agentic AI as the next computing platform</a:t>
                      </a:r>
                      <a:br/>
                      <a:r>
                        <a:t>Data centers as "AI Factories"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Agent infrastructure stack</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Training → Inference → Agent frameworks</a:t>
                      </a:r>
                      <a:br/>
                      <a:r>
                        <a:t>→ Deployment (NIM, NeMo, ACE)</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Token economics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Agents consume 10-100x more tokens</a:t>
                      </a:r>
                      <a:br/>
                      <a:r>
                        <a:t>than single-turn queries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Physical AI agents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Robots and autonomous systems as</a:t>
                      </a:r>
                      <a:br/>
                      <a:r>
                        <a:t>embodied agents (Isaac, Cosmos)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TAM expansion</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Inference → Agentic reasoning workloads</a:t>
                      </a:r>
                      <a:br/>
                      <a:r>
                        <a:t>Agent workloads drive next wave of GPU demand</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bl>
          </a:graphicData>
        </a:graphic>
      </p:graphicFrame>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NVIDIA GTC 2025  |  Investor Day 2025  |  Q4 FY2025 Earnings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SAP: Joule AI Agent</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SAP Sapphire / TechEd 2024-2025</a:t>
            </a:r>
          </a:p>
        </p:txBody>
      </p:sp>
      <p:graphicFrame>
        <p:nvGraphicFramePr>
          <p:cNvPr id="6" name="Table 5"/>
          <p:cNvGraphicFramePr>
            <a:graphicFrameLocks noGrp="1"/>
          </p:cNvGraphicFramePr>
          <p:nvPr/>
        </p:nvGraphicFramePr>
        <p:xfrm>
          <a:off x="731520" y="2011680"/>
          <a:ext cx="10515600" cy="237744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Joule as collaborative AI agent</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Embedded across all SAP applications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Business AI agents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Agents for procurement, finance, HR,</a:t>
                      </a:r>
                      <a:br/>
                      <a:r>
                        <a:t>supply chain</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Agent-to-agent orchestration</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Joule coordinating with third-party agents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Business context grounding</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Agents grounded in SAP business data</a:t>
                      </a:r>
                      <a:br/>
                      <a:r>
                        <a:t>and processes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bl>
          </a:graphicData>
        </a:graphic>
      </p:graphicFrame>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SAP Sapphire / TechEd (2024-2025)  |  sap.com/products/artificial-intelligence/ai-assistant.html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Enterprise SaaS: Agent Announcements</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Workday  |  HubSpot  |  Atlassian  |  Box  |  Intuit</a:t>
            </a:r>
          </a:p>
        </p:txBody>
      </p:sp>
      <p:graphicFrame>
        <p:nvGraphicFramePr>
          <p:cNvPr id="6" name="Table 5"/>
          <p:cNvGraphicFramePr>
            <a:graphicFrameLocks noGrp="1"/>
          </p:cNvGraphicFramePr>
          <p:nvPr/>
        </p:nvGraphicFramePr>
        <p:xfrm>
          <a:off x="731520" y="2011680"/>
          <a:ext cx="10515600" cy="297180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Workday AI Agents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Recruiter Agent, Expenses Agent, Succession Agent</a:t>
                      </a:r>
                      <a:br/>
                      <a:r>
                        <a:t>Agent-driven automation in HCM &amp; financials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HubSpot Breeze AI Agents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Prospecting Agent, Content Agent, Social Agent,</a:t>
                      </a:r>
                      <a:br/>
                      <a:r>
                        <a:t>Customer Agent — GTM automation</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Atlassian Rovo Agents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AI agents for Jira, Confluence, and teamwork</a:t>
                      </a:r>
                      <a:br/>
                      <a:r>
                        <a:t>Agent marketplace + "virtual teammate" concept</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Box AI Agents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Content-grounded agents with enterprise permissions</a:t>
                      </a:r>
                      <a:br/>
                      <a:r>
                        <a:t>Document extraction, summarization, and Q&amp;A</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Intuit Assist</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AI agent for tax, accounting, personal finance</a:t>
                      </a:r>
                      <a:br/>
                      <a:r>
                        <a:t>Powered by GenOS platform</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bl>
          </a:graphicData>
        </a:graphic>
      </p:graphicFrame>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Workday Rising  |  HubSpot INBOUND  |  Atlassian Team '24  |  BoxWorks  |  Intuit Investor Day (2024-2025)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Palantir: AIP Agent Platform</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AIPCon events  |  Investor presentations (2024-2025)</a:t>
            </a:r>
          </a:p>
        </p:txBody>
      </p:sp>
      <p:graphicFrame>
        <p:nvGraphicFramePr>
          <p:cNvPr id="6" name="Table 5"/>
          <p:cNvGraphicFramePr>
            <a:graphicFrameLocks noGrp="1"/>
          </p:cNvGraphicFramePr>
          <p:nvPr/>
        </p:nvGraphicFramePr>
        <p:xfrm>
          <a:off x="731520" y="2011680"/>
          <a:ext cx="10515600" cy="237744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AIP boot camp → production pipeline</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Prototyping to deployed agents in weeks</a:t>
                      </a:r>
                      <a:br/>
                      <a:r>
                        <a:t>Enterprise adoption playbook</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Agent orchestration in AIP</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LLM + Ontology + Actions + Guardrails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"Warp Speed" defense agents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AI agents for military/defense decision support</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Agent ROI case studies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Specific customer metrics on agent deployments</a:t>
                      </a:r>
                      <a:br/>
                      <a:r>
                        <a:t>AIP agent adoption as leading growth driver</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bl>
          </a:graphicData>
        </a:graphic>
      </p:graphicFrame>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Palantir AIPCon  |  palantir.com/platforms/aip/  |  10-K / Earnings 2024-2025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Data Platforms: Agents for Analytics</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Snowflake Summit  |  Databricks Data + AI Summit (2024-2025)</a:t>
            </a:r>
          </a:p>
        </p:txBody>
      </p:sp>
      <p:graphicFrame>
        <p:nvGraphicFramePr>
          <p:cNvPr id="6" name="Table 5"/>
          <p:cNvGraphicFramePr>
            <a:graphicFrameLocks noGrp="1"/>
          </p:cNvGraphicFramePr>
          <p:nvPr/>
        </p:nvGraphicFramePr>
        <p:xfrm>
          <a:off x="731520" y="2011680"/>
          <a:ext cx="10515600" cy="297180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Snowflake Cortex Agents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AI agents that operate on Snowflake data</a:t>
                      </a:r>
                      <a:br/>
                      <a:r>
                        <a:t>Agentic RAG: search and analyze data autonomously</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Snowflake Intelligence</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Natural language data agent</a:t>
                      </a:r>
                      <a:br/>
                      <a:r>
                        <a:t>Tool-use: SQL generation, chart creation, pipeline orchestration</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Databricks: "Compound AI Systems"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Agents as compound systems: multiple models,</a:t>
                      </a:r>
                      <a:br/>
                      <a:r>
                        <a:t>retrieval, tools, code</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Mosaic AI Agent Framework</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Build, evaluate, deploy agents on Databricks</a:t>
                      </a:r>
                      <a:br/>
                      <a:r>
                        <a:t>Automated evaluation of quality, latency, cost</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Maturity curve</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Fine-tuned models → RAG → Agents → Multi-agent</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bl>
          </a:graphicData>
        </a:graphic>
      </p:graphicFrame>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Snowflake Summit  |  Databricks Data + AI Summit (2024-2025)  |  snowflake.com  |  databricks.com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0"/>
            <a:ext cx="10515600" cy="1828800"/>
          </a:xfrm>
          <a:prstGeom prst="rect">
            <a:avLst/>
          </a:prstGeom>
          <a:noFill/>
        </p:spPr>
        <p:txBody>
          <a:bodyPr wrap="none">
            <a:spAutoFit/>
          </a:bodyPr>
          <a:lstStyle/>
          <a:p>
            <a:pPr>
              <a:defRPr sz="4000" b="1">
                <a:solidFill>
                  <a:srgbClr val="FFFFFF"/>
                </a:solidFill>
                <a:latin typeface="Arial"/>
              </a:defRPr>
            </a:pPr>
            <a:r>
              <a:t>AGENT FRAMEWORKS &amp; STARTUPS</a:t>
            </a:r>
          </a:p>
          <a:p>
            <a:pPr>
              <a:spcBef>
                <a:spcPts val="1600"/>
              </a:spcBef>
              <a:defRPr sz="1800">
                <a:solidFill>
                  <a:srgbClr val="BBBBBB"/>
                </a:solidFill>
                <a:latin typeface="Arial"/>
              </a:defRPr>
            </a:pPr>
            <a:r>
              <a:t>Cognition AI (Devin)  |  LangChain / LangGraph  |  CrewAI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Cognition AI: Devin — The First AI Software Engineer</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Launch presentation (March 2024)</a:t>
            </a:r>
          </a:p>
        </p:txBody>
      </p:sp>
      <p:graphicFrame>
        <p:nvGraphicFramePr>
          <p:cNvPr id="6" name="Table 5"/>
          <p:cNvGraphicFramePr>
            <a:graphicFrameLocks noGrp="1"/>
          </p:cNvGraphicFramePr>
          <p:nvPr/>
        </p:nvGraphicFramePr>
        <p:xfrm>
          <a:off x="731520" y="2011680"/>
          <a:ext cx="10515600" cy="237744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Autonomous coding agent</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Fully autonomous software engineering agent</a:t>
                      </a:r>
                      <a:br/>
                      <a:r>
                        <a:t>Plans, codes, debugs, and deploys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Agent workspace</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Terminal, browser, code editor — all controlled</a:t>
                      </a:r>
                      <a:br/>
                      <a:r>
                        <a:t>by the agent simultaneously</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Self-correction</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Multi-step task execution with planning,</a:t>
                      </a:r>
                      <a:br/>
                      <a:r>
                        <a:t>error detection, and self-repair</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Benchmark results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SWE-bench: resolved real-world GitHub issues</a:t>
                      </a:r>
                      <a:br/>
                      <a:r>
                        <a:t>autonomously</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bl>
          </a:graphicData>
        </a:graphic>
      </p:graphicFrame>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Cognition AI launch demo (March 2024)  |  cognition.ai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LangChain / LangGraph: Agent Architecture Patterns</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"State of AI Agents" reports  |  "In the Loop" survey (2024-2025)</a:t>
            </a:r>
          </a:p>
        </p:txBody>
      </p:sp>
      <p:graphicFrame>
        <p:nvGraphicFramePr>
          <p:cNvPr id="6" name="Table 5"/>
          <p:cNvGraphicFramePr>
            <a:graphicFrameLocks noGrp="1"/>
          </p:cNvGraphicFramePr>
          <p:nvPr/>
        </p:nvGraphicFramePr>
        <p:xfrm>
          <a:off x="731520" y="2011680"/>
          <a:ext cx="10515600" cy="297180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Agent architecture spectrum</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Simple chains → Routers → Tool-using agents</a:t>
                      </a:r>
                      <a:br/>
                      <a:r>
                        <a:t>→ Multi-agent → Autonomous agents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LangGraph patterns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State machines for agent orchestration:</a:t>
                      </a:r>
                      <a:br/>
                      <a:r>
                        <a:t>nodes, edges, conditional routing</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"Cognitive architecture"</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How an agent thinks: planning, memory, tool use</a:t>
                      </a:r>
                      <a:br/>
                      <a:r>
                        <a:t>ReAct pattern = Reasoning + Acting loop</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Human-in-the-loop</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Interrupt, approve, edit, resume patterns</a:t>
                      </a:r>
                      <a:br/>
                      <a:r>
                        <a:t>in agent workflows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"In the Loop" survey (2025)</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51% of companies have agents in production</a:t>
                      </a:r>
                      <a:br/>
                      <a:r>
                        <a:t>Top challenges: reliability, evaluation, latency</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bl>
          </a:graphicData>
        </a:graphic>
      </p:graphicFrame>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blog.langchain.dev  |  LangGraph documentation  |  "In the Loop" survey 2025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CrewAI: Multi-Agent Orchestration</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Conference presentations and documentation (2024-2025)</a:t>
            </a:r>
          </a:p>
        </p:txBody>
      </p:sp>
      <p:graphicFrame>
        <p:nvGraphicFramePr>
          <p:cNvPr id="6" name="Table 5"/>
          <p:cNvGraphicFramePr>
            <a:graphicFrameLocks noGrp="1"/>
          </p:cNvGraphicFramePr>
          <p:nvPr/>
        </p:nvGraphicFramePr>
        <p:xfrm>
          <a:off x="731520" y="2011680"/>
          <a:ext cx="10515600" cy="178308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Role-based agent design</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Each agent has: Role, Goal, Backstory, Tools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Crew patterns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Sequential: agents work one after another</a:t>
                      </a:r>
                      <a:br/>
                      <a:r>
                        <a:t>Hierarchical: manager agent delegates to workers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"Crews" as the unit</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Multi-agent collaboration organized as crews</a:t>
                      </a:r>
                      <a:br/>
                      <a:r>
                        <a:t>Composable, reusable agent teams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bl>
          </a:graphicData>
        </a:graphic>
      </p:graphicFrame>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crewai.com  |  CrewAI conference talks (2024-2025)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0"/>
            <a:ext cx="10515600" cy="1828800"/>
          </a:xfrm>
          <a:prstGeom prst="rect">
            <a:avLst/>
          </a:prstGeom>
          <a:noFill/>
        </p:spPr>
        <p:txBody>
          <a:bodyPr wrap="none">
            <a:spAutoFit/>
          </a:bodyPr>
          <a:lstStyle/>
          <a:p>
            <a:pPr>
              <a:defRPr sz="4000" b="1">
                <a:solidFill>
                  <a:srgbClr val="FFFFFF"/>
                </a:solidFill>
                <a:latin typeface="Arial"/>
              </a:defRPr>
            </a:pPr>
            <a:r>
              <a:t>INVESTORS &amp; ANALYSTS</a:t>
            </a:r>
          </a:p>
          <a:p>
            <a:pPr>
              <a:spcBef>
                <a:spcPts val="1600"/>
              </a:spcBef>
              <a:defRPr sz="1800">
                <a:solidFill>
                  <a:srgbClr val="BBBBBB"/>
                </a:solidFill>
                <a:latin typeface="Arial"/>
              </a:defRPr>
            </a:pPr>
            <a:r>
              <a:t>Sequoia Capital  |  a16z  |  McKinsey  |  Gartner  |  Accenture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Sequoia Capital: "Software That Works for You"</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Sonya Huang — AI Agents presentation  |  Arc conference (2024)</a:t>
            </a:r>
          </a:p>
        </p:txBody>
      </p:sp>
      <p:graphicFrame>
        <p:nvGraphicFramePr>
          <p:cNvPr id="6" name="Table 5"/>
          <p:cNvGraphicFramePr>
            <a:graphicFrameLocks noGrp="1"/>
          </p:cNvGraphicFramePr>
          <p:nvPr/>
        </p:nvGraphicFramePr>
        <p:xfrm>
          <a:off x="731520" y="2011680"/>
          <a:ext cx="10515600" cy="297180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New paradigm</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From tools you use → tools that use themselves</a:t>
                      </a:r>
                      <a:br/>
                      <a:r>
                        <a:t>Agents as the new software paradigm</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Agent market map</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Landscape of agent startups across verticals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Value chain</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Model providers → Agent frameworks</a:t>
                      </a:r>
                      <a:br/>
                      <a:r>
                        <a:t>→ Vertical agents → Agent infrastructure</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Adoption curve</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Copilots (now) → Task agents (near-term)</a:t>
                      </a:r>
                      <a:br/>
                      <a:r>
                        <a:t>→ Autonomous agents (future)</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Agent economics (2025)</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Agent-native vs. agent-added companies</a:t>
                      </a:r>
                      <a:br/>
                      <a:r>
                        <a:t>Cost per task, margin structure benchmarks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bl>
          </a:graphicData>
        </a:graphic>
      </p:graphicFrame>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Sequoia Arc conference (2024)  |  sequoiacap.com/article/ai-agents-part-i/  |  "AI in the Real World" (2025)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a16z: "AI Agents Are the New Apps"</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"Big Ideas 2025"  |  "Emerging Architectures for LLM Agents" (2024)</a:t>
            </a:r>
          </a:p>
        </p:txBody>
      </p:sp>
      <p:graphicFrame>
        <p:nvGraphicFramePr>
          <p:cNvPr id="6" name="Table 5"/>
          <p:cNvGraphicFramePr>
            <a:graphicFrameLocks noGrp="1"/>
          </p:cNvGraphicFramePr>
          <p:nvPr/>
        </p:nvGraphicFramePr>
        <p:xfrm>
          <a:off x="731520" y="2011680"/>
          <a:ext cx="10515600" cy="297180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Agents as application layer</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Agents are the application layer of the AI stack</a:t>
                      </a:r>
                      <a:br/>
                      <a:r>
                        <a:t>The "agent economy" — agents transact on behalf of users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Agent infrastructure stack</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Observability, Evaluation, Memory,</a:t>
                      </a:r>
                      <a:br/>
                      <a:r>
                        <a:t>Tool integration, Orchestration</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Enterprise adoption curve</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Internal tools → Customer-facing</a:t>
                      </a:r>
                      <a:br/>
                      <a:r>
                        <a:t>→ Fully autonomous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Agent memory patterns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Short-term (context window)</a:t>
                      </a:r>
                      <a:br/>
                      <a:r>
                        <a:t>Long-term (vector DB) | Episodic</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Reference architecture</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Agent Core (LLM + Planning + Memory)</a:t>
                      </a:r>
                      <a:br/>
                      <a:r>
                        <a:t>+ Tools + Environment</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bl>
          </a:graphicData>
        </a:graphic>
      </p:graphicFrame>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a16z.com  |  "Emerging Architectures for LLM Applications"  |  "Big Ideas 2025"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McKinsey: Economic Potential of AI Agents</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McKinsey Global Institute reports (2024-2025)</a:t>
            </a:r>
          </a:p>
        </p:txBody>
      </p:sp>
      <p:graphicFrame>
        <p:nvGraphicFramePr>
          <p:cNvPr id="6" name="Table 5"/>
          <p:cNvGraphicFramePr>
            <a:graphicFrameLocks noGrp="1"/>
          </p:cNvGraphicFramePr>
          <p:nvPr/>
        </p:nvGraphicFramePr>
        <p:xfrm>
          <a:off x="731520" y="2011680"/>
          <a:ext cx="10515600" cy="297180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Impact estimate</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Agentic AI could automate 25% of work tasks</a:t>
                      </a:r>
                      <a:br/>
                      <a:r>
                        <a:t>by 2030</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Automation potential by industry</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Heat map of agentic AI potential across sectors</a:t>
                      </a:r>
                      <a:br/>
                      <a:r>
                        <a:t>Highest: customer ops, software, finance</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Deployment maturity model</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Pilot → Scaled → Embedded → Autonomous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"From copilot to autopilot"</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Evolution of AI assistance in enterprise</a:t>
                      </a:r>
                      <a:br/>
                      <a:r>
                        <a:t>Human-augmented → Human-supervised → Autonomous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ROI framework</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Cost savings + Revenue uplift + Risk reduction</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bl>
          </a:graphicData>
        </a:graphic>
      </p:graphicFrame>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McKinsey Global Institute  |  mckinsey.com/capabilities/mckinsey-digital/our-insights/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Gartner: AI Agent Hype Cycle &amp; Forecasts</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IT Symposium / Hype Cycle (2024-2025)</a:t>
            </a:r>
          </a:p>
        </p:txBody>
      </p:sp>
      <p:graphicFrame>
        <p:nvGraphicFramePr>
          <p:cNvPr id="6" name="Table 5"/>
          <p:cNvGraphicFramePr>
            <a:graphicFrameLocks noGrp="1"/>
          </p:cNvGraphicFramePr>
          <p:nvPr/>
        </p:nvGraphicFramePr>
        <p:xfrm>
          <a:off x="731520" y="2011680"/>
          <a:ext cx="10515600" cy="237744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Hype Cycle positioning</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AI agents on "Peak of Inflated Expectations" (2024)</a:t>
                      </a:r>
                      <a:br/>
                      <a:r>
                        <a:t>→ "Trough of Disillusionment" (2025)</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Market forecast</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By 2028, 33% of enterprise software</a:t>
                      </a:r>
                      <a:br/>
                      <a:r>
                        <a:t>will include agentic AI</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Agent design patterns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Gartner taxonomy: Reactive, Deliberative,</a:t>
                      </a:r>
                      <a:br/>
                      <a:r>
                        <a:t>Hybrid, Multi-agent</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Agent governance framework</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Trust, Accountability, Oversight,</a:t>
                      </a:r>
                      <a:br/>
                      <a:r>
                        <a:t>Compliance for enterprise agents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bl>
          </a:graphicData>
        </a:graphic>
      </p:graphicFrame>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Gartner IT Symposium  |  gartner.com/en/articles/what-s-new-in-artificial-intelligence-from-the-2024-gartner-hype-cycle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Accenture: AI Agents — The New Digital Workforce</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Technology Vision 2025</a:t>
            </a:r>
          </a:p>
        </p:txBody>
      </p:sp>
      <p:graphicFrame>
        <p:nvGraphicFramePr>
          <p:cNvPr id="6" name="Table 5"/>
          <p:cNvGraphicFramePr>
            <a:graphicFrameLocks noGrp="1"/>
          </p:cNvGraphicFramePr>
          <p:nvPr/>
        </p:nvGraphicFramePr>
        <p:xfrm>
          <a:off x="731520" y="2011680"/>
          <a:ext cx="10515600" cy="237744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Agent ecosystems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Multiple agents working together across</a:t>
                      </a:r>
                      <a:br/>
                      <a:r>
                        <a:t>enterprise functions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From automation to autonomy</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Maturity model: RPA → Intelligent automation</a:t>
                      </a:r>
                      <a:br/>
                      <a:r>
                        <a:t>→ Copilots → Autonomous agents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Agent trust framework</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Transparency, Explainability, Accountability</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Industry case studies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Industry-specific agent deployment examples</a:t>
                      </a:r>
                      <a:br/>
                      <a:r>
                        <a:t>across verticals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bl>
          </a:graphicData>
        </a:graphic>
      </p:graphicFrame>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Accenture Technology Vision 2025  |  accenture.com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0"/>
            <a:ext cx="10515600" cy="1828800"/>
          </a:xfrm>
          <a:prstGeom prst="rect">
            <a:avLst/>
          </a:prstGeom>
          <a:noFill/>
        </p:spPr>
        <p:txBody>
          <a:bodyPr wrap="none">
            <a:spAutoFit/>
          </a:bodyPr>
          <a:lstStyle/>
          <a:p>
            <a:pPr>
              <a:defRPr sz="4000" b="1">
                <a:solidFill>
                  <a:srgbClr val="FFFFFF"/>
                </a:solidFill>
                <a:latin typeface="Arial"/>
              </a:defRPr>
            </a:pPr>
            <a:r>
              <a:t>CASE STUDIES &amp; ADDITIONAL COMPANIES</a:t>
            </a:r>
          </a:p>
          <a:p>
            <a:pPr>
              <a:spcBef>
                <a:spcPts val="1600"/>
              </a:spcBef>
              <a:defRPr sz="1800">
                <a:solidFill>
                  <a:srgbClr val="BBBBBB"/>
                </a:solidFill>
                <a:latin typeface="Arial"/>
              </a:defRPr>
            </a:pPr>
            <a:r>
              <a:t>Klarna  |  Asana  |  Cisco  |  Meta  |  Apple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Klarna: AI Agent Case Study</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Customer service AI agent deployment (2024)</a:t>
            </a:r>
          </a:p>
        </p:txBody>
      </p:sp>
      <p:graphicFrame>
        <p:nvGraphicFramePr>
          <p:cNvPr id="6" name="Table 5"/>
          <p:cNvGraphicFramePr>
            <a:graphicFrameLocks noGrp="1"/>
          </p:cNvGraphicFramePr>
          <p:nvPr/>
        </p:nvGraphicFramePr>
        <p:xfrm>
          <a:off x="731520" y="2011680"/>
          <a:ext cx="10515600" cy="356616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Conversations handled by AI agent</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2.3 million in first month</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Equivalent human workforce</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~700 full-time customer service agents replaced</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Resolution time</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Reduced from 11 minutes to 2 minutes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Repeat inquiries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Dropped 25%</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Customer satisfaction</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On par with human agents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Estimated annual savings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$40 million</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bl>
          </a:graphicData>
        </a:graphic>
      </p:graphicFrame>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Klarna blog  |  klarna.com/international/press/klarna-ai-assistant/  |  Investor presentations (2024)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Additional Company Agent Frameworks</a:t>
            </a:r>
          </a:p>
        </p:txBody>
      </p:sp>
      <p:graphicFrame>
        <p:nvGraphicFramePr>
          <p:cNvPr id="5" name="Table 4"/>
          <p:cNvGraphicFramePr>
            <a:graphicFrameLocks noGrp="1"/>
          </p:cNvGraphicFramePr>
          <p:nvPr/>
        </p:nvGraphicFramePr>
        <p:xfrm>
          <a:off x="731520" y="1645920"/>
          <a:ext cx="10515600" cy="237744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Asana: "AI Teammates"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Agents as team members in project management</a:t>
                      </a:r>
                      <a:br/>
                      <a:r>
                        <a:t>"Work Graph" provides context layer for agents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Cisco: Enterprise Agent Security</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Agents for network ops, security ops, CX</a:t>
                      </a:r>
                      <a:br/>
                      <a:r>
                        <a:t>Enterprise deployment with security guardrails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Meta: Consumer AI Agents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AI agents as social companions in AR/VR</a:t>
                      </a:r>
                      <a:br/>
                      <a:r>
                        <a:t>Business AI agents for WhatsApp &amp; Messenger</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Apple: Privacy-First Agents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Siri as cross-app orchestration agent</a:t>
                      </a:r>
                      <a:br/>
                      <a:r>
                        <a:t>On-device + Private Cloud Compute architecture</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bl>
          </a:graphicData>
        </a:graphic>
      </p:graphicFrame>
      <p:sp>
        <p:nvSpPr>
          <p:cNvPr id="6" name="TextBox 5"/>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Asana Forward  |  Cisco Live  |  Meta Connect  |  WWDC 2024-2025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0"/>
            <a:ext cx="10515600" cy="1828800"/>
          </a:xfrm>
          <a:prstGeom prst="rect">
            <a:avLst/>
          </a:prstGeom>
          <a:noFill/>
        </p:spPr>
        <p:txBody>
          <a:bodyPr wrap="none">
            <a:spAutoFit/>
          </a:bodyPr>
          <a:lstStyle/>
          <a:p>
            <a:pPr>
              <a:defRPr sz="4000" b="1">
                <a:solidFill>
                  <a:srgbClr val="FFFFFF"/>
                </a:solidFill>
                <a:latin typeface="Arial"/>
              </a:defRPr>
            </a:pPr>
            <a:r>
              <a:t>CROSS-COMPANY ANALYSIS</a:t>
            </a:r>
          </a:p>
          <a:p>
            <a:pPr>
              <a:spcBef>
                <a:spcPts val="1600"/>
              </a:spcBef>
              <a:defRPr sz="1800">
                <a:solidFill>
                  <a:srgbClr val="BBBBBB"/>
                </a:solidFill>
                <a:latin typeface="Arial"/>
              </a:defRPr>
            </a:pPr>
            <a:r>
              <a:t>Common frameworks, architecture patterns, and maturity models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Cross-Company: When to Deploy Agents</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Common decision dimensions across 30+ company presentations</a:t>
            </a:r>
          </a:p>
        </p:txBody>
      </p:sp>
      <p:graphicFrame>
        <p:nvGraphicFramePr>
          <p:cNvPr id="6" name="Table 5"/>
          <p:cNvGraphicFramePr>
            <a:graphicFrameLocks noGrp="1"/>
          </p:cNvGraphicFramePr>
          <p:nvPr/>
        </p:nvGraphicFramePr>
        <p:xfrm>
          <a:off x="731520" y="2011680"/>
          <a:ext cx="10515600" cy="3520440"/>
        </p:xfrm>
        <a:graphic>
          <a:graphicData uri="http://schemas.openxmlformats.org/drawingml/2006/table">
            <a:tbl>
              <a:tblPr firstRow="1" bandRow="1">
                <a:tableStyleId>{5C22544A-7EE6-4342-B048-85BDC9FD1C3A}</a:tableStyleId>
              </a:tblPr>
              <a:tblGrid>
                <a:gridCol w="3505200"/>
                <a:gridCol w="3505200"/>
                <a:gridCol w="3505200"/>
              </a:tblGrid>
              <a:tr h="502920">
                <a:tc>
                  <a:txBody>
                    <a:bodyPr wrap="square"/>
                    <a:lstStyle/>
                    <a:p>
                      <a:pPr>
                        <a:defRPr sz="1300" b="1">
                          <a:solidFill>
                            <a:srgbClr val="FFFFFF"/>
                          </a:solidFill>
                          <a:latin typeface="Arial"/>
                        </a:defRPr>
                      </a:pPr>
                      <a:r>
                        <a:t>Dimension</a:t>
                      </a:r>
                    </a:p>
                  </a:txBody>
                  <a:tcPr anchor="ctr" marL="137160" marR="137160" marT="73152" marB="73152">
                    <a:solidFill>
                      <a:srgbClr val="2D2D2D"/>
                    </a:solidFill>
                    <a:lnL w="0" cap="flat" cmpd="sng" algn="ctr">
                      <a:noFill/>
                    </a:lnL>
                    <a:lnR w="0" cap="flat" cmpd="sng" algn="ctr">
                      <a:noFill/>
                    </a:lnR>
                    <a:lnT w="0" cap="flat" cmpd="sng" algn="ctr">
                      <a:noFill/>
                    </a:lnT>
                    <a:lnB w="0" cap="flat" cmpd="sng" algn="ctr">
                      <a:noFill/>
                    </a:lnB>
                  </a:tcPr>
                </a:tc>
                <a:tc>
                  <a:txBody>
                    <a:bodyPr wrap="square"/>
                    <a:lstStyle/>
                    <a:p>
                      <a:pPr>
                        <a:defRPr sz="1300" b="1">
                          <a:solidFill>
                            <a:srgbClr val="FFFFFF"/>
                          </a:solidFill>
                          <a:latin typeface="Arial"/>
                        </a:defRPr>
                      </a:pPr>
                      <a:r>
                        <a:t>Threshold for Agents</a:t>
                      </a:r>
                    </a:p>
                  </a:txBody>
                  <a:tcPr anchor="ctr" marL="137160" marR="137160" marT="73152" marB="73152">
                    <a:solidFill>
                      <a:srgbClr val="2D2D2D"/>
                    </a:solidFill>
                    <a:lnL w="0" cap="flat" cmpd="sng" algn="ctr">
                      <a:noFill/>
                    </a:lnL>
                    <a:lnR w="0" cap="flat" cmpd="sng" algn="ctr">
                      <a:noFill/>
                    </a:lnR>
                    <a:lnT w="0" cap="flat" cmpd="sng" algn="ctr">
                      <a:noFill/>
                    </a:lnT>
                    <a:lnB w="0" cap="flat" cmpd="sng" algn="ctr">
                      <a:noFill/>
                    </a:lnB>
                  </a:tcPr>
                </a:tc>
                <a:tc>
                  <a:txBody>
                    <a:bodyPr wrap="square"/>
                    <a:lstStyle/>
                    <a:p>
                      <a:pPr>
                        <a:defRPr sz="1300" b="1">
                          <a:solidFill>
                            <a:srgbClr val="FFFFFF"/>
                          </a:solidFill>
                          <a:latin typeface="Arial"/>
                        </a:defRPr>
                      </a:pPr>
                      <a:r>
                        <a:t>Alternative</a:t>
                      </a:r>
                    </a:p>
                  </a:txBody>
                  <a:tcPr anchor="ctr" marL="137160" marR="137160" marT="73152" marB="73152">
                    <a:solidFill>
                      <a:srgbClr val="2D2D2D"/>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Task Complexity</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Multi-step, requires reasoning</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Simple automation / workflows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Task Value</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High value per task (&gt;$1-10)</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Low-value → batch automation</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Error Tolerance</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Low cost of error, easy to verify</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High-stakes → human-in-the-loop</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Data Availability</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Rich context available</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Poor data → improve data first</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Repeatability</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Frequent, recurring tasks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One-off → manual</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Tool Integration</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APIs and tools available</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No APIs → build integrations first</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bl>
          </a:graphicData>
        </a:graphic>
      </p:graphicFrame>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Composite analysis across Anthropic, OpenAI, Google, Microsoft, Salesforce, AWS, and others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Composite Agent Maturity Model</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Synthesized from Google, Databricks, McKinsey, Sequoia, Accenture, and others</a:t>
            </a:r>
          </a:p>
        </p:txBody>
      </p:sp>
      <p:graphicFrame>
        <p:nvGraphicFramePr>
          <p:cNvPr id="6" name="Table 5"/>
          <p:cNvGraphicFramePr>
            <a:graphicFrameLocks noGrp="1"/>
          </p:cNvGraphicFramePr>
          <p:nvPr/>
        </p:nvGraphicFramePr>
        <p:xfrm>
          <a:off x="731520" y="2011680"/>
          <a:ext cx="10515600" cy="3017520"/>
        </p:xfrm>
        <a:graphic>
          <a:graphicData uri="http://schemas.openxmlformats.org/drawingml/2006/table">
            <a:tbl>
              <a:tblPr firstRow="1" bandRow="1">
                <a:tableStyleId>{5C22544A-7EE6-4342-B048-85BDC9FD1C3A}</a:tableStyleId>
              </a:tblPr>
              <a:tblGrid>
                <a:gridCol w="2628900"/>
                <a:gridCol w="2628900"/>
                <a:gridCol w="2628900"/>
                <a:gridCol w="2628900"/>
              </a:tblGrid>
              <a:tr h="502920">
                <a:tc>
                  <a:txBody>
                    <a:bodyPr wrap="square"/>
                    <a:lstStyle/>
                    <a:p>
                      <a:pPr>
                        <a:defRPr sz="1300" b="1">
                          <a:solidFill>
                            <a:srgbClr val="FFFFFF"/>
                          </a:solidFill>
                          <a:latin typeface="Arial"/>
                        </a:defRPr>
                      </a:pPr>
                      <a:r>
                        <a:t>Level</a:t>
                      </a:r>
                    </a:p>
                  </a:txBody>
                  <a:tcPr anchor="ctr" marL="137160" marR="137160" marT="73152" marB="73152">
                    <a:solidFill>
                      <a:srgbClr val="2D2D2D"/>
                    </a:solidFill>
                    <a:lnL w="0" cap="flat" cmpd="sng" algn="ctr">
                      <a:noFill/>
                    </a:lnL>
                    <a:lnR w="0" cap="flat" cmpd="sng" algn="ctr">
                      <a:noFill/>
                    </a:lnR>
                    <a:lnT w="0" cap="flat" cmpd="sng" algn="ctr">
                      <a:noFill/>
                    </a:lnT>
                    <a:lnB w="0" cap="flat" cmpd="sng" algn="ctr">
                      <a:noFill/>
                    </a:lnB>
                  </a:tcPr>
                </a:tc>
                <a:tc>
                  <a:txBody>
                    <a:bodyPr wrap="square"/>
                    <a:lstStyle/>
                    <a:p>
                      <a:pPr>
                        <a:defRPr sz="1300" b="1">
                          <a:solidFill>
                            <a:srgbClr val="FFFFFF"/>
                          </a:solidFill>
                          <a:latin typeface="Arial"/>
                        </a:defRPr>
                      </a:pPr>
                      <a:r>
                        <a:t>Stage</a:t>
                      </a:r>
                    </a:p>
                  </a:txBody>
                  <a:tcPr anchor="ctr" marL="137160" marR="137160" marT="73152" marB="73152">
                    <a:solidFill>
                      <a:srgbClr val="2D2D2D"/>
                    </a:solidFill>
                    <a:lnL w="0" cap="flat" cmpd="sng" algn="ctr">
                      <a:noFill/>
                    </a:lnL>
                    <a:lnR w="0" cap="flat" cmpd="sng" algn="ctr">
                      <a:noFill/>
                    </a:lnR>
                    <a:lnT w="0" cap="flat" cmpd="sng" algn="ctr">
                      <a:noFill/>
                    </a:lnT>
                    <a:lnB w="0" cap="flat" cmpd="sng" algn="ctr">
                      <a:noFill/>
                    </a:lnB>
                  </a:tcPr>
                </a:tc>
                <a:tc>
                  <a:txBody>
                    <a:bodyPr wrap="square"/>
                    <a:lstStyle/>
                    <a:p>
                      <a:pPr>
                        <a:defRPr sz="1300" b="1">
                          <a:solidFill>
                            <a:srgbClr val="FFFFFF"/>
                          </a:solidFill>
                          <a:latin typeface="Arial"/>
                        </a:defRPr>
                      </a:pPr>
                      <a:r>
                        <a:t>Description</a:t>
                      </a:r>
                    </a:p>
                  </a:txBody>
                  <a:tcPr anchor="ctr" marL="137160" marR="137160" marT="73152" marB="73152">
                    <a:solidFill>
                      <a:srgbClr val="2D2D2D"/>
                    </a:solidFill>
                    <a:lnL w="0" cap="flat" cmpd="sng" algn="ctr">
                      <a:noFill/>
                    </a:lnL>
                    <a:lnR w="0" cap="flat" cmpd="sng" algn="ctr">
                      <a:noFill/>
                    </a:lnR>
                    <a:lnT w="0" cap="flat" cmpd="sng" algn="ctr">
                      <a:noFill/>
                    </a:lnT>
                    <a:lnB w="0" cap="flat" cmpd="sng" algn="ctr">
                      <a:noFill/>
                    </a:lnB>
                  </a:tcPr>
                </a:tc>
                <a:tc>
                  <a:txBody>
                    <a:bodyPr wrap="square"/>
                    <a:lstStyle/>
                    <a:p>
                      <a:pPr>
                        <a:defRPr sz="1300" b="1">
                          <a:solidFill>
                            <a:srgbClr val="FFFFFF"/>
                          </a:solidFill>
                          <a:latin typeface="Arial"/>
                        </a:defRPr>
                      </a:pPr>
                      <a:r>
                        <a:t>Examples</a:t>
                      </a:r>
                    </a:p>
                  </a:txBody>
                  <a:tcPr anchor="ctr" marL="137160" marR="137160" marT="73152" marB="73152">
                    <a:solidFill>
                      <a:srgbClr val="2D2D2D"/>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Level 0</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Chatbot</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Single-turn Q&amp;A, no tools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Basic ChatGPT, FAQ bots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Level 1</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Copilot</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Human-directed, tool-assisted</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GitHub Copilot, Copilot for M365</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Level 2</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Task Agent</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Autonomous single-task execution</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Coding agents, CS agents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Level 3</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Multi-Agent</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Multiple agents collaborating</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AutoGen, CrewAI orchestrations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Level 4</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Autonomous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Fully autonomous, long-running</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AI employees, digital workers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bl>
          </a:graphicData>
        </a:graphic>
      </p:graphicFrame>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Composite model: Google Cloud Next  |  Databricks Summit  |  McKinsey  |  Sequoia  |  Accenture Technology Vision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Common Agent Architecture Patterns</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Converging design from Anthropic, OpenAI, AWS, LangChain, a16z</a:t>
            </a:r>
          </a:p>
        </p:txBody>
      </p:sp>
      <p:sp>
        <p:nvSpPr>
          <p:cNvPr id="6" name="TextBox 5"/>
          <p:cNvSpPr txBox="1"/>
          <p:nvPr/>
        </p:nvSpPr>
        <p:spPr>
          <a:xfrm>
            <a:off x="731520" y="2011680"/>
            <a:ext cx="10515600" cy="4114800"/>
          </a:xfrm>
          <a:prstGeom prst="rect">
            <a:avLst/>
          </a:prstGeom>
          <a:noFill/>
        </p:spPr>
        <p:txBody>
          <a:bodyPr wrap="square">
            <a:spAutoFit/>
          </a:bodyPr>
          <a:lstStyle/>
          <a:p>
            <a:pPr algn="ctr">
              <a:spcAft>
                <a:spcPts val="100"/>
              </a:spcAft>
              <a:defRPr sz="1400">
                <a:solidFill>
                  <a:srgbClr val="1A1A1A"/>
                </a:solidFill>
                <a:latin typeface="Courier New"/>
              </a:defRPr>
            </a:pPr>
            <a:r>
              <a:t>┌─────────────────────────────────────────────────┐</a:t>
            </a:r>
          </a:p>
          <a:p>
            <a:pPr algn="ctr">
              <a:spcAft>
                <a:spcPts val="100"/>
              </a:spcAft>
              <a:defRPr sz="1400">
                <a:solidFill>
                  <a:srgbClr val="1A1A1A"/>
                </a:solidFill>
                <a:latin typeface="Courier New"/>
              </a:defRPr>
            </a:pPr>
            <a:r>
              <a:t>│              USER / TRIGGER                  │</a:t>
            </a:r>
          </a:p>
          <a:p>
            <a:pPr algn="ctr">
              <a:spcAft>
                <a:spcPts val="100"/>
              </a:spcAft>
              <a:defRPr sz="1400">
                <a:solidFill>
                  <a:srgbClr val="1A1A1A"/>
                </a:solidFill>
                <a:latin typeface="Courier New"/>
              </a:defRPr>
            </a:pPr>
            <a:r>
              <a:t>└─────────────────────────────────────────────────┘</a:t>
            </a:r>
          </a:p>
          <a:p>
            <a:pPr algn="ctr">
              <a:spcAft>
                <a:spcPts val="100"/>
              </a:spcAft>
              <a:defRPr sz="1400">
                <a:solidFill>
                  <a:srgbClr val="1A1A1A"/>
                </a:solidFill>
                <a:latin typeface="Courier New"/>
              </a:defRPr>
            </a:pPr>
            <a:r>
              <a:t>                        │</a:t>
            </a:r>
          </a:p>
          <a:p>
            <a:pPr algn="ctr">
              <a:spcAft>
                <a:spcPts val="100"/>
              </a:spcAft>
              <a:defRPr sz="1400">
                <a:solidFill>
                  <a:srgbClr val="1A1A1A"/>
                </a:solidFill>
                <a:latin typeface="Courier New"/>
              </a:defRPr>
            </a:pPr>
            <a:r>
              <a:t>                        ▼</a:t>
            </a:r>
          </a:p>
          <a:p>
            <a:pPr algn="ctr">
              <a:spcAft>
                <a:spcPts val="100"/>
              </a:spcAft>
              <a:defRPr sz="1400">
                <a:solidFill>
                  <a:srgbClr val="1A1A1A"/>
                </a:solidFill>
                <a:latin typeface="Courier New"/>
              </a:defRPr>
            </a:pPr>
            <a:r>
              <a:t>┌─────────────────────────────────────────────────┐</a:t>
            </a:r>
          </a:p>
          <a:p>
            <a:pPr algn="ctr">
              <a:spcAft>
                <a:spcPts val="100"/>
              </a:spcAft>
              <a:defRPr sz="1400">
                <a:solidFill>
                  <a:srgbClr val="1A1A1A"/>
                </a:solidFill>
                <a:latin typeface="Courier New"/>
              </a:defRPr>
            </a:pPr>
            <a:r>
              <a:t>│           AGENT ORCHESTRATOR                 │</a:t>
            </a:r>
          </a:p>
          <a:p>
            <a:pPr algn="ctr">
              <a:spcAft>
                <a:spcPts val="100"/>
              </a:spcAft>
              <a:defRPr sz="1400">
                <a:solidFill>
                  <a:srgbClr val="1A1A1A"/>
                </a:solidFill>
                <a:latin typeface="Courier New"/>
              </a:defRPr>
            </a:pPr>
            <a:r>
              <a:t>│  [ Planning ]  [ Memory ]  [ Guardrails ]    │</a:t>
            </a:r>
          </a:p>
          <a:p>
            <a:pPr algn="ctr">
              <a:spcAft>
                <a:spcPts val="100"/>
              </a:spcAft>
              <a:defRPr sz="1400">
                <a:solidFill>
                  <a:srgbClr val="1A1A1A"/>
                </a:solidFill>
                <a:latin typeface="Courier New"/>
              </a:defRPr>
            </a:pPr>
            <a:r>
              <a:t>└─────────────────────────────────────────────────┘</a:t>
            </a:r>
          </a:p>
          <a:p>
            <a:pPr algn="ctr">
              <a:spcAft>
                <a:spcPts val="100"/>
              </a:spcAft>
              <a:defRPr sz="1400">
                <a:solidFill>
                  <a:srgbClr val="1A1A1A"/>
                </a:solidFill>
                <a:latin typeface="Courier New"/>
              </a:defRPr>
            </a:pPr>
            <a:r>
              <a:t>                        │</a:t>
            </a:r>
          </a:p>
          <a:p>
            <a:pPr algn="ctr">
              <a:spcAft>
                <a:spcPts val="100"/>
              </a:spcAft>
              <a:defRPr sz="1400">
                <a:solidFill>
                  <a:srgbClr val="1A1A1A"/>
                </a:solidFill>
                <a:latin typeface="Courier New"/>
              </a:defRPr>
            </a:pPr>
            <a:r>
              <a:t>          ┌───────────┼───────────┐</a:t>
            </a:r>
          </a:p>
          <a:p>
            <a:pPr algn="ctr">
              <a:spcAft>
                <a:spcPts val="100"/>
              </a:spcAft>
              <a:defRPr sz="1400">
                <a:solidFill>
                  <a:srgbClr val="1A1A1A"/>
                </a:solidFill>
                <a:latin typeface="Courier New"/>
              </a:defRPr>
            </a:pPr>
            <a:r>
              <a:t>          ▼            ▼            ▼</a:t>
            </a:r>
          </a:p>
          <a:p>
            <a:pPr algn="ctr">
              <a:spcAft>
                <a:spcPts val="100"/>
              </a:spcAft>
              <a:defRPr sz="1400">
                <a:solidFill>
                  <a:srgbClr val="1A1A1A"/>
                </a:solidFill>
                <a:latin typeface="Courier New"/>
              </a:defRPr>
            </a:pPr>
            <a:r>
              <a:t>    [ Tool A ]    [ Tool B ]    [ Tool C ]</a:t>
            </a:r>
          </a:p>
          <a:p>
            <a:pPr algn="ctr">
              <a:spcAft>
                <a:spcPts val="100"/>
              </a:spcAft>
              <a:defRPr sz="1400">
                <a:solidFill>
                  <a:srgbClr val="1A1A1A"/>
                </a:solidFill>
                <a:latin typeface="Courier New"/>
              </a:defRPr>
            </a:pPr>
            <a:r>
              <a:t>    ( API  )      ( Search )    (  Code  )</a:t>
            </a:r>
          </a:p>
        </p:txBody>
      </p:sp>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Architecture pattern converges across: Anthropic, OpenAI, AWS Bedrock, LangChain, a16z</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Key CEO Quotes on AI Agents</a:t>
            </a:r>
          </a:p>
        </p:txBody>
      </p:sp>
      <p:sp>
        <p:nvSpPr>
          <p:cNvPr id="5" name="TextBox 4"/>
          <p:cNvSpPr txBox="1"/>
          <p:nvPr/>
        </p:nvSpPr>
        <p:spPr>
          <a:xfrm>
            <a:off x="731520" y="1188720"/>
            <a:ext cx="10515600" cy="457200"/>
          </a:xfrm>
          <a:prstGeom prst="rect">
            <a:avLst/>
          </a:prstGeom>
          <a:noFill/>
        </p:spPr>
        <p:txBody>
          <a:bodyPr wrap="square">
            <a:spAutoFit/>
          </a:bodyPr>
          <a:lstStyle/>
          <a:p>
            <a:pPr>
              <a:defRPr sz="1600">
                <a:solidFill>
                  <a:srgbClr val="555555"/>
                </a:solidFill>
                <a:latin typeface="Arial"/>
              </a:defRPr>
            </a:pPr>
            <a:r>
              <a:t>From earnings calls and keynotes (2024-2025)</a:t>
            </a:r>
          </a:p>
        </p:txBody>
      </p:sp>
      <p:graphicFrame>
        <p:nvGraphicFramePr>
          <p:cNvPr id="6" name="Table 5"/>
          <p:cNvGraphicFramePr>
            <a:graphicFrameLocks noGrp="1"/>
          </p:cNvGraphicFramePr>
          <p:nvPr/>
        </p:nvGraphicFramePr>
        <p:xfrm>
          <a:off x="731520" y="2011680"/>
          <a:ext cx="10515600" cy="3566160"/>
        </p:xfrm>
        <a:graphic>
          <a:graphicData uri="http://schemas.openxmlformats.org/drawingml/2006/table">
            <a:tbl>
              <a:tblPr firstRow="1" bandRow="1">
                <a:tableStyleId>{5C22544A-7EE6-4342-B048-85BDC9FD1C3A}</a:tableStyleId>
              </a:tblPr>
              <a:tblGrid>
                <a:gridCol w="5257800"/>
                <a:gridCol w="5257800"/>
              </a:tblGrid>
              <a:tr h="594360">
                <a:tc>
                  <a:txBody>
                    <a:bodyPr wrap="square"/>
                    <a:lstStyle/>
                    <a:p>
                      <a:pPr>
                        <a:defRPr sz="1400" b="1">
                          <a:solidFill>
                            <a:srgbClr val="1A1A1A"/>
                          </a:solidFill>
                          <a:latin typeface="Arial"/>
                        </a:defRPr>
                      </a:pPr>
                      <a:r>
                        <a:t>Marc Benioff</a:t>
                      </a:r>
                      <a:br/>
                      <a:r>
                        <a:t>Salesforce, Q3 FY2025</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"Agentforce is the biggest thing we've ever done.</a:t>
                      </a:r>
                      <a:br/>
                      <a:r>
                        <a:t>This is the third wave of AI."</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Satya Nadella</a:t>
                      </a:r>
                      <a:br/>
                      <a:r>
                        <a:t>Microsoft, Q2 FY2025</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"Every customer I talk to is looking to reshape</a:t>
                      </a:r>
                      <a:br/>
                      <a:r>
                        <a:t>their business processes with AI agents."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Jensen Huang</a:t>
                      </a:r>
                      <a:br/>
                      <a:r>
                        <a:t>NVIDIA, Q4 FY2025</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"Agents require 10x to 100x more compute.</a:t>
                      </a:r>
                      <a:br/>
                      <a:r>
                        <a:t>They reason, plan, and act."</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Sundar Pichai</a:t>
                      </a:r>
                      <a:br/>
                      <a:r>
                        <a:t>Google, Q4 2024</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"Agents are the killer app for</a:t>
                      </a:r>
                      <a:br/>
                      <a:r>
                        <a:t>large language models."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Alex Karp</a:t>
                      </a:r>
                      <a:br/>
                      <a:r>
                        <a:t>Palantir, Q4 2024</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"The demand for AI agents that can do things</a:t>
                      </a:r>
                      <a:br/>
                      <a:r>
                        <a:t>in the real world is unlike anything we've seen."</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94360">
                <a:tc>
                  <a:txBody>
                    <a:bodyPr wrap="square"/>
                    <a:lstStyle/>
                    <a:p>
                      <a:pPr>
                        <a:defRPr sz="1400" b="1">
                          <a:solidFill>
                            <a:srgbClr val="1A1A1A"/>
                          </a:solidFill>
                          <a:latin typeface="Arial"/>
                        </a:defRPr>
                      </a:pPr>
                      <a:r>
                        <a:t>Bill McDermott</a:t>
                      </a:r>
                      <a:br/>
                      <a:r>
                        <a:t>ServiceNow, Q4 2024</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400" b="0">
                          <a:solidFill>
                            <a:srgbClr val="1A1A1A"/>
                          </a:solidFill>
                          <a:latin typeface="Arial"/>
                        </a:defRPr>
                      </a:pPr>
                      <a:r>
                        <a:t>"AI agents will become the standard way</a:t>
                      </a:r>
                      <a:br/>
                      <a:r>
                        <a:t>enterprises interact with platforms."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bl>
          </a:graphicData>
        </a:graphic>
      </p:graphicFrame>
      <p:sp>
        <p:nvSpPr>
          <p:cNvPr id="7" name="TextBox 6"/>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Source: Public earnings call transcripts  |  Conference keynotes (2024-2025)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822960"/>
          </a:xfrm>
          <a:prstGeom prst="rect">
            <a:avLst/>
          </a:prstGeom>
          <a:noFill/>
        </p:spPr>
        <p:txBody>
          <a:bodyPr wrap="square">
            <a:spAutoFit/>
          </a:bodyPr>
          <a:lstStyle/>
          <a:p>
            <a:pPr>
              <a:defRPr sz="3600" b="1">
                <a:solidFill>
                  <a:srgbClr val="1A1A1A"/>
                </a:solidFill>
                <a:latin typeface="Arial"/>
              </a:defRPr>
            </a:pPr>
            <a:r>
              <a:t>Sources &amp; References</a:t>
            </a:r>
          </a:p>
        </p:txBody>
      </p:sp>
      <p:graphicFrame>
        <p:nvGraphicFramePr>
          <p:cNvPr id="5" name="Table 4"/>
          <p:cNvGraphicFramePr>
            <a:graphicFrameLocks noGrp="1"/>
          </p:cNvGraphicFramePr>
          <p:nvPr/>
        </p:nvGraphicFramePr>
        <p:xfrm>
          <a:off x="731520" y="1554480"/>
          <a:ext cx="10515600" cy="9555480"/>
        </p:xfrm>
        <a:graphic>
          <a:graphicData uri="http://schemas.openxmlformats.org/drawingml/2006/table">
            <a:tbl>
              <a:tblPr firstRow="1" bandRow="1">
                <a:tableStyleId>{5C22544A-7EE6-4342-B048-85BDC9FD1C3A}</a:tableStyleId>
              </a:tblPr>
              <a:tblGrid>
                <a:gridCol w="3505200"/>
                <a:gridCol w="3505200"/>
                <a:gridCol w="3505200"/>
              </a:tblGrid>
              <a:tr h="502920">
                <a:tc>
                  <a:txBody>
                    <a:bodyPr wrap="square"/>
                    <a:lstStyle/>
                    <a:p>
                      <a:pPr>
                        <a:defRPr sz="1300" b="1">
                          <a:solidFill>
                            <a:srgbClr val="FFFFFF"/>
                          </a:solidFill>
                          <a:latin typeface="Arial"/>
                        </a:defRPr>
                      </a:pPr>
                      <a:r>
                        <a:t>Company</a:t>
                      </a:r>
                    </a:p>
                  </a:txBody>
                  <a:tcPr anchor="ctr" marL="137160" marR="137160" marT="73152" marB="73152">
                    <a:solidFill>
                      <a:srgbClr val="2D2D2D"/>
                    </a:solidFill>
                    <a:lnL w="0" cap="flat" cmpd="sng" algn="ctr">
                      <a:noFill/>
                    </a:lnL>
                    <a:lnR w="0" cap="flat" cmpd="sng" algn="ctr">
                      <a:noFill/>
                    </a:lnR>
                    <a:lnT w="0" cap="flat" cmpd="sng" algn="ctr">
                      <a:noFill/>
                    </a:lnT>
                    <a:lnB w="0" cap="flat" cmpd="sng" algn="ctr">
                      <a:noFill/>
                    </a:lnB>
                  </a:tcPr>
                </a:tc>
                <a:tc>
                  <a:txBody>
                    <a:bodyPr wrap="square"/>
                    <a:lstStyle/>
                    <a:p>
                      <a:pPr>
                        <a:defRPr sz="1300" b="1">
                          <a:solidFill>
                            <a:srgbClr val="FFFFFF"/>
                          </a:solidFill>
                          <a:latin typeface="Arial"/>
                        </a:defRPr>
                      </a:pPr>
                      <a:r>
                        <a:t>Source Type</a:t>
                      </a:r>
                    </a:p>
                  </a:txBody>
                  <a:tcPr anchor="ctr" marL="137160" marR="137160" marT="73152" marB="73152">
                    <a:solidFill>
                      <a:srgbClr val="2D2D2D"/>
                    </a:solidFill>
                    <a:lnL w="0" cap="flat" cmpd="sng" algn="ctr">
                      <a:noFill/>
                    </a:lnL>
                    <a:lnR w="0" cap="flat" cmpd="sng" algn="ctr">
                      <a:noFill/>
                    </a:lnR>
                    <a:lnT w="0" cap="flat" cmpd="sng" algn="ctr">
                      <a:noFill/>
                    </a:lnT>
                    <a:lnB w="0" cap="flat" cmpd="sng" algn="ctr">
                      <a:noFill/>
                    </a:lnB>
                  </a:tcPr>
                </a:tc>
                <a:tc>
                  <a:txBody>
                    <a:bodyPr wrap="square"/>
                    <a:lstStyle/>
                    <a:p>
                      <a:pPr>
                        <a:defRPr sz="1300" b="1">
                          <a:solidFill>
                            <a:srgbClr val="FFFFFF"/>
                          </a:solidFill>
                          <a:latin typeface="Arial"/>
                        </a:defRPr>
                      </a:pPr>
                      <a:r>
                        <a:t>Reference</a:t>
                      </a:r>
                    </a:p>
                  </a:txBody>
                  <a:tcPr anchor="ctr" marL="137160" marR="137160" marT="73152" marB="73152">
                    <a:solidFill>
                      <a:srgbClr val="2D2D2D"/>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Anthropic</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Blog</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anthropic.com/research/building-effective-agents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OpenAI</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Guide / SDK</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cdn.openai.com/.../a-practical-guide-to-building-agents.pdf</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Google</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Cloud Next / I/O</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cloud.google.com/products/agent-builder</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Microsoft</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Build / Research</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microsoft.github.io/autogen/</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Salesforce</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Dreamforce</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salesforce.com/agentforce/</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ServiceNow</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Knowledge</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servicenow.com/now-platform/ai-agents.html</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AWS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re:Invent</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aws.amazon.com/bedrock/agents/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NVIDIA</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GTC</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nvidia.com/en-us/ai/</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SAP</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Sapphire</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sap.com/.../ai-assistant.html</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Palantir</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AIPCon</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palantir.com/platforms/aip/</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Snowflake</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Summit</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snowflake.com/en/data-cloud/cortex/</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Databricks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Summit</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databricks.com/.../build-genai-apps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LangChain</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Blog</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blog.langchain.dev</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Sequoia</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Blog</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sequoiacap.com/article/ai-agents-part-i/</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a16z</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Blog</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a16z.com/emerging-architectures-for-llm-applications/</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McKinsey</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Report</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mckinsey.com/.../our-insights/</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Gartner</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Hype Cycle</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gartner.com/.../2024-gartner-hype-cycle</a:t>
                      </a:r>
                    </a:p>
                  </a:txBody>
                  <a:tcPr anchor="ctr" marL="137160" marR="137160" marT="73152" marB="73152">
                    <a:solidFill>
                      <a:srgbClr val="EBE7DE"/>
                    </a:solidFill>
                    <a:lnL w="0" cap="flat" cmpd="sng" algn="ctr">
                      <a:noFill/>
                    </a:lnL>
                    <a:lnR w="0" cap="flat" cmpd="sng" algn="ctr">
                      <a:noFill/>
                    </a:lnR>
                    <a:lnT w="0" cap="flat" cmpd="sng" algn="ctr">
                      <a:noFill/>
                    </a:lnT>
                    <a:lnB w="0" cap="flat" cmpd="sng" algn="ctr">
                      <a:noFill/>
                    </a:lnB>
                  </a:tcPr>
                </a:tc>
              </a:tr>
              <a:tr h="502920">
                <a:tc>
                  <a:txBody>
                    <a:bodyPr wrap="square"/>
                    <a:lstStyle/>
                    <a:p>
                      <a:pPr>
                        <a:defRPr sz="1200" b="0">
                          <a:solidFill>
                            <a:srgbClr val="1A1A1A"/>
                          </a:solidFill>
                          <a:latin typeface="Arial"/>
                        </a:defRPr>
                      </a:pPr>
                      <a:r>
                        <a:t>Klarna</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Blog</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c>
                  <a:txBody>
                    <a:bodyPr wrap="square"/>
                    <a:lstStyle/>
                    <a:p>
                      <a:pPr>
                        <a:defRPr sz="1200" b="0">
                          <a:solidFill>
                            <a:srgbClr val="1A1A1A"/>
                          </a:solidFill>
                          <a:latin typeface="Arial"/>
                        </a:defRPr>
                      </a:pPr>
                      <a:r>
                        <a:t>klarna.com/international/press/klarna-ai-assistant/</a:t>
                      </a:r>
                    </a:p>
                  </a:txBody>
                  <a:tcPr anchor="ctr" marL="137160" marR="137160" marT="73152" marB="73152">
                    <a:solidFill>
                      <a:srgbClr val="F7F5F0"/>
                    </a:solidFill>
                    <a:lnL w="0" cap="flat" cmpd="sng" algn="ctr">
                      <a:noFill/>
                    </a:lnL>
                    <a:lnR w="0" cap="flat" cmpd="sng" algn="ctr">
                      <a:noFill/>
                    </a:lnR>
                    <a:lnT w="0" cap="flat" cmpd="sng" algn="ctr">
                      <a:noFill/>
                    </a:lnT>
                    <a:lnB w="0" cap="flat" cmpd="sng" algn="ctr">
                      <a:noFill/>
                    </a:lnB>
                  </a:tcPr>
                </a:tc>
              </a:tr>
            </a:tbl>
          </a:graphicData>
        </a:graphic>
      </p:graphicFrame>
      <p:sp>
        <p:nvSpPr>
          <p:cNvPr id="6" name="TextBox 5"/>
          <p:cNvSpPr txBox="1"/>
          <p:nvPr/>
        </p:nvSpPr>
        <p:spPr>
          <a:xfrm>
            <a:off x="731520" y="6172200"/>
            <a:ext cx="10515600" cy="365760"/>
          </a:xfrm>
          <a:prstGeom prst="rect">
            <a:avLst/>
          </a:prstGeom>
          <a:noFill/>
        </p:spPr>
        <p:txBody>
          <a:bodyPr wrap="square">
            <a:spAutoFit/>
          </a:bodyPr>
          <a:lstStyle/>
          <a:p>
            <a:pPr>
              <a:defRPr sz="1000" i="1">
                <a:solidFill>
                  <a:srgbClr val="888888"/>
                </a:solidFill>
                <a:latin typeface="Arial"/>
              </a:defRPr>
            </a:pPr>
            <a:r>
              <a:t>All sources are from publicly available presentations, filings, earnings calls, and blog posts. Links may change over time.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9400"/>
            <a:ext cx="12191695" cy="2286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0"/>
            <a:ext cx="10515600" cy="2743200"/>
          </a:xfrm>
          <a:prstGeom prst="rect">
            <a:avLst/>
          </a:prstGeom>
          <a:noFill/>
        </p:spPr>
        <p:txBody>
          <a:bodyPr wrap="square">
            <a:spAutoFit/>
          </a:bodyPr>
          <a:lstStyle/>
          <a:p>
            <a:pPr>
              <a:defRPr sz="4000" b="1">
                <a:solidFill>
                  <a:srgbClr val="1A1A1A"/>
                </a:solidFill>
                <a:latin typeface="Arial"/>
              </a:defRPr>
            </a:pPr>
            <a:r>
              <a:t>AI Agent Slides</a:t>
            </a:r>
          </a:p>
          <a:p>
            <a:pPr>
              <a:spcBef>
                <a:spcPts val="1200"/>
              </a:spcBef>
              <a:defRPr sz="2200">
                <a:solidFill>
                  <a:srgbClr val="555555"/>
                </a:solidFill>
                <a:latin typeface="Arial"/>
              </a:defRPr>
            </a:pPr>
            <a:r>
              <a:t>From Company Presentations, Filings &amp; Webinars</a:t>
            </a:r>
          </a:p>
          <a:p>
            <a:pPr>
              <a:spcBef>
                <a:spcPts val="3000"/>
              </a:spcBef>
              <a:defRPr sz="1200">
                <a:solidFill>
                  <a:srgbClr val="888888"/>
                </a:solidFill>
                <a:latin typeface="Arial"/>
              </a:defRPr>
            </a:pPr>
            <a:r>
              <a:t>This document compiles publicly available information from company presentations, earnings calls, blog posts, and conference materials. All trademarks and logos belong to their respective owners. Content is for informational purposes only.</a:t>
            </a:r>
          </a:p>
          <a:p>
            <a:pPr>
              <a:spcBef>
                <a:spcPts val="1600"/>
              </a:spcBef>
              <a:defRPr sz="1400">
                <a:solidFill>
                  <a:srgbClr val="888888"/>
                </a:solidFill>
                <a:latin typeface="Arial"/>
              </a:defRPr>
            </a:pPr>
            <a:r>
              <a:t>February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
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371600" cy="635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F00"/>
                </a:solidFill>
              </a:defRPr>
            </a:pPr>
            <a:r>
              <a:t>DATABRICKS DATA + AI SUMMIT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Agentic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EC0"/>
                </a:solidFill>
              </a:defRPr>
            </a:pPr>
            <a:r>
              <a:t>Enterprise Adoption, Architecture &amp; Production Insights from</a:t>
            </a:r>
            <a:br/>
            <a:r>
              <a:t>Databricks Data + AI Summit 2024, 2025 &amp;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07890"/>
                </a:solidFill>
              </a:defRPr>
            </a:pPr>
            <a:r>
              <a:t>Sourced from summit keynotes, sessions, and the State of AI Agents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754880"/>
            <a:ext cx="237744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4754880"/>
            <a:ext cx="237744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892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F00"/>
                </a:solidFill>
              </a:defRPr>
            </a:pPr>
            <a:r>
              <a:t>20,000+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94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Databricks Customers</a:t>
            </a:r>
            <a:br/>
            <a:r>
              <a:t>Worldwide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4754880"/>
            <a:ext cx="237744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40" y="4754880"/>
            <a:ext cx="237744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892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$134B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394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Valuation</a:t>
            </a:r>
            <a:br/>
            <a:r>
              <a:t>(Latest Raise)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754880"/>
            <a:ext cx="237744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4754880"/>
            <a:ext cx="237744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892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</a:defRPr>
            </a:pPr>
            <a:r>
              <a:t>60%+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394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Fortune 500</a:t>
            </a:r>
            <a:br/>
            <a:r>
              <a:t>on Platform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4754880"/>
            <a:ext cx="237744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20" y="4754880"/>
            <a:ext cx="237744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4892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A755F7"/>
                </a:solidFill>
              </a:defRPr>
            </a:pPr>
            <a:r>
              <a:t>800+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5394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Sessions at</a:t>
            </a:r>
            <a:br/>
            <a:r>
              <a:t>Summit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0800" cy="64008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F00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4447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What Is Agentic AI?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83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</a:defRPr>
            </a:pPr>
            <a:r>
              <a:t>Definition, evolution from chatbots to autonomous multi-agent systems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50800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B82F6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2677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Databricks' Agentic AI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06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</a:defRPr>
            </a:pPr>
            <a:r>
              <a:t>Mosaic AI, Agent Bricks, MLflow 3.0, Lakebase, and MCP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08960"/>
            <a:ext cx="50800" cy="6400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2C55E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906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Summit Sessions Across Three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429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</a:defRPr>
            </a:pPr>
            <a:r>
              <a:t>Key agentic AI presentations from 2024, 2025, and 2026 summits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31920"/>
            <a:ext cx="50800" cy="64008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3192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A755F7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Enterprise Case Studies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251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</a:defRPr>
            </a:pPr>
            <a:r>
              <a:t>adidas, Walmart, AstraZeneca, 7-Eleven, Zillow, Royal Bank of Canada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754880"/>
            <a:ext cx="50800" cy="6400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548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B8A6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7365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State of AI Agents Report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074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</a:defRPr>
            </a:pPr>
            <a:r>
              <a:t>Multi-agent growth, governance impact, production readiness metrics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577840"/>
            <a:ext cx="50800" cy="64008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7784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4D3D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5595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Token Economics, Architecture &amp; Takeaways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897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</a:defRPr>
            </a:pPr>
            <a:r>
              <a:t>Cost optimization, production patterns, and strategic implications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What Is Agentic AI?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</a:defRPr>
            </a:pPr>
            <a:r>
              <a:t>From chatbots to autonomous systems — the evolution presented across Databricks summits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515600" cy="7772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63500" cy="77724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019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4D3D"/>
                </a:solidFill>
              </a:defRPr>
            </a:pPr>
            <a:r>
              <a:t>Level 0: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90195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Single-turn Q&amp;A, no tools or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01952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Basic FAQ 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43200"/>
            <a:ext cx="10515600" cy="7772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743200"/>
            <a:ext cx="63500" cy="7772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163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F00"/>
                </a:solidFill>
              </a:defRPr>
            </a:pPr>
            <a:r>
              <a:t>Level 1: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1635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Human-directed, tool-assisted responses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16352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GitHub Copilot, AI/BI Genie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10515600" cy="7772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6350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307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Level 2: Task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3075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Autonomous single-task execution with tool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730752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RAG agents, coding agents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72000"/>
            <a:ext cx="10515600" cy="7772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572000"/>
            <a:ext cx="63500" cy="7772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Level 3: Multi-Agent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64515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Multiple agents collaborating via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645152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Supervisor + specialist patterns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486400"/>
            <a:ext cx="10515600" cy="7772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486400"/>
            <a:ext cx="63500" cy="77724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5595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55F7"/>
                </a:solidFill>
              </a:defRPr>
            </a:pPr>
            <a:r>
              <a:t>Level 4: Autonomous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55955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Fully autonomous, long-running 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559552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Digital workers, agent fleets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000" b="0">
                <a:solidFill>
                  <a:srgbClr val="707890"/>
                </a:solidFill>
              </a:defRPr>
            </a:pPr>
            <a:r>
              <a:t>Source: Composite maturity model — Databricks Summit, Google Cloud Next, McKinsey, Sequoia Capital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Databricks CEO Vision: The Agentic 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3500" cy="146304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46304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FFFFFF"/>
                </a:solidFill>
              </a:defRPr>
            </a:pPr>
            <a:r>
              <a:t>"It's very elusive to get AI that really works and understands that proprietary data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FFFFFF"/>
                </a:solidFill>
              </a:defRPr>
            </a:pPr>
            <a:r>
              <a:t>that's inside enterprise... this could maybe get all the way to a trillion."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FF6F00"/>
                </a:solidFill>
              </a:defRPr>
            </a:pPr>
            <a:r>
              <a:t>— Ali Ghodsi, CEO &amp; Co-Founder, Databricks  |  Fortune Brainstorm AI, December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3383280" cy="23774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33832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F00"/>
                </a:solidFill>
              </a:defRPr>
            </a:pPr>
            <a:r>
              <a:t>Enterprise Data + AI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03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General AI knowledge is commoditized — agents with proprietary enterprise data create unique, defensible value. Databricks positions itself as the data intelligence platform for this 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200400"/>
            <a:ext cx="3383280" cy="23774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200400"/>
            <a:ext cx="33832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AI Agents Building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703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80% of databases on the Databricks platform are now created by AI agents, not humans. This drove the launch of Lakebase — a Postgres-compatible database built for agent-scale workloads.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200400"/>
            <a:ext cx="3383280" cy="23774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3200400"/>
            <a:ext cx="33832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</a:defRPr>
            </a:pPr>
            <a:r>
              <a:t>Open Platform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7033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Cloud-agnostic, open-source approach (MLflow, Unity Catalog, Apache Spark) attracts enterprises. Customers choose flexibility across AWS, GCP, Azure, and on-premise deployments.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760720"/>
            <a:ext cx="246888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760720"/>
            <a:ext cx="24688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97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F00"/>
                </a:solidFill>
              </a:defRPr>
            </a:pPr>
            <a:r>
              <a:t>$134B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400800"/>
            <a:ext cx="21031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Latest Valuation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5760720"/>
            <a:ext cx="246888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0" y="5760720"/>
            <a:ext cx="24688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5897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400800"/>
            <a:ext cx="21031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DBs Created</a:t>
            </a:r>
            <a:br/>
            <a:r>
              <a:t>by AI Agents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5760720"/>
            <a:ext cx="246888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5760720"/>
            <a:ext cx="24688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897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</a:defRPr>
            </a:pPr>
            <a:r>
              <a:t>60%+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400800"/>
            <a:ext cx="21031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Fortune 500</a:t>
            </a:r>
            <a:br/>
            <a:r>
              <a:t>on Platform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0" y="5760720"/>
            <a:ext cx="246888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61120" y="5760720"/>
            <a:ext cx="246888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5897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A755F7"/>
                </a:solidFill>
              </a:defRPr>
            </a:pPr>
            <a:r>
              <a:t>327%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6400800"/>
            <a:ext cx="21031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Multi-Agent</a:t>
            </a:r>
            <a:br/>
            <a:r>
              <a:t>Growth (4 mo)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Databricks Mosaic AI: The Agent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0292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F00"/>
                </a:solidFill>
              </a:defRPr>
            </a:pPr>
            <a:r>
              <a:t>Compound AI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Tuned foundation models + fine-tuning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Retrieval-Augmented Generation (RAG)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Tool use via Model Context Protocol (MCP)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Reasoning agents with multi-step planning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Multi-agent orchestration (supervisor pattern)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AEC0"/>
                </a:solidFill>
              </a:defRPr>
            </a:pPr>
            <a:r>
              <a:t>Production systems use multiple components rather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A0AEC0"/>
                </a:solidFill>
              </a:defRPr>
            </a:pPr>
            <a:r>
              <a:t>than monolithic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371600"/>
            <a:ext cx="502920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1371600"/>
            <a:ext cx="50292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MCP &amp; Tool Calling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Managed MCP servers with Unity Catalog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UC Functions, Genie spaces, Vector Search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Parallel tool calling on Model Serving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On-behalf-of-user authentication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Custom MCP servers via Databricks Apps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AEC0"/>
                </a:solidFill>
              </a:defRPr>
            </a:pPr>
            <a:r>
              <a:t>Standard protocol for equipping agents with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A0AEC0"/>
                </a:solidFill>
              </a:defRPr>
            </a:pPr>
            <a:r>
              <a:t>enterprise tools and data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329184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329184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Agent Bricks (No-Code)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177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Auto-generates domain agents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High-level task descriptions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Auto-builds evaluations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Optimizes for quality &amp; cost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FFFFFF"/>
                </a:solidFill>
              </a:defRPr>
            </a:pPr>
            <a:r>
              <a:t>•  Supports multi-agent systems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114800"/>
            <a:ext cx="329184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4114800"/>
            <a:ext cx="329184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55F7"/>
                </a:solidFill>
              </a:defRPr>
            </a:pPr>
            <a:r>
              <a:t>MLflow 3.0 (Observability)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6177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Agent tracing &amp; monitoring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Prompt versioning &amp; registry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Cross-platform (AWS/GCP/prem)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Unity Catalog integration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FFFFFF"/>
                </a:solidFill>
              </a:defRPr>
            </a:pPr>
            <a:r>
              <a:t>•  Open-source, cloud-agnostic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114800"/>
            <a:ext cx="329184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0" y="4114800"/>
            <a:ext cx="329184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</a:defRPr>
            </a:pPr>
            <a:r>
              <a:t>Lakebase (Agent DB)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61772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Postgres-compatible, managed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Sub-10ms latency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10,000+ queries per second</a:t>
            </a:r>
          </a:p>
          <a:p>
            <a:pPr algn="l">
              <a:spcAft>
                <a:spcPts val="300"/>
              </a:spcAft>
              <a:defRPr sz="1200" b="0">
                <a:solidFill>
                  <a:srgbClr val="FFFFFF"/>
                </a:solidFill>
              </a:defRPr>
            </a:pPr>
            <a:r>
              <a:t>•  Zero-ETL with copy-on-write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FFFFFF"/>
                </a:solidFill>
              </a:defRPr>
            </a:pPr>
            <a:r>
              <a:t>•  Built for agent-scale workloads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Data + AI Summit 2024: Agentic AI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7432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</a:defRPr>
            </a:pPr>
            <a:r>
              <a:t>16,000+ in-person  |  60,000+ virtual  |  140 countries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51560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63500" cy="22860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F00"/>
                </a:solidFill>
              </a:defRPr>
            </a:pPr>
            <a:r>
              <a:t>Mosaic AI: Compound AI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</a:defRPr>
            </a:pPr>
            <a:r>
              <a:t>Databricks introduced Mosaic AI for building production-quality compound AI systems. The paradigm shifted from monolithic models to multi-component systems combining tuned models, retrieval, tool use, and reasoning 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48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New SDK for building, deploying &amp; evaluating AI agents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Foundation Model APIs with pay-per-token pricing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Mosaic AI Tool Catalog for enterprise function registries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Model Serving support for agents and RAG applications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1051560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114800"/>
            <a:ext cx="63500" cy="2286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251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B82F6"/>
                </a:solidFill>
              </a:defRPr>
            </a:pPr>
            <a:r>
              <a:t>GenAI Announcements Keynote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634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</a:defRPr>
            </a:pPr>
            <a:r>
              <a:t>Focus on production-grade compound AI and fine-tuning. Open-source adoption accelerated rapidly — Llama 3 captured 39% of open-source usage within 4 weeks of launch.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617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Fine-tuning support for foundation models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70% of GenAI companies use vector databases for RAG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Hugging Face Transformers jumped from #4 to #2 adoption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FFFFFF"/>
                </a:solidFill>
              </a:defRPr>
            </a:pPr>
            <a:r>
              <a:t>•  Open-source models preferred by 76% of LLM users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Data + AI Summit 2025: Agentic AI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7432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</a:defRPr>
            </a:pPr>
            <a:r>
              <a:t>June 9–12, 2025  |  San Francisco  |  22,000+ Attendees  |  700+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29184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F00"/>
                </a:solidFill>
              </a:defRPr>
            </a:pPr>
            <a:r>
              <a:t>Autonomous AI Agents in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Apurva Kumar — Walmart Global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</a:defRPr>
            </a:pPr>
            <a:r>
              <a:t>Architecture &amp; design principles for autonomous agents: containerization, orchestration, robustness, and real-time feedback loops.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45920"/>
            <a:ext cx="3291840" cy="20116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645920"/>
            <a:ext cx="329184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Agent Bricks: Multi-Agent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1945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Databricks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5146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</a:defRPr>
            </a:pPr>
            <a:r>
              <a:t>Natural language interactions with structured databases and unstructured documents. KBQA evaluation, data governance, and vector search.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645920"/>
            <a:ext cx="3291840" cy="20116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1645920"/>
            <a:ext cx="329184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</a:defRPr>
            </a:pPr>
            <a:r>
              <a:t>Multi-Agents in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1945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Tony Holdstock-Brown — Inngest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51460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</a:defRPr>
            </a:pPr>
            <a:r>
              <a:t>Techniques for building effective multi-agent networks deterministically while reducing compounding error rates across AI calls.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40480"/>
            <a:ext cx="3291840" cy="20116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840480"/>
            <a:ext cx="329184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55F7"/>
                </a:solidFill>
              </a:defRPr>
            </a:pPr>
            <a:r>
              <a:t>Quality Monitoring for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Databricks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70916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</a:defRPr>
            </a:pPr>
            <a:r>
              <a:t>Mosaic Agent Monitoring: user feedback integration, monitoring dashboards, quality evaluation using AI judges, and operational metrics.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40480"/>
            <a:ext cx="3291840" cy="20116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06240" y="3840480"/>
            <a:ext cx="329184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977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B8A6"/>
                </a:solidFill>
              </a:defRPr>
            </a:pPr>
            <a:r>
              <a:t>Building Responsible AI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Databricks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70916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</a:defRPr>
            </a:pPr>
            <a:r>
              <a:t>Fairness, transparency, regulatory compliance. Bias monitoring, explainability (SHAP/LIME), Unity Catalog governance, and LLM guardrails.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3840480"/>
            <a:ext cx="3291840" cy="20116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80960" y="3840480"/>
            <a:ext cx="3291840" cy="508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3977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4D3D"/>
                </a:solidFill>
              </a:defRPr>
            </a:pPr>
            <a:r>
              <a:t>Agentic AI in Finance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43891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Qubika (Sponsored)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70916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EC0"/>
                </a:solidFill>
              </a:defRPr>
            </a:pPr>
            <a:r>
              <a:t>AI finance agents using LangChain, RAG, and Databricks unified platform including MLflow and Mosaic AI integration.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Data + AI Summit 2026: Agentic AI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74320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</a:defRPr>
            </a:pPr>
            <a:r>
              <a:t>June 15–18, 2026  |  San Francisco  |  800+ Sessions Expected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3832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755648"/>
            <a:ext cx="3163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F00"/>
                </a:solidFill>
              </a:defRPr>
            </a:pPr>
            <a:r>
              <a:t>Beyond the Trace: adidas' Agent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848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adidas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317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</a:defRPr>
            </a:pPr>
            <a:r>
              <a:t>Maps agent→tool→prompt→retrieval→model call→post-processing chains. Rollup of risk, quality, and unit economics across the fleet. Uses MLflow Tracing + Unity Catalog for audit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33172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200+ serving endpoints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300+ data &amp; AI products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6,000+ registered models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600,000+ pipeline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45920"/>
            <a:ext cx="338328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645920"/>
            <a:ext cx="33832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1755648"/>
            <a:ext cx="3163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</a:defRPr>
            </a:pPr>
            <a:r>
              <a:t>Deploying and Monitoring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0848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Databricks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3317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</a:defRPr>
            </a:pPr>
            <a:r>
              <a:t>Hands-on course covering batch (AI Functions) and real-time (Model Serving) agent deployment. MLflow tracing, monitoring dashboards, and observability.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33172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Batch mode via AI Functions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Real-time REST endpoints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Built-in trace collection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Monitoring dashboards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45920"/>
            <a:ext cx="338328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1645920"/>
            <a:ext cx="33832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1755648"/>
            <a:ext cx="3163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</a:defRPr>
            </a:pPr>
            <a:r>
              <a:t>Building RAG Agents with Agent 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0848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Databricks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8" y="23317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</a:defRPr>
            </a:pPr>
            <a:r>
              <a:t>Hands-on training using Vector Search, AI Playground, and Agent Bricks for building production RAG agents.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233172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Vector Search integration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AI Playground testing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Auto-optimized agents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No-code building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069080"/>
            <a:ext cx="338328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069080"/>
            <a:ext cx="338328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178808"/>
            <a:ext cx="3163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55F7"/>
                </a:solidFill>
              </a:defRPr>
            </a:pPr>
            <a:r>
              <a:t>Building Tool-Calling Agents with MCP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0799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Databricks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4754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</a:defRPr>
            </a:pPr>
            <a:r>
              <a:t>Creating agents with tool-calling capabilities using the Databricks Agent Framework and Model Context Protocol (MCP).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75488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Model Context Protocol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Tool-calling capabilities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Agent Framework SDK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Enterprise integration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4069080"/>
            <a:ext cx="338328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60" y="406908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61688" y="4178808"/>
            <a:ext cx="3163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</a:defRPr>
            </a:pPr>
            <a:r>
              <a:t>Scaling Agentic AI with Lakebase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50799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Zillow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4754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</a:defRPr>
            </a:pPr>
            <a:r>
              <a:t>Agentic AI production strategy using Databricks Lakebase and enterprise data mesh patterns to support autonomous AI workloads at scale.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75488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Production agentic AI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Enterprise data mesh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Lakebase integration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Scalable architecture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4069080"/>
            <a:ext cx="338328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4069080"/>
            <a:ext cx="3383280" cy="508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82128" y="4178808"/>
            <a:ext cx="3163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D3D"/>
                </a:solidFill>
              </a:defRPr>
            </a:pPr>
            <a:r>
              <a:t>AI Agents for the Frontline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8" y="450799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7-Eleven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8" y="475488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EC0"/>
                </a:solidFill>
              </a:defRPr>
            </a:pPr>
            <a:r>
              <a:t>GenAI maintenance assistant for frontline store operations — demonstrating agentic AI applied outside traditional knowledge-worker domains.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475488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Frontline operations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Maintenance assistant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Real-world deployment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FFFFFF"/>
                </a:solidFill>
              </a:defRPr>
            </a:pPr>
            <a:r>
              <a:t>•  Non-desk workers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State of AI Agents Report (2026)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</a:defRPr>
            </a:pPr>
            <a:r>
              <a:t>Based on 20,000+ global customers  |  Published January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4688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F00"/>
                </a:solidFill>
              </a:defRPr>
            </a:pPr>
            <a:r>
              <a:t>327%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Multi-Agent Workflow</a:t>
            </a:r>
            <a:br/>
            <a:r>
              <a:t>Growth in 4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45920"/>
            <a:ext cx="24688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783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80%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New Databases Built</a:t>
            </a:r>
            <a:br/>
            <a:r>
              <a:t>by AI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45920"/>
            <a:ext cx="24688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</a:defRPr>
            </a:pPr>
            <a:r>
              <a:t>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Organizations with Agents</a:t>
            </a:r>
            <a:br/>
            <a:r>
              <a:t>Deployed at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4592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1645920"/>
            <a:ext cx="246888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7830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A755F7"/>
                </a:solidFill>
              </a:defRPr>
            </a:pPr>
            <a:r>
              <a:t>37%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Use Supervisor Agent</a:t>
            </a:r>
            <a:br/>
            <a:r>
              <a:t>Architecture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474720"/>
            <a:ext cx="5029200" cy="29260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474720"/>
            <a:ext cx="502920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B8A6"/>
                </a:solidFill>
              </a:defRPr>
            </a:pPr>
            <a:r>
              <a:t>Governance Impact on Production Success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2336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600" b="1">
                <a:solidFill>
                  <a:srgbClr val="FF6F00"/>
                </a:solidFill>
              </a:defRPr>
            </a:pPr>
            <a:r>
              <a:t>12x</a:t>
            </a:r>
          </a:p>
          <a:p>
            <a:pPr algn="l">
              <a:spcAft>
                <a:spcPts val="1600"/>
              </a:spcAft>
              <a:defRPr sz="1400" b="0">
                <a:solidFill>
                  <a:srgbClr val="FFFFFF"/>
                </a:solidFill>
              </a:defRPr>
            </a:pPr>
            <a:r>
              <a:t>More AI projects in production for companies using governance tools</a:t>
            </a:r>
          </a:p>
          <a:p>
            <a:pPr algn="l">
              <a:spcAft>
                <a:spcPts val="200"/>
              </a:spcAft>
              <a:defRPr sz="3600" b="1">
                <a:solidFill>
                  <a:srgbClr val="3B82F6"/>
                </a:solidFill>
              </a:defRPr>
            </a:pPr>
            <a:r>
              <a:t>6x</a:t>
            </a:r>
          </a:p>
          <a:p>
            <a:pPr algn="l">
              <a:spcAft>
                <a:spcPts val="1600"/>
              </a:spcAft>
              <a:defRPr sz="1400" b="0">
                <a:solidFill>
                  <a:srgbClr val="FFFFFF"/>
                </a:solidFill>
              </a:defRPr>
            </a:pPr>
            <a:r>
              <a:t>More production deployments for companies using evaluation tools</a:t>
            </a:r>
          </a:p>
          <a:p>
            <a:pPr algn="l">
              <a:spcAft>
                <a:spcPts val="200"/>
              </a:spcAft>
              <a:defRPr sz="3600" b="1">
                <a:solidFill>
                  <a:srgbClr val="22C55E"/>
                </a:solidFill>
              </a:defRPr>
            </a:pPr>
            <a:r>
              <a:t>7x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FFFFFF"/>
                </a:solidFill>
              </a:defRPr>
            </a:pPr>
            <a:r>
              <a:t>Growth in AI Gateway governance product usage in 9 months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474720"/>
            <a:ext cx="5029200" cy="29260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3474720"/>
            <a:ext cx="502920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55F7"/>
                </a:solidFill>
              </a:defRPr>
            </a:pPr>
            <a:r>
              <a:t>Use Cases &amp; Model Diversity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02336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FF6F00"/>
                </a:solidFill>
              </a:defRPr>
            </a:pPr>
            <a:r>
              <a:t>40%  Customer Experience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A0AEC0"/>
                </a:solidFill>
              </a:defRPr>
            </a:pPr>
            <a:r>
              <a:t>       Support, onboarding, and engagement agents</a:t>
            </a:r>
          </a:p>
          <a:p>
            <a:pPr algn="l">
              <a:spcAft>
                <a:spcPts val="400"/>
              </a:spcAft>
              <a:defRPr sz="1600" b="1">
                <a:solidFill>
                  <a:srgbClr val="3B82F6"/>
                </a:solidFill>
              </a:defRPr>
            </a:pPr>
            <a:r>
              <a:t>35%  Predictive Maintenance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A0AEC0"/>
                </a:solidFill>
              </a:defRPr>
            </a:pPr>
            <a:r>
              <a:t>       Manufacturing &amp; automotive monitoring</a:t>
            </a:r>
          </a:p>
          <a:p>
            <a:pPr algn="l">
              <a:spcAft>
                <a:spcPts val="400"/>
              </a:spcAft>
              <a:defRPr sz="1600" b="1">
                <a:solidFill>
                  <a:srgbClr val="22C55E"/>
                </a:solidFill>
              </a:defRPr>
            </a:pPr>
            <a:r>
              <a:t>23%  Medical Literature Synthesis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A0AEC0"/>
                </a:solidFill>
              </a:defRPr>
            </a:pPr>
            <a:r>
              <a:t>       Healthcare document processing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4B8A6"/>
                </a:solidFill>
              </a:defRPr>
            </a:pPr>
            <a:r>
              <a:t>77%  Use 2+ model families  |  59% use 3+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A0AEC0"/>
                </a:solidFill>
              </a:defRPr>
            </a:pPr>
            <a:r>
              <a:t>       Multi-model strategy is the enterprise norm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Enterprise Case Studies from Databricks Summits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74320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813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F00"/>
                </a:solidFill>
              </a:defRPr>
            </a:pPr>
            <a:r>
              <a:t>adidas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Agent Digital Twin for Governance &amp;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200+ serving endpoints, 300+ data &amp; AI products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98.5% token efficiency (200K → 3K input tokens)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91.67% cost savings through LLM optimization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Per-hop unit economics and cost leak forensics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MLflow Tracing + Unity Catalog for audit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38328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3832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813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Walmart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Autonomous AI Agents &amp;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0312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90% reduction in time-to-value with AI/BI Genie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$5.6M annual savings from FTE hours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AI chatbot 'Sparky' driving increased spend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Conversational AI agents for store managers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Autonomous agent architecture (Summit 2025)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371600"/>
            <a:ext cx="338328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63840" y="1371600"/>
            <a:ext cx="33832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14813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C55E"/>
                </a:solidFill>
              </a:defRPr>
            </a:pPr>
            <a:r>
              <a:t>AstraZeneca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783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Clinical Trial Document Processing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10312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400,000+ documents reviewed in under 60 minutes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No coding required using Agent Bricks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Surpassed open-source alternatives in accuracy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Production-grade agent with enterprise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77640"/>
            <a:ext cx="338328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77640"/>
            <a:ext cx="338328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873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55F7"/>
                </a:solidFill>
              </a:defRPr>
            </a:pPr>
            <a:r>
              <a:t>7-Eleven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3891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GenAI Frontline Maintenance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091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AI agents for non-desk frontline workers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Store maintenance and operations assistance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Real-world deployment beyond knowledge workers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Presented at Summit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977640"/>
            <a:ext cx="338328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97764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40873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B8A6"/>
                </a:solidFill>
              </a:defRPr>
            </a:pPr>
            <a:r>
              <a:t>Zillow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3891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Agentic AI &amp; Enterprise Data Mesh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7091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Production agentic AI strategy with Lakebase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Enterprise data mesh for autonomous workloads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Scaling real estate AI agents at production volume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Presented at Summit 2026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3977640"/>
            <a:ext cx="3383280" cy="246888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863840" y="3977640"/>
            <a:ext cx="3383280" cy="508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40873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4D3D"/>
                </a:solidFill>
              </a:defRPr>
            </a:pPr>
            <a:r>
              <a:t>Royal Bank of Canada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3891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AI Agents for Equity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4709160"/>
            <a:ext cx="3108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Reduced research work from days to minutes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Agents work with proprietary financial data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Highlighted by CEO as key enterprise success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A0AEC0"/>
                </a:solidFill>
              </a:defRPr>
            </a:pPr>
            <a:r>
              <a:t>•  Demonstrates value of agents + proprietary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Token Economics &amp; Cost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0292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F00"/>
                </a:solidFill>
              </a:defRPr>
            </a:pPr>
            <a:r>
              <a:t>Databricks Inference Pricing (DBRX)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Input Tokens:     $0.0005 / 1K tokens</a:t>
            </a:r>
          </a:p>
          <a:p>
            <a:pPr algn="l"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Output Tokens:   $0.0015 / 1K tokens</a:t>
            </a:r>
          </a:p>
          <a:p>
            <a:pPr algn="l"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Agent Evaluation:  $0.018 / judge request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A0AEC0"/>
                </a:solidFill>
              </a:defRPr>
            </a:pPr>
            <a:r>
              <a:t>(5,000 tokens per judge request increment)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371600"/>
            <a:ext cx="502920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1371600"/>
            <a:ext cx="50292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Production Agent Costs (Monthly)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Inference (1M convos):  $3,000 – $7,000</a:t>
            </a:r>
          </a:p>
          <a:p>
            <a:pPr algn="l"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Base Compute:                $5,000 – $15,000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A0AEC0"/>
                </a:solidFill>
              </a:defRPr>
            </a:pPr>
            <a:r>
              <a:t>+ Storage, networking, and monitoring overhead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22C55E"/>
                </a:solidFill>
              </a:defRPr>
            </a:pPr>
            <a:r>
              <a:t>AI Functions: 3x faster, 4x lower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24688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F00"/>
                </a:solidFill>
              </a:defRPr>
            </a:pPr>
            <a:r>
              <a:t>98.5%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Token Efficiency Achieved</a:t>
            </a:r>
            <a:br/>
            <a:r>
              <a:t>(adidas: 200K → 3K tokens)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402336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4023360"/>
            <a:ext cx="24688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41605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91.67%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Cost Savings Through</a:t>
            </a:r>
            <a:br/>
            <a:r>
              <a:t>Token Optimization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02336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24688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1605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</a:defRPr>
            </a:pPr>
            <a:r>
              <a:t>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New Databases Created</a:t>
            </a:r>
            <a:br/>
            <a:r>
              <a:t>by AI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02336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4023360"/>
            <a:ext cx="246888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41605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A755F7"/>
                </a:solidFill>
              </a:defRPr>
            </a:pPr>
            <a:r>
              <a:t>97%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Test &amp; Dev Environments</a:t>
            </a:r>
            <a:br/>
            <a:r>
              <a:t>Created by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4D3D"/>
                </a:solidFill>
              </a:defRPr>
            </a:pPr>
            <a:r>
              <a:t>Gartner predicts &gt;40% of agentic AI projects will be canceled by end-2027 as costs rise and controls lag.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890"/>
                </a:solidFill>
              </a:defRPr>
            </a:pPr>
            <a:r>
              <a:t>Sources: Databricks Summit Sessions, adidas Summit Presentation, Getmonetizely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Agentic AI Architecture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2286000" cy="508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</a:defRPr>
            </a:pPr>
            <a:r>
              <a:t>Production architecture patterns highlighted across Databricks summits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029200" cy="4572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0292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F00"/>
                </a:solidFill>
              </a:defRPr>
            </a:pPr>
            <a:r>
              <a:t>Compound AI System (Databricks Pattern)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┌─────────────────────────────┐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│       USER / TRIGGER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└──────────────┬──────────────┘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  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          ▼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┌─────────────────────────────┐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│    AGENT ORCHESTRATOR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│ [Plan] [Memory] [Guardrail]│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└──────────────┬──────────────┘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    ┌─────┼─────┐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    ▼     ▼     ▼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 [RAG] [Tool] [Code]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  ↕     ↕     ↕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┌─────────────────────────────┐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│  DATA LAYER (Lakehouse)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│ Unity Catalog │ Lakebase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│ Vector Search │ Delta Lake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└─────────────────────────────┘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    ┌─────┴─────┐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[MLflow 3.0] [AI Gateway]</a:t>
            </a:r>
          </a:p>
          <a:p>
            <a:pPr algn="ctr">
              <a:spcAft>
                <a:spcPts val="0"/>
              </a:spcAft>
              <a:defRPr sz="1100">
                <a:solidFill>
                  <a:srgbClr val="FFFFFF"/>
                </a:solidFill>
                <a:latin typeface="Courier New"/>
              </a:defRPr>
            </a:pPr>
            <a:r>
              <a:t>     Monitoring   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5029200" cy="210312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645920"/>
            <a:ext cx="50292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Agent Orchestration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Supervisor: Manager agent delegates to specialists (37% adoption)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Sequential: Agents work in defined pipeline order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Parallel: Concurrent tool calls via managed MCP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ReAct: Reasoning + Acting loop with self-correction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FFFFFF"/>
                </a:solidFill>
              </a:defRPr>
            </a:pPr>
            <a:r>
              <a:t>•  Digital Twin: Agent mirroring for governance (adidas)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931920"/>
            <a:ext cx="5029200" cy="22860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02920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069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Monitoring &amp;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48056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End-user feedback for iterative improvement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AI judges for continuous quality evaluation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Token usage tracking via AI Gateway system tables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•  Per-hop cost forensics for agent chains</a:t>
            </a:r>
          </a:p>
          <a:p>
            <a:pPr algn="l">
              <a:spcAft>
                <a:spcPts val="600"/>
              </a:spcAft>
              <a:defRPr sz="1200" b="0">
                <a:solidFill>
                  <a:srgbClr val="FFFFFF"/>
                </a:solidFill>
              </a:defRPr>
            </a:pPr>
            <a:r>
              <a:t>•  MLflow 3.0 tracing across all deployment targets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Enterprise AI Agent Market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4688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F00"/>
                </a:solidFill>
              </a:defRPr>
            </a:pPr>
            <a:r>
              <a:t>$58B → $474B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Enterprise AI Market</a:t>
            </a:r>
            <a:br/>
            <a:r>
              <a:t>2025 → 2030 (52% CAGR)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4688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$644B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GenAI Spend</a:t>
            </a:r>
            <a:br/>
            <a:r>
              <a:t>Forecast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4688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2C55E"/>
                </a:solidFill>
              </a:defRPr>
            </a:pPr>
            <a:r>
              <a:t>$1.5T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Total AI Spend</a:t>
            </a:r>
            <a:br/>
            <a:r>
              <a:t>Forecast 2025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716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371600"/>
            <a:ext cx="2468880" cy="508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A755F7"/>
                </a:solidFill>
              </a:defRPr>
            </a:pPr>
            <a: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0116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C-Suite Executives Rank</a:t>
            </a:r>
            <a:br/>
            <a:r>
              <a:t>AI as Top-3 Priority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2004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200400"/>
            <a:ext cx="24688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4B8A6"/>
                </a:solidFill>
              </a:defRPr>
            </a:pPr>
            <a:r>
              <a:t>11x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0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More AI Models</a:t>
            </a:r>
            <a:br/>
            <a:r>
              <a:t>Deployed YoY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32004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0" y="3200400"/>
            <a:ext cx="2468880" cy="50800"/>
          </a:xfrm>
          <a:prstGeom prst="rect">
            <a:avLst/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84D3D"/>
                </a:solidFill>
              </a:defRPr>
            </a:pPr>
            <a:r>
              <a:t>3x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840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More Efficient at</a:t>
            </a:r>
            <a:br/>
            <a:r>
              <a:t>Production Deployment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004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200400"/>
            <a:ext cx="24688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377%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840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Vector Database</a:t>
            </a:r>
            <a:br/>
            <a:r>
              <a:t>Usage Growth YoY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1120" y="3200400"/>
            <a:ext cx="2468880" cy="146304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0" y="3200400"/>
            <a:ext cx="246888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F00"/>
                </a:solidFill>
              </a:defRPr>
            </a:pPr>
            <a:r>
              <a:t>76%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840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EC0"/>
                </a:solidFill>
              </a:defRPr>
            </a:pPr>
            <a:r>
              <a:t>Companies Using LLMs</a:t>
            </a:r>
            <a:br/>
            <a:r>
              <a:t>Choose Open Source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029200"/>
            <a:ext cx="10515600" cy="13716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5029200"/>
            <a:ext cx="63500" cy="13716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5120640"/>
            <a:ext cx="9601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6F00"/>
                </a:solidFill>
              </a:defRPr>
            </a:pPr>
            <a:r>
              <a:t>Key Insight: Financial Services leads GPU usage growth at 88% over 6 months,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A0AEC0"/>
                </a:solidFill>
              </a:defRPr>
            </a:pPr>
            <a:r>
              <a:t>followed by Healthcare &amp; Life Sciences — highly regulated industries are the surprise early adopters of GenAI.</a:t>
            </a:r>
          </a:p>
          <a:p>
            <a:pPr algn="l">
              <a:spcAft>
                <a:spcPts val="600"/>
              </a:spcAft>
              <a:defRPr sz="1100" b="0">
                <a:solidFill>
                  <a:srgbClr val="707890"/>
                </a:solidFill>
              </a:defRPr>
            </a:pPr>
            <a:r>
              <a:t>Source: Databricks State of Data + AI Report 2024 — 10,000+ global customers including 300+ Fortune 500 companies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37160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3500" cy="9144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F00"/>
                </a:solidFill>
              </a:defRPr>
            </a:pPr>
            <a:r>
              <a:t>AI Agents Are Reshaping Enterprise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80% of databases on Databricks are now created by AI agents. Multi-agent workflows grew 327% in just 4 months. The shift from single chatbots to autonomous multi-agent systems is accelerating rapidly.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1051560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23160"/>
            <a:ext cx="63500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68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</a:defRPr>
            </a:pPr>
            <a:r>
              <a:t>Token Optimization Is Critical for ROI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8892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Companies like adidas achieved 98.5% token efficiency (200K → 3K tokens) and 91.67% cost savings. Without governance, Gartner predicts &gt;40% of agentic AI projects will be canceled by 2027.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74720"/>
            <a:ext cx="1051560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474720"/>
            <a:ext cx="63500" cy="9144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520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</a:defRPr>
            </a:pPr>
            <a:r>
              <a:t>Governance Multiplies Production Success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Companies using AI governance tools deploy 12x more projects to production. Evaluation tools yield 6x more deployments. AI Gateway governance usage grew 7x in 9 months.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1051560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526280"/>
            <a:ext cx="63500" cy="914400"/>
          </a:xfrm>
          <a:prstGeom prst="rect">
            <a:avLst/>
          </a:prstGeom>
          <a:solidFill>
            <a:srgbClr val="A7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72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55F7"/>
                </a:solidFill>
              </a:defRPr>
            </a:pPr>
            <a:r>
              <a:t>Enterprise Case Studies Show Massive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892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Walmart saved $5.6M annually; AstraZeneca reviewed 400K documents in 60 minutes; Royal Bank of Canada reduced research from days to minutes; 7-Eleven deployed frontline AI agents.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77840"/>
            <a:ext cx="10515600" cy="914400"/>
          </a:xfrm>
          <a:prstGeom prst="roundRect">
            <a:avLst/>
          </a:prstGeom>
          <a:solidFill>
            <a:srgbClr val="25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577840"/>
            <a:ext cx="63500" cy="914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23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</a:defRPr>
            </a:pPr>
            <a:r>
              <a:t>The Technology Stack Is Maturing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94360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</a:defRPr>
            </a:pPr>
            <a:r>
              <a:t>Mosaic AI for compound systems, MLflow 3.0 for observability, Agent Bricks for no-code building, MCP for tool-calling, and Lakebase for agent databases — the enterprise agent platform is production-ready.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Sources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645920" cy="5080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1.  Databricks Data + AI Summit 2024 — Mosaic AI Compound Systems Keynote &amp; Sessions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2.  Databricks Data + AI Summit 2025 — Agent Sessions (June 9–12, San Francisco)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3.  Databricks Data + AI Summit 2026 — Agent Sessions (June 15–18, San Francisco)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4.  Databricks State of Data + AI Report 2024 (10,000+ customers, 300+ Fortune 500)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5.  Databricks State of AI Agents Report 2026 (20,000+ global customers)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6.  Databricks Blog: Enterprise AI Agent Trends — Use Cases, Governance &amp; Evaluations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7.  Databricks Blog: Mosaic AI Announcements at Data + AI Summit 2025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8.  Databricks Blog: Managed MCP Servers with Unity Catalog and Mosaic AI Integration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9.  adidas: Beyond the Trace — Agent Digital Twin (Summit 2026)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10.  Walmart: Autonomous AI Agents in AI Infrastructure (Summit 2025)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11.  AstraZeneca: Clinical Trial Document Processing via Agent Bricks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12.  7-Eleven: AI Agents for the Frontline — GenAI Maintenance Assistant (Summit 2026)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13.  Zillow: Scaling Agentic AI and Enterprise Data Mesh with Lakebase (Summit 2026)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14.  Royal Bank of Canada: AI Agents for Equity Research (CEO Keynote Reference)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15.  Ali Ghodsi (Databricks CEO): Fortune Brainstorm AI Interview, December 2025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16.  Ali Ghodsi (Databricks CEO): CNBC — Under the Hood of the AI Economy, Feb 2026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17.  Getmonetizely: Production-Grade AI Agents on Databricks Mosaic — Cost Analysis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A0AEC0"/>
                </a:solidFill>
              </a:defRPr>
            </a:pPr>
            <a:r>
              <a:t>18.  Databricks Docs: AI Gateway Usage Tracking (system.ai_gateway.usage tables)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890"/>
                </a:solidFill>
              </a:defRPr>
            </a:pPr>
            <a:r>
              <a:t>All data sourced from publicly available Databricks summit sessions, blog posts, and reports.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
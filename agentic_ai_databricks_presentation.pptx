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743200"/>
            <a:ext cx="1371600" cy="635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058400" cy="548640"/>
          </a:xfrm>
          <a:prstGeom prst="rect">
            <a:avLst/>
          </a:prstGeom>
          <a:noFill/>
        </p:spPr>
        <p:txBody>
          <a:bodyPr wrap="square">
            <a:spAutoFit/>
          </a:bodyPr>
          <a:lstStyle/>
          <a:p>
            <a:pPr algn="l">
              <a:defRPr sz="1800" b="1">
                <a:solidFill>
                  <a:srgbClr val="FF6F00"/>
                </a:solidFill>
              </a:defRPr>
            </a:pPr>
            <a:r>
              <a:t>DATABRICKS DATA + AI SUMMIT SERIES</a:t>
            </a:r>
          </a:p>
        </p:txBody>
      </p:sp>
      <p:sp>
        <p:nvSpPr>
          <p:cNvPr id="5" name="TextBox 4"/>
          <p:cNvSpPr txBox="1"/>
          <p:nvPr/>
        </p:nvSpPr>
        <p:spPr>
          <a:xfrm>
            <a:off x="914400" y="1645920"/>
            <a:ext cx="10058400" cy="1097280"/>
          </a:xfrm>
          <a:prstGeom prst="rect">
            <a:avLst/>
          </a:prstGeom>
          <a:noFill/>
        </p:spPr>
        <p:txBody>
          <a:bodyPr wrap="square">
            <a:spAutoFit/>
          </a:bodyPr>
          <a:lstStyle/>
          <a:p>
            <a:pPr algn="l">
              <a:defRPr sz="5200" b="1">
                <a:solidFill>
                  <a:srgbClr val="FFFFFF"/>
                </a:solidFill>
              </a:defRPr>
            </a:pPr>
            <a:r>
              <a:t>Agentic AI</a:t>
            </a:r>
          </a:p>
        </p:txBody>
      </p:sp>
      <p:sp>
        <p:nvSpPr>
          <p:cNvPr id="6" name="TextBox 5"/>
          <p:cNvSpPr txBox="1"/>
          <p:nvPr/>
        </p:nvSpPr>
        <p:spPr>
          <a:xfrm>
            <a:off x="914400" y="3017520"/>
            <a:ext cx="10058400" cy="731520"/>
          </a:xfrm>
          <a:prstGeom prst="rect">
            <a:avLst/>
          </a:prstGeom>
          <a:noFill/>
        </p:spPr>
        <p:txBody>
          <a:bodyPr wrap="square">
            <a:spAutoFit/>
          </a:bodyPr>
          <a:lstStyle/>
          <a:p>
            <a:pPr algn="l">
              <a:defRPr sz="2000" b="0">
                <a:solidFill>
                  <a:srgbClr val="A0AEC0"/>
                </a:solidFill>
              </a:defRPr>
            </a:pPr>
            <a:r>
              <a:t>Enterprise Adoption, Architecture &amp; Production Insights from</a:t>
            </a:r>
            <a:br/>
            <a:r>
              <a:t>Databricks Data + AI Summit 2024, 2025 &amp; 2026</a:t>
            </a:r>
          </a:p>
        </p:txBody>
      </p:sp>
      <p:sp>
        <p:nvSpPr>
          <p:cNvPr id="7" name="TextBox 6"/>
          <p:cNvSpPr txBox="1"/>
          <p:nvPr/>
        </p:nvSpPr>
        <p:spPr>
          <a:xfrm>
            <a:off x="914400" y="3931920"/>
            <a:ext cx="10058400" cy="457200"/>
          </a:xfrm>
          <a:prstGeom prst="rect">
            <a:avLst/>
          </a:prstGeom>
          <a:noFill/>
        </p:spPr>
        <p:txBody>
          <a:bodyPr wrap="square">
            <a:spAutoFit/>
          </a:bodyPr>
          <a:lstStyle/>
          <a:p>
            <a:pPr algn="l">
              <a:defRPr sz="1400" b="0">
                <a:solidFill>
                  <a:srgbClr val="707890"/>
                </a:solidFill>
              </a:defRPr>
            </a:pPr>
            <a:r>
              <a:t>Sourced from summit keynotes, sessions, and the State of AI Agents report</a:t>
            </a:r>
          </a:p>
        </p:txBody>
      </p:sp>
      <p:sp>
        <p:nvSpPr>
          <p:cNvPr id="8" name="Rounded Rectangle 7"/>
          <p:cNvSpPr/>
          <p:nvPr/>
        </p:nvSpPr>
        <p:spPr>
          <a:xfrm>
            <a:off x="914400" y="4754880"/>
            <a:ext cx="237744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4754880"/>
            <a:ext cx="237744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892040"/>
            <a:ext cx="2011680" cy="548640"/>
          </a:xfrm>
          <a:prstGeom prst="rect">
            <a:avLst/>
          </a:prstGeom>
          <a:noFill/>
        </p:spPr>
        <p:txBody>
          <a:bodyPr wrap="square">
            <a:spAutoFit/>
          </a:bodyPr>
          <a:lstStyle/>
          <a:p>
            <a:pPr algn="ctr">
              <a:defRPr sz="2800" b="1">
                <a:solidFill>
                  <a:srgbClr val="FF6F00"/>
                </a:solidFill>
              </a:defRPr>
            </a:pPr>
            <a:r>
              <a:t>20,000+</a:t>
            </a:r>
          </a:p>
        </p:txBody>
      </p:sp>
      <p:sp>
        <p:nvSpPr>
          <p:cNvPr id="11" name="TextBox 10"/>
          <p:cNvSpPr txBox="1"/>
          <p:nvPr/>
        </p:nvSpPr>
        <p:spPr>
          <a:xfrm>
            <a:off x="1097280" y="5394960"/>
            <a:ext cx="2011680" cy="640080"/>
          </a:xfrm>
          <a:prstGeom prst="rect">
            <a:avLst/>
          </a:prstGeom>
          <a:noFill/>
        </p:spPr>
        <p:txBody>
          <a:bodyPr wrap="square">
            <a:spAutoFit/>
          </a:bodyPr>
          <a:lstStyle/>
          <a:p>
            <a:pPr algn="ctr">
              <a:defRPr sz="1200" b="0">
                <a:solidFill>
                  <a:srgbClr val="A0AEC0"/>
                </a:solidFill>
              </a:defRPr>
            </a:pPr>
            <a:r>
              <a:t>Databricks Customers</a:t>
            </a:r>
            <a:br/>
            <a:r>
              <a:t>Worldwide</a:t>
            </a:r>
          </a:p>
        </p:txBody>
      </p:sp>
      <p:sp>
        <p:nvSpPr>
          <p:cNvPr id="12" name="Rounded Rectangle 11"/>
          <p:cNvSpPr/>
          <p:nvPr/>
        </p:nvSpPr>
        <p:spPr>
          <a:xfrm>
            <a:off x="3520440" y="4754880"/>
            <a:ext cx="237744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4754880"/>
            <a:ext cx="237744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03320" y="4892040"/>
            <a:ext cx="2011680" cy="548640"/>
          </a:xfrm>
          <a:prstGeom prst="rect">
            <a:avLst/>
          </a:prstGeom>
          <a:noFill/>
        </p:spPr>
        <p:txBody>
          <a:bodyPr wrap="square">
            <a:spAutoFit/>
          </a:bodyPr>
          <a:lstStyle/>
          <a:p>
            <a:pPr algn="ctr">
              <a:defRPr sz="2800" b="1">
                <a:solidFill>
                  <a:srgbClr val="3B82F6"/>
                </a:solidFill>
              </a:defRPr>
            </a:pPr>
            <a:r>
              <a:t>$134B</a:t>
            </a:r>
          </a:p>
        </p:txBody>
      </p:sp>
      <p:sp>
        <p:nvSpPr>
          <p:cNvPr id="15" name="TextBox 14"/>
          <p:cNvSpPr txBox="1"/>
          <p:nvPr/>
        </p:nvSpPr>
        <p:spPr>
          <a:xfrm>
            <a:off x="3703320" y="5394960"/>
            <a:ext cx="2011680" cy="640080"/>
          </a:xfrm>
          <a:prstGeom prst="rect">
            <a:avLst/>
          </a:prstGeom>
          <a:noFill/>
        </p:spPr>
        <p:txBody>
          <a:bodyPr wrap="square">
            <a:spAutoFit/>
          </a:bodyPr>
          <a:lstStyle/>
          <a:p>
            <a:pPr algn="ctr">
              <a:defRPr sz="1200" b="0">
                <a:solidFill>
                  <a:srgbClr val="A0AEC0"/>
                </a:solidFill>
              </a:defRPr>
            </a:pPr>
            <a:r>
              <a:t>Valuation</a:t>
            </a:r>
            <a:br/>
            <a:r>
              <a:t>(Latest Raise)</a:t>
            </a:r>
          </a:p>
        </p:txBody>
      </p:sp>
      <p:sp>
        <p:nvSpPr>
          <p:cNvPr id="16" name="Rounded Rectangle 15"/>
          <p:cNvSpPr/>
          <p:nvPr/>
        </p:nvSpPr>
        <p:spPr>
          <a:xfrm>
            <a:off x="6126480" y="4754880"/>
            <a:ext cx="237744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4754880"/>
            <a:ext cx="237744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4892040"/>
            <a:ext cx="2011680" cy="548640"/>
          </a:xfrm>
          <a:prstGeom prst="rect">
            <a:avLst/>
          </a:prstGeom>
          <a:noFill/>
        </p:spPr>
        <p:txBody>
          <a:bodyPr wrap="square">
            <a:spAutoFit/>
          </a:bodyPr>
          <a:lstStyle/>
          <a:p>
            <a:pPr algn="ctr">
              <a:defRPr sz="2800" b="1">
                <a:solidFill>
                  <a:srgbClr val="22C55E"/>
                </a:solidFill>
              </a:defRPr>
            </a:pPr>
            <a:r>
              <a:t>60%+</a:t>
            </a:r>
          </a:p>
        </p:txBody>
      </p:sp>
      <p:sp>
        <p:nvSpPr>
          <p:cNvPr id="19" name="TextBox 18"/>
          <p:cNvSpPr txBox="1"/>
          <p:nvPr/>
        </p:nvSpPr>
        <p:spPr>
          <a:xfrm>
            <a:off x="6309360" y="5394960"/>
            <a:ext cx="2011680" cy="640080"/>
          </a:xfrm>
          <a:prstGeom prst="rect">
            <a:avLst/>
          </a:prstGeom>
          <a:noFill/>
        </p:spPr>
        <p:txBody>
          <a:bodyPr wrap="square">
            <a:spAutoFit/>
          </a:bodyPr>
          <a:lstStyle/>
          <a:p>
            <a:pPr algn="ctr">
              <a:defRPr sz="1200" b="0">
                <a:solidFill>
                  <a:srgbClr val="A0AEC0"/>
                </a:solidFill>
              </a:defRPr>
            </a:pPr>
            <a:r>
              <a:t>Fortune 500</a:t>
            </a:r>
            <a:br/>
            <a:r>
              <a:t>on Platform</a:t>
            </a:r>
          </a:p>
        </p:txBody>
      </p:sp>
      <p:sp>
        <p:nvSpPr>
          <p:cNvPr id="20" name="Rounded Rectangle 19"/>
          <p:cNvSpPr/>
          <p:nvPr/>
        </p:nvSpPr>
        <p:spPr>
          <a:xfrm>
            <a:off x="8732520" y="4754880"/>
            <a:ext cx="237744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732520" y="4754880"/>
            <a:ext cx="237744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5400" y="4892040"/>
            <a:ext cx="2011680" cy="548640"/>
          </a:xfrm>
          <a:prstGeom prst="rect">
            <a:avLst/>
          </a:prstGeom>
          <a:noFill/>
        </p:spPr>
        <p:txBody>
          <a:bodyPr wrap="square">
            <a:spAutoFit/>
          </a:bodyPr>
          <a:lstStyle/>
          <a:p>
            <a:pPr algn="ctr">
              <a:defRPr sz="2800" b="1">
                <a:solidFill>
                  <a:srgbClr val="A755F7"/>
                </a:solidFill>
              </a:defRPr>
            </a:pPr>
            <a:r>
              <a:t>800+</a:t>
            </a:r>
          </a:p>
        </p:txBody>
      </p:sp>
      <p:sp>
        <p:nvSpPr>
          <p:cNvPr id="23" name="TextBox 22"/>
          <p:cNvSpPr txBox="1"/>
          <p:nvPr/>
        </p:nvSpPr>
        <p:spPr>
          <a:xfrm>
            <a:off x="8915400" y="5394960"/>
            <a:ext cx="2011680" cy="640080"/>
          </a:xfrm>
          <a:prstGeom prst="rect">
            <a:avLst/>
          </a:prstGeom>
          <a:noFill/>
        </p:spPr>
        <p:txBody>
          <a:bodyPr wrap="square">
            <a:spAutoFit/>
          </a:bodyPr>
          <a:lstStyle/>
          <a:p>
            <a:pPr algn="ctr">
              <a:defRPr sz="1200" b="0">
                <a:solidFill>
                  <a:srgbClr val="A0AEC0"/>
                </a:solidFill>
              </a:defRPr>
            </a:pPr>
            <a:r>
              <a:t>Sessions at</a:t>
            </a:r>
            <a:br/>
            <a:r>
              <a:t>Summit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Agenda</a:t>
            </a:r>
          </a:p>
        </p:txBody>
      </p:sp>
      <p:sp>
        <p:nvSpPr>
          <p:cNvPr id="4" name="Rectangle 3"/>
          <p:cNvSpPr/>
          <p:nvPr/>
        </p:nvSpPr>
        <p:spPr>
          <a:xfrm>
            <a:off x="731520" y="1051560"/>
            <a:ext cx="18288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17320"/>
            <a:ext cx="50800" cy="59436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17320"/>
            <a:ext cx="548640" cy="594360"/>
          </a:xfrm>
          <a:prstGeom prst="rect">
            <a:avLst/>
          </a:prstGeom>
          <a:noFill/>
        </p:spPr>
        <p:txBody>
          <a:bodyPr wrap="square">
            <a:spAutoFit/>
          </a:bodyPr>
          <a:lstStyle/>
          <a:p>
            <a:pPr algn="l">
              <a:defRPr sz="2200" b="1">
                <a:solidFill>
                  <a:srgbClr val="FF6F00"/>
                </a:solidFill>
              </a:defRPr>
            </a:pPr>
            <a:r>
              <a:t>01</a:t>
            </a:r>
          </a:p>
        </p:txBody>
      </p:sp>
      <p:sp>
        <p:nvSpPr>
          <p:cNvPr id="7" name="TextBox 6"/>
          <p:cNvSpPr txBox="1"/>
          <p:nvPr/>
        </p:nvSpPr>
        <p:spPr>
          <a:xfrm>
            <a:off x="1645920" y="1399032"/>
            <a:ext cx="4572000" cy="320040"/>
          </a:xfrm>
          <a:prstGeom prst="rect">
            <a:avLst/>
          </a:prstGeom>
          <a:noFill/>
        </p:spPr>
        <p:txBody>
          <a:bodyPr wrap="square">
            <a:spAutoFit/>
          </a:bodyPr>
          <a:lstStyle/>
          <a:p>
            <a:pPr algn="l">
              <a:defRPr sz="1800" b="1">
                <a:solidFill>
                  <a:srgbClr val="FFFFFF"/>
                </a:solidFill>
              </a:defRPr>
            </a:pPr>
            <a:r>
              <a:t>What Is Agentic AI?</a:t>
            </a:r>
          </a:p>
        </p:txBody>
      </p:sp>
      <p:sp>
        <p:nvSpPr>
          <p:cNvPr id="8" name="TextBox 7"/>
          <p:cNvSpPr txBox="1"/>
          <p:nvPr/>
        </p:nvSpPr>
        <p:spPr>
          <a:xfrm>
            <a:off x="1645920" y="1691640"/>
            <a:ext cx="7315200" cy="320040"/>
          </a:xfrm>
          <a:prstGeom prst="rect">
            <a:avLst/>
          </a:prstGeom>
          <a:noFill/>
        </p:spPr>
        <p:txBody>
          <a:bodyPr wrap="square">
            <a:spAutoFit/>
          </a:bodyPr>
          <a:lstStyle/>
          <a:p>
            <a:pPr algn="l">
              <a:defRPr sz="1300" b="0">
                <a:solidFill>
                  <a:srgbClr val="A0AEC0"/>
                </a:solidFill>
              </a:defRPr>
            </a:pPr>
            <a:r>
              <a:t>Definition, evolution from chatbots to autonomous multi-agent systems</a:t>
            </a:r>
          </a:p>
        </p:txBody>
      </p:sp>
      <p:sp>
        <p:nvSpPr>
          <p:cNvPr id="9" name="Rectangle 8"/>
          <p:cNvSpPr/>
          <p:nvPr/>
        </p:nvSpPr>
        <p:spPr>
          <a:xfrm>
            <a:off x="731520" y="2148840"/>
            <a:ext cx="50800"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148840"/>
            <a:ext cx="548640" cy="594360"/>
          </a:xfrm>
          <a:prstGeom prst="rect">
            <a:avLst/>
          </a:prstGeom>
          <a:noFill/>
        </p:spPr>
        <p:txBody>
          <a:bodyPr wrap="square">
            <a:spAutoFit/>
          </a:bodyPr>
          <a:lstStyle/>
          <a:p>
            <a:pPr algn="l">
              <a:defRPr sz="2200" b="1">
                <a:solidFill>
                  <a:srgbClr val="3B82F6"/>
                </a:solidFill>
              </a:defRPr>
            </a:pPr>
            <a:r>
              <a:t>02</a:t>
            </a:r>
          </a:p>
        </p:txBody>
      </p:sp>
      <p:sp>
        <p:nvSpPr>
          <p:cNvPr id="11" name="TextBox 10"/>
          <p:cNvSpPr txBox="1"/>
          <p:nvPr/>
        </p:nvSpPr>
        <p:spPr>
          <a:xfrm>
            <a:off x="1645920" y="2130552"/>
            <a:ext cx="4572000" cy="320040"/>
          </a:xfrm>
          <a:prstGeom prst="rect">
            <a:avLst/>
          </a:prstGeom>
          <a:noFill/>
        </p:spPr>
        <p:txBody>
          <a:bodyPr wrap="square">
            <a:spAutoFit/>
          </a:bodyPr>
          <a:lstStyle/>
          <a:p>
            <a:pPr algn="l">
              <a:defRPr sz="1800" b="1">
                <a:solidFill>
                  <a:srgbClr val="FFFFFF"/>
                </a:solidFill>
              </a:defRPr>
            </a:pPr>
            <a:r>
              <a:t>Databricks' Agentic AI Platform</a:t>
            </a:r>
          </a:p>
        </p:txBody>
      </p:sp>
      <p:sp>
        <p:nvSpPr>
          <p:cNvPr id="12" name="TextBox 11"/>
          <p:cNvSpPr txBox="1"/>
          <p:nvPr/>
        </p:nvSpPr>
        <p:spPr>
          <a:xfrm>
            <a:off x="1645920" y="2423160"/>
            <a:ext cx="7315200" cy="320040"/>
          </a:xfrm>
          <a:prstGeom prst="rect">
            <a:avLst/>
          </a:prstGeom>
          <a:noFill/>
        </p:spPr>
        <p:txBody>
          <a:bodyPr wrap="square">
            <a:spAutoFit/>
          </a:bodyPr>
          <a:lstStyle/>
          <a:p>
            <a:pPr algn="l">
              <a:defRPr sz="1300" b="0">
                <a:solidFill>
                  <a:srgbClr val="A0AEC0"/>
                </a:solidFill>
              </a:defRPr>
            </a:pPr>
            <a:r>
              <a:t>Mosaic AI, Agent Bricks, MLflow 3.0, Lakebase, and MCP integration</a:t>
            </a:r>
          </a:p>
        </p:txBody>
      </p:sp>
      <p:sp>
        <p:nvSpPr>
          <p:cNvPr id="13" name="Rectangle 12"/>
          <p:cNvSpPr/>
          <p:nvPr/>
        </p:nvSpPr>
        <p:spPr>
          <a:xfrm>
            <a:off x="731520" y="2880360"/>
            <a:ext cx="50800" cy="59436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880360"/>
            <a:ext cx="548640" cy="594360"/>
          </a:xfrm>
          <a:prstGeom prst="rect">
            <a:avLst/>
          </a:prstGeom>
          <a:noFill/>
        </p:spPr>
        <p:txBody>
          <a:bodyPr wrap="square">
            <a:spAutoFit/>
          </a:bodyPr>
          <a:lstStyle/>
          <a:p>
            <a:pPr algn="l">
              <a:defRPr sz="2200" b="1">
                <a:solidFill>
                  <a:srgbClr val="22C55E"/>
                </a:solidFill>
              </a:defRPr>
            </a:pPr>
            <a:r>
              <a:t>03</a:t>
            </a:r>
          </a:p>
        </p:txBody>
      </p:sp>
      <p:sp>
        <p:nvSpPr>
          <p:cNvPr id="15" name="TextBox 14"/>
          <p:cNvSpPr txBox="1"/>
          <p:nvPr/>
        </p:nvSpPr>
        <p:spPr>
          <a:xfrm>
            <a:off x="1645920" y="2862072"/>
            <a:ext cx="4572000" cy="320040"/>
          </a:xfrm>
          <a:prstGeom prst="rect">
            <a:avLst/>
          </a:prstGeom>
          <a:noFill/>
        </p:spPr>
        <p:txBody>
          <a:bodyPr wrap="square">
            <a:spAutoFit/>
          </a:bodyPr>
          <a:lstStyle/>
          <a:p>
            <a:pPr algn="l">
              <a:defRPr sz="1800" b="1">
                <a:solidFill>
                  <a:srgbClr val="FFFFFF"/>
                </a:solidFill>
              </a:defRPr>
            </a:pPr>
            <a:r>
              <a:t>Summit Sessions Across Three Years</a:t>
            </a:r>
          </a:p>
        </p:txBody>
      </p:sp>
      <p:sp>
        <p:nvSpPr>
          <p:cNvPr id="16" name="TextBox 15"/>
          <p:cNvSpPr txBox="1"/>
          <p:nvPr/>
        </p:nvSpPr>
        <p:spPr>
          <a:xfrm>
            <a:off x="1645920" y="3154680"/>
            <a:ext cx="7315200" cy="320040"/>
          </a:xfrm>
          <a:prstGeom prst="rect">
            <a:avLst/>
          </a:prstGeom>
          <a:noFill/>
        </p:spPr>
        <p:txBody>
          <a:bodyPr wrap="square">
            <a:spAutoFit/>
          </a:bodyPr>
          <a:lstStyle/>
          <a:p>
            <a:pPr algn="l">
              <a:defRPr sz="1300" b="0">
                <a:solidFill>
                  <a:srgbClr val="A0AEC0"/>
                </a:solidFill>
              </a:defRPr>
            </a:pPr>
            <a:r>
              <a:t>Key agentic AI presentations from 2024, 2025, and 2026 summits</a:t>
            </a:r>
          </a:p>
        </p:txBody>
      </p:sp>
      <p:sp>
        <p:nvSpPr>
          <p:cNvPr id="17" name="Rectangle 16"/>
          <p:cNvSpPr/>
          <p:nvPr/>
        </p:nvSpPr>
        <p:spPr>
          <a:xfrm>
            <a:off x="731520" y="3611880"/>
            <a:ext cx="50800" cy="59436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611880"/>
            <a:ext cx="548640" cy="594360"/>
          </a:xfrm>
          <a:prstGeom prst="rect">
            <a:avLst/>
          </a:prstGeom>
          <a:noFill/>
        </p:spPr>
        <p:txBody>
          <a:bodyPr wrap="square">
            <a:spAutoFit/>
          </a:bodyPr>
          <a:lstStyle/>
          <a:p>
            <a:pPr algn="l">
              <a:defRPr sz="2200" b="1">
                <a:solidFill>
                  <a:srgbClr val="A755F7"/>
                </a:solidFill>
              </a:defRPr>
            </a:pPr>
            <a:r>
              <a:t>04</a:t>
            </a:r>
          </a:p>
        </p:txBody>
      </p:sp>
      <p:sp>
        <p:nvSpPr>
          <p:cNvPr id="19" name="TextBox 18"/>
          <p:cNvSpPr txBox="1"/>
          <p:nvPr/>
        </p:nvSpPr>
        <p:spPr>
          <a:xfrm>
            <a:off x="1645920" y="3593592"/>
            <a:ext cx="4572000" cy="320040"/>
          </a:xfrm>
          <a:prstGeom prst="rect">
            <a:avLst/>
          </a:prstGeom>
          <a:noFill/>
        </p:spPr>
        <p:txBody>
          <a:bodyPr wrap="square">
            <a:spAutoFit/>
          </a:bodyPr>
          <a:lstStyle/>
          <a:p>
            <a:pPr algn="l">
              <a:defRPr sz="1800" b="1">
                <a:solidFill>
                  <a:srgbClr val="FFFFFF"/>
                </a:solidFill>
              </a:defRPr>
            </a:pPr>
            <a:r>
              <a:t>Enterprise Case Studies &amp; State of AI Agents</a:t>
            </a:r>
          </a:p>
        </p:txBody>
      </p:sp>
      <p:sp>
        <p:nvSpPr>
          <p:cNvPr id="20" name="TextBox 19"/>
          <p:cNvSpPr txBox="1"/>
          <p:nvPr/>
        </p:nvSpPr>
        <p:spPr>
          <a:xfrm>
            <a:off x="1645920" y="3886200"/>
            <a:ext cx="7315200" cy="320040"/>
          </a:xfrm>
          <a:prstGeom prst="rect">
            <a:avLst/>
          </a:prstGeom>
          <a:noFill/>
        </p:spPr>
        <p:txBody>
          <a:bodyPr wrap="square">
            <a:spAutoFit/>
          </a:bodyPr>
          <a:lstStyle/>
          <a:p>
            <a:pPr algn="l">
              <a:defRPr sz="1300" b="0">
                <a:solidFill>
                  <a:srgbClr val="A0AEC0"/>
                </a:solidFill>
              </a:defRPr>
            </a:pPr>
            <a:r>
              <a:t>adidas, Walmart, AstraZeneca, 7-Eleven, Zillow, RBC + governance metrics</a:t>
            </a:r>
          </a:p>
        </p:txBody>
      </p:sp>
      <p:sp>
        <p:nvSpPr>
          <p:cNvPr id="21" name="Rectangle 20"/>
          <p:cNvSpPr/>
          <p:nvPr/>
        </p:nvSpPr>
        <p:spPr>
          <a:xfrm>
            <a:off x="731520" y="4343400"/>
            <a:ext cx="50800" cy="59436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343400"/>
            <a:ext cx="548640" cy="594360"/>
          </a:xfrm>
          <a:prstGeom prst="rect">
            <a:avLst/>
          </a:prstGeom>
          <a:noFill/>
        </p:spPr>
        <p:txBody>
          <a:bodyPr wrap="square">
            <a:spAutoFit/>
          </a:bodyPr>
          <a:lstStyle/>
          <a:p>
            <a:pPr algn="l">
              <a:defRPr sz="2200" b="1">
                <a:solidFill>
                  <a:srgbClr val="14B8A6"/>
                </a:solidFill>
              </a:defRPr>
            </a:pPr>
            <a:r>
              <a:t>05</a:t>
            </a:r>
          </a:p>
        </p:txBody>
      </p:sp>
      <p:sp>
        <p:nvSpPr>
          <p:cNvPr id="23" name="TextBox 22"/>
          <p:cNvSpPr txBox="1"/>
          <p:nvPr/>
        </p:nvSpPr>
        <p:spPr>
          <a:xfrm>
            <a:off x="1645920" y="4325112"/>
            <a:ext cx="4572000" cy="320040"/>
          </a:xfrm>
          <a:prstGeom prst="rect">
            <a:avLst/>
          </a:prstGeom>
          <a:noFill/>
        </p:spPr>
        <p:txBody>
          <a:bodyPr wrap="square">
            <a:spAutoFit/>
          </a:bodyPr>
          <a:lstStyle/>
          <a:p>
            <a:pPr algn="l">
              <a:defRPr sz="1800" b="1">
                <a:solidFill>
                  <a:srgbClr val="FFFFFF"/>
                </a:solidFill>
              </a:defRPr>
            </a:pPr>
            <a:r>
              <a:t>AI Agent Usage in Company Filings</a:t>
            </a:r>
          </a:p>
        </p:txBody>
      </p:sp>
      <p:sp>
        <p:nvSpPr>
          <p:cNvPr id="24" name="TextBox 23"/>
          <p:cNvSpPr txBox="1"/>
          <p:nvPr/>
        </p:nvSpPr>
        <p:spPr>
          <a:xfrm>
            <a:off x="1645920" y="4617720"/>
            <a:ext cx="7315200" cy="320040"/>
          </a:xfrm>
          <a:prstGeom prst="rect">
            <a:avLst/>
          </a:prstGeom>
          <a:noFill/>
        </p:spPr>
        <p:txBody>
          <a:bodyPr wrap="square">
            <a:spAutoFit/>
          </a:bodyPr>
          <a:lstStyle/>
          <a:p>
            <a:pPr algn="l">
              <a:defRPr sz="1300" b="0">
                <a:solidFill>
                  <a:srgbClr val="A0AEC0"/>
                </a:solidFill>
              </a:defRPr>
            </a:pPr>
            <a:r>
              <a:t>Revenue, adoption, and agent metrics from SEC filings and earnings calls</a:t>
            </a:r>
          </a:p>
        </p:txBody>
      </p:sp>
      <p:sp>
        <p:nvSpPr>
          <p:cNvPr id="25" name="Rectangle 24"/>
          <p:cNvSpPr/>
          <p:nvPr/>
        </p:nvSpPr>
        <p:spPr>
          <a:xfrm>
            <a:off x="731520" y="5074920"/>
            <a:ext cx="50800" cy="59436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074920"/>
            <a:ext cx="548640" cy="594360"/>
          </a:xfrm>
          <a:prstGeom prst="rect">
            <a:avLst/>
          </a:prstGeom>
          <a:noFill/>
        </p:spPr>
        <p:txBody>
          <a:bodyPr wrap="square">
            <a:spAutoFit/>
          </a:bodyPr>
          <a:lstStyle/>
          <a:p>
            <a:pPr algn="l">
              <a:defRPr sz="2200" b="1">
                <a:solidFill>
                  <a:srgbClr val="E84D3D"/>
                </a:solidFill>
              </a:defRPr>
            </a:pPr>
            <a:r>
              <a:t>06</a:t>
            </a:r>
          </a:p>
        </p:txBody>
      </p:sp>
      <p:sp>
        <p:nvSpPr>
          <p:cNvPr id="27" name="TextBox 26"/>
          <p:cNvSpPr txBox="1"/>
          <p:nvPr/>
        </p:nvSpPr>
        <p:spPr>
          <a:xfrm>
            <a:off x="1645920" y="5056632"/>
            <a:ext cx="4572000" cy="320040"/>
          </a:xfrm>
          <a:prstGeom prst="rect">
            <a:avLst/>
          </a:prstGeom>
          <a:noFill/>
        </p:spPr>
        <p:txBody>
          <a:bodyPr wrap="square">
            <a:spAutoFit/>
          </a:bodyPr>
          <a:lstStyle/>
          <a:p>
            <a:pPr algn="l">
              <a:defRPr sz="1800" b="1">
                <a:solidFill>
                  <a:srgbClr val="FFFFFF"/>
                </a:solidFill>
              </a:defRPr>
            </a:pPr>
            <a:r>
              <a:t>Private AI Companies &amp; Agents</a:t>
            </a:r>
          </a:p>
        </p:txBody>
      </p:sp>
      <p:sp>
        <p:nvSpPr>
          <p:cNvPr id="28" name="TextBox 27"/>
          <p:cNvSpPr txBox="1"/>
          <p:nvPr/>
        </p:nvSpPr>
        <p:spPr>
          <a:xfrm>
            <a:off x="1645920" y="5349240"/>
            <a:ext cx="7315200" cy="320040"/>
          </a:xfrm>
          <a:prstGeom prst="rect">
            <a:avLst/>
          </a:prstGeom>
          <a:noFill/>
        </p:spPr>
        <p:txBody>
          <a:bodyPr wrap="square">
            <a:spAutoFit/>
          </a:bodyPr>
          <a:lstStyle/>
          <a:p>
            <a:pPr algn="l">
              <a:defRPr sz="1300" b="0">
                <a:solidFill>
                  <a:srgbClr val="A0AEC0"/>
                </a:solidFill>
              </a:defRPr>
            </a:pPr>
            <a:r>
              <a:t>OpenAI, Anthropic, Cursor, Perplexity, xAI, Mistral, Cohere, Cognition (Devin)</a:t>
            </a:r>
          </a:p>
        </p:txBody>
      </p:sp>
      <p:sp>
        <p:nvSpPr>
          <p:cNvPr id="29" name="Rectangle 28"/>
          <p:cNvSpPr/>
          <p:nvPr/>
        </p:nvSpPr>
        <p:spPr>
          <a:xfrm>
            <a:off x="731520" y="5806440"/>
            <a:ext cx="50800" cy="594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806440"/>
            <a:ext cx="548640" cy="594360"/>
          </a:xfrm>
          <a:prstGeom prst="rect">
            <a:avLst/>
          </a:prstGeom>
          <a:noFill/>
        </p:spPr>
        <p:txBody>
          <a:bodyPr wrap="square">
            <a:spAutoFit/>
          </a:bodyPr>
          <a:lstStyle/>
          <a:p>
            <a:pPr algn="l">
              <a:defRPr sz="2200" b="1">
                <a:solidFill>
                  <a:srgbClr val="F5A623"/>
                </a:solidFill>
              </a:defRPr>
            </a:pPr>
            <a:r>
              <a:t>07</a:t>
            </a:r>
          </a:p>
        </p:txBody>
      </p:sp>
      <p:sp>
        <p:nvSpPr>
          <p:cNvPr id="31" name="TextBox 30"/>
          <p:cNvSpPr txBox="1"/>
          <p:nvPr/>
        </p:nvSpPr>
        <p:spPr>
          <a:xfrm>
            <a:off x="1645920" y="5788152"/>
            <a:ext cx="4572000" cy="320040"/>
          </a:xfrm>
          <a:prstGeom prst="rect">
            <a:avLst/>
          </a:prstGeom>
          <a:noFill/>
        </p:spPr>
        <p:txBody>
          <a:bodyPr wrap="square">
            <a:spAutoFit/>
          </a:bodyPr>
          <a:lstStyle/>
          <a:p>
            <a:pPr algn="l">
              <a:defRPr sz="1800" b="1">
                <a:solidFill>
                  <a:srgbClr val="FFFFFF"/>
                </a:solidFill>
              </a:defRPr>
            </a:pPr>
            <a:r>
              <a:t>Competitive Landscape &amp; Takeaways</a:t>
            </a:r>
          </a:p>
        </p:txBody>
      </p:sp>
      <p:sp>
        <p:nvSpPr>
          <p:cNvPr id="32" name="TextBox 31"/>
          <p:cNvSpPr txBox="1"/>
          <p:nvPr/>
        </p:nvSpPr>
        <p:spPr>
          <a:xfrm>
            <a:off x="1645920" y="6080760"/>
            <a:ext cx="7315200" cy="320040"/>
          </a:xfrm>
          <a:prstGeom prst="rect">
            <a:avLst/>
          </a:prstGeom>
          <a:noFill/>
        </p:spPr>
        <p:txBody>
          <a:bodyPr wrap="square">
            <a:spAutoFit/>
          </a:bodyPr>
          <a:lstStyle/>
          <a:p>
            <a:pPr algn="l">
              <a:defRPr sz="1300" b="0">
                <a:solidFill>
                  <a:srgbClr val="A0AEC0"/>
                </a:solidFill>
              </a:defRPr>
            </a:pPr>
            <a:r>
              <a:t>Databricks positioning, token economics, architecture, and strategic implications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What Is Agentic AI?</a:t>
            </a:r>
          </a:p>
        </p:txBody>
      </p:sp>
      <p:sp>
        <p:nvSpPr>
          <p:cNvPr id="4" name="Rectangle 3"/>
          <p:cNvSpPr/>
          <p:nvPr/>
        </p:nvSpPr>
        <p:spPr>
          <a:xfrm>
            <a:off x="731520" y="1051560"/>
            <a:ext cx="18288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10058400" cy="457200"/>
          </a:xfrm>
          <a:prstGeom prst="rect">
            <a:avLst/>
          </a:prstGeom>
          <a:noFill/>
        </p:spPr>
        <p:txBody>
          <a:bodyPr wrap="square">
            <a:spAutoFit/>
          </a:bodyPr>
          <a:lstStyle/>
          <a:p>
            <a:pPr algn="l">
              <a:defRPr sz="1400" b="0">
                <a:solidFill>
                  <a:srgbClr val="A0AEC0"/>
                </a:solidFill>
              </a:defRPr>
            </a:pPr>
            <a:r>
              <a:t>From chatbots to autonomous systems — the evolution presented across Databricks summits</a:t>
            </a:r>
          </a:p>
        </p:txBody>
      </p:sp>
      <p:sp>
        <p:nvSpPr>
          <p:cNvPr id="6" name="Rounded Rectangle 5"/>
          <p:cNvSpPr/>
          <p:nvPr/>
        </p:nvSpPr>
        <p:spPr>
          <a:xfrm>
            <a:off x="731520" y="1828800"/>
            <a:ext cx="1051560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63500" cy="77724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01952"/>
            <a:ext cx="2743200" cy="320040"/>
          </a:xfrm>
          <a:prstGeom prst="rect">
            <a:avLst/>
          </a:prstGeom>
          <a:noFill/>
        </p:spPr>
        <p:txBody>
          <a:bodyPr wrap="square">
            <a:spAutoFit/>
          </a:bodyPr>
          <a:lstStyle/>
          <a:p>
            <a:pPr algn="l">
              <a:defRPr sz="1600" b="1">
                <a:solidFill>
                  <a:srgbClr val="E84D3D"/>
                </a:solidFill>
              </a:defRPr>
            </a:pPr>
            <a:r>
              <a:t>Level 0: Chatbot</a:t>
            </a:r>
          </a:p>
        </p:txBody>
      </p:sp>
      <p:sp>
        <p:nvSpPr>
          <p:cNvPr id="9" name="TextBox 8"/>
          <p:cNvSpPr txBox="1"/>
          <p:nvPr/>
        </p:nvSpPr>
        <p:spPr>
          <a:xfrm>
            <a:off x="4114800" y="1901952"/>
            <a:ext cx="4114800" cy="640080"/>
          </a:xfrm>
          <a:prstGeom prst="rect">
            <a:avLst/>
          </a:prstGeom>
          <a:noFill/>
        </p:spPr>
        <p:txBody>
          <a:bodyPr wrap="square">
            <a:spAutoFit/>
          </a:bodyPr>
          <a:lstStyle/>
          <a:p>
            <a:pPr algn="l">
              <a:defRPr sz="1300" b="0">
                <a:solidFill>
                  <a:srgbClr val="FFFFFF"/>
                </a:solidFill>
              </a:defRPr>
            </a:pPr>
            <a:r>
              <a:t>Single-turn Q&amp;A, no tools or memory</a:t>
            </a:r>
          </a:p>
        </p:txBody>
      </p:sp>
      <p:sp>
        <p:nvSpPr>
          <p:cNvPr id="10" name="TextBox 9"/>
          <p:cNvSpPr txBox="1"/>
          <p:nvPr/>
        </p:nvSpPr>
        <p:spPr>
          <a:xfrm>
            <a:off x="8412480" y="1901952"/>
            <a:ext cx="2743200" cy="640080"/>
          </a:xfrm>
          <a:prstGeom prst="rect">
            <a:avLst/>
          </a:prstGeom>
          <a:noFill/>
        </p:spPr>
        <p:txBody>
          <a:bodyPr wrap="square">
            <a:spAutoFit/>
          </a:bodyPr>
          <a:lstStyle/>
          <a:p>
            <a:pPr algn="l">
              <a:defRPr sz="1200" b="0">
                <a:solidFill>
                  <a:srgbClr val="A0AEC0"/>
                </a:solidFill>
              </a:defRPr>
            </a:pPr>
            <a:r>
              <a:t>Basic FAQ bots</a:t>
            </a:r>
          </a:p>
        </p:txBody>
      </p:sp>
      <p:sp>
        <p:nvSpPr>
          <p:cNvPr id="11" name="Rounded Rectangle 10"/>
          <p:cNvSpPr/>
          <p:nvPr/>
        </p:nvSpPr>
        <p:spPr>
          <a:xfrm>
            <a:off x="731520" y="2743200"/>
            <a:ext cx="1051560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743200"/>
            <a:ext cx="63500" cy="77724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816352"/>
            <a:ext cx="2743200" cy="320040"/>
          </a:xfrm>
          <a:prstGeom prst="rect">
            <a:avLst/>
          </a:prstGeom>
          <a:noFill/>
        </p:spPr>
        <p:txBody>
          <a:bodyPr wrap="square">
            <a:spAutoFit/>
          </a:bodyPr>
          <a:lstStyle/>
          <a:p>
            <a:pPr algn="l">
              <a:defRPr sz="1600" b="1">
                <a:solidFill>
                  <a:srgbClr val="FF6F00"/>
                </a:solidFill>
              </a:defRPr>
            </a:pPr>
            <a:r>
              <a:t>Level 1: Copilot</a:t>
            </a:r>
          </a:p>
        </p:txBody>
      </p:sp>
      <p:sp>
        <p:nvSpPr>
          <p:cNvPr id="14" name="TextBox 13"/>
          <p:cNvSpPr txBox="1"/>
          <p:nvPr/>
        </p:nvSpPr>
        <p:spPr>
          <a:xfrm>
            <a:off x="4114800" y="2816352"/>
            <a:ext cx="4114800" cy="640080"/>
          </a:xfrm>
          <a:prstGeom prst="rect">
            <a:avLst/>
          </a:prstGeom>
          <a:noFill/>
        </p:spPr>
        <p:txBody>
          <a:bodyPr wrap="square">
            <a:spAutoFit/>
          </a:bodyPr>
          <a:lstStyle/>
          <a:p>
            <a:pPr algn="l">
              <a:defRPr sz="1300" b="0">
                <a:solidFill>
                  <a:srgbClr val="FFFFFF"/>
                </a:solidFill>
              </a:defRPr>
            </a:pPr>
            <a:r>
              <a:t>Human-directed, tool-assisted responses</a:t>
            </a:r>
          </a:p>
        </p:txBody>
      </p:sp>
      <p:sp>
        <p:nvSpPr>
          <p:cNvPr id="15" name="TextBox 14"/>
          <p:cNvSpPr txBox="1"/>
          <p:nvPr/>
        </p:nvSpPr>
        <p:spPr>
          <a:xfrm>
            <a:off x="8412480" y="2816352"/>
            <a:ext cx="2743200" cy="640080"/>
          </a:xfrm>
          <a:prstGeom prst="rect">
            <a:avLst/>
          </a:prstGeom>
          <a:noFill/>
        </p:spPr>
        <p:txBody>
          <a:bodyPr wrap="square">
            <a:spAutoFit/>
          </a:bodyPr>
          <a:lstStyle/>
          <a:p>
            <a:pPr algn="l">
              <a:defRPr sz="1200" b="0">
                <a:solidFill>
                  <a:srgbClr val="A0AEC0"/>
                </a:solidFill>
              </a:defRPr>
            </a:pPr>
            <a:r>
              <a:t>GitHub Copilot, AI/BI Genie</a:t>
            </a:r>
          </a:p>
        </p:txBody>
      </p:sp>
      <p:sp>
        <p:nvSpPr>
          <p:cNvPr id="16" name="Rounded Rectangle 15"/>
          <p:cNvSpPr/>
          <p:nvPr/>
        </p:nvSpPr>
        <p:spPr>
          <a:xfrm>
            <a:off x="731520" y="3657600"/>
            <a:ext cx="1051560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657600"/>
            <a:ext cx="635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730752"/>
            <a:ext cx="2743200" cy="320040"/>
          </a:xfrm>
          <a:prstGeom prst="rect">
            <a:avLst/>
          </a:prstGeom>
          <a:noFill/>
        </p:spPr>
        <p:txBody>
          <a:bodyPr wrap="square">
            <a:spAutoFit/>
          </a:bodyPr>
          <a:lstStyle/>
          <a:p>
            <a:pPr algn="l">
              <a:defRPr sz="1600" b="1">
                <a:solidFill>
                  <a:srgbClr val="3B82F6"/>
                </a:solidFill>
              </a:defRPr>
            </a:pPr>
            <a:r>
              <a:t>Level 2: Task Agent</a:t>
            </a:r>
          </a:p>
        </p:txBody>
      </p:sp>
      <p:sp>
        <p:nvSpPr>
          <p:cNvPr id="19" name="TextBox 18"/>
          <p:cNvSpPr txBox="1"/>
          <p:nvPr/>
        </p:nvSpPr>
        <p:spPr>
          <a:xfrm>
            <a:off x="4114800" y="3730752"/>
            <a:ext cx="4114800" cy="640080"/>
          </a:xfrm>
          <a:prstGeom prst="rect">
            <a:avLst/>
          </a:prstGeom>
          <a:noFill/>
        </p:spPr>
        <p:txBody>
          <a:bodyPr wrap="square">
            <a:spAutoFit/>
          </a:bodyPr>
          <a:lstStyle/>
          <a:p>
            <a:pPr algn="l">
              <a:defRPr sz="1300" b="0">
                <a:solidFill>
                  <a:srgbClr val="FFFFFF"/>
                </a:solidFill>
              </a:defRPr>
            </a:pPr>
            <a:r>
              <a:t>Autonomous single-task execution with tool use</a:t>
            </a:r>
          </a:p>
        </p:txBody>
      </p:sp>
      <p:sp>
        <p:nvSpPr>
          <p:cNvPr id="20" name="TextBox 19"/>
          <p:cNvSpPr txBox="1"/>
          <p:nvPr/>
        </p:nvSpPr>
        <p:spPr>
          <a:xfrm>
            <a:off x="8412480" y="3730752"/>
            <a:ext cx="2743200" cy="640080"/>
          </a:xfrm>
          <a:prstGeom prst="rect">
            <a:avLst/>
          </a:prstGeom>
          <a:noFill/>
        </p:spPr>
        <p:txBody>
          <a:bodyPr wrap="square">
            <a:spAutoFit/>
          </a:bodyPr>
          <a:lstStyle/>
          <a:p>
            <a:pPr algn="l">
              <a:defRPr sz="1200" b="0">
                <a:solidFill>
                  <a:srgbClr val="A0AEC0"/>
                </a:solidFill>
              </a:defRPr>
            </a:pPr>
            <a:r>
              <a:t>RAG agents, coding agents</a:t>
            </a:r>
          </a:p>
        </p:txBody>
      </p:sp>
      <p:sp>
        <p:nvSpPr>
          <p:cNvPr id="21" name="Rounded Rectangle 20"/>
          <p:cNvSpPr/>
          <p:nvPr/>
        </p:nvSpPr>
        <p:spPr>
          <a:xfrm>
            <a:off x="731520" y="4572000"/>
            <a:ext cx="1051560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572000"/>
            <a:ext cx="63500" cy="7772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4645152"/>
            <a:ext cx="2743200" cy="320040"/>
          </a:xfrm>
          <a:prstGeom prst="rect">
            <a:avLst/>
          </a:prstGeom>
          <a:noFill/>
        </p:spPr>
        <p:txBody>
          <a:bodyPr wrap="square">
            <a:spAutoFit/>
          </a:bodyPr>
          <a:lstStyle/>
          <a:p>
            <a:pPr algn="l">
              <a:defRPr sz="1600" b="1">
                <a:solidFill>
                  <a:srgbClr val="22C55E"/>
                </a:solidFill>
              </a:defRPr>
            </a:pPr>
            <a:r>
              <a:t>Level 3: Multi-Agent</a:t>
            </a:r>
          </a:p>
        </p:txBody>
      </p:sp>
      <p:sp>
        <p:nvSpPr>
          <p:cNvPr id="24" name="TextBox 23"/>
          <p:cNvSpPr txBox="1"/>
          <p:nvPr/>
        </p:nvSpPr>
        <p:spPr>
          <a:xfrm>
            <a:off x="4114800" y="4645152"/>
            <a:ext cx="4114800" cy="640080"/>
          </a:xfrm>
          <a:prstGeom prst="rect">
            <a:avLst/>
          </a:prstGeom>
          <a:noFill/>
        </p:spPr>
        <p:txBody>
          <a:bodyPr wrap="square">
            <a:spAutoFit/>
          </a:bodyPr>
          <a:lstStyle/>
          <a:p>
            <a:pPr algn="l">
              <a:defRPr sz="1300" b="0">
                <a:solidFill>
                  <a:srgbClr val="FFFFFF"/>
                </a:solidFill>
              </a:defRPr>
            </a:pPr>
            <a:r>
              <a:t>Multiple agents collaborating via orchestration</a:t>
            </a:r>
          </a:p>
        </p:txBody>
      </p:sp>
      <p:sp>
        <p:nvSpPr>
          <p:cNvPr id="25" name="TextBox 24"/>
          <p:cNvSpPr txBox="1"/>
          <p:nvPr/>
        </p:nvSpPr>
        <p:spPr>
          <a:xfrm>
            <a:off x="8412480" y="4645152"/>
            <a:ext cx="2743200" cy="640080"/>
          </a:xfrm>
          <a:prstGeom prst="rect">
            <a:avLst/>
          </a:prstGeom>
          <a:noFill/>
        </p:spPr>
        <p:txBody>
          <a:bodyPr wrap="square">
            <a:spAutoFit/>
          </a:bodyPr>
          <a:lstStyle/>
          <a:p>
            <a:pPr algn="l">
              <a:defRPr sz="1200" b="0">
                <a:solidFill>
                  <a:srgbClr val="A0AEC0"/>
                </a:solidFill>
              </a:defRPr>
            </a:pPr>
            <a:r>
              <a:t>Supervisor + specialist patterns</a:t>
            </a:r>
          </a:p>
        </p:txBody>
      </p:sp>
      <p:sp>
        <p:nvSpPr>
          <p:cNvPr id="26" name="Rounded Rectangle 25"/>
          <p:cNvSpPr/>
          <p:nvPr/>
        </p:nvSpPr>
        <p:spPr>
          <a:xfrm>
            <a:off x="731520" y="5486400"/>
            <a:ext cx="1051560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5486400"/>
            <a:ext cx="63500" cy="77724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5559552"/>
            <a:ext cx="2743200" cy="320040"/>
          </a:xfrm>
          <a:prstGeom prst="rect">
            <a:avLst/>
          </a:prstGeom>
          <a:noFill/>
        </p:spPr>
        <p:txBody>
          <a:bodyPr wrap="square">
            <a:spAutoFit/>
          </a:bodyPr>
          <a:lstStyle/>
          <a:p>
            <a:pPr algn="l">
              <a:defRPr sz="1600" b="1">
                <a:solidFill>
                  <a:srgbClr val="A755F7"/>
                </a:solidFill>
              </a:defRPr>
            </a:pPr>
            <a:r>
              <a:t>Level 4: Autonomous</a:t>
            </a:r>
          </a:p>
        </p:txBody>
      </p:sp>
      <p:sp>
        <p:nvSpPr>
          <p:cNvPr id="29" name="TextBox 28"/>
          <p:cNvSpPr txBox="1"/>
          <p:nvPr/>
        </p:nvSpPr>
        <p:spPr>
          <a:xfrm>
            <a:off x="4114800" y="5559552"/>
            <a:ext cx="4114800" cy="640080"/>
          </a:xfrm>
          <a:prstGeom prst="rect">
            <a:avLst/>
          </a:prstGeom>
          <a:noFill/>
        </p:spPr>
        <p:txBody>
          <a:bodyPr wrap="square">
            <a:spAutoFit/>
          </a:bodyPr>
          <a:lstStyle/>
          <a:p>
            <a:pPr algn="l">
              <a:defRPr sz="1300" b="0">
                <a:solidFill>
                  <a:srgbClr val="FFFFFF"/>
                </a:solidFill>
              </a:defRPr>
            </a:pPr>
            <a:r>
              <a:t>Fully autonomous, long-running systems</a:t>
            </a:r>
          </a:p>
        </p:txBody>
      </p:sp>
      <p:sp>
        <p:nvSpPr>
          <p:cNvPr id="30" name="TextBox 29"/>
          <p:cNvSpPr txBox="1"/>
          <p:nvPr/>
        </p:nvSpPr>
        <p:spPr>
          <a:xfrm>
            <a:off x="8412480" y="5559552"/>
            <a:ext cx="2743200" cy="640080"/>
          </a:xfrm>
          <a:prstGeom prst="rect">
            <a:avLst/>
          </a:prstGeom>
          <a:noFill/>
        </p:spPr>
        <p:txBody>
          <a:bodyPr wrap="square">
            <a:spAutoFit/>
          </a:bodyPr>
          <a:lstStyle/>
          <a:p>
            <a:pPr algn="l">
              <a:defRPr sz="1200" b="0">
                <a:solidFill>
                  <a:srgbClr val="A0AEC0"/>
                </a:solidFill>
              </a:defRPr>
            </a:pPr>
            <a:r>
              <a:t>Digital workers, agent fleets</a:t>
            </a:r>
          </a:p>
        </p:txBody>
      </p:sp>
      <p:sp>
        <p:nvSpPr>
          <p:cNvPr id="31" name="TextBox 30"/>
          <p:cNvSpPr txBox="1"/>
          <p:nvPr/>
        </p:nvSpPr>
        <p:spPr>
          <a:xfrm>
            <a:off x="731520" y="6400800"/>
            <a:ext cx="10058400" cy="365760"/>
          </a:xfrm>
          <a:prstGeom prst="rect">
            <a:avLst/>
          </a:prstGeom>
          <a:noFill/>
        </p:spPr>
        <p:txBody>
          <a:bodyPr wrap="square">
            <a:spAutoFit/>
          </a:bodyPr>
          <a:lstStyle/>
          <a:p>
            <a:pPr algn="l">
              <a:spcAft>
                <a:spcPts val="600"/>
              </a:spcAft>
              <a:defRPr sz="1000" b="0">
                <a:solidFill>
                  <a:srgbClr val="707890"/>
                </a:solidFill>
              </a:defRPr>
            </a:pPr>
            <a:r>
              <a:t>Source: Composite maturity model — Databricks Summit, Google Cloud Next, McKinsey, Sequoia Capital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Databricks CEO Vision: The Agentic Era</a:t>
            </a:r>
          </a:p>
        </p:txBody>
      </p:sp>
      <p:sp>
        <p:nvSpPr>
          <p:cNvPr id="4" name="Rectangle 3"/>
          <p:cNvSpPr/>
          <p:nvPr/>
        </p:nvSpPr>
        <p:spPr>
          <a:xfrm>
            <a:off x="731520" y="1051560"/>
            <a:ext cx="18288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1051560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63500" cy="146304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463040"/>
            <a:ext cx="9601200" cy="1280160"/>
          </a:xfrm>
          <a:prstGeom prst="rect">
            <a:avLst/>
          </a:prstGeom>
          <a:noFill/>
        </p:spPr>
        <p:txBody>
          <a:bodyPr wrap="square">
            <a:spAutoFit/>
          </a:bodyPr>
          <a:lstStyle/>
          <a:p>
            <a:pPr algn="l">
              <a:spcAft>
                <a:spcPts val="200"/>
              </a:spcAft>
              <a:defRPr sz="1800" b="0">
                <a:solidFill>
                  <a:srgbClr val="FFFFFF"/>
                </a:solidFill>
              </a:defRPr>
            </a:pPr>
            <a:r>
              <a:t>"It's very elusive to get AI that really works and understands that proprietary data</a:t>
            </a:r>
          </a:p>
          <a:p>
            <a:pPr algn="l">
              <a:spcAft>
                <a:spcPts val="800"/>
              </a:spcAft>
              <a:defRPr sz="1800" b="0">
                <a:solidFill>
                  <a:srgbClr val="FFFFFF"/>
                </a:solidFill>
              </a:defRPr>
            </a:pPr>
            <a:r>
              <a:t>that's inside enterprise... this could maybe get all the way to a trillion."</a:t>
            </a:r>
          </a:p>
          <a:p>
            <a:pPr algn="l">
              <a:spcAft>
                <a:spcPts val="600"/>
              </a:spcAft>
              <a:defRPr sz="1300" b="1">
                <a:solidFill>
                  <a:srgbClr val="FF6F00"/>
                </a:solidFill>
              </a:defRPr>
            </a:pPr>
            <a:r>
              <a:t>— Ali Ghodsi, CEO &amp; Co-Founder, Databricks  |  Fortune Brainstorm AI, December 2025</a:t>
            </a:r>
          </a:p>
        </p:txBody>
      </p:sp>
      <p:sp>
        <p:nvSpPr>
          <p:cNvPr id="8" name="Rounded Rectangle 7"/>
          <p:cNvSpPr/>
          <p:nvPr/>
        </p:nvSpPr>
        <p:spPr>
          <a:xfrm>
            <a:off x="731520" y="3200400"/>
            <a:ext cx="3383280" cy="23774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200400"/>
            <a:ext cx="338328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337560"/>
            <a:ext cx="3108960" cy="365760"/>
          </a:xfrm>
          <a:prstGeom prst="rect">
            <a:avLst/>
          </a:prstGeom>
          <a:noFill/>
        </p:spPr>
        <p:txBody>
          <a:bodyPr wrap="square">
            <a:spAutoFit/>
          </a:bodyPr>
          <a:lstStyle/>
          <a:p>
            <a:pPr algn="l">
              <a:defRPr sz="1500" b="1">
                <a:solidFill>
                  <a:srgbClr val="FF6F00"/>
                </a:solidFill>
              </a:defRPr>
            </a:pPr>
            <a:r>
              <a:t>Enterprise Data + AI Agents</a:t>
            </a:r>
          </a:p>
        </p:txBody>
      </p:sp>
      <p:sp>
        <p:nvSpPr>
          <p:cNvPr id="11" name="TextBox 10"/>
          <p:cNvSpPr txBox="1"/>
          <p:nvPr/>
        </p:nvSpPr>
        <p:spPr>
          <a:xfrm>
            <a:off x="868680" y="3703320"/>
            <a:ext cx="3108960" cy="1828800"/>
          </a:xfrm>
          <a:prstGeom prst="rect">
            <a:avLst/>
          </a:prstGeom>
          <a:noFill/>
        </p:spPr>
        <p:txBody>
          <a:bodyPr wrap="square">
            <a:spAutoFit/>
          </a:bodyPr>
          <a:lstStyle/>
          <a:p>
            <a:pPr algn="l">
              <a:defRPr sz="1200" b="0">
                <a:solidFill>
                  <a:srgbClr val="A0AEC0"/>
                </a:solidFill>
              </a:defRPr>
            </a:pPr>
            <a:r>
              <a:t>General AI knowledge is commoditized — agents with proprietary enterprise data create unique, defensible value. Databricks positions itself as the data intelligence platform for this era.</a:t>
            </a:r>
          </a:p>
        </p:txBody>
      </p:sp>
      <p:sp>
        <p:nvSpPr>
          <p:cNvPr id="12" name="Rounded Rectangle 11"/>
          <p:cNvSpPr/>
          <p:nvPr/>
        </p:nvSpPr>
        <p:spPr>
          <a:xfrm>
            <a:off x="4343400" y="3200400"/>
            <a:ext cx="3383280" cy="23774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3200400"/>
            <a:ext cx="338328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3337560"/>
            <a:ext cx="3108960" cy="365760"/>
          </a:xfrm>
          <a:prstGeom prst="rect">
            <a:avLst/>
          </a:prstGeom>
          <a:noFill/>
        </p:spPr>
        <p:txBody>
          <a:bodyPr wrap="square">
            <a:spAutoFit/>
          </a:bodyPr>
          <a:lstStyle/>
          <a:p>
            <a:pPr algn="l">
              <a:defRPr sz="1500" b="1">
                <a:solidFill>
                  <a:srgbClr val="3B82F6"/>
                </a:solidFill>
              </a:defRPr>
            </a:pPr>
            <a:r>
              <a:t>AI Agents Building Infrastructure</a:t>
            </a:r>
          </a:p>
        </p:txBody>
      </p:sp>
      <p:sp>
        <p:nvSpPr>
          <p:cNvPr id="15" name="TextBox 14"/>
          <p:cNvSpPr txBox="1"/>
          <p:nvPr/>
        </p:nvSpPr>
        <p:spPr>
          <a:xfrm>
            <a:off x="4480560" y="3703320"/>
            <a:ext cx="3108960" cy="1828800"/>
          </a:xfrm>
          <a:prstGeom prst="rect">
            <a:avLst/>
          </a:prstGeom>
          <a:noFill/>
        </p:spPr>
        <p:txBody>
          <a:bodyPr wrap="square">
            <a:spAutoFit/>
          </a:bodyPr>
          <a:lstStyle/>
          <a:p>
            <a:pPr algn="l">
              <a:defRPr sz="1200" b="0">
                <a:solidFill>
                  <a:srgbClr val="A0AEC0"/>
                </a:solidFill>
              </a:defRPr>
            </a:pPr>
            <a:r>
              <a:t>80% of databases on the Databricks platform are now created by AI agents, not humans. This drove the launch of Lakebase — a Postgres-compatible database built for agent-scale workloads.</a:t>
            </a:r>
          </a:p>
        </p:txBody>
      </p:sp>
      <p:sp>
        <p:nvSpPr>
          <p:cNvPr id="16" name="Rounded Rectangle 15"/>
          <p:cNvSpPr/>
          <p:nvPr/>
        </p:nvSpPr>
        <p:spPr>
          <a:xfrm>
            <a:off x="7955280" y="3200400"/>
            <a:ext cx="3383280" cy="23774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80" y="3200400"/>
            <a:ext cx="338328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337560"/>
            <a:ext cx="3108960" cy="365760"/>
          </a:xfrm>
          <a:prstGeom prst="rect">
            <a:avLst/>
          </a:prstGeom>
          <a:noFill/>
        </p:spPr>
        <p:txBody>
          <a:bodyPr wrap="square">
            <a:spAutoFit/>
          </a:bodyPr>
          <a:lstStyle/>
          <a:p>
            <a:pPr algn="l">
              <a:defRPr sz="1500" b="1">
                <a:solidFill>
                  <a:srgbClr val="22C55E"/>
                </a:solidFill>
              </a:defRPr>
            </a:pPr>
            <a:r>
              <a:t>Open Platform Strategy</a:t>
            </a:r>
          </a:p>
        </p:txBody>
      </p:sp>
      <p:sp>
        <p:nvSpPr>
          <p:cNvPr id="19" name="TextBox 18"/>
          <p:cNvSpPr txBox="1"/>
          <p:nvPr/>
        </p:nvSpPr>
        <p:spPr>
          <a:xfrm>
            <a:off x="8092440" y="3703320"/>
            <a:ext cx="3108960" cy="1828800"/>
          </a:xfrm>
          <a:prstGeom prst="rect">
            <a:avLst/>
          </a:prstGeom>
          <a:noFill/>
        </p:spPr>
        <p:txBody>
          <a:bodyPr wrap="square">
            <a:spAutoFit/>
          </a:bodyPr>
          <a:lstStyle/>
          <a:p>
            <a:pPr algn="l">
              <a:defRPr sz="1200" b="0">
                <a:solidFill>
                  <a:srgbClr val="A0AEC0"/>
                </a:solidFill>
              </a:defRPr>
            </a:pPr>
            <a:r>
              <a:t>Cloud-agnostic, open-source approach (MLflow, Unity Catalog, Apache Spark) attracts enterprises. Customers choose flexibility across AWS, GCP, Azure, and on-premise deployments.</a:t>
            </a:r>
          </a:p>
        </p:txBody>
      </p:sp>
      <p:sp>
        <p:nvSpPr>
          <p:cNvPr id="20" name="Rounded Rectangle 19"/>
          <p:cNvSpPr/>
          <p:nvPr/>
        </p:nvSpPr>
        <p:spPr>
          <a:xfrm>
            <a:off x="731520" y="5760720"/>
            <a:ext cx="2468880" cy="9144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760720"/>
            <a:ext cx="246888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897880"/>
            <a:ext cx="2103120" cy="548640"/>
          </a:xfrm>
          <a:prstGeom prst="rect">
            <a:avLst/>
          </a:prstGeom>
          <a:noFill/>
        </p:spPr>
        <p:txBody>
          <a:bodyPr wrap="square">
            <a:spAutoFit/>
          </a:bodyPr>
          <a:lstStyle/>
          <a:p>
            <a:pPr algn="ctr">
              <a:defRPr sz="2800" b="1">
                <a:solidFill>
                  <a:srgbClr val="FF6F00"/>
                </a:solidFill>
              </a:defRPr>
            </a:pPr>
            <a:r>
              <a:t>$134B</a:t>
            </a:r>
          </a:p>
        </p:txBody>
      </p:sp>
      <p:sp>
        <p:nvSpPr>
          <p:cNvPr id="23" name="TextBox 22"/>
          <p:cNvSpPr txBox="1"/>
          <p:nvPr/>
        </p:nvSpPr>
        <p:spPr>
          <a:xfrm>
            <a:off x="914400" y="6400800"/>
            <a:ext cx="2103120" cy="91440"/>
          </a:xfrm>
          <a:prstGeom prst="rect">
            <a:avLst/>
          </a:prstGeom>
          <a:noFill/>
        </p:spPr>
        <p:txBody>
          <a:bodyPr wrap="square">
            <a:spAutoFit/>
          </a:bodyPr>
          <a:lstStyle/>
          <a:p>
            <a:pPr algn="ctr">
              <a:defRPr sz="1200" b="0">
                <a:solidFill>
                  <a:srgbClr val="A0AEC0"/>
                </a:solidFill>
              </a:defRPr>
            </a:pPr>
            <a:r>
              <a:t>Latest Valuation</a:t>
            </a:r>
          </a:p>
        </p:txBody>
      </p:sp>
      <p:sp>
        <p:nvSpPr>
          <p:cNvPr id="24" name="Rounded Rectangle 23"/>
          <p:cNvSpPr/>
          <p:nvPr/>
        </p:nvSpPr>
        <p:spPr>
          <a:xfrm>
            <a:off x="3474720" y="5760720"/>
            <a:ext cx="2468880" cy="9144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74720" y="5760720"/>
            <a:ext cx="246888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0" y="5897880"/>
            <a:ext cx="2103120" cy="548640"/>
          </a:xfrm>
          <a:prstGeom prst="rect">
            <a:avLst/>
          </a:prstGeom>
          <a:noFill/>
        </p:spPr>
        <p:txBody>
          <a:bodyPr wrap="square">
            <a:spAutoFit/>
          </a:bodyPr>
          <a:lstStyle/>
          <a:p>
            <a:pPr algn="ctr">
              <a:defRPr sz="2800" b="1">
                <a:solidFill>
                  <a:srgbClr val="3B82F6"/>
                </a:solidFill>
              </a:defRPr>
            </a:pPr>
            <a:r>
              <a:t>80%</a:t>
            </a:r>
          </a:p>
        </p:txBody>
      </p:sp>
      <p:sp>
        <p:nvSpPr>
          <p:cNvPr id="27" name="TextBox 26"/>
          <p:cNvSpPr txBox="1"/>
          <p:nvPr/>
        </p:nvSpPr>
        <p:spPr>
          <a:xfrm>
            <a:off x="3657600" y="6400800"/>
            <a:ext cx="2103120" cy="91440"/>
          </a:xfrm>
          <a:prstGeom prst="rect">
            <a:avLst/>
          </a:prstGeom>
          <a:noFill/>
        </p:spPr>
        <p:txBody>
          <a:bodyPr wrap="square">
            <a:spAutoFit/>
          </a:bodyPr>
          <a:lstStyle/>
          <a:p>
            <a:pPr algn="ctr">
              <a:defRPr sz="1200" b="0">
                <a:solidFill>
                  <a:srgbClr val="A0AEC0"/>
                </a:solidFill>
              </a:defRPr>
            </a:pPr>
            <a:r>
              <a:t>DBs Created</a:t>
            </a:r>
            <a:br/>
            <a:r>
              <a:t>by AI Agents</a:t>
            </a:r>
          </a:p>
        </p:txBody>
      </p:sp>
      <p:sp>
        <p:nvSpPr>
          <p:cNvPr id="28" name="Rounded Rectangle 27"/>
          <p:cNvSpPr/>
          <p:nvPr/>
        </p:nvSpPr>
        <p:spPr>
          <a:xfrm>
            <a:off x="6217920" y="5760720"/>
            <a:ext cx="2468880" cy="9144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5760720"/>
            <a:ext cx="246888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5897880"/>
            <a:ext cx="2103120" cy="548640"/>
          </a:xfrm>
          <a:prstGeom prst="rect">
            <a:avLst/>
          </a:prstGeom>
          <a:noFill/>
        </p:spPr>
        <p:txBody>
          <a:bodyPr wrap="square">
            <a:spAutoFit/>
          </a:bodyPr>
          <a:lstStyle/>
          <a:p>
            <a:pPr algn="ctr">
              <a:defRPr sz="2800" b="1">
                <a:solidFill>
                  <a:srgbClr val="22C55E"/>
                </a:solidFill>
              </a:defRPr>
            </a:pPr>
            <a:r>
              <a:t>60%+</a:t>
            </a:r>
          </a:p>
        </p:txBody>
      </p:sp>
      <p:sp>
        <p:nvSpPr>
          <p:cNvPr id="31" name="TextBox 30"/>
          <p:cNvSpPr txBox="1"/>
          <p:nvPr/>
        </p:nvSpPr>
        <p:spPr>
          <a:xfrm>
            <a:off x="6400800" y="6400800"/>
            <a:ext cx="2103120" cy="91440"/>
          </a:xfrm>
          <a:prstGeom prst="rect">
            <a:avLst/>
          </a:prstGeom>
          <a:noFill/>
        </p:spPr>
        <p:txBody>
          <a:bodyPr wrap="square">
            <a:spAutoFit/>
          </a:bodyPr>
          <a:lstStyle/>
          <a:p>
            <a:pPr algn="ctr">
              <a:defRPr sz="1200" b="0">
                <a:solidFill>
                  <a:srgbClr val="A0AEC0"/>
                </a:solidFill>
              </a:defRPr>
            </a:pPr>
            <a:r>
              <a:t>Fortune 500</a:t>
            </a:r>
            <a:br/>
            <a:r>
              <a:t>on Platform</a:t>
            </a:r>
          </a:p>
        </p:txBody>
      </p:sp>
      <p:sp>
        <p:nvSpPr>
          <p:cNvPr id="32" name="Rounded Rectangle 31"/>
          <p:cNvSpPr/>
          <p:nvPr/>
        </p:nvSpPr>
        <p:spPr>
          <a:xfrm>
            <a:off x="8961120" y="5760720"/>
            <a:ext cx="2468880" cy="9144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61120" y="5760720"/>
            <a:ext cx="246888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0" y="5897880"/>
            <a:ext cx="2103120" cy="548640"/>
          </a:xfrm>
          <a:prstGeom prst="rect">
            <a:avLst/>
          </a:prstGeom>
          <a:noFill/>
        </p:spPr>
        <p:txBody>
          <a:bodyPr wrap="square">
            <a:spAutoFit/>
          </a:bodyPr>
          <a:lstStyle/>
          <a:p>
            <a:pPr algn="ctr">
              <a:defRPr sz="2800" b="1">
                <a:solidFill>
                  <a:srgbClr val="A755F7"/>
                </a:solidFill>
              </a:defRPr>
            </a:pPr>
            <a:r>
              <a:t>327%</a:t>
            </a:r>
          </a:p>
        </p:txBody>
      </p:sp>
      <p:sp>
        <p:nvSpPr>
          <p:cNvPr id="35" name="TextBox 34"/>
          <p:cNvSpPr txBox="1"/>
          <p:nvPr/>
        </p:nvSpPr>
        <p:spPr>
          <a:xfrm>
            <a:off x="9144000" y="6400800"/>
            <a:ext cx="2103120" cy="91440"/>
          </a:xfrm>
          <a:prstGeom prst="rect">
            <a:avLst/>
          </a:prstGeom>
          <a:noFill/>
        </p:spPr>
        <p:txBody>
          <a:bodyPr wrap="square">
            <a:spAutoFit/>
          </a:bodyPr>
          <a:lstStyle/>
          <a:p>
            <a:pPr algn="ctr">
              <a:defRPr sz="1200" b="0">
                <a:solidFill>
                  <a:srgbClr val="A0AEC0"/>
                </a:solidFill>
              </a:defRPr>
            </a:pPr>
            <a:r>
              <a:t>Multi-Agent</a:t>
            </a:r>
            <a:br/>
            <a:r>
              <a:t>Growth (4 mo)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Databricks Mosaic AI: The Agent Platform</a:t>
            </a:r>
          </a:p>
        </p:txBody>
      </p:sp>
      <p:sp>
        <p:nvSpPr>
          <p:cNvPr id="4" name="Rectangle 3"/>
          <p:cNvSpPr/>
          <p:nvPr/>
        </p:nvSpPr>
        <p:spPr>
          <a:xfrm>
            <a:off x="731520" y="1051560"/>
            <a:ext cx="182880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5029200" cy="24688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50292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08760"/>
            <a:ext cx="4572000" cy="365760"/>
          </a:xfrm>
          <a:prstGeom prst="rect">
            <a:avLst/>
          </a:prstGeom>
          <a:noFill/>
        </p:spPr>
        <p:txBody>
          <a:bodyPr wrap="square">
            <a:spAutoFit/>
          </a:bodyPr>
          <a:lstStyle/>
          <a:p>
            <a:pPr algn="l">
              <a:defRPr sz="1800" b="1">
                <a:solidFill>
                  <a:srgbClr val="FF6F00"/>
                </a:solidFill>
              </a:defRPr>
            </a:pPr>
            <a:r>
              <a:t>Compound AI Systems</a:t>
            </a:r>
          </a:p>
        </p:txBody>
      </p:sp>
      <p:sp>
        <p:nvSpPr>
          <p:cNvPr id="8" name="TextBox 7"/>
          <p:cNvSpPr txBox="1"/>
          <p:nvPr/>
        </p:nvSpPr>
        <p:spPr>
          <a:xfrm>
            <a:off x="1005840" y="1920240"/>
            <a:ext cx="4572000" cy="1828800"/>
          </a:xfrm>
          <a:prstGeom prst="rect">
            <a:avLst/>
          </a:prstGeom>
          <a:noFill/>
        </p:spPr>
        <p:txBody>
          <a:bodyPr wrap="square">
            <a:spAutoFit/>
          </a:bodyPr>
          <a:lstStyle/>
          <a:p>
            <a:pPr algn="l">
              <a:spcAft>
                <a:spcPts val="400"/>
              </a:spcAft>
              <a:defRPr sz="1300" b="0">
                <a:solidFill>
                  <a:srgbClr val="FFFFFF"/>
                </a:solidFill>
              </a:defRPr>
            </a:pPr>
            <a:r>
              <a:t>•  Tuned foundation models + fine-tuning</a:t>
            </a:r>
          </a:p>
          <a:p>
            <a:pPr algn="l">
              <a:spcAft>
                <a:spcPts val="400"/>
              </a:spcAft>
              <a:defRPr sz="1300" b="0">
                <a:solidFill>
                  <a:srgbClr val="FFFFFF"/>
                </a:solidFill>
              </a:defRPr>
            </a:pPr>
            <a:r>
              <a:t>•  Retrieval-Augmented Generation (RAG)</a:t>
            </a:r>
          </a:p>
          <a:p>
            <a:pPr algn="l">
              <a:spcAft>
                <a:spcPts val="400"/>
              </a:spcAft>
              <a:defRPr sz="1300" b="0">
                <a:solidFill>
                  <a:srgbClr val="FFFFFF"/>
                </a:solidFill>
              </a:defRPr>
            </a:pPr>
            <a:r>
              <a:t>•  Tool use via Model Context Protocol (MCP)</a:t>
            </a:r>
          </a:p>
          <a:p>
            <a:pPr algn="l">
              <a:spcAft>
                <a:spcPts val="400"/>
              </a:spcAft>
              <a:defRPr sz="1300" b="0">
                <a:solidFill>
                  <a:srgbClr val="FFFFFF"/>
                </a:solidFill>
              </a:defRPr>
            </a:pPr>
            <a:r>
              <a:t>•  Reasoning agents with multi-step planning</a:t>
            </a:r>
          </a:p>
          <a:p>
            <a:pPr algn="l">
              <a:spcAft>
                <a:spcPts val="400"/>
              </a:spcAft>
              <a:defRPr sz="1300" b="0">
                <a:solidFill>
                  <a:srgbClr val="FFFFFF"/>
                </a:solidFill>
              </a:defRPr>
            </a:pPr>
            <a:r>
              <a:t>•  Multi-agent orchestration (supervisor pattern)</a:t>
            </a:r>
          </a:p>
          <a:p>
            <a:pPr algn="l">
              <a:spcAft>
                <a:spcPts val="200"/>
              </a:spcAft>
              <a:defRPr sz="1200" b="0">
                <a:solidFill>
                  <a:srgbClr val="A0AEC0"/>
                </a:solidFill>
              </a:defRPr>
            </a:pPr>
            <a:r>
              <a:t>Production systems use multiple components rather</a:t>
            </a:r>
          </a:p>
          <a:p>
            <a:pPr algn="l">
              <a:spcAft>
                <a:spcPts val="600"/>
              </a:spcAft>
              <a:defRPr sz="1200" b="0">
                <a:solidFill>
                  <a:srgbClr val="A0AEC0"/>
                </a:solidFill>
              </a:defRPr>
            </a:pPr>
            <a:r>
              <a:t>than monolithic models.</a:t>
            </a:r>
          </a:p>
        </p:txBody>
      </p:sp>
      <p:sp>
        <p:nvSpPr>
          <p:cNvPr id="9" name="Rounded Rectangle 8"/>
          <p:cNvSpPr/>
          <p:nvPr/>
        </p:nvSpPr>
        <p:spPr>
          <a:xfrm>
            <a:off x="6035040" y="1371600"/>
            <a:ext cx="5029200" cy="24688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0" y="1371600"/>
            <a:ext cx="502920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508760"/>
            <a:ext cx="4572000" cy="365760"/>
          </a:xfrm>
          <a:prstGeom prst="rect">
            <a:avLst/>
          </a:prstGeom>
          <a:noFill/>
        </p:spPr>
        <p:txBody>
          <a:bodyPr wrap="square">
            <a:spAutoFit/>
          </a:bodyPr>
          <a:lstStyle/>
          <a:p>
            <a:pPr algn="l">
              <a:defRPr sz="1800" b="1">
                <a:solidFill>
                  <a:srgbClr val="3B82F6"/>
                </a:solidFill>
              </a:defRPr>
            </a:pPr>
            <a:r>
              <a:t>MCP &amp; Tool Calling</a:t>
            </a:r>
          </a:p>
        </p:txBody>
      </p:sp>
      <p:sp>
        <p:nvSpPr>
          <p:cNvPr id="12" name="TextBox 11"/>
          <p:cNvSpPr txBox="1"/>
          <p:nvPr/>
        </p:nvSpPr>
        <p:spPr>
          <a:xfrm>
            <a:off x="6309360" y="1920240"/>
            <a:ext cx="4572000" cy="1828800"/>
          </a:xfrm>
          <a:prstGeom prst="rect">
            <a:avLst/>
          </a:prstGeom>
          <a:noFill/>
        </p:spPr>
        <p:txBody>
          <a:bodyPr wrap="square">
            <a:spAutoFit/>
          </a:bodyPr>
          <a:lstStyle/>
          <a:p>
            <a:pPr algn="l">
              <a:spcAft>
                <a:spcPts val="400"/>
              </a:spcAft>
              <a:defRPr sz="1300" b="0">
                <a:solidFill>
                  <a:srgbClr val="FFFFFF"/>
                </a:solidFill>
              </a:defRPr>
            </a:pPr>
            <a:r>
              <a:t>•  Managed MCP servers with Unity Catalog</a:t>
            </a:r>
          </a:p>
          <a:p>
            <a:pPr algn="l">
              <a:spcAft>
                <a:spcPts val="400"/>
              </a:spcAft>
              <a:defRPr sz="1300" b="0">
                <a:solidFill>
                  <a:srgbClr val="FFFFFF"/>
                </a:solidFill>
              </a:defRPr>
            </a:pPr>
            <a:r>
              <a:t>•  UC Functions, Genie spaces, Vector Search</a:t>
            </a:r>
          </a:p>
          <a:p>
            <a:pPr algn="l">
              <a:spcAft>
                <a:spcPts val="400"/>
              </a:spcAft>
              <a:defRPr sz="1300" b="0">
                <a:solidFill>
                  <a:srgbClr val="FFFFFF"/>
                </a:solidFill>
              </a:defRPr>
            </a:pPr>
            <a:r>
              <a:t>•  Parallel tool calling on Model Serving</a:t>
            </a:r>
          </a:p>
          <a:p>
            <a:pPr algn="l">
              <a:spcAft>
                <a:spcPts val="400"/>
              </a:spcAft>
              <a:defRPr sz="1300" b="0">
                <a:solidFill>
                  <a:srgbClr val="FFFFFF"/>
                </a:solidFill>
              </a:defRPr>
            </a:pPr>
            <a:r>
              <a:t>•  On-behalf-of-user authentication</a:t>
            </a:r>
          </a:p>
          <a:p>
            <a:pPr algn="l">
              <a:spcAft>
                <a:spcPts val="400"/>
              </a:spcAft>
              <a:defRPr sz="1300" b="0">
                <a:solidFill>
                  <a:srgbClr val="FFFFFF"/>
                </a:solidFill>
              </a:defRPr>
            </a:pPr>
            <a:r>
              <a:t>•  Custom MCP servers via Databricks Apps</a:t>
            </a:r>
          </a:p>
          <a:p>
            <a:pPr algn="l">
              <a:spcAft>
                <a:spcPts val="200"/>
              </a:spcAft>
              <a:defRPr sz="1200" b="0">
                <a:solidFill>
                  <a:srgbClr val="A0AEC0"/>
                </a:solidFill>
              </a:defRPr>
            </a:pPr>
            <a:r>
              <a:t>Standard protocol for equipping agents with</a:t>
            </a:r>
          </a:p>
          <a:p>
            <a:pPr algn="l">
              <a:spcAft>
                <a:spcPts val="600"/>
              </a:spcAft>
              <a:defRPr sz="1200" b="0">
                <a:solidFill>
                  <a:srgbClr val="A0AEC0"/>
                </a:solidFill>
              </a:defRPr>
            </a:pPr>
            <a:r>
              <a:t>enterprise tools and data access.</a:t>
            </a:r>
          </a:p>
        </p:txBody>
      </p:sp>
      <p:sp>
        <p:nvSpPr>
          <p:cNvPr id="13" name="Rounded Rectangle 12"/>
          <p:cNvSpPr/>
          <p:nvPr/>
        </p:nvSpPr>
        <p:spPr>
          <a:xfrm>
            <a:off x="731520" y="4114800"/>
            <a:ext cx="3291840" cy="2286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114800"/>
            <a:ext cx="329184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251960"/>
            <a:ext cx="2926080" cy="365760"/>
          </a:xfrm>
          <a:prstGeom prst="rect">
            <a:avLst/>
          </a:prstGeom>
          <a:noFill/>
        </p:spPr>
        <p:txBody>
          <a:bodyPr wrap="square">
            <a:spAutoFit/>
          </a:bodyPr>
          <a:lstStyle/>
          <a:p>
            <a:pPr algn="l">
              <a:defRPr sz="1600" b="1">
                <a:solidFill>
                  <a:srgbClr val="22C55E"/>
                </a:solidFill>
              </a:defRPr>
            </a:pPr>
            <a:r>
              <a:t>Agent Bricks (No-Code)</a:t>
            </a:r>
          </a:p>
        </p:txBody>
      </p:sp>
      <p:sp>
        <p:nvSpPr>
          <p:cNvPr id="16" name="TextBox 15"/>
          <p:cNvSpPr txBox="1"/>
          <p:nvPr/>
        </p:nvSpPr>
        <p:spPr>
          <a:xfrm>
            <a:off x="1005840" y="4617720"/>
            <a:ext cx="2926080" cy="1645920"/>
          </a:xfrm>
          <a:prstGeom prst="rect">
            <a:avLst/>
          </a:prstGeom>
          <a:noFill/>
        </p:spPr>
        <p:txBody>
          <a:bodyPr wrap="square">
            <a:spAutoFit/>
          </a:bodyPr>
          <a:lstStyle/>
          <a:p>
            <a:pPr algn="l">
              <a:spcAft>
                <a:spcPts val="300"/>
              </a:spcAft>
              <a:defRPr sz="1200" b="0">
                <a:solidFill>
                  <a:srgbClr val="FFFFFF"/>
                </a:solidFill>
              </a:defRPr>
            </a:pPr>
            <a:r>
              <a:t>•  Auto-generates domain agents</a:t>
            </a:r>
          </a:p>
          <a:p>
            <a:pPr algn="l">
              <a:spcAft>
                <a:spcPts val="300"/>
              </a:spcAft>
              <a:defRPr sz="1200" b="0">
                <a:solidFill>
                  <a:srgbClr val="FFFFFF"/>
                </a:solidFill>
              </a:defRPr>
            </a:pPr>
            <a:r>
              <a:t>•  High-level task descriptions</a:t>
            </a:r>
          </a:p>
          <a:p>
            <a:pPr algn="l">
              <a:spcAft>
                <a:spcPts val="300"/>
              </a:spcAft>
              <a:defRPr sz="1200" b="0">
                <a:solidFill>
                  <a:srgbClr val="FFFFFF"/>
                </a:solidFill>
              </a:defRPr>
            </a:pPr>
            <a:r>
              <a:t>•  Auto-builds evaluations</a:t>
            </a:r>
          </a:p>
          <a:p>
            <a:pPr algn="l">
              <a:spcAft>
                <a:spcPts val="300"/>
              </a:spcAft>
              <a:defRPr sz="1200" b="0">
                <a:solidFill>
                  <a:srgbClr val="FFFFFF"/>
                </a:solidFill>
              </a:defRPr>
            </a:pPr>
            <a:r>
              <a:t>•  Optimizes for quality &amp; cost</a:t>
            </a:r>
          </a:p>
          <a:p>
            <a:pPr algn="l">
              <a:spcAft>
                <a:spcPts val="600"/>
              </a:spcAft>
              <a:defRPr sz="1200" b="0">
                <a:solidFill>
                  <a:srgbClr val="FFFFFF"/>
                </a:solidFill>
              </a:defRPr>
            </a:pPr>
            <a:r>
              <a:t>•  Supports multi-agent systems</a:t>
            </a:r>
          </a:p>
        </p:txBody>
      </p:sp>
      <p:sp>
        <p:nvSpPr>
          <p:cNvPr id="17" name="Rounded Rectangle 16"/>
          <p:cNvSpPr/>
          <p:nvPr/>
        </p:nvSpPr>
        <p:spPr>
          <a:xfrm>
            <a:off x="4251960" y="4114800"/>
            <a:ext cx="3291840" cy="2286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51960" y="4114800"/>
            <a:ext cx="329184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4251960"/>
            <a:ext cx="2926080" cy="365760"/>
          </a:xfrm>
          <a:prstGeom prst="rect">
            <a:avLst/>
          </a:prstGeom>
          <a:noFill/>
        </p:spPr>
        <p:txBody>
          <a:bodyPr wrap="square">
            <a:spAutoFit/>
          </a:bodyPr>
          <a:lstStyle/>
          <a:p>
            <a:pPr algn="l">
              <a:defRPr sz="1600" b="1">
                <a:solidFill>
                  <a:srgbClr val="A755F7"/>
                </a:solidFill>
              </a:defRPr>
            </a:pPr>
            <a:r>
              <a:t>MLflow 3.0 (Observability)</a:t>
            </a:r>
          </a:p>
        </p:txBody>
      </p:sp>
      <p:sp>
        <p:nvSpPr>
          <p:cNvPr id="20" name="TextBox 19"/>
          <p:cNvSpPr txBox="1"/>
          <p:nvPr/>
        </p:nvSpPr>
        <p:spPr>
          <a:xfrm>
            <a:off x="4526280" y="4617720"/>
            <a:ext cx="2926080" cy="1645920"/>
          </a:xfrm>
          <a:prstGeom prst="rect">
            <a:avLst/>
          </a:prstGeom>
          <a:noFill/>
        </p:spPr>
        <p:txBody>
          <a:bodyPr wrap="square">
            <a:spAutoFit/>
          </a:bodyPr>
          <a:lstStyle/>
          <a:p>
            <a:pPr algn="l">
              <a:spcAft>
                <a:spcPts val="300"/>
              </a:spcAft>
              <a:defRPr sz="1200" b="0">
                <a:solidFill>
                  <a:srgbClr val="FFFFFF"/>
                </a:solidFill>
              </a:defRPr>
            </a:pPr>
            <a:r>
              <a:t>•  Agent tracing &amp; monitoring</a:t>
            </a:r>
          </a:p>
          <a:p>
            <a:pPr algn="l">
              <a:spcAft>
                <a:spcPts val="300"/>
              </a:spcAft>
              <a:defRPr sz="1200" b="0">
                <a:solidFill>
                  <a:srgbClr val="FFFFFF"/>
                </a:solidFill>
              </a:defRPr>
            </a:pPr>
            <a:r>
              <a:t>•  Prompt versioning &amp; registry</a:t>
            </a:r>
          </a:p>
          <a:p>
            <a:pPr algn="l">
              <a:spcAft>
                <a:spcPts val="300"/>
              </a:spcAft>
              <a:defRPr sz="1200" b="0">
                <a:solidFill>
                  <a:srgbClr val="FFFFFF"/>
                </a:solidFill>
              </a:defRPr>
            </a:pPr>
            <a:r>
              <a:t>•  Cross-platform (AWS/GCP/prem)</a:t>
            </a:r>
          </a:p>
          <a:p>
            <a:pPr algn="l">
              <a:spcAft>
                <a:spcPts val="300"/>
              </a:spcAft>
              <a:defRPr sz="1200" b="0">
                <a:solidFill>
                  <a:srgbClr val="FFFFFF"/>
                </a:solidFill>
              </a:defRPr>
            </a:pPr>
            <a:r>
              <a:t>•  Unity Catalog integration</a:t>
            </a:r>
          </a:p>
          <a:p>
            <a:pPr algn="l">
              <a:spcAft>
                <a:spcPts val="600"/>
              </a:spcAft>
              <a:defRPr sz="1200" b="0">
                <a:solidFill>
                  <a:srgbClr val="FFFFFF"/>
                </a:solidFill>
              </a:defRPr>
            </a:pPr>
            <a:r>
              <a:t>•  Open-source, cloud-agnostic</a:t>
            </a:r>
          </a:p>
        </p:txBody>
      </p:sp>
      <p:sp>
        <p:nvSpPr>
          <p:cNvPr id="21" name="Rounded Rectangle 20"/>
          <p:cNvSpPr/>
          <p:nvPr/>
        </p:nvSpPr>
        <p:spPr>
          <a:xfrm>
            <a:off x="7772400" y="4114800"/>
            <a:ext cx="3291840" cy="2286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0" y="4114800"/>
            <a:ext cx="329184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0" y="4251960"/>
            <a:ext cx="2926080" cy="365760"/>
          </a:xfrm>
          <a:prstGeom prst="rect">
            <a:avLst/>
          </a:prstGeom>
          <a:noFill/>
        </p:spPr>
        <p:txBody>
          <a:bodyPr wrap="square">
            <a:spAutoFit/>
          </a:bodyPr>
          <a:lstStyle/>
          <a:p>
            <a:pPr algn="l">
              <a:defRPr sz="1600" b="1">
                <a:solidFill>
                  <a:srgbClr val="14B8A6"/>
                </a:solidFill>
              </a:defRPr>
            </a:pPr>
            <a:r>
              <a:t>Lakebase (Agent DB)</a:t>
            </a:r>
          </a:p>
        </p:txBody>
      </p:sp>
      <p:sp>
        <p:nvSpPr>
          <p:cNvPr id="24" name="TextBox 23"/>
          <p:cNvSpPr txBox="1"/>
          <p:nvPr/>
        </p:nvSpPr>
        <p:spPr>
          <a:xfrm>
            <a:off x="8046720" y="4617720"/>
            <a:ext cx="2926080" cy="1645920"/>
          </a:xfrm>
          <a:prstGeom prst="rect">
            <a:avLst/>
          </a:prstGeom>
          <a:noFill/>
        </p:spPr>
        <p:txBody>
          <a:bodyPr wrap="square">
            <a:spAutoFit/>
          </a:bodyPr>
          <a:lstStyle/>
          <a:p>
            <a:pPr algn="l">
              <a:spcAft>
                <a:spcPts val="300"/>
              </a:spcAft>
              <a:defRPr sz="1200" b="0">
                <a:solidFill>
                  <a:srgbClr val="FFFFFF"/>
                </a:solidFill>
              </a:defRPr>
            </a:pPr>
            <a:r>
              <a:t>•  Postgres-compatible, managed</a:t>
            </a:r>
          </a:p>
          <a:p>
            <a:pPr algn="l">
              <a:spcAft>
                <a:spcPts val="300"/>
              </a:spcAft>
              <a:defRPr sz="1200" b="0">
                <a:solidFill>
                  <a:srgbClr val="FFFFFF"/>
                </a:solidFill>
              </a:defRPr>
            </a:pPr>
            <a:r>
              <a:t>•  Sub-10ms latency</a:t>
            </a:r>
          </a:p>
          <a:p>
            <a:pPr algn="l">
              <a:spcAft>
                <a:spcPts val="300"/>
              </a:spcAft>
              <a:defRPr sz="1200" b="0">
                <a:solidFill>
                  <a:srgbClr val="FFFFFF"/>
                </a:solidFill>
              </a:defRPr>
            </a:pPr>
            <a:r>
              <a:t>•  10,000+ queries per second</a:t>
            </a:r>
          </a:p>
          <a:p>
            <a:pPr algn="l">
              <a:spcAft>
                <a:spcPts val="300"/>
              </a:spcAft>
              <a:defRPr sz="1200" b="0">
                <a:solidFill>
                  <a:srgbClr val="FFFFFF"/>
                </a:solidFill>
              </a:defRPr>
            </a:pPr>
            <a:r>
              <a:t>•  Zero-ETL with copy-on-write</a:t>
            </a:r>
          </a:p>
          <a:p>
            <a:pPr algn="l">
              <a:spcAft>
                <a:spcPts val="600"/>
              </a:spcAft>
              <a:defRPr sz="1200" b="0">
                <a:solidFill>
                  <a:srgbClr val="FFFFFF"/>
                </a:solidFill>
              </a:defRPr>
            </a:pPr>
            <a:r>
              <a:t>•  Built for agent-scale workloads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Data + AI Summit 2024: Agentic AI Highlights</a:t>
            </a:r>
          </a:p>
        </p:txBody>
      </p:sp>
      <p:sp>
        <p:nvSpPr>
          <p:cNvPr id="4" name="Rectangle 3"/>
          <p:cNvSpPr/>
          <p:nvPr/>
        </p:nvSpPr>
        <p:spPr>
          <a:xfrm>
            <a:off x="731520" y="1051560"/>
            <a:ext cx="27432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9144000" cy="365760"/>
          </a:xfrm>
          <a:prstGeom prst="rect">
            <a:avLst/>
          </a:prstGeom>
          <a:noFill/>
        </p:spPr>
        <p:txBody>
          <a:bodyPr wrap="square">
            <a:spAutoFit/>
          </a:bodyPr>
          <a:lstStyle/>
          <a:p>
            <a:pPr algn="l">
              <a:defRPr sz="1300" b="0">
                <a:solidFill>
                  <a:srgbClr val="A0AEC0"/>
                </a:solidFill>
              </a:defRPr>
            </a:pPr>
            <a:r>
              <a:t>16,000+ in-person  |  60,000+ virtual  |  140 countries</a:t>
            </a:r>
          </a:p>
        </p:txBody>
      </p:sp>
      <p:sp>
        <p:nvSpPr>
          <p:cNvPr id="6" name="Rounded Rectangle 5"/>
          <p:cNvSpPr/>
          <p:nvPr/>
        </p:nvSpPr>
        <p:spPr>
          <a:xfrm>
            <a:off x="731520" y="1645920"/>
            <a:ext cx="10515600" cy="2286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63500" cy="22860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783080"/>
            <a:ext cx="9144000" cy="457200"/>
          </a:xfrm>
          <a:prstGeom prst="rect">
            <a:avLst/>
          </a:prstGeom>
          <a:noFill/>
        </p:spPr>
        <p:txBody>
          <a:bodyPr wrap="square">
            <a:spAutoFit/>
          </a:bodyPr>
          <a:lstStyle/>
          <a:p>
            <a:pPr algn="l">
              <a:defRPr sz="2200" b="1">
                <a:solidFill>
                  <a:srgbClr val="FF6F00"/>
                </a:solidFill>
              </a:defRPr>
            </a:pPr>
            <a:r>
              <a:t>Mosaic AI: Compound AI Systems</a:t>
            </a:r>
          </a:p>
        </p:txBody>
      </p:sp>
      <p:sp>
        <p:nvSpPr>
          <p:cNvPr id="9" name="TextBox 8"/>
          <p:cNvSpPr txBox="1"/>
          <p:nvPr/>
        </p:nvSpPr>
        <p:spPr>
          <a:xfrm>
            <a:off x="1097280" y="2194560"/>
            <a:ext cx="4572000" cy="1645920"/>
          </a:xfrm>
          <a:prstGeom prst="rect">
            <a:avLst/>
          </a:prstGeom>
          <a:noFill/>
        </p:spPr>
        <p:txBody>
          <a:bodyPr wrap="square">
            <a:spAutoFit/>
          </a:bodyPr>
          <a:lstStyle/>
          <a:p>
            <a:pPr algn="l">
              <a:defRPr sz="1300" b="0">
                <a:solidFill>
                  <a:srgbClr val="A0AEC0"/>
                </a:solidFill>
              </a:defRPr>
            </a:pPr>
            <a:r>
              <a:t>Databricks introduced Mosaic AI for building production-quality compound AI systems. The paradigm shifted from monolithic models to multi-component systems combining tuned models, retrieval, tool use, and reasoning agents.</a:t>
            </a:r>
          </a:p>
        </p:txBody>
      </p:sp>
      <p:sp>
        <p:nvSpPr>
          <p:cNvPr id="10" name="TextBox 9"/>
          <p:cNvSpPr txBox="1"/>
          <p:nvPr/>
        </p:nvSpPr>
        <p:spPr>
          <a:xfrm>
            <a:off x="5943600" y="2148840"/>
            <a:ext cx="5029200" cy="1828800"/>
          </a:xfrm>
          <a:prstGeom prst="rect">
            <a:avLst/>
          </a:prstGeom>
          <a:noFill/>
        </p:spPr>
        <p:txBody>
          <a:bodyPr wrap="square">
            <a:spAutoFit/>
          </a:bodyPr>
          <a:lstStyle/>
          <a:p>
            <a:pPr algn="l">
              <a:spcAft>
                <a:spcPts val="400"/>
              </a:spcAft>
              <a:defRPr sz="1300" b="0">
                <a:solidFill>
                  <a:srgbClr val="FFFFFF"/>
                </a:solidFill>
              </a:defRPr>
            </a:pPr>
            <a:r>
              <a:t>•  New SDK for building, deploying &amp; evaluating AI agents</a:t>
            </a:r>
          </a:p>
          <a:p>
            <a:pPr algn="l">
              <a:spcAft>
                <a:spcPts val="400"/>
              </a:spcAft>
              <a:defRPr sz="1300" b="0">
                <a:solidFill>
                  <a:srgbClr val="FFFFFF"/>
                </a:solidFill>
              </a:defRPr>
            </a:pPr>
            <a:r>
              <a:t>•  Foundation Model APIs with pay-per-token pricing</a:t>
            </a:r>
          </a:p>
          <a:p>
            <a:pPr algn="l">
              <a:spcAft>
                <a:spcPts val="400"/>
              </a:spcAft>
              <a:defRPr sz="1300" b="0">
                <a:solidFill>
                  <a:srgbClr val="FFFFFF"/>
                </a:solidFill>
              </a:defRPr>
            </a:pPr>
            <a:r>
              <a:t>•  Mosaic AI Tool Catalog for enterprise function registries</a:t>
            </a:r>
          </a:p>
          <a:p>
            <a:pPr algn="l">
              <a:spcAft>
                <a:spcPts val="400"/>
              </a:spcAft>
              <a:defRPr sz="1300" b="0">
                <a:solidFill>
                  <a:srgbClr val="FFFFFF"/>
                </a:solidFill>
              </a:defRPr>
            </a:pPr>
            <a:r>
              <a:t>•  Model Serving support for agents and RAG applications</a:t>
            </a:r>
          </a:p>
        </p:txBody>
      </p:sp>
      <p:sp>
        <p:nvSpPr>
          <p:cNvPr id="11" name="Rounded Rectangle 10"/>
          <p:cNvSpPr/>
          <p:nvPr/>
        </p:nvSpPr>
        <p:spPr>
          <a:xfrm>
            <a:off x="731520" y="4114800"/>
            <a:ext cx="10515600" cy="2286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114800"/>
            <a:ext cx="63500" cy="2286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9144000" cy="457200"/>
          </a:xfrm>
          <a:prstGeom prst="rect">
            <a:avLst/>
          </a:prstGeom>
          <a:noFill/>
        </p:spPr>
        <p:txBody>
          <a:bodyPr wrap="square">
            <a:spAutoFit/>
          </a:bodyPr>
          <a:lstStyle/>
          <a:p>
            <a:pPr algn="l">
              <a:defRPr sz="2200" b="1">
                <a:solidFill>
                  <a:srgbClr val="3B82F6"/>
                </a:solidFill>
              </a:defRPr>
            </a:pPr>
            <a:r>
              <a:t>GenAI Announcements Keynote</a:t>
            </a:r>
          </a:p>
        </p:txBody>
      </p:sp>
      <p:sp>
        <p:nvSpPr>
          <p:cNvPr id="14" name="TextBox 13"/>
          <p:cNvSpPr txBox="1"/>
          <p:nvPr/>
        </p:nvSpPr>
        <p:spPr>
          <a:xfrm>
            <a:off x="1097280" y="4663440"/>
            <a:ext cx="4572000" cy="1645920"/>
          </a:xfrm>
          <a:prstGeom prst="rect">
            <a:avLst/>
          </a:prstGeom>
          <a:noFill/>
        </p:spPr>
        <p:txBody>
          <a:bodyPr wrap="square">
            <a:spAutoFit/>
          </a:bodyPr>
          <a:lstStyle/>
          <a:p>
            <a:pPr algn="l">
              <a:defRPr sz="1300" b="0">
                <a:solidFill>
                  <a:srgbClr val="A0AEC0"/>
                </a:solidFill>
              </a:defRPr>
            </a:pPr>
            <a:r>
              <a:t>Focus on production-grade compound AI and fine-tuning. Open-source adoption accelerated rapidly — Llama 3 captured 39% of open-source usage within 4 weeks of launch.</a:t>
            </a:r>
          </a:p>
        </p:txBody>
      </p:sp>
      <p:sp>
        <p:nvSpPr>
          <p:cNvPr id="15" name="TextBox 14"/>
          <p:cNvSpPr txBox="1"/>
          <p:nvPr/>
        </p:nvSpPr>
        <p:spPr>
          <a:xfrm>
            <a:off x="5943600" y="4617720"/>
            <a:ext cx="5029200" cy="1828800"/>
          </a:xfrm>
          <a:prstGeom prst="rect">
            <a:avLst/>
          </a:prstGeom>
          <a:noFill/>
        </p:spPr>
        <p:txBody>
          <a:bodyPr wrap="square">
            <a:spAutoFit/>
          </a:bodyPr>
          <a:lstStyle/>
          <a:p>
            <a:pPr algn="l">
              <a:spcAft>
                <a:spcPts val="400"/>
              </a:spcAft>
              <a:defRPr sz="1300" b="0">
                <a:solidFill>
                  <a:srgbClr val="FFFFFF"/>
                </a:solidFill>
              </a:defRPr>
            </a:pPr>
            <a:r>
              <a:t>•  Fine-tuning support for foundation models</a:t>
            </a:r>
          </a:p>
          <a:p>
            <a:pPr algn="l">
              <a:spcAft>
                <a:spcPts val="400"/>
              </a:spcAft>
              <a:defRPr sz="1300" b="0">
                <a:solidFill>
                  <a:srgbClr val="FFFFFF"/>
                </a:solidFill>
              </a:defRPr>
            </a:pPr>
            <a:r>
              <a:t>•  70% of GenAI companies use vector databases for RAG</a:t>
            </a:r>
          </a:p>
          <a:p>
            <a:pPr algn="l">
              <a:spcAft>
                <a:spcPts val="400"/>
              </a:spcAft>
              <a:defRPr sz="1300" b="0">
                <a:solidFill>
                  <a:srgbClr val="FFFFFF"/>
                </a:solidFill>
              </a:defRPr>
            </a:pPr>
            <a:r>
              <a:t>•  Hugging Face Transformers jumped from #4 to #2 adoption</a:t>
            </a:r>
          </a:p>
          <a:p>
            <a:pPr algn="l">
              <a:spcAft>
                <a:spcPts val="400"/>
              </a:spcAft>
              <a:defRPr sz="1300" b="0">
                <a:solidFill>
                  <a:srgbClr val="FFFFFF"/>
                </a:solidFill>
              </a:defRPr>
            </a:pPr>
            <a:r>
              <a:t>•  Open-source models preferred by 76% of LLM users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Data + AI Summit 2025: Agentic AI Highlights</a:t>
            </a:r>
          </a:p>
        </p:txBody>
      </p:sp>
      <p:sp>
        <p:nvSpPr>
          <p:cNvPr id="4" name="Rectangle 3"/>
          <p:cNvSpPr/>
          <p:nvPr/>
        </p:nvSpPr>
        <p:spPr>
          <a:xfrm>
            <a:off x="731520" y="1051560"/>
            <a:ext cx="274320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9144000" cy="365760"/>
          </a:xfrm>
          <a:prstGeom prst="rect">
            <a:avLst/>
          </a:prstGeom>
          <a:noFill/>
        </p:spPr>
        <p:txBody>
          <a:bodyPr wrap="square">
            <a:spAutoFit/>
          </a:bodyPr>
          <a:lstStyle/>
          <a:p>
            <a:pPr algn="l">
              <a:defRPr sz="1300" b="0">
                <a:solidFill>
                  <a:srgbClr val="A0AEC0"/>
                </a:solidFill>
              </a:defRPr>
            </a:pPr>
            <a:r>
              <a:t>June 9–12, 2025  |  San Francisco  |  22,000+ Attendees  |  700+ Sessions</a:t>
            </a:r>
          </a:p>
        </p:txBody>
      </p:sp>
      <p:sp>
        <p:nvSpPr>
          <p:cNvPr id="6" name="Rounded Rectangle 5"/>
          <p:cNvSpPr/>
          <p:nvPr/>
        </p:nvSpPr>
        <p:spPr>
          <a:xfrm>
            <a:off x="731520" y="1645920"/>
            <a:ext cx="3291840" cy="20116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329184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3017520" cy="457200"/>
          </a:xfrm>
          <a:prstGeom prst="rect">
            <a:avLst/>
          </a:prstGeom>
          <a:noFill/>
        </p:spPr>
        <p:txBody>
          <a:bodyPr wrap="square">
            <a:spAutoFit/>
          </a:bodyPr>
          <a:lstStyle/>
          <a:p>
            <a:pPr algn="l">
              <a:defRPr sz="1400" b="1">
                <a:solidFill>
                  <a:srgbClr val="FF6F00"/>
                </a:solidFill>
              </a:defRPr>
            </a:pPr>
            <a:r>
              <a:t>Autonomous AI Agents in Infrastructure</a:t>
            </a:r>
          </a:p>
        </p:txBody>
      </p:sp>
      <p:sp>
        <p:nvSpPr>
          <p:cNvPr id="9" name="TextBox 8"/>
          <p:cNvSpPr txBox="1"/>
          <p:nvPr/>
        </p:nvSpPr>
        <p:spPr>
          <a:xfrm>
            <a:off x="868680" y="2194560"/>
            <a:ext cx="3017520" cy="274320"/>
          </a:xfrm>
          <a:prstGeom prst="rect">
            <a:avLst/>
          </a:prstGeom>
          <a:noFill/>
        </p:spPr>
        <p:txBody>
          <a:bodyPr wrap="square">
            <a:spAutoFit/>
          </a:bodyPr>
          <a:lstStyle/>
          <a:p>
            <a:pPr algn="l">
              <a:defRPr sz="1100" b="1">
                <a:solidFill>
                  <a:srgbClr val="FFFFFF"/>
                </a:solidFill>
              </a:defRPr>
            </a:pPr>
            <a:r>
              <a:t>Apurva Kumar — Walmart Global Tech</a:t>
            </a:r>
          </a:p>
        </p:txBody>
      </p:sp>
      <p:sp>
        <p:nvSpPr>
          <p:cNvPr id="10" name="TextBox 9"/>
          <p:cNvSpPr txBox="1"/>
          <p:nvPr/>
        </p:nvSpPr>
        <p:spPr>
          <a:xfrm>
            <a:off x="868680" y="2514600"/>
            <a:ext cx="3017520" cy="1005840"/>
          </a:xfrm>
          <a:prstGeom prst="rect">
            <a:avLst/>
          </a:prstGeom>
          <a:noFill/>
        </p:spPr>
        <p:txBody>
          <a:bodyPr wrap="square">
            <a:spAutoFit/>
          </a:bodyPr>
          <a:lstStyle/>
          <a:p>
            <a:pPr algn="l">
              <a:defRPr sz="1100" b="0">
                <a:solidFill>
                  <a:srgbClr val="A0AEC0"/>
                </a:solidFill>
              </a:defRPr>
            </a:pPr>
            <a:r>
              <a:t>Architecture &amp; design principles for autonomous agents: containerization, orchestration, robustness, and real-time feedback loops.</a:t>
            </a:r>
          </a:p>
        </p:txBody>
      </p:sp>
      <p:sp>
        <p:nvSpPr>
          <p:cNvPr id="11" name="Rounded Rectangle 10"/>
          <p:cNvSpPr/>
          <p:nvPr/>
        </p:nvSpPr>
        <p:spPr>
          <a:xfrm>
            <a:off x="4206240" y="1645920"/>
            <a:ext cx="3291840" cy="20116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1645920"/>
            <a:ext cx="329184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1783080"/>
            <a:ext cx="3017520" cy="457200"/>
          </a:xfrm>
          <a:prstGeom prst="rect">
            <a:avLst/>
          </a:prstGeom>
          <a:noFill/>
        </p:spPr>
        <p:txBody>
          <a:bodyPr wrap="square">
            <a:spAutoFit/>
          </a:bodyPr>
          <a:lstStyle/>
          <a:p>
            <a:pPr algn="l">
              <a:defRPr sz="1400" b="1">
                <a:solidFill>
                  <a:srgbClr val="3B82F6"/>
                </a:solidFill>
              </a:defRPr>
            </a:pPr>
            <a:r>
              <a:t>Agent Bricks: Multi-Agent Systems</a:t>
            </a:r>
          </a:p>
        </p:txBody>
      </p:sp>
      <p:sp>
        <p:nvSpPr>
          <p:cNvPr id="14" name="TextBox 13"/>
          <p:cNvSpPr txBox="1"/>
          <p:nvPr/>
        </p:nvSpPr>
        <p:spPr>
          <a:xfrm>
            <a:off x="4343400" y="2194560"/>
            <a:ext cx="3017520" cy="274320"/>
          </a:xfrm>
          <a:prstGeom prst="rect">
            <a:avLst/>
          </a:prstGeom>
          <a:noFill/>
        </p:spPr>
        <p:txBody>
          <a:bodyPr wrap="square">
            <a:spAutoFit/>
          </a:bodyPr>
          <a:lstStyle/>
          <a:p>
            <a:pPr algn="l">
              <a:defRPr sz="1100" b="1">
                <a:solidFill>
                  <a:srgbClr val="FFFFFF"/>
                </a:solidFill>
              </a:defRPr>
            </a:pPr>
            <a:r>
              <a:t>Databricks</a:t>
            </a:r>
          </a:p>
        </p:txBody>
      </p:sp>
      <p:sp>
        <p:nvSpPr>
          <p:cNvPr id="15" name="TextBox 14"/>
          <p:cNvSpPr txBox="1"/>
          <p:nvPr/>
        </p:nvSpPr>
        <p:spPr>
          <a:xfrm>
            <a:off x="4343400" y="2514600"/>
            <a:ext cx="3017520" cy="1005840"/>
          </a:xfrm>
          <a:prstGeom prst="rect">
            <a:avLst/>
          </a:prstGeom>
          <a:noFill/>
        </p:spPr>
        <p:txBody>
          <a:bodyPr wrap="square">
            <a:spAutoFit/>
          </a:bodyPr>
          <a:lstStyle/>
          <a:p>
            <a:pPr algn="l">
              <a:defRPr sz="1100" b="0">
                <a:solidFill>
                  <a:srgbClr val="A0AEC0"/>
                </a:solidFill>
              </a:defRPr>
            </a:pPr>
            <a:r>
              <a:t>Natural language interactions with structured databases and unstructured documents. KBQA evaluation, data governance, and vector search.</a:t>
            </a:r>
          </a:p>
        </p:txBody>
      </p:sp>
      <p:sp>
        <p:nvSpPr>
          <p:cNvPr id="16" name="Rounded Rectangle 15"/>
          <p:cNvSpPr/>
          <p:nvPr/>
        </p:nvSpPr>
        <p:spPr>
          <a:xfrm>
            <a:off x="7680960" y="1645920"/>
            <a:ext cx="3291840" cy="20116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0" y="1645920"/>
            <a:ext cx="329184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18120" y="1783080"/>
            <a:ext cx="3017520" cy="457200"/>
          </a:xfrm>
          <a:prstGeom prst="rect">
            <a:avLst/>
          </a:prstGeom>
          <a:noFill/>
        </p:spPr>
        <p:txBody>
          <a:bodyPr wrap="square">
            <a:spAutoFit/>
          </a:bodyPr>
          <a:lstStyle/>
          <a:p>
            <a:pPr algn="l">
              <a:defRPr sz="1400" b="1">
                <a:solidFill>
                  <a:srgbClr val="22C55E"/>
                </a:solidFill>
              </a:defRPr>
            </a:pPr>
            <a:r>
              <a:t>Multi-Agents in Production</a:t>
            </a:r>
          </a:p>
        </p:txBody>
      </p:sp>
      <p:sp>
        <p:nvSpPr>
          <p:cNvPr id="19" name="TextBox 18"/>
          <p:cNvSpPr txBox="1"/>
          <p:nvPr/>
        </p:nvSpPr>
        <p:spPr>
          <a:xfrm>
            <a:off x="7818120" y="2194560"/>
            <a:ext cx="3017520" cy="274320"/>
          </a:xfrm>
          <a:prstGeom prst="rect">
            <a:avLst/>
          </a:prstGeom>
          <a:noFill/>
        </p:spPr>
        <p:txBody>
          <a:bodyPr wrap="square">
            <a:spAutoFit/>
          </a:bodyPr>
          <a:lstStyle/>
          <a:p>
            <a:pPr algn="l">
              <a:defRPr sz="1100" b="1">
                <a:solidFill>
                  <a:srgbClr val="FFFFFF"/>
                </a:solidFill>
              </a:defRPr>
            </a:pPr>
            <a:r>
              <a:t>Tony Holdstock-Brown — Inngest</a:t>
            </a:r>
          </a:p>
        </p:txBody>
      </p:sp>
      <p:sp>
        <p:nvSpPr>
          <p:cNvPr id="20" name="TextBox 19"/>
          <p:cNvSpPr txBox="1"/>
          <p:nvPr/>
        </p:nvSpPr>
        <p:spPr>
          <a:xfrm>
            <a:off x="7818120" y="2514600"/>
            <a:ext cx="3017520" cy="1005840"/>
          </a:xfrm>
          <a:prstGeom prst="rect">
            <a:avLst/>
          </a:prstGeom>
          <a:noFill/>
        </p:spPr>
        <p:txBody>
          <a:bodyPr wrap="square">
            <a:spAutoFit/>
          </a:bodyPr>
          <a:lstStyle/>
          <a:p>
            <a:pPr algn="l">
              <a:defRPr sz="1100" b="0">
                <a:solidFill>
                  <a:srgbClr val="A0AEC0"/>
                </a:solidFill>
              </a:defRPr>
            </a:pPr>
            <a:r>
              <a:t>Techniques for building effective multi-agent networks deterministically while reducing compounding error rates across AI calls.</a:t>
            </a:r>
          </a:p>
        </p:txBody>
      </p:sp>
      <p:sp>
        <p:nvSpPr>
          <p:cNvPr id="21" name="Rounded Rectangle 20"/>
          <p:cNvSpPr/>
          <p:nvPr/>
        </p:nvSpPr>
        <p:spPr>
          <a:xfrm>
            <a:off x="731520" y="3840480"/>
            <a:ext cx="3291840" cy="20116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3840480"/>
            <a:ext cx="329184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977640"/>
            <a:ext cx="3017520" cy="457200"/>
          </a:xfrm>
          <a:prstGeom prst="rect">
            <a:avLst/>
          </a:prstGeom>
          <a:noFill/>
        </p:spPr>
        <p:txBody>
          <a:bodyPr wrap="square">
            <a:spAutoFit/>
          </a:bodyPr>
          <a:lstStyle/>
          <a:p>
            <a:pPr algn="l">
              <a:defRPr sz="1400" b="1">
                <a:solidFill>
                  <a:srgbClr val="A755F7"/>
                </a:solidFill>
              </a:defRPr>
            </a:pPr>
            <a:r>
              <a:t>Quality Monitoring for Agents</a:t>
            </a:r>
          </a:p>
        </p:txBody>
      </p:sp>
      <p:sp>
        <p:nvSpPr>
          <p:cNvPr id="24" name="TextBox 23"/>
          <p:cNvSpPr txBox="1"/>
          <p:nvPr/>
        </p:nvSpPr>
        <p:spPr>
          <a:xfrm>
            <a:off x="868680" y="4389120"/>
            <a:ext cx="3017520" cy="274320"/>
          </a:xfrm>
          <a:prstGeom prst="rect">
            <a:avLst/>
          </a:prstGeom>
          <a:noFill/>
        </p:spPr>
        <p:txBody>
          <a:bodyPr wrap="square">
            <a:spAutoFit/>
          </a:bodyPr>
          <a:lstStyle/>
          <a:p>
            <a:pPr algn="l">
              <a:defRPr sz="1100" b="1">
                <a:solidFill>
                  <a:srgbClr val="FFFFFF"/>
                </a:solidFill>
              </a:defRPr>
            </a:pPr>
            <a:r>
              <a:t>Databricks</a:t>
            </a:r>
          </a:p>
        </p:txBody>
      </p:sp>
      <p:sp>
        <p:nvSpPr>
          <p:cNvPr id="25" name="TextBox 24"/>
          <p:cNvSpPr txBox="1"/>
          <p:nvPr/>
        </p:nvSpPr>
        <p:spPr>
          <a:xfrm>
            <a:off x="868680" y="4709160"/>
            <a:ext cx="3017520" cy="1005840"/>
          </a:xfrm>
          <a:prstGeom prst="rect">
            <a:avLst/>
          </a:prstGeom>
          <a:noFill/>
        </p:spPr>
        <p:txBody>
          <a:bodyPr wrap="square">
            <a:spAutoFit/>
          </a:bodyPr>
          <a:lstStyle/>
          <a:p>
            <a:pPr algn="l">
              <a:defRPr sz="1100" b="0">
                <a:solidFill>
                  <a:srgbClr val="A0AEC0"/>
                </a:solidFill>
              </a:defRPr>
            </a:pPr>
            <a:r>
              <a:t>Mosaic Agent Monitoring: user feedback integration, monitoring dashboards, quality evaluation using AI judges, and operational metrics.</a:t>
            </a:r>
          </a:p>
        </p:txBody>
      </p:sp>
      <p:sp>
        <p:nvSpPr>
          <p:cNvPr id="26" name="Rounded Rectangle 25"/>
          <p:cNvSpPr/>
          <p:nvPr/>
        </p:nvSpPr>
        <p:spPr>
          <a:xfrm>
            <a:off x="4206240" y="3840480"/>
            <a:ext cx="3291840" cy="20116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06240" y="3840480"/>
            <a:ext cx="329184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43400" y="3977640"/>
            <a:ext cx="3017520" cy="457200"/>
          </a:xfrm>
          <a:prstGeom prst="rect">
            <a:avLst/>
          </a:prstGeom>
          <a:noFill/>
        </p:spPr>
        <p:txBody>
          <a:bodyPr wrap="square">
            <a:spAutoFit/>
          </a:bodyPr>
          <a:lstStyle/>
          <a:p>
            <a:pPr algn="l">
              <a:defRPr sz="1400" b="1">
                <a:solidFill>
                  <a:srgbClr val="14B8A6"/>
                </a:solidFill>
              </a:defRPr>
            </a:pPr>
            <a:r>
              <a:t>Building Responsible AI Agents</a:t>
            </a:r>
          </a:p>
        </p:txBody>
      </p:sp>
      <p:sp>
        <p:nvSpPr>
          <p:cNvPr id="29" name="TextBox 28"/>
          <p:cNvSpPr txBox="1"/>
          <p:nvPr/>
        </p:nvSpPr>
        <p:spPr>
          <a:xfrm>
            <a:off x="4343400" y="4389120"/>
            <a:ext cx="3017520" cy="274320"/>
          </a:xfrm>
          <a:prstGeom prst="rect">
            <a:avLst/>
          </a:prstGeom>
          <a:noFill/>
        </p:spPr>
        <p:txBody>
          <a:bodyPr wrap="square">
            <a:spAutoFit/>
          </a:bodyPr>
          <a:lstStyle/>
          <a:p>
            <a:pPr algn="l">
              <a:defRPr sz="1100" b="1">
                <a:solidFill>
                  <a:srgbClr val="FFFFFF"/>
                </a:solidFill>
              </a:defRPr>
            </a:pPr>
            <a:r>
              <a:t>Databricks</a:t>
            </a:r>
          </a:p>
        </p:txBody>
      </p:sp>
      <p:sp>
        <p:nvSpPr>
          <p:cNvPr id="30" name="TextBox 29"/>
          <p:cNvSpPr txBox="1"/>
          <p:nvPr/>
        </p:nvSpPr>
        <p:spPr>
          <a:xfrm>
            <a:off x="4343400" y="4709160"/>
            <a:ext cx="3017520" cy="1005840"/>
          </a:xfrm>
          <a:prstGeom prst="rect">
            <a:avLst/>
          </a:prstGeom>
          <a:noFill/>
        </p:spPr>
        <p:txBody>
          <a:bodyPr wrap="square">
            <a:spAutoFit/>
          </a:bodyPr>
          <a:lstStyle/>
          <a:p>
            <a:pPr algn="l">
              <a:defRPr sz="1100" b="0">
                <a:solidFill>
                  <a:srgbClr val="A0AEC0"/>
                </a:solidFill>
              </a:defRPr>
            </a:pPr>
            <a:r>
              <a:t>Fairness, transparency, regulatory compliance. Bias monitoring, explainability (SHAP/LIME), Unity Catalog governance, and LLM guardrails.</a:t>
            </a:r>
          </a:p>
        </p:txBody>
      </p:sp>
      <p:sp>
        <p:nvSpPr>
          <p:cNvPr id="31" name="Rounded Rectangle 30"/>
          <p:cNvSpPr/>
          <p:nvPr/>
        </p:nvSpPr>
        <p:spPr>
          <a:xfrm>
            <a:off x="7680960" y="3840480"/>
            <a:ext cx="3291840" cy="20116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80960" y="3840480"/>
            <a:ext cx="3291840" cy="5080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18120" y="3977640"/>
            <a:ext cx="3017520" cy="457200"/>
          </a:xfrm>
          <a:prstGeom prst="rect">
            <a:avLst/>
          </a:prstGeom>
          <a:noFill/>
        </p:spPr>
        <p:txBody>
          <a:bodyPr wrap="square">
            <a:spAutoFit/>
          </a:bodyPr>
          <a:lstStyle/>
          <a:p>
            <a:pPr algn="l">
              <a:defRPr sz="1400" b="1">
                <a:solidFill>
                  <a:srgbClr val="E84D3D"/>
                </a:solidFill>
              </a:defRPr>
            </a:pPr>
            <a:r>
              <a:t>Agentic AI in Finance</a:t>
            </a:r>
          </a:p>
        </p:txBody>
      </p:sp>
      <p:sp>
        <p:nvSpPr>
          <p:cNvPr id="34" name="TextBox 33"/>
          <p:cNvSpPr txBox="1"/>
          <p:nvPr/>
        </p:nvSpPr>
        <p:spPr>
          <a:xfrm>
            <a:off x="7818120" y="4389120"/>
            <a:ext cx="3017520" cy="274320"/>
          </a:xfrm>
          <a:prstGeom prst="rect">
            <a:avLst/>
          </a:prstGeom>
          <a:noFill/>
        </p:spPr>
        <p:txBody>
          <a:bodyPr wrap="square">
            <a:spAutoFit/>
          </a:bodyPr>
          <a:lstStyle/>
          <a:p>
            <a:pPr algn="l">
              <a:defRPr sz="1100" b="1">
                <a:solidFill>
                  <a:srgbClr val="FFFFFF"/>
                </a:solidFill>
              </a:defRPr>
            </a:pPr>
            <a:r>
              <a:t>Qubika (Sponsored)</a:t>
            </a:r>
          </a:p>
        </p:txBody>
      </p:sp>
      <p:sp>
        <p:nvSpPr>
          <p:cNvPr id="35" name="TextBox 34"/>
          <p:cNvSpPr txBox="1"/>
          <p:nvPr/>
        </p:nvSpPr>
        <p:spPr>
          <a:xfrm>
            <a:off x="7818120" y="4709160"/>
            <a:ext cx="3017520" cy="1005840"/>
          </a:xfrm>
          <a:prstGeom prst="rect">
            <a:avLst/>
          </a:prstGeom>
          <a:noFill/>
        </p:spPr>
        <p:txBody>
          <a:bodyPr wrap="square">
            <a:spAutoFit/>
          </a:bodyPr>
          <a:lstStyle/>
          <a:p>
            <a:pPr algn="l">
              <a:defRPr sz="1100" b="0">
                <a:solidFill>
                  <a:srgbClr val="A0AEC0"/>
                </a:solidFill>
              </a:defRPr>
            </a:pPr>
            <a:r>
              <a:t>AI finance agents using LangChain, RAG, and Databricks unified platform including MLflow and Mosaic AI integration.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Data + AI Summit 2026: Agentic AI Highlights</a:t>
            </a:r>
          </a:p>
        </p:txBody>
      </p:sp>
      <p:sp>
        <p:nvSpPr>
          <p:cNvPr id="4" name="Rectangle 3"/>
          <p:cNvSpPr/>
          <p:nvPr/>
        </p:nvSpPr>
        <p:spPr>
          <a:xfrm>
            <a:off x="731520" y="1051560"/>
            <a:ext cx="274320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9144000" cy="365760"/>
          </a:xfrm>
          <a:prstGeom prst="rect">
            <a:avLst/>
          </a:prstGeom>
          <a:noFill/>
        </p:spPr>
        <p:txBody>
          <a:bodyPr wrap="square">
            <a:spAutoFit/>
          </a:bodyPr>
          <a:lstStyle/>
          <a:p>
            <a:pPr algn="l">
              <a:defRPr sz="1300" b="0">
                <a:solidFill>
                  <a:srgbClr val="A0AEC0"/>
                </a:solidFill>
              </a:defRPr>
            </a:pPr>
            <a:r>
              <a:t>June 15–18, 2026  |  San Francisco  |  800+ Sessions Expected</a:t>
            </a:r>
          </a:p>
        </p:txBody>
      </p:sp>
      <p:sp>
        <p:nvSpPr>
          <p:cNvPr id="6" name="Rounded Rectangle 5"/>
          <p:cNvSpPr/>
          <p:nvPr/>
        </p:nvSpPr>
        <p:spPr>
          <a:xfrm>
            <a:off x="731520" y="1645920"/>
            <a:ext cx="3383280" cy="2286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338328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755648"/>
            <a:ext cx="3163824" cy="411480"/>
          </a:xfrm>
          <a:prstGeom prst="rect">
            <a:avLst/>
          </a:prstGeom>
          <a:noFill/>
        </p:spPr>
        <p:txBody>
          <a:bodyPr wrap="square">
            <a:spAutoFit/>
          </a:bodyPr>
          <a:lstStyle/>
          <a:p>
            <a:pPr algn="l">
              <a:defRPr sz="1300" b="1">
                <a:solidFill>
                  <a:srgbClr val="FF6F00"/>
                </a:solidFill>
              </a:defRPr>
            </a:pPr>
            <a:r>
              <a:t>Beyond the Trace: adidas' Agent Digital Twin</a:t>
            </a:r>
          </a:p>
        </p:txBody>
      </p:sp>
      <p:sp>
        <p:nvSpPr>
          <p:cNvPr id="9" name="TextBox 8"/>
          <p:cNvSpPr txBox="1"/>
          <p:nvPr/>
        </p:nvSpPr>
        <p:spPr>
          <a:xfrm>
            <a:off x="841248" y="2084832"/>
            <a:ext cx="731520" cy="228600"/>
          </a:xfrm>
          <a:prstGeom prst="rect">
            <a:avLst/>
          </a:prstGeom>
          <a:noFill/>
        </p:spPr>
        <p:txBody>
          <a:bodyPr wrap="square">
            <a:spAutoFit/>
          </a:bodyPr>
          <a:lstStyle/>
          <a:p>
            <a:pPr algn="l">
              <a:defRPr sz="1000" b="1">
                <a:solidFill>
                  <a:srgbClr val="FFFFFF"/>
                </a:solidFill>
              </a:defRPr>
            </a:pPr>
            <a:r>
              <a:t>adidas</a:t>
            </a:r>
          </a:p>
        </p:txBody>
      </p:sp>
      <p:sp>
        <p:nvSpPr>
          <p:cNvPr id="10" name="TextBox 9"/>
          <p:cNvSpPr txBox="1"/>
          <p:nvPr/>
        </p:nvSpPr>
        <p:spPr>
          <a:xfrm>
            <a:off x="841248" y="2331720"/>
            <a:ext cx="1920240" cy="1188720"/>
          </a:xfrm>
          <a:prstGeom prst="rect">
            <a:avLst/>
          </a:prstGeom>
          <a:noFill/>
        </p:spPr>
        <p:txBody>
          <a:bodyPr wrap="square">
            <a:spAutoFit/>
          </a:bodyPr>
          <a:lstStyle/>
          <a:p>
            <a:pPr algn="l">
              <a:defRPr sz="1000" b="0">
                <a:solidFill>
                  <a:srgbClr val="A0AEC0"/>
                </a:solidFill>
              </a:defRPr>
            </a:pPr>
            <a:r>
              <a:t>Maps agent→tool→prompt→retrieval→model call→post-processing chains. Rollup of risk, quality, and unit economics across the fleet. Uses MLflow Tracing + Unity Catalog for audit evidence.</a:t>
            </a:r>
          </a:p>
        </p:txBody>
      </p:sp>
      <p:sp>
        <p:nvSpPr>
          <p:cNvPr id="11" name="TextBox 10"/>
          <p:cNvSpPr txBox="1"/>
          <p:nvPr/>
        </p:nvSpPr>
        <p:spPr>
          <a:xfrm>
            <a:off x="2834640" y="2331720"/>
            <a:ext cx="1188720" cy="1188720"/>
          </a:xfrm>
          <a:prstGeom prst="rect">
            <a:avLst/>
          </a:prstGeom>
          <a:noFill/>
        </p:spPr>
        <p:txBody>
          <a:bodyPr wrap="square">
            <a:spAutoFit/>
          </a:bodyPr>
          <a:lstStyle/>
          <a:p>
            <a:pPr algn="l">
              <a:spcAft>
                <a:spcPts val="200"/>
              </a:spcAft>
              <a:defRPr sz="1000" b="0">
                <a:solidFill>
                  <a:srgbClr val="FFFFFF"/>
                </a:solidFill>
              </a:defRPr>
            </a:pPr>
            <a:r>
              <a:t>•  200+ serving endpoints</a:t>
            </a:r>
          </a:p>
          <a:p>
            <a:pPr algn="l">
              <a:spcAft>
                <a:spcPts val="200"/>
              </a:spcAft>
              <a:defRPr sz="1000" b="0">
                <a:solidFill>
                  <a:srgbClr val="FFFFFF"/>
                </a:solidFill>
              </a:defRPr>
            </a:pPr>
            <a:r>
              <a:t>•  300+ data &amp; AI products</a:t>
            </a:r>
          </a:p>
          <a:p>
            <a:pPr algn="l">
              <a:spcAft>
                <a:spcPts val="200"/>
              </a:spcAft>
              <a:defRPr sz="1000" b="0">
                <a:solidFill>
                  <a:srgbClr val="FFFFFF"/>
                </a:solidFill>
              </a:defRPr>
            </a:pPr>
            <a:r>
              <a:t>•  6,000+ registered models</a:t>
            </a:r>
          </a:p>
          <a:p>
            <a:pPr algn="l">
              <a:spcAft>
                <a:spcPts val="200"/>
              </a:spcAft>
              <a:defRPr sz="1000" b="0">
                <a:solidFill>
                  <a:srgbClr val="FFFFFF"/>
                </a:solidFill>
              </a:defRPr>
            </a:pPr>
            <a:r>
              <a:t>•  600,000+ pipeline runs</a:t>
            </a:r>
          </a:p>
        </p:txBody>
      </p:sp>
      <p:sp>
        <p:nvSpPr>
          <p:cNvPr id="12" name="Rounded Rectangle 11"/>
          <p:cNvSpPr/>
          <p:nvPr/>
        </p:nvSpPr>
        <p:spPr>
          <a:xfrm>
            <a:off x="4251960" y="1645920"/>
            <a:ext cx="3383280" cy="2286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60" y="1645920"/>
            <a:ext cx="338328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8" y="1755648"/>
            <a:ext cx="3163824" cy="411480"/>
          </a:xfrm>
          <a:prstGeom prst="rect">
            <a:avLst/>
          </a:prstGeom>
          <a:noFill/>
        </p:spPr>
        <p:txBody>
          <a:bodyPr wrap="square">
            <a:spAutoFit/>
          </a:bodyPr>
          <a:lstStyle/>
          <a:p>
            <a:pPr algn="l">
              <a:defRPr sz="1300" b="1">
                <a:solidFill>
                  <a:srgbClr val="3B82F6"/>
                </a:solidFill>
              </a:defRPr>
            </a:pPr>
            <a:r>
              <a:t>Deploying and Monitoring Agents</a:t>
            </a:r>
          </a:p>
        </p:txBody>
      </p:sp>
      <p:sp>
        <p:nvSpPr>
          <p:cNvPr id="15" name="TextBox 14"/>
          <p:cNvSpPr txBox="1"/>
          <p:nvPr/>
        </p:nvSpPr>
        <p:spPr>
          <a:xfrm>
            <a:off x="4361688" y="2084832"/>
            <a:ext cx="731520" cy="228600"/>
          </a:xfrm>
          <a:prstGeom prst="rect">
            <a:avLst/>
          </a:prstGeom>
          <a:noFill/>
        </p:spPr>
        <p:txBody>
          <a:bodyPr wrap="square">
            <a:spAutoFit/>
          </a:bodyPr>
          <a:lstStyle/>
          <a:p>
            <a:pPr algn="l">
              <a:defRPr sz="1000" b="1">
                <a:solidFill>
                  <a:srgbClr val="FFFFFF"/>
                </a:solidFill>
              </a:defRPr>
            </a:pPr>
            <a:r>
              <a:t>Databricks</a:t>
            </a:r>
          </a:p>
        </p:txBody>
      </p:sp>
      <p:sp>
        <p:nvSpPr>
          <p:cNvPr id="16" name="TextBox 15"/>
          <p:cNvSpPr txBox="1"/>
          <p:nvPr/>
        </p:nvSpPr>
        <p:spPr>
          <a:xfrm>
            <a:off x="4361688" y="2331720"/>
            <a:ext cx="1920240" cy="1188720"/>
          </a:xfrm>
          <a:prstGeom prst="rect">
            <a:avLst/>
          </a:prstGeom>
          <a:noFill/>
        </p:spPr>
        <p:txBody>
          <a:bodyPr wrap="square">
            <a:spAutoFit/>
          </a:bodyPr>
          <a:lstStyle/>
          <a:p>
            <a:pPr algn="l">
              <a:defRPr sz="1000" b="0">
                <a:solidFill>
                  <a:srgbClr val="A0AEC0"/>
                </a:solidFill>
              </a:defRPr>
            </a:pPr>
            <a:r>
              <a:t>Hands-on course covering batch (AI Functions) and real-time (Model Serving) agent deployment. MLflow tracing, monitoring dashboards, and observability.</a:t>
            </a:r>
          </a:p>
        </p:txBody>
      </p:sp>
      <p:sp>
        <p:nvSpPr>
          <p:cNvPr id="17" name="TextBox 16"/>
          <p:cNvSpPr txBox="1"/>
          <p:nvPr/>
        </p:nvSpPr>
        <p:spPr>
          <a:xfrm>
            <a:off x="6355080" y="2331720"/>
            <a:ext cx="1188720" cy="1188720"/>
          </a:xfrm>
          <a:prstGeom prst="rect">
            <a:avLst/>
          </a:prstGeom>
          <a:noFill/>
        </p:spPr>
        <p:txBody>
          <a:bodyPr wrap="square">
            <a:spAutoFit/>
          </a:bodyPr>
          <a:lstStyle/>
          <a:p>
            <a:pPr algn="l">
              <a:spcAft>
                <a:spcPts val="200"/>
              </a:spcAft>
              <a:defRPr sz="1000" b="0">
                <a:solidFill>
                  <a:srgbClr val="FFFFFF"/>
                </a:solidFill>
              </a:defRPr>
            </a:pPr>
            <a:r>
              <a:t>•  Batch mode via AI Functions</a:t>
            </a:r>
          </a:p>
          <a:p>
            <a:pPr algn="l">
              <a:spcAft>
                <a:spcPts val="200"/>
              </a:spcAft>
              <a:defRPr sz="1000" b="0">
                <a:solidFill>
                  <a:srgbClr val="FFFFFF"/>
                </a:solidFill>
              </a:defRPr>
            </a:pPr>
            <a:r>
              <a:t>•  Real-time REST endpoints</a:t>
            </a:r>
          </a:p>
          <a:p>
            <a:pPr algn="l">
              <a:spcAft>
                <a:spcPts val="200"/>
              </a:spcAft>
              <a:defRPr sz="1000" b="0">
                <a:solidFill>
                  <a:srgbClr val="FFFFFF"/>
                </a:solidFill>
              </a:defRPr>
            </a:pPr>
            <a:r>
              <a:t>•  Built-in trace collection</a:t>
            </a:r>
          </a:p>
          <a:p>
            <a:pPr algn="l">
              <a:spcAft>
                <a:spcPts val="200"/>
              </a:spcAft>
              <a:defRPr sz="1000" b="0">
                <a:solidFill>
                  <a:srgbClr val="FFFFFF"/>
                </a:solidFill>
              </a:defRPr>
            </a:pPr>
            <a:r>
              <a:t>•  Monitoring dashboards</a:t>
            </a:r>
          </a:p>
        </p:txBody>
      </p:sp>
      <p:sp>
        <p:nvSpPr>
          <p:cNvPr id="18" name="Rounded Rectangle 17"/>
          <p:cNvSpPr/>
          <p:nvPr/>
        </p:nvSpPr>
        <p:spPr>
          <a:xfrm>
            <a:off x="7772400" y="1645920"/>
            <a:ext cx="3383280" cy="2286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0" y="1645920"/>
            <a:ext cx="338328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82128" y="1755648"/>
            <a:ext cx="3163824" cy="411480"/>
          </a:xfrm>
          <a:prstGeom prst="rect">
            <a:avLst/>
          </a:prstGeom>
          <a:noFill/>
        </p:spPr>
        <p:txBody>
          <a:bodyPr wrap="square">
            <a:spAutoFit/>
          </a:bodyPr>
          <a:lstStyle/>
          <a:p>
            <a:pPr algn="l">
              <a:defRPr sz="1300" b="1">
                <a:solidFill>
                  <a:srgbClr val="22C55E"/>
                </a:solidFill>
              </a:defRPr>
            </a:pPr>
            <a:r>
              <a:t>Building RAG Agents with Agent Bricks</a:t>
            </a:r>
          </a:p>
        </p:txBody>
      </p:sp>
      <p:sp>
        <p:nvSpPr>
          <p:cNvPr id="21" name="TextBox 20"/>
          <p:cNvSpPr txBox="1"/>
          <p:nvPr/>
        </p:nvSpPr>
        <p:spPr>
          <a:xfrm>
            <a:off x="7882128" y="2084832"/>
            <a:ext cx="731520" cy="228600"/>
          </a:xfrm>
          <a:prstGeom prst="rect">
            <a:avLst/>
          </a:prstGeom>
          <a:noFill/>
        </p:spPr>
        <p:txBody>
          <a:bodyPr wrap="square">
            <a:spAutoFit/>
          </a:bodyPr>
          <a:lstStyle/>
          <a:p>
            <a:pPr algn="l">
              <a:defRPr sz="1000" b="1">
                <a:solidFill>
                  <a:srgbClr val="FFFFFF"/>
                </a:solidFill>
              </a:defRPr>
            </a:pPr>
            <a:r>
              <a:t>Databricks</a:t>
            </a:r>
          </a:p>
        </p:txBody>
      </p:sp>
      <p:sp>
        <p:nvSpPr>
          <p:cNvPr id="22" name="TextBox 21"/>
          <p:cNvSpPr txBox="1"/>
          <p:nvPr/>
        </p:nvSpPr>
        <p:spPr>
          <a:xfrm>
            <a:off x="7882128" y="2331720"/>
            <a:ext cx="1920240" cy="1188720"/>
          </a:xfrm>
          <a:prstGeom prst="rect">
            <a:avLst/>
          </a:prstGeom>
          <a:noFill/>
        </p:spPr>
        <p:txBody>
          <a:bodyPr wrap="square">
            <a:spAutoFit/>
          </a:bodyPr>
          <a:lstStyle/>
          <a:p>
            <a:pPr algn="l">
              <a:defRPr sz="1000" b="0">
                <a:solidFill>
                  <a:srgbClr val="A0AEC0"/>
                </a:solidFill>
              </a:defRPr>
            </a:pPr>
            <a:r>
              <a:t>Hands-on training using Vector Search, AI Playground, and Agent Bricks for building production RAG agents.</a:t>
            </a:r>
          </a:p>
        </p:txBody>
      </p:sp>
      <p:sp>
        <p:nvSpPr>
          <p:cNvPr id="23" name="TextBox 22"/>
          <p:cNvSpPr txBox="1"/>
          <p:nvPr/>
        </p:nvSpPr>
        <p:spPr>
          <a:xfrm>
            <a:off x="9875520" y="2331720"/>
            <a:ext cx="1188720" cy="1188720"/>
          </a:xfrm>
          <a:prstGeom prst="rect">
            <a:avLst/>
          </a:prstGeom>
          <a:noFill/>
        </p:spPr>
        <p:txBody>
          <a:bodyPr wrap="square">
            <a:spAutoFit/>
          </a:bodyPr>
          <a:lstStyle/>
          <a:p>
            <a:pPr algn="l">
              <a:spcAft>
                <a:spcPts val="200"/>
              </a:spcAft>
              <a:defRPr sz="1000" b="0">
                <a:solidFill>
                  <a:srgbClr val="FFFFFF"/>
                </a:solidFill>
              </a:defRPr>
            </a:pPr>
            <a:r>
              <a:t>•  Vector Search integration</a:t>
            </a:r>
          </a:p>
          <a:p>
            <a:pPr algn="l">
              <a:spcAft>
                <a:spcPts val="200"/>
              </a:spcAft>
              <a:defRPr sz="1000" b="0">
                <a:solidFill>
                  <a:srgbClr val="FFFFFF"/>
                </a:solidFill>
              </a:defRPr>
            </a:pPr>
            <a:r>
              <a:t>•  AI Playground testing</a:t>
            </a:r>
          </a:p>
          <a:p>
            <a:pPr algn="l">
              <a:spcAft>
                <a:spcPts val="200"/>
              </a:spcAft>
              <a:defRPr sz="1000" b="0">
                <a:solidFill>
                  <a:srgbClr val="FFFFFF"/>
                </a:solidFill>
              </a:defRPr>
            </a:pPr>
            <a:r>
              <a:t>•  Auto-optimized agents</a:t>
            </a:r>
          </a:p>
          <a:p>
            <a:pPr algn="l">
              <a:spcAft>
                <a:spcPts val="200"/>
              </a:spcAft>
              <a:defRPr sz="1000" b="0">
                <a:solidFill>
                  <a:srgbClr val="FFFFFF"/>
                </a:solidFill>
              </a:defRPr>
            </a:pPr>
            <a:r>
              <a:t>•  No-code building</a:t>
            </a:r>
          </a:p>
        </p:txBody>
      </p:sp>
      <p:sp>
        <p:nvSpPr>
          <p:cNvPr id="24" name="Rounded Rectangle 23"/>
          <p:cNvSpPr/>
          <p:nvPr/>
        </p:nvSpPr>
        <p:spPr>
          <a:xfrm>
            <a:off x="731520" y="4069080"/>
            <a:ext cx="3383280" cy="2286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4069080"/>
            <a:ext cx="338328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178808"/>
            <a:ext cx="3163824" cy="411480"/>
          </a:xfrm>
          <a:prstGeom prst="rect">
            <a:avLst/>
          </a:prstGeom>
          <a:noFill/>
        </p:spPr>
        <p:txBody>
          <a:bodyPr wrap="square">
            <a:spAutoFit/>
          </a:bodyPr>
          <a:lstStyle/>
          <a:p>
            <a:pPr algn="l">
              <a:defRPr sz="1300" b="1">
                <a:solidFill>
                  <a:srgbClr val="A755F7"/>
                </a:solidFill>
              </a:defRPr>
            </a:pPr>
            <a:r>
              <a:t>Building Tool-Calling Agents with MCP</a:t>
            </a:r>
          </a:p>
        </p:txBody>
      </p:sp>
      <p:sp>
        <p:nvSpPr>
          <p:cNvPr id="27" name="TextBox 26"/>
          <p:cNvSpPr txBox="1"/>
          <p:nvPr/>
        </p:nvSpPr>
        <p:spPr>
          <a:xfrm>
            <a:off x="841248" y="4507992"/>
            <a:ext cx="731520" cy="228600"/>
          </a:xfrm>
          <a:prstGeom prst="rect">
            <a:avLst/>
          </a:prstGeom>
          <a:noFill/>
        </p:spPr>
        <p:txBody>
          <a:bodyPr wrap="square">
            <a:spAutoFit/>
          </a:bodyPr>
          <a:lstStyle/>
          <a:p>
            <a:pPr algn="l">
              <a:defRPr sz="1000" b="1">
                <a:solidFill>
                  <a:srgbClr val="FFFFFF"/>
                </a:solidFill>
              </a:defRPr>
            </a:pPr>
            <a:r>
              <a:t>Databricks</a:t>
            </a:r>
          </a:p>
        </p:txBody>
      </p:sp>
      <p:sp>
        <p:nvSpPr>
          <p:cNvPr id="28" name="TextBox 27"/>
          <p:cNvSpPr txBox="1"/>
          <p:nvPr/>
        </p:nvSpPr>
        <p:spPr>
          <a:xfrm>
            <a:off x="841248" y="4754880"/>
            <a:ext cx="1920240" cy="1188720"/>
          </a:xfrm>
          <a:prstGeom prst="rect">
            <a:avLst/>
          </a:prstGeom>
          <a:noFill/>
        </p:spPr>
        <p:txBody>
          <a:bodyPr wrap="square">
            <a:spAutoFit/>
          </a:bodyPr>
          <a:lstStyle/>
          <a:p>
            <a:pPr algn="l">
              <a:defRPr sz="1000" b="0">
                <a:solidFill>
                  <a:srgbClr val="A0AEC0"/>
                </a:solidFill>
              </a:defRPr>
            </a:pPr>
            <a:r>
              <a:t>Creating agents with tool-calling capabilities using the Databricks Agent Framework and Model Context Protocol (MCP).</a:t>
            </a:r>
          </a:p>
        </p:txBody>
      </p:sp>
      <p:sp>
        <p:nvSpPr>
          <p:cNvPr id="29" name="TextBox 28"/>
          <p:cNvSpPr txBox="1"/>
          <p:nvPr/>
        </p:nvSpPr>
        <p:spPr>
          <a:xfrm>
            <a:off x="2834640" y="4754880"/>
            <a:ext cx="1188720" cy="1188720"/>
          </a:xfrm>
          <a:prstGeom prst="rect">
            <a:avLst/>
          </a:prstGeom>
          <a:noFill/>
        </p:spPr>
        <p:txBody>
          <a:bodyPr wrap="square">
            <a:spAutoFit/>
          </a:bodyPr>
          <a:lstStyle/>
          <a:p>
            <a:pPr algn="l">
              <a:spcAft>
                <a:spcPts val="200"/>
              </a:spcAft>
              <a:defRPr sz="1000" b="0">
                <a:solidFill>
                  <a:srgbClr val="FFFFFF"/>
                </a:solidFill>
              </a:defRPr>
            </a:pPr>
            <a:r>
              <a:t>•  Model Context Protocol</a:t>
            </a:r>
          </a:p>
          <a:p>
            <a:pPr algn="l">
              <a:spcAft>
                <a:spcPts val="200"/>
              </a:spcAft>
              <a:defRPr sz="1000" b="0">
                <a:solidFill>
                  <a:srgbClr val="FFFFFF"/>
                </a:solidFill>
              </a:defRPr>
            </a:pPr>
            <a:r>
              <a:t>•  Tool-calling capabilities</a:t>
            </a:r>
          </a:p>
          <a:p>
            <a:pPr algn="l">
              <a:spcAft>
                <a:spcPts val="200"/>
              </a:spcAft>
              <a:defRPr sz="1000" b="0">
                <a:solidFill>
                  <a:srgbClr val="FFFFFF"/>
                </a:solidFill>
              </a:defRPr>
            </a:pPr>
            <a:r>
              <a:t>•  Agent Framework SDK</a:t>
            </a:r>
          </a:p>
          <a:p>
            <a:pPr algn="l">
              <a:spcAft>
                <a:spcPts val="200"/>
              </a:spcAft>
              <a:defRPr sz="1000" b="0">
                <a:solidFill>
                  <a:srgbClr val="FFFFFF"/>
                </a:solidFill>
              </a:defRPr>
            </a:pPr>
            <a:r>
              <a:t>•  Enterprise integration</a:t>
            </a:r>
          </a:p>
        </p:txBody>
      </p:sp>
      <p:sp>
        <p:nvSpPr>
          <p:cNvPr id="30" name="Rounded Rectangle 29"/>
          <p:cNvSpPr/>
          <p:nvPr/>
        </p:nvSpPr>
        <p:spPr>
          <a:xfrm>
            <a:off x="4251960" y="4069080"/>
            <a:ext cx="3383280" cy="2286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51960" y="4069080"/>
            <a:ext cx="338328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61688" y="4178808"/>
            <a:ext cx="3163824" cy="411480"/>
          </a:xfrm>
          <a:prstGeom prst="rect">
            <a:avLst/>
          </a:prstGeom>
          <a:noFill/>
        </p:spPr>
        <p:txBody>
          <a:bodyPr wrap="square">
            <a:spAutoFit/>
          </a:bodyPr>
          <a:lstStyle/>
          <a:p>
            <a:pPr algn="l">
              <a:defRPr sz="1300" b="1">
                <a:solidFill>
                  <a:srgbClr val="14B8A6"/>
                </a:solidFill>
              </a:defRPr>
            </a:pPr>
            <a:r>
              <a:t>Scaling Agentic AI with Lakebase</a:t>
            </a:r>
          </a:p>
        </p:txBody>
      </p:sp>
      <p:sp>
        <p:nvSpPr>
          <p:cNvPr id="33" name="TextBox 32"/>
          <p:cNvSpPr txBox="1"/>
          <p:nvPr/>
        </p:nvSpPr>
        <p:spPr>
          <a:xfrm>
            <a:off x="4361688" y="4507992"/>
            <a:ext cx="731520" cy="228600"/>
          </a:xfrm>
          <a:prstGeom prst="rect">
            <a:avLst/>
          </a:prstGeom>
          <a:noFill/>
        </p:spPr>
        <p:txBody>
          <a:bodyPr wrap="square">
            <a:spAutoFit/>
          </a:bodyPr>
          <a:lstStyle/>
          <a:p>
            <a:pPr algn="l">
              <a:defRPr sz="1000" b="1">
                <a:solidFill>
                  <a:srgbClr val="FFFFFF"/>
                </a:solidFill>
              </a:defRPr>
            </a:pPr>
            <a:r>
              <a:t>Zillow</a:t>
            </a:r>
          </a:p>
        </p:txBody>
      </p:sp>
      <p:sp>
        <p:nvSpPr>
          <p:cNvPr id="34" name="TextBox 33"/>
          <p:cNvSpPr txBox="1"/>
          <p:nvPr/>
        </p:nvSpPr>
        <p:spPr>
          <a:xfrm>
            <a:off x="4361688" y="4754880"/>
            <a:ext cx="1920240" cy="1188720"/>
          </a:xfrm>
          <a:prstGeom prst="rect">
            <a:avLst/>
          </a:prstGeom>
          <a:noFill/>
        </p:spPr>
        <p:txBody>
          <a:bodyPr wrap="square">
            <a:spAutoFit/>
          </a:bodyPr>
          <a:lstStyle/>
          <a:p>
            <a:pPr algn="l">
              <a:defRPr sz="1000" b="0">
                <a:solidFill>
                  <a:srgbClr val="A0AEC0"/>
                </a:solidFill>
              </a:defRPr>
            </a:pPr>
            <a:r>
              <a:t>Agentic AI production strategy using Databricks Lakebase and enterprise data mesh patterns to support autonomous AI workloads at scale.</a:t>
            </a:r>
          </a:p>
        </p:txBody>
      </p:sp>
      <p:sp>
        <p:nvSpPr>
          <p:cNvPr id="35" name="TextBox 34"/>
          <p:cNvSpPr txBox="1"/>
          <p:nvPr/>
        </p:nvSpPr>
        <p:spPr>
          <a:xfrm>
            <a:off x="6355080" y="4754880"/>
            <a:ext cx="1188720" cy="1188720"/>
          </a:xfrm>
          <a:prstGeom prst="rect">
            <a:avLst/>
          </a:prstGeom>
          <a:noFill/>
        </p:spPr>
        <p:txBody>
          <a:bodyPr wrap="square">
            <a:spAutoFit/>
          </a:bodyPr>
          <a:lstStyle/>
          <a:p>
            <a:pPr algn="l">
              <a:spcAft>
                <a:spcPts val="200"/>
              </a:spcAft>
              <a:defRPr sz="1000" b="0">
                <a:solidFill>
                  <a:srgbClr val="FFFFFF"/>
                </a:solidFill>
              </a:defRPr>
            </a:pPr>
            <a:r>
              <a:t>•  Production agentic AI</a:t>
            </a:r>
          </a:p>
          <a:p>
            <a:pPr algn="l">
              <a:spcAft>
                <a:spcPts val="200"/>
              </a:spcAft>
              <a:defRPr sz="1000" b="0">
                <a:solidFill>
                  <a:srgbClr val="FFFFFF"/>
                </a:solidFill>
              </a:defRPr>
            </a:pPr>
            <a:r>
              <a:t>•  Enterprise data mesh</a:t>
            </a:r>
          </a:p>
          <a:p>
            <a:pPr algn="l">
              <a:spcAft>
                <a:spcPts val="200"/>
              </a:spcAft>
              <a:defRPr sz="1000" b="0">
                <a:solidFill>
                  <a:srgbClr val="FFFFFF"/>
                </a:solidFill>
              </a:defRPr>
            </a:pPr>
            <a:r>
              <a:t>•  Lakebase integration</a:t>
            </a:r>
          </a:p>
          <a:p>
            <a:pPr algn="l">
              <a:spcAft>
                <a:spcPts val="200"/>
              </a:spcAft>
              <a:defRPr sz="1000" b="0">
                <a:solidFill>
                  <a:srgbClr val="FFFFFF"/>
                </a:solidFill>
              </a:defRPr>
            </a:pPr>
            <a:r>
              <a:t>•  Scalable architecture</a:t>
            </a:r>
          </a:p>
        </p:txBody>
      </p:sp>
      <p:sp>
        <p:nvSpPr>
          <p:cNvPr id="36" name="Rounded Rectangle 35"/>
          <p:cNvSpPr/>
          <p:nvPr/>
        </p:nvSpPr>
        <p:spPr>
          <a:xfrm>
            <a:off x="7772400" y="4069080"/>
            <a:ext cx="3383280" cy="2286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0" y="4069080"/>
            <a:ext cx="3383280" cy="5080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82128" y="4178808"/>
            <a:ext cx="3163824" cy="411480"/>
          </a:xfrm>
          <a:prstGeom prst="rect">
            <a:avLst/>
          </a:prstGeom>
          <a:noFill/>
        </p:spPr>
        <p:txBody>
          <a:bodyPr wrap="square">
            <a:spAutoFit/>
          </a:bodyPr>
          <a:lstStyle/>
          <a:p>
            <a:pPr algn="l">
              <a:defRPr sz="1300" b="1">
                <a:solidFill>
                  <a:srgbClr val="E84D3D"/>
                </a:solidFill>
              </a:defRPr>
            </a:pPr>
            <a:r>
              <a:t>AI Agents for the Frontline</a:t>
            </a:r>
          </a:p>
        </p:txBody>
      </p:sp>
      <p:sp>
        <p:nvSpPr>
          <p:cNvPr id="39" name="TextBox 38"/>
          <p:cNvSpPr txBox="1"/>
          <p:nvPr/>
        </p:nvSpPr>
        <p:spPr>
          <a:xfrm>
            <a:off x="7882128" y="4507992"/>
            <a:ext cx="731520" cy="228600"/>
          </a:xfrm>
          <a:prstGeom prst="rect">
            <a:avLst/>
          </a:prstGeom>
          <a:noFill/>
        </p:spPr>
        <p:txBody>
          <a:bodyPr wrap="square">
            <a:spAutoFit/>
          </a:bodyPr>
          <a:lstStyle/>
          <a:p>
            <a:pPr algn="l">
              <a:defRPr sz="1000" b="1">
                <a:solidFill>
                  <a:srgbClr val="FFFFFF"/>
                </a:solidFill>
              </a:defRPr>
            </a:pPr>
            <a:r>
              <a:t>7-Eleven</a:t>
            </a:r>
          </a:p>
        </p:txBody>
      </p:sp>
      <p:sp>
        <p:nvSpPr>
          <p:cNvPr id="40" name="TextBox 39"/>
          <p:cNvSpPr txBox="1"/>
          <p:nvPr/>
        </p:nvSpPr>
        <p:spPr>
          <a:xfrm>
            <a:off x="7882128" y="4754880"/>
            <a:ext cx="1920240" cy="1188720"/>
          </a:xfrm>
          <a:prstGeom prst="rect">
            <a:avLst/>
          </a:prstGeom>
          <a:noFill/>
        </p:spPr>
        <p:txBody>
          <a:bodyPr wrap="square">
            <a:spAutoFit/>
          </a:bodyPr>
          <a:lstStyle/>
          <a:p>
            <a:pPr algn="l">
              <a:defRPr sz="1000" b="0">
                <a:solidFill>
                  <a:srgbClr val="A0AEC0"/>
                </a:solidFill>
              </a:defRPr>
            </a:pPr>
            <a:r>
              <a:t>GenAI maintenance assistant for frontline store operations — demonstrating agentic AI applied outside traditional knowledge-worker domains.</a:t>
            </a:r>
          </a:p>
        </p:txBody>
      </p:sp>
      <p:sp>
        <p:nvSpPr>
          <p:cNvPr id="41" name="TextBox 40"/>
          <p:cNvSpPr txBox="1"/>
          <p:nvPr/>
        </p:nvSpPr>
        <p:spPr>
          <a:xfrm>
            <a:off x="9875520" y="4754880"/>
            <a:ext cx="1188720" cy="1188720"/>
          </a:xfrm>
          <a:prstGeom prst="rect">
            <a:avLst/>
          </a:prstGeom>
          <a:noFill/>
        </p:spPr>
        <p:txBody>
          <a:bodyPr wrap="square">
            <a:spAutoFit/>
          </a:bodyPr>
          <a:lstStyle/>
          <a:p>
            <a:pPr algn="l">
              <a:spcAft>
                <a:spcPts val="200"/>
              </a:spcAft>
              <a:defRPr sz="1000" b="0">
                <a:solidFill>
                  <a:srgbClr val="FFFFFF"/>
                </a:solidFill>
              </a:defRPr>
            </a:pPr>
            <a:r>
              <a:t>•  Frontline operations</a:t>
            </a:r>
          </a:p>
          <a:p>
            <a:pPr algn="l">
              <a:spcAft>
                <a:spcPts val="200"/>
              </a:spcAft>
              <a:defRPr sz="1000" b="0">
                <a:solidFill>
                  <a:srgbClr val="FFFFFF"/>
                </a:solidFill>
              </a:defRPr>
            </a:pPr>
            <a:r>
              <a:t>•  Maintenance assistant</a:t>
            </a:r>
          </a:p>
          <a:p>
            <a:pPr algn="l">
              <a:spcAft>
                <a:spcPts val="200"/>
              </a:spcAft>
              <a:defRPr sz="1000" b="0">
                <a:solidFill>
                  <a:srgbClr val="FFFFFF"/>
                </a:solidFill>
              </a:defRPr>
            </a:pPr>
            <a:r>
              <a:t>•  Real-world deployment</a:t>
            </a:r>
          </a:p>
          <a:p>
            <a:pPr algn="l">
              <a:spcAft>
                <a:spcPts val="200"/>
              </a:spcAft>
              <a:defRPr sz="1000" b="0">
                <a:solidFill>
                  <a:srgbClr val="FFFFFF"/>
                </a:solidFill>
              </a:defRPr>
            </a:pPr>
            <a:r>
              <a:t>•  Non-desk workers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State of AI Agents Report (2026)</a:t>
            </a:r>
          </a:p>
        </p:txBody>
      </p:sp>
      <p:sp>
        <p:nvSpPr>
          <p:cNvPr id="4" name="Rectangle 3"/>
          <p:cNvSpPr/>
          <p:nvPr/>
        </p:nvSpPr>
        <p:spPr>
          <a:xfrm>
            <a:off x="731520" y="1051560"/>
            <a:ext cx="182880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9144000" cy="365760"/>
          </a:xfrm>
          <a:prstGeom prst="rect">
            <a:avLst/>
          </a:prstGeom>
          <a:noFill/>
        </p:spPr>
        <p:txBody>
          <a:bodyPr wrap="square">
            <a:spAutoFit/>
          </a:bodyPr>
          <a:lstStyle/>
          <a:p>
            <a:pPr algn="l">
              <a:defRPr sz="1300" b="0">
                <a:solidFill>
                  <a:srgbClr val="A0AEC0"/>
                </a:solidFill>
              </a:defRPr>
            </a:pPr>
            <a:r>
              <a:t>Based on 20,000+ global customers  |  Published January 2026</a:t>
            </a:r>
          </a:p>
        </p:txBody>
      </p:sp>
      <p:sp>
        <p:nvSpPr>
          <p:cNvPr id="6" name="Rounded Rectangle 5"/>
          <p:cNvSpPr/>
          <p:nvPr/>
        </p:nvSpPr>
        <p:spPr>
          <a:xfrm>
            <a:off x="731520" y="164592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46888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2103120" cy="548640"/>
          </a:xfrm>
          <a:prstGeom prst="rect">
            <a:avLst/>
          </a:prstGeom>
          <a:noFill/>
        </p:spPr>
        <p:txBody>
          <a:bodyPr wrap="square">
            <a:spAutoFit/>
          </a:bodyPr>
          <a:lstStyle/>
          <a:p>
            <a:pPr algn="ctr">
              <a:defRPr sz="2800" b="1">
                <a:solidFill>
                  <a:srgbClr val="FF6F00"/>
                </a:solidFill>
              </a:defRPr>
            </a:pPr>
            <a:r>
              <a:t>327%</a:t>
            </a:r>
          </a:p>
        </p:txBody>
      </p:sp>
      <p:sp>
        <p:nvSpPr>
          <p:cNvPr id="9" name="TextBox 8"/>
          <p:cNvSpPr txBox="1"/>
          <p:nvPr/>
        </p:nvSpPr>
        <p:spPr>
          <a:xfrm>
            <a:off x="914400" y="2286000"/>
            <a:ext cx="2103120" cy="640080"/>
          </a:xfrm>
          <a:prstGeom prst="rect">
            <a:avLst/>
          </a:prstGeom>
          <a:noFill/>
        </p:spPr>
        <p:txBody>
          <a:bodyPr wrap="square">
            <a:spAutoFit/>
          </a:bodyPr>
          <a:lstStyle/>
          <a:p>
            <a:pPr algn="ctr">
              <a:defRPr sz="1200" b="0">
                <a:solidFill>
                  <a:srgbClr val="A0AEC0"/>
                </a:solidFill>
              </a:defRPr>
            </a:pPr>
            <a:r>
              <a:t>Multi-Agent Workflow</a:t>
            </a:r>
            <a:br/>
            <a:r>
              <a:t>Growth in 4 Months</a:t>
            </a:r>
          </a:p>
        </p:txBody>
      </p:sp>
      <p:sp>
        <p:nvSpPr>
          <p:cNvPr id="10" name="Rounded Rectangle 9"/>
          <p:cNvSpPr/>
          <p:nvPr/>
        </p:nvSpPr>
        <p:spPr>
          <a:xfrm>
            <a:off x="3474720" y="164592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74720" y="1645920"/>
            <a:ext cx="246888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0" y="1783080"/>
            <a:ext cx="2103120" cy="548640"/>
          </a:xfrm>
          <a:prstGeom prst="rect">
            <a:avLst/>
          </a:prstGeom>
          <a:noFill/>
        </p:spPr>
        <p:txBody>
          <a:bodyPr wrap="square">
            <a:spAutoFit/>
          </a:bodyPr>
          <a:lstStyle/>
          <a:p>
            <a:pPr algn="ctr">
              <a:defRPr sz="2800" b="1">
                <a:solidFill>
                  <a:srgbClr val="3B82F6"/>
                </a:solidFill>
              </a:defRPr>
            </a:pPr>
            <a:r>
              <a:t>80%</a:t>
            </a:r>
          </a:p>
        </p:txBody>
      </p:sp>
      <p:sp>
        <p:nvSpPr>
          <p:cNvPr id="13" name="TextBox 12"/>
          <p:cNvSpPr txBox="1"/>
          <p:nvPr/>
        </p:nvSpPr>
        <p:spPr>
          <a:xfrm>
            <a:off x="3657600" y="2286000"/>
            <a:ext cx="2103120" cy="640080"/>
          </a:xfrm>
          <a:prstGeom prst="rect">
            <a:avLst/>
          </a:prstGeom>
          <a:noFill/>
        </p:spPr>
        <p:txBody>
          <a:bodyPr wrap="square">
            <a:spAutoFit/>
          </a:bodyPr>
          <a:lstStyle/>
          <a:p>
            <a:pPr algn="ctr">
              <a:defRPr sz="1200" b="0">
                <a:solidFill>
                  <a:srgbClr val="A0AEC0"/>
                </a:solidFill>
              </a:defRPr>
            </a:pPr>
            <a:r>
              <a:t>New Databases Built</a:t>
            </a:r>
            <a:br/>
            <a:r>
              <a:t>by AI Agents</a:t>
            </a:r>
          </a:p>
        </p:txBody>
      </p:sp>
      <p:sp>
        <p:nvSpPr>
          <p:cNvPr id="14" name="Rounded Rectangle 13"/>
          <p:cNvSpPr/>
          <p:nvPr/>
        </p:nvSpPr>
        <p:spPr>
          <a:xfrm>
            <a:off x="6217920" y="164592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645920"/>
            <a:ext cx="246888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783080"/>
            <a:ext cx="2103120" cy="548640"/>
          </a:xfrm>
          <a:prstGeom prst="rect">
            <a:avLst/>
          </a:prstGeom>
          <a:noFill/>
        </p:spPr>
        <p:txBody>
          <a:bodyPr wrap="square">
            <a:spAutoFit/>
          </a:bodyPr>
          <a:lstStyle/>
          <a:p>
            <a:pPr algn="ctr">
              <a:defRPr sz="2800" b="1">
                <a:solidFill>
                  <a:srgbClr val="22C55E"/>
                </a:solidFill>
              </a:defRPr>
            </a:pPr>
            <a:r>
              <a:t>19%</a:t>
            </a:r>
          </a:p>
        </p:txBody>
      </p:sp>
      <p:sp>
        <p:nvSpPr>
          <p:cNvPr id="17" name="TextBox 16"/>
          <p:cNvSpPr txBox="1"/>
          <p:nvPr/>
        </p:nvSpPr>
        <p:spPr>
          <a:xfrm>
            <a:off x="6400800" y="2286000"/>
            <a:ext cx="2103120" cy="640080"/>
          </a:xfrm>
          <a:prstGeom prst="rect">
            <a:avLst/>
          </a:prstGeom>
          <a:noFill/>
        </p:spPr>
        <p:txBody>
          <a:bodyPr wrap="square">
            <a:spAutoFit/>
          </a:bodyPr>
          <a:lstStyle/>
          <a:p>
            <a:pPr algn="ctr">
              <a:defRPr sz="1200" b="0">
                <a:solidFill>
                  <a:srgbClr val="A0AEC0"/>
                </a:solidFill>
              </a:defRPr>
            </a:pPr>
            <a:r>
              <a:t>Organizations with Agents</a:t>
            </a:r>
            <a:br/>
            <a:r>
              <a:t>Deployed at Scale</a:t>
            </a:r>
          </a:p>
        </p:txBody>
      </p:sp>
      <p:sp>
        <p:nvSpPr>
          <p:cNvPr id="18" name="Rounded Rectangle 17"/>
          <p:cNvSpPr/>
          <p:nvPr/>
        </p:nvSpPr>
        <p:spPr>
          <a:xfrm>
            <a:off x="8961120" y="164592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61120" y="1645920"/>
            <a:ext cx="246888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1783080"/>
            <a:ext cx="2103120" cy="548640"/>
          </a:xfrm>
          <a:prstGeom prst="rect">
            <a:avLst/>
          </a:prstGeom>
          <a:noFill/>
        </p:spPr>
        <p:txBody>
          <a:bodyPr wrap="square">
            <a:spAutoFit/>
          </a:bodyPr>
          <a:lstStyle/>
          <a:p>
            <a:pPr algn="ctr">
              <a:defRPr sz="2800" b="1">
                <a:solidFill>
                  <a:srgbClr val="A755F7"/>
                </a:solidFill>
              </a:defRPr>
            </a:pPr>
            <a:r>
              <a:t>37%</a:t>
            </a:r>
          </a:p>
        </p:txBody>
      </p:sp>
      <p:sp>
        <p:nvSpPr>
          <p:cNvPr id="21" name="TextBox 20"/>
          <p:cNvSpPr txBox="1"/>
          <p:nvPr/>
        </p:nvSpPr>
        <p:spPr>
          <a:xfrm>
            <a:off x="9144000" y="2286000"/>
            <a:ext cx="2103120" cy="640080"/>
          </a:xfrm>
          <a:prstGeom prst="rect">
            <a:avLst/>
          </a:prstGeom>
          <a:noFill/>
        </p:spPr>
        <p:txBody>
          <a:bodyPr wrap="square">
            <a:spAutoFit/>
          </a:bodyPr>
          <a:lstStyle/>
          <a:p>
            <a:pPr algn="ctr">
              <a:defRPr sz="1200" b="0">
                <a:solidFill>
                  <a:srgbClr val="A0AEC0"/>
                </a:solidFill>
              </a:defRPr>
            </a:pPr>
            <a:r>
              <a:t>Use Supervisor Agent</a:t>
            </a:r>
            <a:br/>
            <a:r>
              <a:t>Architecture</a:t>
            </a:r>
          </a:p>
        </p:txBody>
      </p:sp>
      <p:sp>
        <p:nvSpPr>
          <p:cNvPr id="22" name="Rounded Rectangle 21"/>
          <p:cNvSpPr/>
          <p:nvPr/>
        </p:nvSpPr>
        <p:spPr>
          <a:xfrm>
            <a:off x="731520" y="3474720"/>
            <a:ext cx="5029200" cy="29260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 y="3474720"/>
            <a:ext cx="502920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611880"/>
            <a:ext cx="4572000" cy="365760"/>
          </a:xfrm>
          <a:prstGeom prst="rect">
            <a:avLst/>
          </a:prstGeom>
          <a:noFill/>
        </p:spPr>
        <p:txBody>
          <a:bodyPr wrap="square">
            <a:spAutoFit/>
          </a:bodyPr>
          <a:lstStyle/>
          <a:p>
            <a:pPr algn="l">
              <a:defRPr sz="1800" b="1">
                <a:solidFill>
                  <a:srgbClr val="14B8A6"/>
                </a:solidFill>
              </a:defRPr>
            </a:pPr>
            <a:r>
              <a:t>Governance Impact on Production Success</a:t>
            </a:r>
          </a:p>
        </p:txBody>
      </p:sp>
      <p:sp>
        <p:nvSpPr>
          <p:cNvPr id="25" name="TextBox 24"/>
          <p:cNvSpPr txBox="1"/>
          <p:nvPr/>
        </p:nvSpPr>
        <p:spPr>
          <a:xfrm>
            <a:off x="1005840" y="4023360"/>
            <a:ext cx="4572000" cy="2194560"/>
          </a:xfrm>
          <a:prstGeom prst="rect">
            <a:avLst/>
          </a:prstGeom>
          <a:noFill/>
        </p:spPr>
        <p:txBody>
          <a:bodyPr wrap="square">
            <a:spAutoFit/>
          </a:bodyPr>
          <a:lstStyle/>
          <a:p>
            <a:pPr algn="l">
              <a:spcAft>
                <a:spcPts val="200"/>
              </a:spcAft>
              <a:defRPr sz="3600" b="1">
                <a:solidFill>
                  <a:srgbClr val="FF6F00"/>
                </a:solidFill>
              </a:defRPr>
            </a:pPr>
            <a:r>
              <a:t>12x</a:t>
            </a:r>
          </a:p>
          <a:p>
            <a:pPr algn="l">
              <a:spcAft>
                <a:spcPts val="1600"/>
              </a:spcAft>
              <a:defRPr sz="1400" b="0">
                <a:solidFill>
                  <a:srgbClr val="FFFFFF"/>
                </a:solidFill>
              </a:defRPr>
            </a:pPr>
            <a:r>
              <a:t>More AI projects in production for companies using governance tools</a:t>
            </a:r>
          </a:p>
          <a:p>
            <a:pPr algn="l">
              <a:spcAft>
                <a:spcPts val="200"/>
              </a:spcAft>
              <a:defRPr sz="3600" b="1">
                <a:solidFill>
                  <a:srgbClr val="3B82F6"/>
                </a:solidFill>
              </a:defRPr>
            </a:pPr>
            <a:r>
              <a:t>6x</a:t>
            </a:r>
          </a:p>
          <a:p>
            <a:pPr algn="l">
              <a:spcAft>
                <a:spcPts val="1600"/>
              </a:spcAft>
              <a:defRPr sz="1400" b="0">
                <a:solidFill>
                  <a:srgbClr val="FFFFFF"/>
                </a:solidFill>
              </a:defRPr>
            </a:pPr>
            <a:r>
              <a:t>More production deployments for companies using evaluation tools</a:t>
            </a:r>
          </a:p>
          <a:p>
            <a:pPr algn="l">
              <a:spcAft>
                <a:spcPts val="200"/>
              </a:spcAft>
              <a:defRPr sz="3600" b="1">
                <a:solidFill>
                  <a:srgbClr val="22C55E"/>
                </a:solidFill>
              </a:defRPr>
            </a:pPr>
            <a:r>
              <a:t>7x</a:t>
            </a:r>
          </a:p>
          <a:p>
            <a:pPr algn="l">
              <a:spcAft>
                <a:spcPts val="600"/>
              </a:spcAft>
              <a:defRPr sz="1400" b="0">
                <a:solidFill>
                  <a:srgbClr val="FFFFFF"/>
                </a:solidFill>
              </a:defRPr>
            </a:pPr>
            <a:r>
              <a:t>Growth in AI Gateway governance product usage in 9 months</a:t>
            </a:r>
          </a:p>
        </p:txBody>
      </p:sp>
      <p:sp>
        <p:nvSpPr>
          <p:cNvPr id="26" name="Rounded Rectangle 25"/>
          <p:cNvSpPr/>
          <p:nvPr/>
        </p:nvSpPr>
        <p:spPr>
          <a:xfrm>
            <a:off x="6035040" y="3474720"/>
            <a:ext cx="5029200" cy="29260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35040" y="3474720"/>
            <a:ext cx="502920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611880"/>
            <a:ext cx="4572000" cy="365760"/>
          </a:xfrm>
          <a:prstGeom prst="rect">
            <a:avLst/>
          </a:prstGeom>
          <a:noFill/>
        </p:spPr>
        <p:txBody>
          <a:bodyPr wrap="square">
            <a:spAutoFit/>
          </a:bodyPr>
          <a:lstStyle/>
          <a:p>
            <a:pPr algn="l">
              <a:defRPr sz="1800" b="1">
                <a:solidFill>
                  <a:srgbClr val="A755F7"/>
                </a:solidFill>
              </a:defRPr>
            </a:pPr>
            <a:r>
              <a:t>Use Cases &amp; Model Diversity</a:t>
            </a:r>
          </a:p>
        </p:txBody>
      </p:sp>
      <p:sp>
        <p:nvSpPr>
          <p:cNvPr id="29" name="TextBox 28"/>
          <p:cNvSpPr txBox="1"/>
          <p:nvPr/>
        </p:nvSpPr>
        <p:spPr>
          <a:xfrm>
            <a:off x="6309360" y="4023360"/>
            <a:ext cx="4572000" cy="2194560"/>
          </a:xfrm>
          <a:prstGeom prst="rect">
            <a:avLst/>
          </a:prstGeom>
          <a:noFill/>
        </p:spPr>
        <p:txBody>
          <a:bodyPr wrap="square">
            <a:spAutoFit/>
          </a:bodyPr>
          <a:lstStyle/>
          <a:p>
            <a:pPr algn="l">
              <a:spcAft>
                <a:spcPts val="400"/>
              </a:spcAft>
              <a:defRPr sz="1600" b="1">
                <a:solidFill>
                  <a:srgbClr val="FF6F00"/>
                </a:solidFill>
              </a:defRPr>
            </a:pPr>
            <a:r>
              <a:t>40%  Customer Experience</a:t>
            </a:r>
          </a:p>
          <a:p>
            <a:pPr algn="l">
              <a:spcAft>
                <a:spcPts val="1000"/>
              </a:spcAft>
              <a:defRPr sz="1200" b="0">
                <a:solidFill>
                  <a:srgbClr val="A0AEC0"/>
                </a:solidFill>
              </a:defRPr>
            </a:pPr>
            <a:r>
              <a:t>       Support, onboarding, and engagement agents</a:t>
            </a:r>
          </a:p>
          <a:p>
            <a:pPr algn="l">
              <a:spcAft>
                <a:spcPts val="400"/>
              </a:spcAft>
              <a:defRPr sz="1600" b="1">
                <a:solidFill>
                  <a:srgbClr val="3B82F6"/>
                </a:solidFill>
              </a:defRPr>
            </a:pPr>
            <a:r>
              <a:t>35%  Predictive Maintenance</a:t>
            </a:r>
          </a:p>
          <a:p>
            <a:pPr algn="l">
              <a:spcAft>
                <a:spcPts val="1000"/>
              </a:spcAft>
              <a:defRPr sz="1200" b="0">
                <a:solidFill>
                  <a:srgbClr val="A0AEC0"/>
                </a:solidFill>
              </a:defRPr>
            </a:pPr>
            <a:r>
              <a:t>       Manufacturing &amp; automotive monitoring</a:t>
            </a:r>
          </a:p>
          <a:p>
            <a:pPr algn="l">
              <a:spcAft>
                <a:spcPts val="400"/>
              </a:spcAft>
              <a:defRPr sz="1600" b="1">
                <a:solidFill>
                  <a:srgbClr val="22C55E"/>
                </a:solidFill>
              </a:defRPr>
            </a:pPr>
            <a:r>
              <a:t>23%  Medical Literature Synthesis</a:t>
            </a:r>
          </a:p>
          <a:p>
            <a:pPr algn="l">
              <a:spcAft>
                <a:spcPts val="1000"/>
              </a:spcAft>
              <a:defRPr sz="1200" b="0">
                <a:solidFill>
                  <a:srgbClr val="A0AEC0"/>
                </a:solidFill>
              </a:defRPr>
            </a:pPr>
            <a:r>
              <a:t>       Healthcare document processing</a:t>
            </a:r>
          </a:p>
          <a:p>
            <a:pPr algn="l">
              <a:spcAft>
                <a:spcPts val="400"/>
              </a:spcAft>
              <a:defRPr sz="1400" b="1">
                <a:solidFill>
                  <a:srgbClr val="14B8A6"/>
                </a:solidFill>
              </a:defRPr>
            </a:pPr>
            <a:r>
              <a:t>77%  Use 2+ model families  |  59% use 3+</a:t>
            </a:r>
          </a:p>
          <a:p>
            <a:pPr algn="l">
              <a:spcAft>
                <a:spcPts val="600"/>
              </a:spcAft>
              <a:defRPr sz="1200" b="0">
                <a:solidFill>
                  <a:srgbClr val="A0AEC0"/>
                </a:solidFill>
              </a:defRPr>
            </a:pPr>
            <a:r>
              <a:t>       Multi-model strategy is the enterprise norm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600" b="1">
                <a:solidFill>
                  <a:srgbClr val="FFFFFF"/>
                </a:solidFill>
              </a:defRPr>
            </a:pPr>
            <a:r>
              <a:t>Top Ways Enterprises Use AI Agents</a:t>
            </a:r>
          </a:p>
        </p:txBody>
      </p:sp>
      <p:sp>
        <p:nvSpPr>
          <p:cNvPr id="4" name="TextBox 3"/>
          <p:cNvSpPr txBox="1"/>
          <p:nvPr/>
        </p:nvSpPr>
        <p:spPr>
          <a:xfrm>
            <a:off x="731520" y="914400"/>
            <a:ext cx="9144000" cy="365760"/>
          </a:xfrm>
          <a:prstGeom prst="rect">
            <a:avLst/>
          </a:prstGeom>
          <a:noFill/>
        </p:spPr>
        <p:txBody>
          <a:bodyPr wrap="square">
            <a:spAutoFit/>
          </a:bodyPr>
          <a:lstStyle/>
          <a:p>
            <a:pPr algn="l">
              <a:defRPr sz="1300" b="0">
                <a:solidFill>
                  <a:srgbClr val="A0AEC0"/>
                </a:solidFill>
              </a:defRPr>
            </a:pPr>
            <a:r>
              <a:t>Databricks State of AI Agents Report 2026  |  20,000+ global customers</a:t>
            </a:r>
          </a:p>
        </p:txBody>
      </p:sp>
      <p:sp>
        <p:nvSpPr>
          <p:cNvPr id="5" name="Oval 4"/>
          <p:cNvSpPr/>
          <p:nvPr/>
        </p:nvSpPr>
        <p:spPr>
          <a:xfrm>
            <a:off x="1188720" y="1737360"/>
            <a:ext cx="2743200" cy="2743200"/>
          </a:xfrm>
          <a:prstGeom prst="ellipse">
            <a:avLst/>
          </a:prstGeom>
          <a:solidFill>
            <a:srgbClr val="7DB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880360"/>
            <a:ext cx="2743200" cy="457200"/>
          </a:xfrm>
          <a:prstGeom prst="rect">
            <a:avLst/>
          </a:prstGeom>
          <a:noFill/>
        </p:spPr>
        <p:txBody>
          <a:bodyPr wrap="square">
            <a:spAutoFit/>
          </a:bodyPr>
          <a:lstStyle/>
          <a:p>
            <a:pPr algn="ctr">
              <a:defRPr sz="2600" b="1">
                <a:solidFill>
                  <a:srgbClr val="1A1A1A"/>
                </a:solidFill>
              </a:defRPr>
            </a:pPr>
            <a:r>
              <a:t>40%</a:t>
            </a:r>
          </a:p>
        </p:txBody>
      </p:sp>
      <p:sp>
        <p:nvSpPr>
          <p:cNvPr id="7" name="TextBox 6"/>
          <p:cNvSpPr txBox="1"/>
          <p:nvPr/>
        </p:nvSpPr>
        <p:spPr>
          <a:xfrm>
            <a:off x="1645920" y="1417320"/>
            <a:ext cx="1828800" cy="320040"/>
          </a:xfrm>
          <a:prstGeom prst="rect">
            <a:avLst/>
          </a:prstGeom>
          <a:noFill/>
        </p:spPr>
        <p:txBody>
          <a:bodyPr wrap="square">
            <a:spAutoFit/>
          </a:bodyPr>
          <a:lstStyle/>
          <a:p>
            <a:pPr algn="ctr">
              <a:defRPr sz="1100" b="1">
                <a:solidFill>
                  <a:srgbClr val="FFFFFF"/>
                </a:solidFill>
              </a:defRPr>
            </a:pPr>
            <a:r>
              <a:t>CUSTOMER</a:t>
            </a:r>
            <a:br/>
            <a:r>
              <a:t>EXPERIENCE</a:t>
            </a:r>
          </a:p>
        </p:txBody>
      </p:sp>
      <p:sp>
        <p:nvSpPr>
          <p:cNvPr id="8" name="Oval 7"/>
          <p:cNvSpPr/>
          <p:nvPr/>
        </p:nvSpPr>
        <p:spPr>
          <a:xfrm>
            <a:off x="4251960" y="2606040"/>
            <a:ext cx="2103120" cy="2103120"/>
          </a:xfrm>
          <a:prstGeom prst="ellipse">
            <a:avLst/>
          </a:prstGeom>
          <a:solidFill>
            <a:srgbClr val="E8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51960" y="3429000"/>
            <a:ext cx="2103120" cy="457200"/>
          </a:xfrm>
          <a:prstGeom prst="rect">
            <a:avLst/>
          </a:prstGeom>
          <a:noFill/>
        </p:spPr>
        <p:txBody>
          <a:bodyPr wrap="square">
            <a:spAutoFit/>
          </a:bodyPr>
          <a:lstStyle/>
          <a:p>
            <a:pPr algn="ctr">
              <a:defRPr sz="1800" b="1">
                <a:solidFill>
                  <a:srgbClr val="1A1A1A"/>
                </a:solidFill>
              </a:defRPr>
            </a:pPr>
            <a:r>
              <a:t>35%</a:t>
            </a:r>
          </a:p>
        </p:txBody>
      </p:sp>
      <p:sp>
        <p:nvSpPr>
          <p:cNvPr id="10" name="TextBox 9"/>
          <p:cNvSpPr txBox="1"/>
          <p:nvPr/>
        </p:nvSpPr>
        <p:spPr>
          <a:xfrm>
            <a:off x="4389120" y="4754880"/>
            <a:ext cx="1828800" cy="320040"/>
          </a:xfrm>
          <a:prstGeom prst="rect">
            <a:avLst/>
          </a:prstGeom>
          <a:noFill/>
        </p:spPr>
        <p:txBody>
          <a:bodyPr wrap="square">
            <a:spAutoFit/>
          </a:bodyPr>
          <a:lstStyle/>
          <a:p>
            <a:pPr algn="ctr">
              <a:defRPr sz="900" b="1">
                <a:solidFill>
                  <a:srgbClr val="FFFFFF"/>
                </a:solidFill>
              </a:defRPr>
            </a:pPr>
            <a:r>
              <a:t>PREDICTIVE</a:t>
            </a:r>
            <a:br/>
            <a:r>
              <a:t>MAINTENANCE</a:t>
            </a:r>
          </a:p>
        </p:txBody>
      </p:sp>
      <p:sp>
        <p:nvSpPr>
          <p:cNvPr id="11" name="Oval 10"/>
          <p:cNvSpPr/>
          <p:nvPr/>
        </p:nvSpPr>
        <p:spPr>
          <a:xfrm>
            <a:off x="6537960" y="1965960"/>
            <a:ext cx="1554480" cy="1554480"/>
          </a:xfrm>
          <a:prstGeom prst="ellipse">
            <a:avLst/>
          </a:prstGeom>
          <a:solidFill>
            <a:srgbClr val="6ED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2514600"/>
            <a:ext cx="1554480" cy="457200"/>
          </a:xfrm>
          <a:prstGeom prst="rect">
            <a:avLst/>
          </a:prstGeom>
          <a:noFill/>
        </p:spPr>
        <p:txBody>
          <a:bodyPr wrap="square">
            <a:spAutoFit/>
          </a:bodyPr>
          <a:lstStyle/>
          <a:p>
            <a:pPr algn="ctr">
              <a:defRPr sz="1100" b="1">
                <a:solidFill>
                  <a:srgbClr val="1A1A1A"/>
                </a:solidFill>
              </a:defRPr>
            </a:pPr>
            <a:r>
              <a:t>23%</a:t>
            </a:r>
          </a:p>
        </p:txBody>
      </p:sp>
      <p:sp>
        <p:nvSpPr>
          <p:cNvPr id="13" name="TextBox 12"/>
          <p:cNvSpPr txBox="1"/>
          <p:nvPr/>
        </p:nvSpPr>
        <p:spPr>
          <a:xfrm>
            <a:off x="6400800" y="1645920"/>
            <a:ext cx="1828800" cy="320040"/>
          </a:xfrm>
          <a:prstGeom prst="rect">
            <a:avLst/>
          </a:prstGeom>
          <a:noFill/>
        </p:spPr>
        <p:txBody>
          <a:bodyPr wrap="square">
            <a:spAutoFit/>
          </a:bodyPr>
          <a:lstStyle/>
          <a:p>
            <a:pPr algn="ctr">
              <a:defRPr sz="800" b="1">
                <a:solidFill>
                  <a:srgbClr val="FFFFFF"/>
                </a:solidFill>
              </a:defRPr>
            </a:pPr>
            <a:r>
              <a:t>MEDICAL LIT.</a:t>
            </a:r>
            <a:br/>
            <a:r>
              <a:t>SYNTHESIS</a:t>
            </a:r>
          </a:p>
        </p:txBody>
      </p:sp>
      <p:sp>
        <p:nvSpPr>
          <p:cNvPr id="14" name="Oval 13"/>
          <p:cNvSpPr/>
          <p:nvPr/>
        </p:nvSpPr>
        <p:spPr>
          <a:xfrm>
            <a:off x="3474720" y="1188720"/>
            <a:ext cx="1280160" cy="1280160"/>
          </a:xfrm>
          <a:prstGeom prst="ellipse">
            <a:avLst/>
          </a:prstGeom>
          <a:solidFill>
            <a:srgbClr val="E8D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600200"/>
            <a:ext cx="1280160" cy="457200"/>
          </a:xfrm>
          <a:prstGeom prst="rect">
            <a:avLst/>
          </a:prstGeom>
          <a:noFill/>
        </p:spPr>
        <p:txBody>
          <a:bodyPr wrap="square">
            <a:spAutoFit/>
          </a:bodyPr>
          <a:lstStyle/>
          <a:p>
            <a:pPr algn="ctr">
              <a:defRPr sz="1000" b="1">
                <a:solidFill>
                  <a:srgbClr val="1A1A1A"/>
                </a:solidFill>
              </a:defRPr>
            </a:pPr>
            <a:r>
              <a:t>19%</a:t>
            </a:r>
          </a:p>
        </p:txBody>
      </p:sp>
      <p:sp>
        <p:nvSpPr>
          <p:cNvPr id="16" name="TextBox 15"/>
          <p:cNvSpPr txBox="1"/>
          <p:nvPr/>
        </p:nvSpPr>
        <p:spPr>
          <a:xfrm>
            <a:off x="3200400" y="868680"/>
            <a:ext cx="1828800" cy="320040"/>
          </a:xfrm>
          <a:prstGeom prst="rect">
            <a:avLst/>
          </a:prstGeom>
          <a:noFill/>
        </p:spPr>
        <p:txBody>
          <a:bodyPr wrap="square">
            <a:spAutoFit/>
          </a:bodyPr>
          <a:lstStyle/>
          <a:p>
            <a:pPr algn="ctr">
              <a:defRPr sz="800" b="1">
                <a:solidFill>
                  <a:srgbClr val="FFFFFF"/>
                </a:solidFill>
              </a:defRPr>
            </a:pPr>
            <a:r>
              <a:t>MARKET</a:t>
            </a:r>
            <a:br/>
            <a:r>
              <a:t>INTELLIGENCE</a:t>
            </a:r>
          </a:p>
        </p:txBody>
      </p:sp>
      <p:sp>
        <p:nvSpPr>
          <p:cNvPr id="17" name="Oval 16"/>
          <p:cNvSpPr/>
          <p:nvPr/>
        </p:nvSpPr>
        <p:spPr>
          <a:xfrm>
            <a:off x="8001000" y="2788920"/>
            <a:ext cx="1371600" cy="1371600"/>
          </a:xfrm>
          <a:prstGeom prst="ellipse">
            <a:avLst/>
          </a:prstGeom>
          <a:solidFill>
            <a:srgbClr val="C4A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3246120"/>
            <a:ext cx="1371600" cy="457200"/>
          </a:xfrm>
          <a:prstGeom prst="rect">
            <a:avLst/>
          </a:prstGeom>
          <a:noFill/>
        </p:spPr>
        <p:txBody>
          <a:bodyPr wrap="square">
            <a:spAutoFit/>
          </a:bodyPr>
          <a:lstStyle/>
          <a:p>
            <a:pPr algn="ctr">
              <a:defRPr sz="1000" b="1">
                <a:solidFill>
                  <a:srgbClr val="1A1A1A"/>
                </a:solidFill>
              </a:defRPr>
            </a:pPr>
            <a:r>
              <a:t>14%</a:t>
            </a:r>
          </a:p>
        </p:txBody>
      </p:sp>
      <p:sp>
        <p:nvSpPr>
          <p:cNvPr id="19" name="TextBox 18"/>
          <p:cNvSpPr txBox="1"/>
          <p:nvPr/>
        </p:nvSpPr>
        <p:spPr>
          <a:xfrm>
            <a:off x="7772400" y="4206240"/>
            <a:ext cx="1828800" cy="320040"/>
          </a:xfrm>
          <a:prstGeom prst="rect">
            <a:avLst/>
          </a:prstGeom>
          <a:noFill/>
        </p:spPr>
        <p:txBody>
          <a:bodyPr wrap="square">
            <a:spAutoFit/>
          </a:bodyPr>
          <a:lstStyle/>
          <a:p>
            <a:pPr algn="ctr">
              <a:defRPr sz="800" b="1">
                <a:solidFill>
                  <a:srgbClr val="FFFFFF"/>
                </a:solidFill>
              </a:defRPr>
            </a:pPr>
            <a:r>
              <a:t>DOCUMENT</a:t>
            </a:r>
            <a:br/>
            <a:r>
              <a:t>EXTRACTION</a:t>
            </a:r>
          </a:p>
        </p:txBody>
      </p:sp>
      <p:sp>
        <p:nvSpPr>
          <p:cNvPr id="20" name="Oval 19"/>
          <p:cNvSpPr/>
          <p:nvPr/>
        </p:nvSpPr>
        <p:spPr>
          <a:xfrm>
            <a:off x="5852160" y="4023360"/>
            <a:ext cx="1097280" cy="1097280"/>
          </a:xfrm>
          <a:prstGeom prst="ellipse">
            <a:avLst/>
          </a:prstGeom>
          <a:solidFill>
            <a:srgbClr val="F0B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52160" y="4343400"/>
            <a:ext cx="1097280" cy="457200"/>
          </a:xfrm>
          <a:prstGeom prst="rect">
            <a:avLst/>
          </a:prstGeom>
          <a:noFill/>
        </p:spPr>
        <p:txBody>
          <a:bodyPr wrap="square">
            <a:spAutoFit/>
          </a:bodyPr>
          <a:lstStyle/>
          <a:p>
            <a:pPr algn="ctr">
              <a:defRPr sz="1000" b="1">
                <a:solidFill>
                  <a:srgbClr val="1A1A1A"/>
                </a:solidFill>
              </a:defRPr>
            </a:pPr>
            <a:r>
              <a:t>12%</a:t>
            </a:r>
          </a:p>
        </p:txBody>
      </p:sp>
      <p:sp>
        <p:nvSpPr>
          <p:cNvPr id="22" name="TextBox 21"/>
          <p:cNvSpPr txBox="1"/>
          <p:nvPr/>
        </p:nvSpPr>
        <p:spPr>
          <a:xfrm>
            <a:off x="5486400" y="5166360"/>
            <a:ext cx="1828800" cy="320040"/>
          </a:xfrm>
          <a:prstGeom prst="rect">
            <a:avLst/>
          </a:prstGeom>
          <a:noFill/>
        </p:spPr>
        <p:txBody>
          <a:bodyPr wrap="square">
            <a:spAutoFit/>
          </a:bodyPr>
          <a:lstStyle/>
          <a:p>
            <a:pPr algn="ctr">
              <a:defRPr sz="800" b="1">
                <a:solidFill>
                  <a:srgbClr val="FFFFFF"/>
                </a:solidFill>
              </a:defRPr>
            </a:pPr>
            <a:r>
              <a:t>CODE</a:t>
            </a:r>
            <a:br/>
            <a:r>
              <a:t>GENERATION</a:t>
            </a:r>
          </a:p>
        </p:txBody>
      </p:sp>
      <p:sp>
        <p:nvSpPr>
          <p:cNvPr id="23" name="Oval 22"/>
          <p:cNvSpPr/>
          <p:nvPr/>
        </p:nvSpPr>
        <p:spPr>
          <a:xfrm>
            <a:off x="9098280" y="2057400"/>
            <a:ext cx="1005840" cy="1005840"/>
          </a:xfrm>
          <a:prstGeom prst="ellipse">
            <a:avLst/>
          </a:prstGeom>
          <a:solidFill>
            <a:srgbClr val="A0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2331720"/>
            <a:ext cx="1005840" cy="457200"/>
          </a:xfrm>
          <a:prstGeom prst="rect">
            <a:avLst/>
          </a:prstGeom>
          <a:noFill/>
        </p:spPr>
        <p:txBody>
          <a:bodyPr wrap="square">
            <a:spAutoFit/>
          </a:bodyPr>
          <a:lstStyle/>
          <a:p>
            <a:pPr algn="ctr">
              <a:defRPr sz="1000" b="1">
                <a:solidFill>
                  <a:srgbClr val="1A1A1A"/>
                </a:solidFill>
              </a:defRPr>
            </a:pPr>
            <a:r>
              <a:t>11%</a:t>
            </a:r>
          </a:p>
        </p:txBody>
      </p:sp>
      <p:sp>
        <p:nvSpPr>
          <p:cNvPr id="25" name="TextBox 24"/>
          <p:cNvSpPr txBox="1"/>
          <p:nvPr/>
        </p:nvSpPr>
        <p:spPr>
          <a:xfrm>
            <a:off x="8686800" y="1737360"/>
            <a:ext cx="1828800" cy="320040"/>
          </a:xfrm>
          <a:prstGeom prst="rect">
            <a:avLst/>
          </a:prstGeom>
          <a:noFill/>
        </p:spPr>
        <p:txBody>
          <a:bodyPr wrap="square">
            <a:spAutoFit/>
          </a:bodyPr>
          <a:lstStyle/>
          <a:p>
            <a:pPr algn="ctr">
              <a:defRPr sz="800" b="1">
                <a:solidFill>
                  <a:srgbClr val="FFFFFF"/>
                </a:solidFill>
              </a:defRPr>
            </a:pPr>
            <a:r>
              <a:t>SUPPLY CHAIN</a:t>
            </a:r>
            <a:br/>
            <a:r>
              <a:t>OPTIMIZATION</a:t>
            </a:r>
          </a:p>
        </p:txBody>
      </p:sp>
      <p:sp>
        <p:nvSpPr>
          <p:cNvPr id="26" name="Oval 25"/>
          <p:cNvSpPr/>
          <p:nvPr/>
        </p:nvSpPr>
        <p:spPr>
          <a:xfrm>
            <a:off x="9418320" y="3657600"/>
            <a:ext cx="914400" cy="914400"/>
          </a:xfrm>
          <a:prstGeom prst="ellipse">
            <a:avLst/>
          </a:prstGeom>
          <a:solidFill>
            <a:srgbClr val="E8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0" y="3886200"/>
            <a:ext cx="914400" cy="457200"/>
          </a:xfrm>
          <a:prstGeom prst="rect">
            <a:avLst/>
          </a:prstGeom>
          <a:noFill/>
        </p:spPr>
        <p:txBody>
          <a:bodyPr wrap="square">
            <a:spAutoFit/>
          </a:bodyPr>
          <a:lstStyle/>
          <a:p>
            <a:pPr algn="ctr">
              <a:defRPr sz="1000" b="1">
                <a:solidFill>
                  <a:srgbClr val="1A1A1A"/>
                </a:solidFill>
              </a:defRPr>
            </a:pPr>
            <a:r>
              <a:t>9%</a:t>
            </a:r>
          </a:p>
        </p:txBody>
      </p:sp>
      <p:sp>
        <p:nvSpPr>
          <p:cNvPr id="28" name="TextBox 27"/>
          <p:cNvSpPr txBox="1"/>
          <p:nvPr/>
        </p:nvSpPr>
        <p:spPr>
          <a:xfrm>
            <a:off x="8961120" y="4617720"/>
            <a:ext cx="1828800" cy="320040"/>
          </a:xfrm>
          <a:prstGeom prst="rect">
            <a:avLst/>
          </a:prstGeom>
          <a:noFill/>
        </p:spPr>
        <p:txBody>
          <a:bodyPr wrap="square">
            <a:spAutoFit/>
          </a:bodyPr>
          <a:lstStyle/>
          <a:p>
            <a:pPr algn="ctr">
              <a:defRPr sz="800" b="1">
                <a:solidFill>
                  <a:srgbClr val="FFFFFF"/>
                </a:solidFill>
              </a:defRPr>
            </a:pPr>
            <a:r>
              <a:t>FRAUD</a:t>
            </a:r>
            <a:br/>
            <a:r>
              <a:t>DETECTION</a:t>
            </a:r>
          </a:p>
        </p:txBody>
      </p:sp>
      <p:sp>
        <p:nvSpPr>
          <p:cNvPr id="29" name="Rounded Rectangle 28"/>
          <p:cNvSpPr/>
          <p:nvPr/>
        </p:nvSpPr>
        <p:spPr>
          <a:xfrm>
            <a:off x="731520" y="5120640"/>
            <a:ext cx="10515600" cy="1463040"/>
          </a:xfrm>
          <a:prstGeom prst="roundRect">
            <a:avLst/>
          </a:prstGeom>
          <a:solidFill>
            <a:srgbClr val="20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0" y="5120640"/>
            <a:ext cx="63500" cy="146304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80160" y="5074920"/>
            <a:ext cx="457200" cy="457200"/>
          </a:xfrm>
          <a:prstGeom prst="rect">
            <a:avLst/>
          </a:prstGeom>
          <a:noFill/>
        </p:spPr>
        <p:txBody>
          <a:bodyPr wrap="square">
            <a:spAutoFit/>
          </a:bodyPr>
          <a:lstStyle/>
          <a:p>
            <a:pPr algn="l">
              <a:defRPr sz="4000" b="1">
                <a:solidFill>
                  <a:srgbClr val="FF6F00"/>
                </a:solidFill>
              </a:defRPr>
            </a:pPr>
            <a:r>
              <a:t>“</a:t>
            </a:r>
          </a:p>
        </p:txBody>
      </p:sp>
      <p:sp>
        <p:nvSpPr>
          <p:cNvPr id="32" name="TextBox 31"/>
          <p:cNvSpPr txBox="1"/>
          <p:nvPr/>
        </p:nvSpPr>
        <p:spPr>
          <a:xfrm>
            <a:off x="1645920" y="5212080"/>
            <a:ext cx="8686800" cy="914400"/>
          </a:xfrm>
          <a:prstGeom prst="rect">
            <a:avLst/>
          </a:prstGeom>
          <a:noFill/>
        </p:spPr>
        <p:txBody>
          <a:bodyPr wrap="square">
            <a:spAutoFit/>
          </a:bodyPr>
          <a:lstStyle/>
          <a:p>
            <a:pPr algn="l">
              <a:spcAft>
                <a:spcPts val="400"/>
              </a:spcAft>
              <a:defRPr sz="1300" b="0">
                <a:solidFill>
                  <a:srgbClr val="A0AEC0"/>
                </a:solidFill>
              </a:defRPr>
            </a:pPr>
            <a:r>
              <a:t>AI agents are fantastic for the first 80% of enterprise workflows: routing tickets, extracting data, generating reports. But that final 20%—the judgment calls, regulatory nuance, and stakeholder trust—that's still very much human territory.</a:t>
            </a:r>
          </a:p>
          <a:p>
            <a:pPr algn="l">
              <a:spcAft>
                <a:spcPts val="600"/>
              </a:spcAft>
              <a:defRPr sz="1000" b="1">
                <a:solidFill>
                  <a:srgbClr val="707890"/>
                </a:solidFill>
              </a:defRPr>
            </a:pPr>
            <a:r>
              <a:t>— Databricks State of AI Agents Report 2026  |  20,000+ enterprise customers surveyed</a:t>
            </a:r>
          </a:p>
        </p:txBody>
      </p:sp>
      <p:sp>
        <p:nvSpPr>
          <p:cNvPr id="33" name="TextBox 32"/>
          <p:cNvSpPr txBox="1"/>
          <p:nvPr/>
        </p:nvSpPr>
        <p:spPr>
          <a:xfrm>
            <a:off x="731520" y="6537960"/>
            <a:ext cx="10058400" cy="274320"/>
          </a:xfrm>
          <a:prstGeom prst="rect">
            <a:avLst/>
          </a:prstGeom>
          <a:noFill/>
        </p:spPr>
        <p:txBody>
          <a:bodyPr wrap="square">
            <a:spAutoFit/>
          </a:bodyPr>
          <a:lstStyle/>
          <a:p>
            <a:pPr algn="l">
              <a:spcAft>
                <a:spcPts val="600"/>
              </a:spcAft>
              <a:defRPr sz="900" b="0">
                <a:solidFill>
                  <a:srgbClr val="707890"/>
                </a:solidFill>
              </a:defRPr>
            </a:pPr>
            <a:r>
              <a:t>Source: Databricks State of AI Agents Report 2026 &amp; Enterprise AI Agent Trends blog  |  Bubble size proportional to adoption share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Enterprise Case Studies from Databricks Summits</a:t>
            </a:r>
          </a:p>
        </p:txBody>
      </p:sp>
      <p:sp>
        <p:nvSpPr>
          <p:cNvPr id="4" name="Rectangle 3"/>
          <p:cNvSpPr/>
          <p:nvPr/>
        </p:nvSpPr>
        <p:spPr>
          <a:xfrm>
            <a:off x="731520" y="1051560"/>
            <a:ext cx="274320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3383280" cy="24688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338328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81328"/>
            <a:ext cx="3108960" cy="320040"/>
          </a:xfrm>
          <a:prstGeom prst="rect">
            <a:avLst/>
          </a:prstGeom>
          <a:noFill/>
        </p:spPr>
        <p:txBody>
          <a:bodyPr wrap="square">
            <a:spAutoFit/>
          </a:bodyPr>
          <a:lstStyle/>
          <a:p>
            <a:pPr algn="l">
              <a:defRPr sz="1800" b="1">
                <a:solidFill>
                  <a:srgbClr val="FF6F00"/>
                </a:solidFill>
              </a:defRPr>
            </a:pPr>
            <a:r>
              <a:t>adidas</a:t>
            </a:r>
          </a:p>
        </p:txBody>
      </p:sp>
      <p:sp>
        <p:nvSpPr>
          <p:cNvPr id="8" name="TextBox 7"/>
          <p:cNvSpPr txBox="1"/>
          <p:nvPr/>
        </p:nvSpPr>
        <p:spPr>
          <a:xfrm>
            <a:off x="868680" y="1783080"/>
            <a:ext cx="3108960" cy="274320"/>
          </a:xfrm>
          <a:prstGeom prst="rect">
            <a:avLst/>
          </a:prstGeom>
          <a:noFill/>
        </p:spPr>
        <p:txBody>
          <a:bodyPr wrap="square">
            <a:spAutoFit/>
          </a:bodyPr>
          <a:lstStyle/>
          <a:p>
            <a:pPr algn="l">
              <a:defRPr sz="1100" b="1">
                <a:solidFill>
                  <a:srgbClr val="FFFFFF"/>
                </a:solidFill>
              </a:defRPr>
            </a:pPr>
            <a:r>
              <a:t>Agent Digital Twin for Governance &amp; Cost</a:t>
            </a:r>
          </a:p>
        </p:txBody>
      </p:sp>
      <p:sp>
        <p:nvSpPr>
          <p:cNvPr id="9" name="TextBox 8"/>
          <p:cNvSpPr txBox="1"/>
          <p:nvPr/>
        </p:nvSpPr>
        <p:spPr>
          <a:xfrm>
            <a:off x="868680" y="2103120"/>
            <a:ext cx="3108960" cy="1554480"/>
          </a:xfrm>
          <a:prstGeom prst="rect">
            <a:avLst/>
          </a:prstGeom>
          <a:noFill/>
        </p:spPr>
        <p:txBody>
          <a:bodyPr wrap="square">
            <a:spAutoFit/>
          </a:bodyPr>
          <a:lstStyle/>
          <a:p>
            <a:pPr algn="l">
              <a:spcAft>
                <a:spcPts val="200"/>
              </a:spcAft>
              <a:defRPr sz="1000" b="0">
                <a:solidFill>
                  <a:srgbClr val="A0AEC0"/>
                </a:solidFill>
              </a:defRPr>
            </a:pPr>
            <a:r>
              <a:t>•  200+ serving endpoints, 300+ data &amp; AI products</a:t>
            </a:r>
          </a:p>
          <a:p>
            <a:pPr algn="l">
              <a:spcAft>
                <a:spcPts val="200"/>
              </a:spcAft>
              <a:defRPr sz="1000" b="0">
                <a:solidFill>
                  <a:srgbClr val="A0AEC0"/>
                </a:solidFill>
              </a:defRPr>
            </a:pPr>
            <a:r>
              <a:t>•  98.5% token efficiency (200K → 3K input tokens)</a:t>
            </a:r>
          </a:p>
          <a:p>
            <a:pPr algn="l">
              <a:spcAft>
                <a:spcPts val="200"/>
              </a:spcAft>
              <a:defRPr sz="1000" b="0">
                <a:solidFill>
                  <a:srgbClr val="A0AEC0"/>
                </a:solidFill>
              </a:defRPr>
            </a:pPr>
            <a:r>
              <a:t>•  91.67% cost savings through LLM optimization</a:t>
            </a:r>
          </a:p>
          <a:p>
            <a:pPr algn="l">
              <a:spcAft>
                <a:spcPts val="200"/>
              </a:spcAft>
              <a:defRPr sz="1000" b="0">
                <a:solidFill>
                  <a:srgbClr val="A0AEC0"/>
                </a:solidFill>
              </a:defRPr>
            </a:pPr>
            <a:r>
              <a:t>•  Per-hop unit economics and cost leak forensics</a:t>
            </a:r>
          </a:p>
          <a:p>
            <a:pPr algn="l">
              <a:spcAft>
                <a:spcPts val="200"/>
              </a:spcAft>
              <a:defRPr sz="1000" b="0">
                <a:solidFill>
                  <a:srgbClr val="A0AEC0"/>
                </a:solidFill>
              </a:defRPr>
            </a:pPr>
            <a:r>
              <a:t>•  MLflow Tracing + Unity Catalog for audit evidence</a:t>
            </a:r>
          </a:p>
        </p:txBody>
      </p:sp>
      <p:sp>
        <p:nvSpPr>
          <p:cNvPr id="10" name="Rounded Rectangle 9"/>
          <p:cNvSpPr/>
          <p:nvPr/>
        </p:nvSpPr>
        <p:spPr>
          <a:xfrm>
            <a:off x="4297680" y="1371600"/>
            <a:ext cx="3383280" cy="24688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1371600"/>
            <a:ext cx="338328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481328"/>
            <a:ext cx="3108960" cy="320040"/>
          </a:xfrm>
          <a:prstGeom prst="rect">
            <a:avLst/>
          </a:prstGeom>
          <a:noFill/>
        </p:spPr>
        <p:txBody>
          <a:bodyPr wrap="square">
            <a:spAutoFit/>
          </a:bodyPr>
          <a:lstStyle/>
          <a:p>
            <a:pPr algn="l">
              <a:defRPr sz="1800" b="1">
                <a:solidFill>
                  <a:srgbClr val="3B82F6"/>
                </a:solidFill>
              </a:defRPr>
            </a:pPr>
            <a:r>
              <a:t>Walmart</a:t>
            </a:r>
          </a:p>
        </p:txBody>
      </p:sp>
      <p:sp>
        <p:nvSpPr>
          <p:cNvPr id="13" name="TextBox 12"/>
          <p:cNvSpPr txBox="1"/>
          <p:nvPr/>
        </p:nvSpPr>
        <p:spPr>
          <a:xfrm>
            <a:off x="4434840" y="1783080"/>
            <a:ext cx="3108960" cy="274320"/>
          </a:xfrm>
          <a:prstGeom prst="rect">
            <a:avLst/>
          </a:prstGeom>
          <a:noFill/>
        </p:spPr>
        <p:txBody>
          <a:bodyPr wrap="square">
            <a:spAutoFit/>
          </a:bodyPr>
          <a:lstStyle/>
          <a:p>
            <a:pPr algn="l">
              <a:defRPr sz="1100" b="1">
                <a:solidFill>
                  <a:srgbClr val="FFFFFF"/>
                </a:solidFill>
              </a:defRPr>
            </a:pPr>
            <a:r>
              <a:t>Autonomous AI Agents &amp; Analytics</a:t>
            </a:r>
          </a:p>
        </p:txBody>
      </p:sp>
      <p:sp>
        <p:nvSpPr>
          <p:cNvPr id="14" name="TextBox 13"/>
          <p:cNvSpPr txBox="1"/>
          <p:nvPr/>
        </p:nvSpPr>
        <p:spPr>
          <a:xfrm>
            <a:off x="4434840" y="2103120"/>
            <a:ext cx="3108960" cy="1554480"/>
          </a:xfrm>
          <a:prstGeom prst="rect">
            <a:avLst/>
          </a:prstGeom>
          <a:noFill/>
        </p:spPr>
        <p:txBody>
          <a:bodyPr wrap="square">
            <a:spAutoFit/>
          </a:bodyPr>
          <a:lstStyle/>
          <a:p>
            <a:pPr algn="l">
              <a:spcAft>
                <a:spcPts val="200"/>
              </a:spcAft>
              <a:defRPr sz="1000" b="0">
                <a:solidFill>
                  <a:srgbClr val="A0AEC0"/>
                </a:solidFill>
              </a:defRPr>
            </a:pPr>
            <a:r>
              <a:t>•  90% reduction in time-to-value with AI/BI Genie</a:t>
            </a:r>
          </a:p>
          <a:p>
            <a:pPr algn="l">
              <a:spcAft>
                <a:spcPts val="200"/>
              </a:spcAft>
              <a:defRPr sz="1000" b="0">
                <a:solidFill>
                  <a:srgbClr val="A0AEC0"/>
                </a:solidFill>
              </a:defRPr>
            </a:pPr>
            <a:r>
              <a:t>•  $5.6M annual savings from FTE hours</a:t>
            </a:r>
          </a:p>
          <a:p>
            <a:pPr algn="l">
              <a:spcAft>
                <a:spcPts val="200"/>
              </a:spcAft>
              <a:defRPr sz="1000" b="0">
                <a:solidFill>
                  <a:srgbClr val="A0AEC0"/>
                </a:solidFill>
              </a:defRPr>
            </a:pPr>
            <a:r>
              <a:t>•  AI chatbot 'Sparky' driving increased spend</a:t>
            </a:r>
          </a:p>
          <a:p>
            <a:pPr algn="l">
              <a:spcAft>
                <a:spcPts val="200"/>
              </a:spcAft>
              <a:defRPr sz="1000" b="0">
                <a:solidFill>
                  <a:srgbClr val="A0AEC0"/>
                </a:solidFill>
              </a:defRPr>
            </a:pPr>
            <a:r>
              <a:t>•  Conversational AI agents for store managers</a:t>
            </a:r>
          </a:p>
          <a:p>
            <a:pPr algn="l">
              <a:spcAft>
                <a:spcPts val="200"/>
              </a:spcAft>
              <a:defRPr sz="1000" b="0">
                <a:solidFill>
                  <a:srgbClr val="A0AEC0"/>
                </a:solidFill>
              </a:defRPr>
            </a:pPr>
            <a:r>
              <a:t>•  Autonomous agent architecture (Summit 2025)</a:t>
            </a:r>
          </a:p>
        </p:txBody>
      </p:sp>
      <p:sp>
        <p:nvSpPr>
          <p:cNvPr id="15" name="Rounded Rectangle 14"/>
          <p:cNvSpPr/>
          <p:nvPr/>
        </p:nvSpPr>
        <p:spPr>
          <a:xfrm>
            <a:off x="7863840" y="1371600"/>
            <a:ext cx="3383280" cy="24688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63840" y="1371600"/>
            <a:ext cx="338328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01000" y="1481328"/>
            <a:ext cx="3108960" cy="320040"/>
          </a:xfrm>
          <a:prstGeom prst="rect">
            <a:avLst/>
          </a:prstGeom>
          <a:noFill/>
        </p:spPr>
        <p:txBody>
          <a:bodyPr wrap="square">
            <a:spAutoFit/>
          </a:bodyPr>
          <a:lstStyle/>
          <a:p>
            <a:pPr algn="l">
              <a:defRPr sz="1800" b="1">
                <a:solidFill>
                  <a:srgbClr val="22C55E"/>
                </a:solidFill>
              </a:defRPr>
            </a:pPr>
            <a:r>
              <a:t>AstraZeneca</a:t>
            </a:r>
          </a:p>
        </p:txBody>
      </p:sp>
      <p:sp>
        <p:nvSpPr>
          <p:cNvPr id="18" name="TextBox 17"/>
          <p:cNvSpPr txBox="1"/>
          <p:nvPr/>
        </p:nvSpPr>
        <p:spPr>
          <a:xfrm>
            <a:off x="8001000" y="1783080"/>
            <a:ext cx="3108960" cy="274320"/>
          </a:xfrm>
          <a:prstGeom prst="rect">
            <a:avLst/>
          </a:prstGeom>
          <a:noFill/>
        </p:spPr>
        <p:txBody>
          <a:bodyPr wrap="square">
            <a:spAutoFit/>
          </a:bodyPr>
          <a:lstStyle/>
          <a:p>
            <a:pPr algn="l">
              <a:defRPr sz="1100" b="1">
                <a:solidFill>
                  <a:srgbClr val="FFFFFF"/>
                </a:solidFill>
              </a:defRPr>
            </a:pPr>
            <a:r>
              <a:t>Clinical Trial Document Processing</a:t>
            </a:r>
          </a:p>
        </p:txBody>
      </p:sp>
      <p:sp>
        <p:nvSpPr>
          <p:cNvPr id="19" name="TextBox 18"/>
          <p:cNvSpPr txBox="1"/>
          <p:nvPr/>
        </p:nvSpPr>
        <p:spPr>
          <a:xfrm>
            <a:off x="8001000" y="2103120"/>
            <a:ext cx="3108960" cy="1554480"/>
          </a:xfrm>
          <a:prstGeom prst="rect">
            <a:avLst/>
          </a:prstGeom>
          <a:noFill/>
        </p:spPr>
        <p:txBody>
          <a:bodyPr wrap="square">
            <a:spAutoFit/>
          </a:bodyPr>
          <a:lstStyle/>
          <a:p>
            <a:pPr algn="l">
              <a:spcAft>
                <a:spcPts val="200"/>
              </a:spcAft>
              <a:defRPr sz="1000" b="0">
                <a:solidFill>
                  <a:srgbClr val="A0AEC0"/>
                </a:solidFill>
              </a:defRPr>
            </a:pPr>
            <a:r>
              <a:t>•  400,000+ documents reviewed in under 60 minutes</a:t>
            </a:r>
          </a:p>
          <a:p>
            <a:pPr algn="l">
              <a:spcAft>
                <a:spcPts val="200"/>
              </a:spcAft>
              <a:defRPr sz="1000" b="0">
                <a:solidFill>
                  <a:srgbClr val="A0AEC0"/>
                </a:solidFill>
              </a:defRPr>
            </a:pPr>
            <a:r>
              <a:t>•  No coding required using Agent Bricks</a:t>
            </a:r>
          </a:p>
          <a:p>
            <a:pPr algn="l">
              <a:spcAft>
                <a:spcPts val="200"/>
              </a:spcAft>
              <a:defRPr sz="1000" b="0">
                <a:solidFill>
                  <a:srgbClr val="A0AEC0"/>
                </a:solidFill>
              </a:defRPr>
            </a:pPr>
            <a:r>
              <a:t>•  Surpassed open-source alternatives in accuracy</a:t>
            </a:r>
          </a:p>
          <a:p>
            <a:pPr algn="l">
              <a:spcAft>
                <a:spcPts val="200"/>
              </a:spcAft>
              <a:defRPr sz="1000" b="0">
                <a:solidFill>
                  <a:srgbClr val="A0AEC0"/>
                </a:solidFill>
              </a:defRPr>
            </a:pPr>
            <a:r>
              <a:t>•  Production-grade agent with enterprise data</a:t>
            </a:r>
          </a:p>
        </p:txBody>
      </p:sp>
      <p:sp>
        <p:nvSpPr>
          <p:cNvPr id="20" name="Rounded Rectangle 19"/>
          <p:cNvSpPr/>
          <p:nvPr/>
        </p:nvSpPr>
        <p:spPr>
          <a:xfrm>
            <a:off x="731520" y="3977640"/>
            <a:ext cx="3383280" cy="24688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977640"/>
            <a:ext cx="338328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087368"/>
            <a:ext cx="3108960" cy="320040"/>
          </a:xfrm>
          <a:prstGeom prst="rect">
            <a:avLst/>
          </a:prstGeom>
          <a:noFill/>
        </p:spPr>
        <p:txBody>
          <a:bodyPr wrap="square">
            <a:spAutoFit/>
          </a:bodyPr>
          <a:lstStyle/>
          <a:p>
            <a:pPr algn="l">
              <a:defRPr sz="1800" b="1">
                <a:solidFill>
                  <a:srgbClr val="A755F7"/>
                </a:solidFill>
              </a:defRPr>
            </a:pPr>
            <a:r>
              <a:t>7-Eleven</a:t>
            </a:r>
          </a:p>
        </p:txBody>
      </p:sp>
      <p:sp>
        <p:nvSpPr>
          <p:cNvPr id="23" name="TextBox 22"/>
          <p:cNvSpPr txBox="1"/>
          <p:nvPr/>
        </p:nvSpPr>
        <p:spPr>
          <a:xfrm>
            <a:off x="868680" y="4389120"/>
            <a:ext cx="3108960" cy="274320"/>
          </a:xfrm>
          <a:prstGeom prst="rect">
            <a:avLst/>
          </a:prstGeom>
          <a:noFill/>
        </p:spPr>
        <p:txBody>
          <a:bodyPr wrap="square">
            <a:spAutoFit/>
          </a:bodyPr>
          <a:lstStyle/>
          <a:p>
            <a:pPr algn="l">
              <a:defRPr sz="1100" b="1">
                <a:solidFill>
                  <a:srgbClr val="FFFFFF"/>
                </a:solidFill>
              </a:defRPr>
            </a:pPr>
            <a:r>
              <a:t>GenAI Frontline Maintenance Assistant</a:t>
            </a:r>
          </a:p>
        </p:txBody>
      </p:sp>
      <p:sp>
        <p:nvSpPr>
          <p:cNvPr id="24" name="TextBox 23"/>
          <p:cNvSpPr txBox="1"/>
          <p:nvPr/>
        </p:nvSpPr>
        <p:spPr>
          <a:xfrm>
            <a:off x="868680" y="4709160"/>
            <a:ext cx="3108960" cy="1554480"/>
          </a:xfrm>
          <a:prstGeom prst="rect">
            <a:avLst/>
          </a:prstGeom>
          <a:noFill/>
        </p:spPr>
        <p:txBody>
          <a:bodyPr wrap="square">
            <a:spAutoFit/>
          </a:bodyPr>
          <a:lstStyle/>
          <a:p>
            <a:pPr algn="l">
              <a:spcAft>
                <a:spcPts val="200"/>
              </a:spcAft>
              <a:defRPr sz="1000" b="0">
                <a:solidFill>
                  <a:srgbClr val="A0AEC0"/>
                </a:solidFill>
              </a:defRPr>
            </a:pPr>
            <a:r>
              <a:t>•  AI agents for non-desk frontline workers</a:t>
            </a:r>
          </a:p>
          <a:p>
            <a:pPr algn="l">
              <a:spcAft>
                <a:spcPts val="200"/>
              </a:spcAft>
              <a:defRPr sz="1000" b="0">
                <a:solidFill>
                  <a:srgbClr val="A0AEC0"/>
                </a:solidFill>
              </a:defRPr>
            </a:pPr>
            <a:r>
              <a:t>•  Store maintenance and operations assistance</a:t>
            </a:r>
          </a:p>
          <a:p>
            <a:pPr algn="l">
              <a:spcAft>
                <a:spcPts val="200"/>
              </a:spcAft>
              <a:defRPr sz="1000" b="0">
                <a:solidFill>
                  <a:srgbClr val="A0AEC0"/>
                </a:solidFill>
              </a:defRPr>
            </a:pPr>
            <a:r>
              <a:t>•  Real-world deployment beyond knowledge workers</a:t>
            </a:r>
          </a:p>
          <a:p>
            <a:pPr algn="l">
              <a:spcAft>
                <a:spcPts val="200"/>
              </a:spcAft>
              <a:defRPr sz="1000" b="0">
                <a:solidFill>
                  <a:srgbClr val="A0AEC0"/>
                </a:solidFill>
              </a:defRPr>
            </a:pPr>
            <a:r>
              <a:t>•  Presented at Summit 2026</a:t>
            </a:r>
          </a:p>
        </p:txBody>
      </p:sp>
      <p:sp>
        <p:nvSpPr>
          <p:cNvPr id="25" name="Rounded Rectangle 24"/>
          <p:cNvSpPr/>
          <p:nvPr/>
        </p:nvSpPr>
        <p:spPr>
          <a:xfrm>
            <a:off x="4297680" y="3977640"/>
            <a:ext cx="3383280" cy="24688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97680" y="3977640"/>
            <a:ext cx="338328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4840" y="4087368"/>
            <a:ext cx="3108960" cy="320040"/>
          </a:xfrm>
          <a:prstGeom prst="rect">
            <a:avLst/>
          </a:prstGeom>
          <a:noFill/>
        </p:spPr>
        <p:txBody>
          <a:bodyPr wrap="square">
            <a:spAutoFit/>
          </a:bodyPr>
          <a:lstStyle/>
          <a:p>
            <a:pPr algn="l">
              <a:defRPr sz="1800" b="1">
                <a:solidFill>
                  <a:srgbClr val="14B8A6"/>
                </a:solidFill>
              </a:defRPr>
            </a:pPr>
            <a:r>
              <a:t>Zillow</a:t>
            </a:r>
          </a:p>
        </p:txBody>
      </p:sp>
      <p:sp>
        <p:nvSpPr>
          <p:cNvPr id="28" name="TextBox 27"/>
          <p:cNvSpPr txBox="1"/>
          <p:nvPr/>
        </p:nvSpPr>
        <p:spPr>
          <a:xfrm>
            <a:off x="4434840" y="4389120"/>
            <a:ext cx="3108960" cy="274320"/>
          </a:xfrm>
          <a:prstGeom prst="rect">
            <a:avLst/>
          </a:prstGeom>
          <a:noFill/>
        </p:spPr>
        <p:txBody>
          <a:bodyPr wrap="square">
            <a:spAutoFit/>
          </a:bodyPr>
          <a:lstStyle/>
          <a:p>
            <a:pPr algn="l">
              <a:defRPr sz="1100" b="1">
                <a:solidFill>
                  <a:srgbClr val="FFFFFF"/>
                </a:solidFill>
              </a:defRPr>
            </a:pPr>
            <a:r>
              <a:t>Agentic AI &amp; Enterprise Data Mesh</a:t>
            </a:r>
          </a:p>
        </p:txBody>
      </p:sp>
      <p:sp>
        <p:nvSpPr>
          <p:cNvPr id="29" name="TextBox 28"/>
          <p:cNvSpPr txBox="1"/>
          <p:nvPr/>
        </p:nvSpPr>
        <p:spPr>
          <a:xfrm>
            <a:off x="4434840" y="4709160"/>
            <a:ext cx="3108960" cy="1554480"/>
          </a:xfrm>
          <a:prstGeom prst="rect">
            <a:avLst/>
          </a:prstGeom>
          <a:noFill/>
        </p:spPr>
        <p:txBody>
          <a:bodyPr wrap="square">
            <a:spAutoFit/>
          </a:bodyPr>
          <a:lstStyle/>
          <a:p>
            <a:pPr algn="l">
              <a:spcAft>
                <a:spcPts val="200"/>
              </a:spcAft>
              <a:defRPr sz="1000" b="0">
                <a:solidFill>
                  <a:srgbClr val="A0AEC0"/>
                </a:solidFill>
              </a:defRPr>
            </a:pPr>
            <a:r>
              <a:t>•  Production agentic AI strategy with Lakebase</a:t>
            </a:r>
          </a:p>
          <a:p>
            <a:pPr algn="l">
              <a:spcAft>
                <a:spcPts val="200"/>
              </a:spcAft>
              <a:defRPr sz="1000" b="0">
                <a:solidFill>
                  <a:srgbClr val="A0AEC0"/>
                </a:solidFill>
              </a:defRPr>
            </a:pPr>
            <a:r>
              <a:t>•  Enterprise data mesh for autonomous workloads</a:t>
            </a:r>
          </a:p>
          <a:p>
            <a:pPr algn="l">
              <a:spcAft>
                <a:spcPts val="200"/>
              </a:spcAft>
              <a:defRPr sz="1000" b="0">
                <a:solidFill>
                  <a:srgbClr val="A0AEC0"/>
                </a:solidFill>
              </a:defRPr>
            </a:pPr>
            <a:r>
              <a:t>•  Scaling real estate AI agents at production volume</a:t>
            </a:r>
          </a:p>
          <a:p>
            <a:pPr algn="l">
              <a:spcAft>
                <a:spcPts val="200"/>
              </a:spcAft>
              <a:defRPr sz="1000" b="0">
                <a:solidFill>
                  <a:srgbClr val="A0AEC0"/>
                </a:solidFill>
              </a:defRPr>
            </a:pPr>
            <a:r>
              <a:t>•  Presented at Summit 2026</a:t>
            </a:r>
          </a:p>
        </p:txBody>
      </p:sp>
      <p:sp>
        <p:nvSpPr>
          <p:cNvPr id="30" name="Rounded Rectangle 29"/>
          <p:cNvSpPr/>
          <p:nvPr/>
        </p:nvSpPr>
        <p:spPr>
          <a:xfrm>
            <a:off x="7863840" y="3977640"/>
            <a:ext cx="3383280" cy="24688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863840" y="3977640"/>
            <a:ext cx="3383280" cy="5080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01000" y="4087368"/>
            <a:ext cx="3108960" cy="320040"/>
          </a:xfrm>
          <a:prstGeom prst="rect">
            <a:avLst/>
          </a:prstGeom>
          <a:noFill/>
        </p:spPr>
        <p:txBody>
          <a:bodyPr wrap="square">
            <a:spAutoFit/>
          </a:bodyPr>
          <a:lstStyle/>
          <a:p>
            <a:pPr algn="l">
              <a:defRPr sz="1800" b="1">
                <a:solidFill>
                  <a:srgbClr val="E84D3D"/>
                </a:solidFill>
              </a:defRPr>
            </a:pPr>
            <a:r>
              <a:t>Royal Bank of Canada</a:t>
            </a:r>
          </a:p>
        </p:txBody>
      </p:sp>
      <p:sp>
        <p:nvSpPr>
          <p:cNvPr id="33" name="TextBox 32"/>
          <p:cNvSpPr txBox="1"/>
          <p:nvPr/>
        </p:nvSpPr>
        <p:spPr>
          <a:xfrm>
            <a:off x="8001000" y="4389120"/>
            <a:ext cx="3108960" cy="274320"/>
          </a:xfrm>
          <a:prstGeom prst="rect">
            <a:avLst/>
          </a:prstGeom>
          <a:noFill/>
        </p:spPr>
        <p:txBody>
          <a:bodyPr wrap="square">
            <a:spAutoFit/>
          </a:bodyPr>
          <a:lstStyle/>
          <a:p>
            <a:pPr algn="l">
              <a:defRPr sz="1100" b="1">
                <a:solidFill>
                  <a:srgbClr val="FFFFFF"/>
                </a:solidFill>
              </a:defRPr>
            </a:pPr>
            <a:r>
              <a:t>AI Agents for Equity Research</a:t>
            </a:r>
          </a:p>
        </p:txBody>
      </p:sp>
      <p:sp>
        <p:nvSpPr>
          <p:cNvPr id="34" name="TextBox 33"/>
          <p:cNvSpPr txBox="1"/>
          <p:nvPr/>
        </p:nvSpPr>
        <p:spPr>
          <a:xfrm>
            <a:off x="8001000" y="4709160"/>
            <a:ext cx="3108960" cy="1554480"/>
          </a:xfrm>
          <a:prstGeom prst="rect">
            <a:avLst/>
          </a:prstGeom>
          <a:noFill/>
        </p:spPr>
        <p:txBody>
          <a:bodyPr wrap="square">
            <a:spAutoFit/>
          </a:bodyPr>
          <a:lstStyle/>
          <a:p>
            <a:pPr algn="l">
              <a:spcAft>
                <a:spcPts val="200"/>
              </a:spcAft>
              <a:defRPr sz="1000" b="0">
                <a:solidFill>
                  <a:srgbClr val="A0AEC0"/>
                </a:solidFill>
              </a:defRPr>
            </a:pPr>
            <a:r>
              <a:t>•  Reduced research work from days to minutes</a:t>
            </a:r>
          </a:p>
          <a:p>
            <a:pPr algn="l">
              <a:spcAft>
                <a:spcPts val="200"/>
              </a:spcAft>
              <a:defRPr sz="1000" b="0">
                <a:solidFill>
                  <a:srgbClr val="A0AEC0"/>
                </a:solidFill>
              </a:defRPr>
            </a:pPr>
            <a:r>
              <a:t>•  Agents work with proprietary financial data</a:t>
            </a:r>
          </a:p>
          <a:p>
            <a:pPr algn="l">
              <a:spcAft>
                <a:spcPts val="200"/>
              </a:spcAft>
              <a:defRPr sz="1000" b="0">
                <a:solidFill>
                  <a:srgbClr val="A0AEC0"/>
                </a:solidFill>
              </a:defRPr>
            </a:pPr>
            <a:r>
              <a:t>•  Highlighted by CEO as key enterprise success</a:t>
            </a:r>
          </a:p>
          <a:p>
            <a:pPr algn="l">
              <a:spcAft>
                <a:spcPts val="200"/>
              </a:spcAft>
              <a:defRPr sz="1000" b="0">
                <a:solidFill>
                  <a:srgbClr val="A0AEC0"/>
                </a:solidFill>
              </a:defRPr>
            </a:pPr>
            <a:r>
              <a:t>•  Demonstrates value of agents + proprietary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Token Economics &amp; Cost Optimization</a:t>
            </a:r>
          </a:p>
        </p:txBody>
      </p:sp>
      <p:sp>
        <p:nvSpPr>
          <p:cNvPr id="4" name="Rectangle 3"/>
          <p:cNvSpPr/>
          <p:nvPr/>
        </p:nvSpPr>
        <p:spPr>
          <a:xfrm>
            <a:off x="731520" y="1051560"/>
            <a:ext cx="182880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5029200" cy="2286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50292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08760"/>
            <a:ext cx="4572000" cy="365760"/>
          </a:xfrm>
          <a:prstGeom prst="rect">
            <a:avLst/>
          </a:prstGeom>
          <a:noFill/>
        </p:spPr>
        <p:txBody>
          <a:bodyPr wrap="square">
            <a:spAutoFit/>
          </a:bodyPr>
          <a:lstStyle/>
          <a:p>
            <a:pPr algn="l">
              <a:defRPr sz="1800" b="1">
                <a:solidFill>
                  <a:srgbClr val="FF6F00"/>
                </a:solidFill>
              </a:defRPr>
            </a:pPr>
            <a:r>
              <a:t>Databricks Inference Pricing (DBRX)</a:t>
            </a:r>
          </a:p>
        </p:txBody>
      </p:sp>
      <p:sp>
        <p:nvSpPr>
          <p:cNvPr id="8" name="TextBox 7"/>
          <p:cNvSpPr txBox="1"/>
          <p:nvPr/>
        </p:nvSpPr>
        <p:spPr>
          <a:xfrm>
            <a:off x="1005840" y="1920240"/>
            <a:ext cx="4572000" cy="1645920"/>
          </a:xfrm>
          <a:prstGeom prst="rect">
            <a:avLst/>
          </a:prstGeom>
          <a:noFill/>
        </p:spPr>
        <p:txBody>
          <a:bodyPr wrap="square">
            <a:spAutoFit/>
          </a:bodyPr>
          <a:lstStyle/>
          <a:p>
            <a:pPr algn="l">
              <a:spcAft>
                <a:spcPts val="800"/>
              </a:spcAft>
              <a:defRPr sz="1500" b="1">
                <a:solidFill>
                  <a:srgbClr val="FFFFFF"/>
                </a:solidFill>
              </a:defRPr>
            </a:pPr>
            <a:r>
              <a:t>Input Tokens:     $0.0005 / 1K tokens</a:t>
            </a:r>
          </a:p>
          <a:p>
            <a:pPr algn="l">
              <a:spcAft>
                <a:spcPts val="800"/>
              </a:spcAft>
              <a:defRPr sz="1500" b="1">
                <a:solidFill>
                  <a:srgbClr val="FFFFFF"/>
                </a:solidFill>
              </a:defRPr>
            </a:pPr>
            <a:r>
              <a:t>Output Tokens:   $0.0015 / 1K tokens</a:t>
            </a:r>
          </a:p>
          <a:p>
            <a:pPr algn="l">
              <a:spcAft>
                <a:spcPts val="800"/>
              </a:spcAft>
              <a:defRPr sz="1500" b="1">
                <a:solidFill>
                  <a:srgbClr val="FFFFFF"/>
                </a:solidFill>
              </a:defRPr>
            </a:pPr>
            <a:r>
              <a:t>Agent Evaluation:  $0.018 / judge request</a:t>
            </a:r>
          </a:p>
          <a:p>
            <a:pPr algn="l">
              <a:spcAft>
                <a:spcPts val="600"/>
              </a:spcAft>
              <a:defRPr sz="1200" b="0">
                <a:solidFill>
                  <a:srgbClr val="A0AEC0"/>
                </a:solidFill>
              </a:defRPr>
            </a:pPr>
            <a:r>
              <a:t>(5,000 tokens per judge request increment)</a:t>
            </a:r>
          </a:p>
        </p:txBody>
      </p:sp>
      <p:sp>
        <p:nvSpPr>
          <p:cNvPr id="9" name="Rounded Rectangle 8"/>
          <p:cNvSpPr/>
          <p:nvPr/>
        </p:nvSpPr>
        <p:spPr>
          <a:xfrm>
            <a:off x="6035040" y="1371600"/>
            <a:ext cx="5029200" cy="2286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0" y="1371600"/>
            <a:ext cx="502920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508760"/>
            <a:ext cx="4572000" cy="365760"/>
          </a:xfrm>
          <a:prstGeom prst="rect">
            <a:avLst/>
          </a:prstGeom>
          <a:noFill/>
        </p:spPr>
        <p:txBody>
          <a:bodyPr wrap="square">
            <a:spAutoFit/>
          </a:bodyPr>
          <a:lstStyle/>
          <a:p>
            <a:pPr algn="l">
              <a:defRPr sz="1800" b="1">
                <a:solidFill>
                  <a:srgbClr val="3B82F6"/>
                </a:solidFill>
              </a:defRPr>
            </a:pPr>
            <a:r>
              <a:t>Production Agent Costs (Monthly)</a:t>
            </a:r>
          </a:p>
        </p:txBody>
      </p:sp>
      <p:sp>
        <p:nvSpPr>
          <p:cNvPr id="12" name="TextBox 11"/>
          <p:cNvSpPr txBox="1"/>
          <p:nvPr/>
        </p:nvSpPr>
        <p:spPr>
          <a:xfrm>
            <a:off x="6309360" y="1920240"/>
            <a:ext cx="4572000" cy="1645920"/>
          </a:xfrm>
          <a:prstGeom prst="rect">
            <a:avLst/>
          </a:prstGeom>
          <a:noFill/>
        </p:spPr>
        <p:txBody>
          <a:bodyPr wrap="square">
            <a:spAutoFit/>
          </a:bodyPr>
          <a:lstStyle/>
          <a:p>
            <a:pPr algn="l">
              <a:spcAft>
                <a:spcPts val="800"/>
              </a:spcAft>
              <a:defRPr sz="1500" b="1">
                <a:solidFill>
                  <a:srgbClr val="FFFFFF"/>
                </a:solidFill>
              </a:defRPr>
            </a:pPr>
            <a:r>
              <a:t>Inference (1M convos):  $3,000 – $7,000</a:t>
            </a:r>
          </a:p>
          <a:p>
            <a:pPr algn="l">
              <a:spcAft>
                <a:spcPts val="800"/>
              </a:spcAft>
              <a:defRPr sz="1500" b="1">
                <a:solidFill>
                  <a:srgbClr val="FFFFFF"/>
                </a:solidFill>
              </a:defRPr>
            </a:pPr>
            <a:r>
              <a:t>Base Compute:                $5,000 – $15,000</a:t>
            </a:r>
          </a:p>
          <a:p>
            <a:pPr algn="l">
              <a:spcAft>
                <a:spcPts val="400"/>
              </a:spcAft>
              <a:defRPr sz="1300" b="0">
                <a:solidFill>
                  <a:srgbClr val="A0AEC0"/>
                </a:solidFill>
              </a:defRPr>
            </a:pPr>
            <a:r>
              <a:t>+ Storage, networking, and monitoring overhead</a:t>
            </a:r>
          </a:p>
          <a:p>
            <a:pPr algn="l">
              <a:spcAft>
                <a:spcPts val="600"/>
              </a:spcAft>
              <a:defRPr sz="1300" b="1">
                <a:solidFill>
                  <a:srgbClr val="22C55E"/>
                </a:solidFill>
              </a:defRPr>
            </a:pPr>
            <a:r>
              <a:t>AI Functions: 3x faster, 4x lower cost</a:t>
            </a:r>
          </a:p>
        </p:txBody>
      </p:sp>
      <p:sp>
        <p:nvSpPr>
          <p:cNvPr id="13" name="Rounded Rectangle 12"/>
          <p:cNvSpPr/>
          <p:nvPr/>
        </p:nvSpPr>
        <p:spPr>
          <a:xfrm>
            <a:off x="731520" y="402336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023360"/>
            <a:ext cx="246888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160520"/>
            <a:ext cx="2103120" cy="548640"/>
          </a:xfrm>
          <a:prstGeom prst="rect">
            <a:avLst/>
          </a:prstGeom>
          <a:noFill/>
        </p:spPr>
        <p:txBody>
          <a:bodyPr wrap="square">
            <a:spAutoFit/>
          </a:bodyPr>
          <a:lstStyle/>
          <a:p>
            <a:pPr algn="ctr">
              <a:defRPr sz="2800" b="1">
                <a:solidFill>
                  <a:srgbClr val="FF6F00"/>
                </a:solidFill>
              </a:defRPr>
            </a:pPr>
            <a:r>
              <a:t>98.5%</a:t>
            </a:r>
          </a:p>
        </p:txBody>
      </p:sp>
      <p:sp>
        <p:nvSpPr>
          <p:cNvPr id="16" name="TextBox 15"/>
          <p:cNvSpPr txBox="1"/>
          <p:nvPr/>
        </p:nvSpPr>
        <p:spPr>
          <a:xfrm>
            <a:off x="914400" y="4663440"/>
            <a:ext cx="2103120" cy="640080"/>
          </a:xfrm>
          <a:prstGeom prst="rect">
            <a:avLst/>
          </a:prstGeom>
          <a:noFill/>
        </p:spPr>
        <p:txBody>
          <a:bodyPr wrap="square">
            <a:spAutoFit/>
          </a:bodyPr>
          <a:lstStyle/>
          <a:p>
            <a:pPr algn="ctr">
              <a:defRPr sz="1200" b="0">
                <a:solidFill>
                  <a:srgbClr val="A0AEC0"/>
                </a:solidFill>
              </a:defRPr>
            </a:pPr>
            <a:r>
              <a:t>Token Efficiency Achieved</a:t>
            </a:r>
            <a:br/>
            <a:r>
              <a:t>(adidas: 200K → 3K tokens)</a:t>
            </a:r>
          </a:p>
        </p:txBody>
      </p:sp>
      <p:sp>
        <p:nvSpPr>
          <p:cNvPr id="17" name="Rounded Rectangle 16"/>
          <p:cNvSpPr/>
          <p:nvPr/>
        </p:nvSpPr>
        <p:spPr>
          <a:xfrm>
            <a:off x="3474720" y="402336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74720" y="4023360"/>
            <a:ext cx="246888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0" y="4160520"/>
            <a:ext cx="2103120" cy="548640"/>
          </a:xfrm>
          <a:prstGeom prst="rect">
            <a:avLst/>
          </a:prstGeom>
          <a:noFill/>
        </p:spPr>
        <p:txBody>
          <a:bodyPr wrap="square">
            <a:spAutoFit/>
          </a:bodyPr>
          <a:lstStyle/>
          <a:p>
            <a:pPr algn="ctr">
              <a:defRPr sz="2800" b="1">
                <a:solidFill>
                  <a:srgbClr val="3B82F6"/>
                </a:solidFill>
              </a:defRPr>
            </a:pPr>
            <a:r>
              <a:t>91.67%</a:t>
            </a:r>
          </a:p>
        </p:txBody>
      </p:sp>
      <p:sp>
        <p:nvSpPr>
          <p:cNvPr id="20" name="TextBox 19"/>
          <p:cNvSpPr txBox="1"/>
          <p:nvPr/>
        </p:nvSpPr>
        <p:spPr>
          <a:xfrm>
            <a:off x="3657600" y="4663440"/>
            <a:ext cx="2103120" cy="640080"/>
          </a:xfrm>
          <a:prstGeom prst="rect">
            <a:avLst/>
          </a:prstGeom>
          <a:noFill/>
        </p:spPr>
        <p:txBody>
          <a:bodyPr wrap="square">
            <a:spAutoFit/>
          </a:bodyPr>
          <a:lstStyle/>
          <a:p>
            <a:pPr algn="ctr">
              <a:defRPr sz="1200" b="0">
                <a:solidFill>
                  <a:srgbClr val="A0AEC0"/>
                </a:solidFill>
              </a:defRPr>
            </a:pPr>
            <a:r>
              <a:t>Cost Savings Through</a:t>
            </a:r>
            <a:br/>
            <a:r>
              <a:t>Token Optimization</a:t>
            </a:r>
          </a:p>
        </p:txBody>
      </p:sp>
      <p:sp>
        <p:nvSpPr>
          <p:cNvPr id="21" name="Rounded Rectangle 20"/>
          <p:cNvSpPr/>
          <p:nvPr/>
        </p:nvSpPr>
        <p:spPr>
          <a:xfrm>
            <a:off x="6217920" y="402336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4023360"/>
            <a:ext cx="246888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160520"/>
            <a:ext cx="2103120" cy="548640"/>
          </a:xfrm>
          <a:prstGeom prst="rect">
            <a:avLst/>
          </a:prstGeom>
          <a:noFill/>
        </p:spPr>
        <p:txBody>
          <a:bodyPr wrap="square">
            <a:spAutoFit/>
          </a:bodyPr>
          <a:lstStyle/>
          <a:p>
            <a:pPr algn="ctr">
              <a:defRPr sz="2800" b="1">
                <a:solidFill>
                  <a:srgbClr val="22C55E"/>
                </a:solidFill>
              </a:defRPr>
            </a:pPr>
            <a:r>
              <a:t>80%</a:t>
            </a:r>
          </a:p>
        </p:txBody>
      </p:sp>
      <p:sp>
        <p:nvSpPr>
          <p:cNvPr id="24" name="TextBox 23"/>
          <p:cNvSpPr txBox="1"/>
          <p:nvPr/>
        </p:nvSpPr>
        <p:spPr>
          <a:xfrm>
            <a:off x="6400800" y="4663440"/>
            <a:ext cx="2103120" cy="640080"/>
          </a:xfrm>
          <a:prstGeom prst="rect">
            <a:avLst/>
          </a:prstGeom>
          <a:noFill/>
        </p:spPr>
        <p:txBody>
          <a:bodyPr wrap="square">
            <a:spAutoFit/>
          </a:bodyPr>
          <a:lstStyle/>
          <a:p>
            <a:pPr algn="ctr">
              <a:defRPr sz="1200" b="0">
                <a:solidFill>
                  <a:srgbClr val="A0AEC0"/>
                </a:solidFill>
              </a:defRPr>
            </a:pPr>
            <a:r>
              <a:t>New Databases Created</a:t>
            </a:r>
            <a:br/>
            <a:r>
              <a:t>by AI Agents</a:t>
            </a:r>
          </a:p>
        </p:txBody>
      </p:sp>
      <p:sp>
        <p:nvSpPr>
          <p:cNvPr id="25" name="Rounded Rectangle 24"/>
          <p:cNvSpPr/>
          <p:nvPr/>
        </p:nvSpPr>
        <p:spPr>
          <a:xfrm>
            <a:off x="8961120" y="402336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61120" y="4023360"/>
            <a:ext cx="246888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0" y="4160520"/>
            <a:ext cx="2103120" cy="548640"/>
          </a:xfrm>
          <a:prstGeom prst="rect">
            <a:avLst/>
          </a:prstGeom>
          <a:noFill/>
        </p:spPr>
        <p:txBody>
          <a:bodyPr wrap="square">
            <a:spAutoFit/>
          </a:bodyPr>
          <a:lstStyle/>
          <a:p>
            <a:pPr algn="ctr">
              <a:defRPr sz="2800" b="1">
                <a:solidFill>
                  <a:srgbClr val="A755F7"/>
                </a:solidFill>
              </a:defRPr>
            </a:pPr>
            <a:r>
              <a:t>97%</a:t>
            </a:r>
          </a:p>
        </p:txBody>
      </p:sp>
      <p:sp>
        <p:nvSpPr>
          <p:cNvPr id="28" name="TextBox 27"/>
          <p:cNvSpPr txBox="1"/>
          <p:nvPr/>
        </p:nvSpPr>
        <p:spPr>
          <a:xfrm>
            <a:off x="9144000" y="4663440"/>
            <a:ext cx="2103120" cy="640080"/>
          </a:xfrm>
          <a:prstGeom prst="rect">
            <a:avLst/>
          </a:prstGeom>
          <a:noFill/>
        </p:spPr>
        <p:txBody>
          <a:bodyPr wrap="square">
            <a:spAutoFit/>
          </a:bodyPr>
          <a:lstStyle/>
          <a:p>
            <a:pPr algn="ctr">
              <a:defRPr sz="1200" b="0">
                <a:solidFill>
                  <a:srgbClr val="A0AEC0"/>
                </a:solidFill>
              </a:defRPr>
            </a:pPr>
            <a:r>
              <a:t>Test &amp; Dev Environments</a:t>
            </a:r>
            <a:br/>
            <a:r>
              <a:t>Created by Agents</a:t>
            </a:r>
          </a:p>
        </p:txBody>
      </p:sp>
      <p:sp>
        <p:nvSpPr>
          <p:cNvPr id="29" name="TextBox 28"/>
          <p:cNvSpPr txBox="1"/>
          <p:nvPr/>
        </p:nvSpPr>
        <p:spPr>
          <a:xfrm>
            <a:off x="731520" y="5669280"/>
            <a:ext cx="10058400" cy="457200"/>
          </a:xfrm>
          <a:prstGeom prst="rect">
            <a:avLst/>
          </a:prstGeom>
          <a:noFill/>
        </p:spPr>
        <p:txBody>
          <a:bodyPr wrap="square">
            <a:spAutoFit/>
          </a:bodyPr>
          <a:lstStyle/>
          <a:p>
            <a:pPr algn="l">
              <a:defRPr sz="1200" b="1">
                <a:solidFill>
                  <a:srgbClr val="E84D3D"/>
                </a:solidFill>
              </a:defRPr>
            </a:pPr>
            <a:r>
              <a:t>Gartner predicts &gt;40% of agentic AI projects will be canceled by end-2027 as costs rise and controls lag.</a:t>
            </a:r>
          </a:p>
        </p:txBody>
      </p:sp>
      <p:sp>
        <p:nvSpPr>
          <p:cNvPr id="30" name="TextBox 29"/>
          <p:cNvSpPr txBox="1"/>
          <p:nvPr/>
        </p:nvSpPr>
        <p:spPr>
          <a:xfrm>
            <a:off x="731520" y="6035040"/>
            <a:ext cx="10058400" cy="457200"/>
          </a:xfrm>
          <a:prstGeom prst="rect">
            <a:avLst/>
          </a:prstGeom>
          <a:noFill/>
        </p:spPr>
        <p:txBody>
          <a:bodyPr wrap="square">
            <a:spAutoFit/>
          </a:bodyPr>
          <a:lstStyle/>
          <a:p>
            <a:pPr algn="l">
              <a:defRPr sz="1000" b="0">
                <a:solidFill>
                  <a:srgbClr val="707890"/>
                </a:solidFill>
              </a:defRPr>
            </a:pPr>
            <a:r>
              <a:t>Sources: Databricks Summit Sessions, adidas Summit Presentation, Getmonetizely Analysis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400" b="1">
                <a:solidFill>
                  <a:srgbClr val="FFFFFF"/>
                </a:solidFill>
              </a:defRPr>
            </a:pPr>
            <a:r>
              <a:t>Token Usage: OpenClaw vs Reasoning Model vs Single-Shot</a:t>
            </a:r>
          </a:p>
        </p:txBody>
      </p:sp>
      <p:sp>
        <p:nvSpPr>
          <p:cNvPr id="4" name="Rectangle 3"/>
          <p:cNvSpPr/>
          <p:nvPr/>
        </p:nvSpPr>
        <p:spPr>
          <a:xfrm>
            <a:off x="731520" y="960120"/>
            <a:ext cx="32004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51560"/>
            <a:ext cx="10058400" cy="365760"/>
          </a:xfrm>
          <a:prstGeom prst="rect">
            <a:avLst/>
          </a:prstGeom>
          <a:noFill/>
        </p:spPr>
        <p:txBody>
          <a:bodyPr wrap="square">
            <a:spAutoFit/>
          </a:bodyPr>
          <a:lstStyle/>
          <a:p>
            <a:pPr algn="l">
              <a:defRPr sz="1300" b="0">
                <a:solidFill>
                  <a:srgbClr val="A0AEC0"/>
                </a:solidFill>
              </a:defRPr>
            </a:pPr>
            <a:r>
              <a:t>Per-task token consumption and cost for a typical coding task (~500-token visible output)</a:t>
            </a:r>
          </a:p>
        </p:txBody>
      </p:sp>
      <p:sp>
        <p:nvSpPr>
          <p:cNvPr id="6" name="TextBox 5"/>
          <p:cNvSpPr txBox="1"/>
          <p:nvPr/>
        </p:nvSpPr>
        <p:spPr>
          <a:xfrm>
            <a:off x="731520" y="1554480"/>
            <a:ext cx="2743200" cy="320040"/>
          </a:xfrm>
          <a:prstGeom prst="rect">
            <a:avLst/>
          </a:prstGeom>
          <a:noFill/>
        </p:spPr>
        <p:txBody>
          <a:bodyPr wrap="square">
            <a:spAutoFit/>
          </a:bodyPr>
          <a:lstStyle/>
          <a:p>
            <a:pPr algn="l">
              <a:defRPr sz="1100" b="1">
                <a:solidFill>
                  <a:srgbClr val="707890"/>
                </a:solidFill>
              </a:defRPr>
            </a:pPr>
            <a:r>
              <a:t>TOTAL TOKENS PER TASK</a:t>
            </a:r>
          </a:p>
        </p:txBody>
      </p:sp>
      <p:sp>
        <p:nvSpPr>
          <p:cNvPr id="7" name="TextBox 6"/>
          <p:cNvSpPr txBox="1"/>
          <p:nvPr/>
        </p:nvSpPr>
        <p:spPr>
          <a:xfrm>
            <a:off x="731520" y="1892808"/>
            <a:ext cx="2743200" cy="274320"/>
          </a:xfrm>
          <a:prstGeom prst="rect">
            <a:avLst/>
          </a:prstGeom>
          <a:noFill/>
        </p:spPr>
        <p:txBody>
          <a:bodyPr wrap="square">
            <a:spAutoFit/>
          </a:bodyPr>
          <a:lstStyle/>
          <a:p>
            <a:pPr algn="l">
              <a:defRPr sz="1400" b="1">
                <a:solidFill>
                  <a:srgbClr val="FF8C2A"/>
                </a:solidFill>
              </a:defRPr>
            </a:pPr>
            <a:r>
              <a:t>OpenClaw (Multi-Agent)</a:t>
            </a:r>
          </a:p>
        </p:txBody>
      </p:sp>
      <p:sp>
        <p:nvSpPr>
          <p:cNvPr id="8" name="Rounded Rectangle 7"/>
          <p:cNvSpPr/>
          <p:nvPr/>
        </p:nvSpPr>
        <p:spPr>
          <a:xfrm>
            <a:off x="3657600" y="1874520"/>
            <a:ext cx="6858000" cy="502920"/>
          </a:xfrm>
          <a:prstGeom prst="roundRect">
            <a:avLst/>
          </a:prstGeom>
          <a:solidFill>
            <a:srgbClr val="303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57600" y="1874520"/>
            <a:ext cx="6858000" cy="502920"/>
          </a:xfrm>
          <a:prstGeom prst="roundRect">
            <a:avLst/>
          </a:prstGeom>
          <a:solidFill>
            <a:srgbClr val="FF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0" y="1947672"/>
            <a:ext cx="2743200" cy="320040"/>
          </a:xfrm>
          <a:prstGeom prst="rect">
            <a:avLst/>
          </a:prstGeom>
          <a:noFill/>
        </p:spPr>
        <p:txBody>
          <a:bodyPr wrap="square">
            <a:spAutoFit/>
          </a:bodyPr>
          <a:lstStyle/>
          <a:p>
            <a:pPr algn="l">
              <a:defRPr sz="1600" b="1">
                <a:solidFill>
                  <a:srgbClr val="FFFFFF"/>
                </a:solidFill>
              </a:defRPr>
            </a:pPr>
            <a:r>
              <a:t>~110,000 tokens</a:t>
            </a:r>
          </a:p>
        </p:txBody>
      </p:sp>
      <p:sp>
        <p:nvSpPr>
          <p:cNvPr id="11" name="TextBox 10"/>
          <p:cNvSpPr txBox="1"/>
          <p:nvPr/>
        </p:nvSpPr>
        <p:spPr>
          <a:xfrm>
            <a:off x="731520" y="2377440"/>
            <a:ext cx="9601200" cy="228600"/>
          </a:xfrm>
          <a:prstGeom prst="rect">
            <a:avLst/>
          </a:prstGeom>
          <a:noFill/>
        </p:spPr>
        <p:txBody>
          <a:bodyPr wrap="square">
            <a:spAutoFit/>
          </a:bodyPr>
          <a:lstStyle/>
          <a:p>
            <a:pPr algn="l">
              <a:defRPr sz="1000" b="0">
                <a:solidFill>
                  <a:srgbClr val="A0AEC0"/>
                </a:solidFill>
              </a:defRPr>
            </a:pPr>
            <a:r>
              <a:t>8K base + tool calls + agent coordination + context replay</a:t>
            </a:r>
          </a:p>
        </p:txBody>
      </p:sp>
      <p:sp>
        <p:nvSpPr>
          <p:cNvPr id="12" name="TextBox 11"/>
          <p:cNvSpPr txBox="1"/>
          <p:nvPr/>
        </p:nvSpPr>
        <p:spPr>
          <a:xfrm>
            <a:off x="731520" y="2715768"/>
            <a:ext cx="2743200" cy="274320"/>
          </a:xfrm>
          <a:prstGeom prst="rect">
            <a:avLst/>
          </a:prstGeom>
          <a:noFill/>
        </p:spPr>
        <p:txBody>
          <a:bodyPr wrap="square">
            <a:spAutoFit/>
          </a:bodyPr>
          <a:lstStyle/>
          <a:p>
            <a:pPr algn="l">
              <a:defRPr sz="1400" b="1">
                <a:solidFill>
                  <a:srgbClr val="B06AF0"/>
                </a:solidFill>
              </a:defRPr>
            </a:pPr>
            <a:r>
              <a:t>Reasoning Model (o3)</a:t>
            </a:r>
          </a:p>
        </p:txBody>
      </p:sp>
      <p:sp>
        <p:nvSpPr>
          <p:cNvPr id="13" name="Rounded Rectangle 12"/>
          <p:cNvSpPr/>
          <p:nvPr/>
        </p:nvSpPr>
        <p:spPr>
          <a:xfrm>
            <a:off x="3657600" y="2697480"/>
            <a:ext cx="6858000" cy="502920"/>
          </a:xfrm>
          <a:prstGeom prst="roundRect">
            <a:avLst/>
          </a:prstGeom>
          <a:solidFill>
            <a:srgbClr val="303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57600" y="2697480"/>
            <a:ext cx="3740727" cy="502920"/>
          </a:xfrm>
          <a:prstGeom prst="roundRect">
            <a:avLst/>
          </a:prstGeom>
          <a:solidFill>
            <a:srgbClr val="B06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0" y="2770632"/>
            <a:ext cx="2743200" cy="320040"/>
          </a:xfrm>
          <a:prstGeom prst="rect">
            <a:avLst/>
          </a:prstGeom>
          <a:noFill/>
        </p:spPr>
        <p:txBody>
          <a:bodyPr wrap="square">
            <a:spAutoFit/>
          </a:bodyPr>
          <a:lstStyle/>
          <a:p>
            <a:pPr algn="l">
              <a:defRPr sz="1600" b="1">
                <a:solidFill>
                  <a:srgbClr val="FFFFFF"/>
                </a:solidFill>
              </a:defRPr>
            </a:pPr>
            <a:r>
              <a:t>~60,000 tokens</a:t>
            </a:r>
          </a:p>
        </p:txBody>
      </p:sp>
      <p:sp>
        <p:nvSpPr>
          <p:cNvPr id="16" name="TextBox 15"/>
          <p:cNvSpPr txBox="1"/>
          <p:nvPr/>
        </p:nvSpPr>
        <p:spPr>
          <a:xfrm>
            <a:off x="731520" y="3200400"/>
            <a:ext cx="9601200" cy="228600"/>
          </a:xfrm>
          <a:prstGeom prst="rect">
            <a:avLst/>
          </a:prstGeom>
          <a:noFill/>
        </p:spPr>
        <p:txBody>
          <a:bodyPr wrap="square">
            <a:spAutoFit/>
          </a:bodyPr>
          <a:lstStyle/>
          <a:p>
            <a:pPr algn="l">
              <a:defRPr sz="1000" b="0">
                <a:solidFill>
                  <a:srgbClr val="A0AEC0"/>
                </a:solidFill>
              </a:defRPr>
            </a:pPr>
            <a:r>
              <a:t>500 visible + 9,500 thinking tokens + context; 5–14x overhead</a:t>
            </a:r>
          </a:p>
        </p:txBody>
      </p:sp>
      <p:sp>
        <p:nvSpPr>
          <p:cNvPr id="17" name="TextBox 16"/>
          <p:cNvSpPr txBox="1"/>
          <p:nvPr/>
        </p:nvSpPr>
        <p:spPr>
          <a:xfrm>
            <a:off x="731520" y="3538728"/>
            <a:ext cx="2743200" cy="274320"/>
          </a:xfrm>
          <a:prstGeom prst="rect">
            <a:avLst/>
          </a:prstGeom>
          <a:noFill/>
        </p:spPr>
        <p:txBody>
          <a:bodyPr wrap="square">
            <a:spAutoFit/>
          </a:bodyPr>
          <a:lstStyle/>
          <a:p>
            <a:pPr algn="l">
              <a:defRPr sz="1400" b="1">
                <a:solidFill>
                  <a:srgbClr val="5BA8F7"/>
                </a:solidFill>
              </a:defRPr>
            </a:pPr>
            <a:r>
              <a:t>Single-Shot (GPT-4.1)</a:t>
            </a:r>
          </a:p>
        </p:txBody>
      </p:sp>
      <p:sp>
        <p:nvSpPr>
          <p:cNvPr id="18" name="Rounded Rectangle 17"/>
          <p:cNvSpPr/>
          <p:nvPr/>
        </p:nvSpPr>
        <p:spPr>
          <a:xfrm>
            <a:off x="3657600" y="3520440"/>
            <a:ext cx="6858000" cy="502920"/>
          </a:xfrm>
          <a:prstGeom prst="roundRect">
            <a:avLst/>
          </a:prstGeom>
          <a:solidFill>
            <a:srgbClr val="303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657600" y="3520440"/>
            <a:ext cx="498763" cy="502920"/>
          </a:xfrm>
          <a:prstGeom prst="roundRect">
            <a:avLst/>
          </a:prstGeom>
          <a:solidFill>
            <a:srgbClr val="5BA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0" y="3593592"/>
            <a:ext cx="2743200" cy="320040"/>
          </a:xfrm>
          <a:prstGeom prst="rect">
            <a:avLst/>
          </a:prstGeom>
          <a:noFill/>
        </p:spPr>
        <p:txBody>
          <a:bodyPr wrap="square">
            <a:spAutoFit/>
          </a:bodyPr>
          <a:lstStyle/>
          <a:p>
            <a:pPr algn="l">
              <a:defRPr sz="1600" b="1">
                <a:solidFill>
                  <a:srgbClr val="FFFFFF"/>
                </a:solidFill>
              </a:defRPr>
            </a:pPr>
            <a:r>
              <a:t>~8,000 tokens</a:t>
            </a:r>
          </a:p>
        </p:txBody>
      </p:sp>
      <p:sp>
        <p:nvSpPr>
          <p:cNvPr id="21" name="TextBox 20"/>
          <p:cNvSpPr txBox="1"/>
          <p:nvPr/>
        </p:nvSpPr>
        <p:spPr>
          <a:xfrm>
            <a:off x="731520" y="4023360"/>
            <a:ext cx="9601200" cy="228600"/>
          </a:xfrm>
          <a:prstGeom prst="rect">
            <a:avLst/>
          </a:prstGeom>
          <a:noFill/>
        </p:spPr>
        <p:txBody>
          <a:bodyPr wrap="square">
            <a:spAutoFit/>
          </a:bodyPr>
          <a:lstStyle/>
          <a:p>
            <a:pPr algn="l">
              <a:defRPr sz="1000" b="0">
                <a:solidFill>
                  <a:srgbClr val="A0AEC0"/>
                </a:solidFill>
              </a:defRPr>
            </a:pPr>
            <a:r>
              <a:t>Direct prompt → response; no reasoning chain or agent loops</a:t>
            </a:r>
          </a:p>
        </p:txBody>
      </p:sp>
      <p:sp>
        <p:nvSpPr>
          <p:cNvPr id="22" name="TextBox 21"/>
          <p:cNvSpPr txBox="1"/>
          <p:nvPr/>
        </p:nvSpPr>
        <p:spPr>
          <a:xfrm>
            <a:off x="731520" y="4480560"/>
            <a:ext cx="2743200" cy="320040"/>
          </a:xfrm>
          <a:prstGeom prst="rect">
            <a:avLst/>
          </a:prstGeom>
          <a:noFill/>
        </p:spPr>
        <p:txBody>
          <a:bodyPr wrap="square">
            <a:spAutoFit/>
          </a:bodyPr>
          <a:lstStyle/>
          <a:p>
            <a:pPr algn="l">
              <a:defRPr sz="1100" b="1">
                <a:solidFill>
                  <a:srgbClr val="707890"/>
                </a:solidFill>
              </a:defRPr>
            </a:pPr>
            <a:r>
              <a:t>COST PER TASK</a:t>
            </a:r>
          </a:p>
        </p:txBody>
      </p:sp>
      <p:sp>
        <p:nvSpPr>
          <p:cNvPr id="23" name="TextBox 22"/>
          <p:cNvSpPr txBox="1"/>
          <p:nvPr/>
        </p:nvSpPr>
        <p:spPr>
          <a:xfrm>
            <a:off x="731520" y="4818888"/>
            <a:ext cx="2743200" cy="274320"/>
          </a:xfrm>
          <a:prstGeom prst="rect">
            <a:avLst/>
          </a:prstGeom>
          <a:noFill/>
        </p:spPr>
        <p:txBody>
          <a:bodyPr wrap="square">
            <a:spAutoFit/>
          </a:bodyPr>
          <a:lstStyle/>
          <a:p>
            <a:pPr algn="l">
              <a:defRPr sz="1400" b="1">
                <a:solidFill>
                  <a:srgbClr val="FF8C2A"/>
                </a:solidFill>
              </a:defRPr>
            </a:pPr>
            <a:r>
              <a:t>OpenClaw (Multi-Agent)</a:t>
            </a:r>
          </a:p>
        </p:txBody>
      </p:sp>
      <p:sp>
        <p:nvSpPr>
          <p:cNvPr id="24" name="Rounded Rectangle 23"/>
          <p:cNvSpPr/>
          <p:nvPr/>
        </p:nvSpPr>
        <p:spPr>
          <a:xfrm>
            <a:off x="3657600" y="4800600"/>
            <a:ext cx="6858000" cy="502920"/>
          </a:xfrm>
          <a:prstGeom prst="roundRect">
            <a:avLst/>
          </a:prstGeom>
          <a:solidFill>
            <a:srgbClr val="303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657600" y="4800600"/>
            <a:ext cx="6858000" cy="502920"/>
          </a:xfrm>
          <a:prstGeom prst="roundRect">
            <a:avLst/>
          </a:prstGeom>
          <a:solidFill>
            <a:srgbClr val="FF8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0" y="4873752"/>
            <a:ext cx="2743200" cy="320040"/>
          </a:xfrm>
          <a:prstGeom prst="rect">
            <a:avLst/>
          </a:prstGeom>
          <a:noFill/>
        </p:spPr>
        <p:txBody>
          <a:bodyPr wrap="square">
            <a:spAutoFit/>
          </a:bodyPr>
          <a:lstStyle/>
          <a:p>
            <a:pPr algn="l">
              <a:defRPr sz="1600" b="1">
                <a:solidFill>
                  <a:srgbClr val="FFFFFF"/>
                </a:solidFill>
              </a:defRPr>
            </a:pPr>
            <a:r>
              <a:t>$1.65 / task</a:t>
            </a:r>
          </a:p>
        </p:txBody>
      </p:sp>
      <p:sp>
        <p:nvSpPr>
          <p:cNvPr id="27" name="TextBox 26"/>
          <p:cNvSpPr txBox="1"/>
          <p:nvPr/>
        </p:nvSpPr>
        <p:spPr>
          <a:xfrm>
            <a:off x="731520" y="5303520"/>
            <a:ext cx="9601200" cy="228600"/>
          </a:xfrm>
          <a:prstGeom prst="rect">
            <a:avLst/>
          </a:prstGeom>
          <a:noFill/>
        </p:spPr>
        <p:txBody>
          <a:bodyPr wrap="square">
            <a:spAutoFit/>
          </a:bodyPr>
          <a:lstStyle/>
          <a:p>
            <a:pPr algn="l">
              <a:defRPr sz="1000" b="0">
                <a:solidFill>
                  <a:srgbClr val="A0AEC0"/>
                </a:solidFill>
              </a:defRPr>
            </a:pPr>
            <a:r>
              <a:t>Highest cost — agent coordination, context passing, backtracking (2–3x Claude Code)</a:t>
            </a:r>
          </a:p>
        </p:txBody>
      </p:sp>
      <p:sp>
        <p:nvSpPr>
          <p:cNvPr id="28" name="TextBox 27"/>
          <p:cNvSpPr txBox="1"/>
          <p:nvPr/>
        </p:nvSpPr>
        <p:spPr>
          <a:xfrm>
            <a:off x="731520" y="5641848"/>
            <a:ext cx="2743200" cy="274320"/>
          </a:xfrm>
          <a:prstGeom prst="rect">
            <a:avLst/>
          </a:prstGeom>
          <a:noFill/>
        </p:spPr>
        <p:txBody>
          <a:bodyPr wrap="square">
            <a:spAutoFit/>
          </a:bodyPr>
          <a:lstStyle/>
          <a:p>
            <a:pPr algn="l">
              <a:defRPr sz="1400" b="1">
                <a:solidFill>
                  <a:srgbClr val="B06AF0"/>
                </a:solidFill>
              </a:defRPr>
            </a:pPr>
            <a:r>
              <a:t>Reasoning Model (o3)</a:t>
            </a:r>
          </a:p>
        </p:txBody>
      </p:sp>
      <p:sp>
        <p:nvSpPr>
          <p:cNvPr id="29" name="Rounded Rectangle 28"/>
          <p:cNvSpPr/>
          <p:nvPr/>
        </p:nvSpPr>
        <p:spPr>
          <a:xfrm>
            <a:off x="3657600" y="5623560"/>
            <a:ext cx="6858000" cy="502920"/>
          </a:xfrm>
          <a:prstGeom prst="roundRect">
            <a:avLst/>
          </a:prstGeom>
          <a:solidFill>
            <a:srgbClr val="303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657600" y="5623560"/>
            <a:ext cx="3325090" cy="502920"/>
          </a:xfrm>
          <a:prstGeom prst="roundRect">
            <a:avLst/>
          </a:prstGeom>
          <a:solidFill>
            <a:srgbClr val="B06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0" y="5696712"/>
            <a:ext cx="2743200" cy="320040"/>
          </a:xfrm>
          <a:prstGeom prst="rect">
            <a:avLst/>
          </a:prstGeom>
          <a:noFill/>
        </p:spPr>
        <p:txBody>
          <a:bodyPr wrap="square">
            <a:spAutoFit/>
          </a:bodyPr>
          <a:lstStyle/>
          <a:p>
            <a:pPr algn="l">
              <a:defRPr sz="1600" b="1">
                <a:solidFill>
                  <a:srgbClr val="FFFFFF"/>
                </a:solidFill>
              </a:defRPr>
            </a:pPr>
            <a:r>
              <a:t>$0.80 / task</a:t>
            </a:r>
          </a:p>
        </p:txBody>
      </p:sp>
      <p:sp>
        <p:nvSpPr>
          <p:cNvPr id="32" name="TextBox 31"/>
          <p:cNvSpPr txBox="1"/>
          <p:nvPr/>
        </p:nvSpPr>
        <p:spPr>
          <a:xfrm>
            <a:off x="731520" y="6126480"/>
            <a:ext cx="9601200" cy="228600"/>
          </a:xfrm>
          <a:prstGeom prst="rect">
            <a:avLst/>
          </a:prstGeom>
          <a:noFill/>
        </p:spPr>
        <p:txBody>
          <a:bodyPr wrap="square">
            <a:spAutoFit/>
          </a:bodyPr>
          <a:lstStyle/>
          <a:p>
            <a:pPr algn="l">
              <a:defRPr sz="1000" b="0">
                <a:solidFill>
                  <a:srgbClr val="A0AEC0"/>
                </a:solidFill>
              </a:defRPr>
            </a:pPr>
            <a:r>
              <a:t>Thinking tokens billed as output at $8.00/M; invisible but expensive</a:t>
            </a:r>
          </a:p>
        </p:txBody>
      </p:sp>
      <p:sp>
        <p:nvSpPr>
          <p:cNvPr id="33" name="TextBox 32"/>
          <p:cNvSpPr txBox="1"/>
          <p:nvPr/>
        </p:nvSpPr>
        <p:spPr>
          <a:xfrm>
            <a:off x="731520" y="6464808"/>
            <a:ext cx="2743200" cy="274320"/>
          </a:xfrm>
          <a:prstGeom prst="rect">
            <a:avLst/>
          </a:prstGeom>
          <a:noFill/>
        </p:spPr>
        <p:txBody>
          <a:bodyPr wrap="square">
            <a:spAutoFit/>
          </a:bodyPr>
          <a:lstStyle/>
          <a:p>
            <a:pPr algn="l">
              <a:defRPr sz="1400" b="1">
                <a:solidFill>
                  <a:srgbClr val="5BA8F7"/>
                </a:solidFill>
              </a:defRPr>
            </a:pPr>
            <a:r>
              <a:t>Single-Shot (GPT-4.1)</a:t>
            </a:r>
          </a:p>
        </p:txBody>
      </p:sp>
      <p:sp>
        <p:nvSpPr>
          <p:cNvPr id="34" name="Rounded Rectangle 33"/>
          <p:cNvSpPr/>
          <p:nvPr/>
        </p:nvSpPr>
        <p:spPr>
          <a:xfrm>
            <a:off x="3657600" y="6446520"/>
            <a:ext cx="6858000" cy="502920"/>
          </a:xfrm>
          <a:prstGeom prst="roundRect">
            <a:avLst/>
          </a:prstGeom>
          <a:solidFill>
            <a:srgbClr val="303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657600" y="6446520"/>
            <a:ext cx="137160" cy="502920"/>
          </a:xfrm>
          <a:prstGeom prst="roundRect">
            <a:avLst/>
          </a:prstGeom>
          <a:solidFill>
            <a:srgbClr val="5BA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40480" y="6519672"/>
            <a:ext cx="2743200" cy="320040"/>
          </a:xfrm>
          <a:prstGeom prst="rect">
            <a:avLst/>
          </a:prstGeom>
          <a:noFill/>
        </p:spPr>
        <p:txBody>
          <a:bodyPr wrap="square">
            <a:spAutoFit/>
          </a:bodyPr>
          <a:lstStyle/>
          <a:p>
            <a:pPr algn="l">
              <a:defRPr sz="1600" b="1">
                <a:solidFill>
                  <a:srgbClr val="FFFFFF"/>
                </a:solidFill>
              </a:defRPr>
            </a:pPr>
            <a:r>
              <a:t>$0.02 / task</a:t>
            </a:r>
          </a:p>
        </p:txBody>
      </p:sp>
      <p:sp>
        <p:nvSpPr>
          <p:cNvPr id="37" name="TextBox 36"/>
          <p:cNvSpPr txBox="1"/>
          <p:nvPr/>
        </p:nvSpPr>
        <p:spPr>
          <a:xfrm>
            <a:off x="731520" y="6949440"/>
            <a:ext cx="9601200" cy="228600"/>
          </a:xfrm>
          <a:prstGeom prst="rect">
            <a:avLst/>
          </a:prstGeom>
          <a:noFill/>
        </p:spPr>
        <p:txBody>
          <a:bodyPr wrap="square">
            <a:spAutoFit/>
          </a:bodyPr>
          <a:lstStyle/>
          <a:p>
            <a:pPr algn="l">
              <a:defRPr sz="1000" b="0">
                <a:solidFill>
                  <a:srgbClr val="A0AEC0"/>
                </a:solidFill>
              </a:defRPr>
            </a:pPr>
            <a:r>
              <a:t>Minimal tokens, direct completion — but limited to simple tasks</a:t>
            </a:r>
          </a:p>
        </p:txBody>
      </p:sp>
      <p:sp>
        <p:nvSpPr>
          <p:cNvPr id="38" name="Rounded Rectangle 37"/>
          <p:cNvSpPr/>
          <p:nvPr/>
        </p:nvSpPr>
        <p:spPr>
          <a:xfrm>
            <a:off x="731520" y="5760720"/>
            <a:ext cx="10515600" cy="822960"/>
          </a:xfrm>
          <a:prstGeom prst="roundRect">
            <a:avLst/>
          </a:prstGeom>
          <a:solidFill>
            <a:srgbClr val="20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31520" y="5760720"/>
            <a:ext cx="63500" cy="82296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88720" y="5806440"/>
            <a:ext cx="9601200" cy="731520"/>
          </a:xfrm>
          <a:prstGeom prst="rect">
            <a:avLst/>
          </a:prstGeom>
          <a:noFill/>
        </p:spPr>
        <p:txBody>
          <a:bodyPr wrap="square">
            <a:spAutoFit/>
          </a:bodyPr>
          <a:lstStyle/>
          <a:p>
            <a:pPr algn="l">
              <a:spcAft>
                <a:spcPts val="200"/>
              </a:spcAft>
              <a:defRPr sz="1300" b="1">
                <a:solidFill>
                  <a:srgbClr val="22C55E"/>
                </a:solidFill>
              </a:defRPr>
            </a:pPr>
            <a:r>
              <a:t>Why it matters: At 50 tasks/day, OpenClaw costs ~$82/day vs $40/day for reasoning vs $1/day for single-shot.</a:t>
            </a:r>
          </a:p>
          <a:p>
            <a:pPr algn="l">
              <a:spcAft>
                <a:spcPts val="200"/>
              </a:spcAft>
              <a:defRPr sz="1100" b="0">
                <a:solidFill>
                  <a:srgbClr val="A0AEC0"/>
                </a:solidFill>
              </a:defRPr>
            </a:pPr>
            <a:r>
              <a:t>Agentic systems trade token efficiency for autonomy. The right approach depends on task complexity — use single-shot for simple queries, reasoning for complex logic, and multi-agent (OpenClaw) for full autonomous workflows.</a:t>
            </a:r>
          </a:p>
          <a:p>
            <a:pPr algn="l">
              <a:spcAft>
                <a:spcPts val="600"/>
              </a:spcAft>
              <a:defRPr sz="900" b="0">
                <a:solidFill>
                  <a:srgbClr val="707890"/>
                </a:solidFill>
              </a:defRPr>
            </a:pPr>
            <a:r>
              <a:t>Sources: OpenClaw docs, BSWEN token analysis, AI Cost Check reasoning model pricing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Agentic AI Architecture Patterns</a:t>
            </a:r>
          </a:p>
        </p:txBody>
      </p:sp>
      <p:sp>
        <p:nvSpPr>
          <p:cNvPr id="4" name="Rectangle 3"/>
          <p:cNvSpPr/>
          <p:nvPr/>
        </p:nvSpPr>
        <p:spPr>
          <a:xfrm>
            <a:off x="731520" y="1051560"/>
            <a:ext cx="2286000" cy="5080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34440"/>
            <a:ext cx="9144000" cy="365760"/>
          </a:xfrm>
          <a:prstGeom prst="rect">
            <a:avLst/>
          </a:prstGeom>
          <a:noFill/>
        </p:spPr>
        <p:txBody>
          <a:bodyPr wrap="square">
            <a:spAutoFit/>
          </a:bodyPr>
          <a:lstStyle/>
          <a:p>
            <a:pPr algn="l">
              <a:defRPr sz="1300" b="0">
                <a:solidFill>
                  <a:srgbClr val="A0AEC0"/>
                </a:solidFill>
              </a:defRPr>
            </a:pPr>
            <a:r>
              <a:t>Production architecture patterns highlighted across Databricks summits</a:t>
            </a:r>
          </a:p>
        </p:txBody>
      </p:sp>
      <p:sp>
        <p:nvSpPr>
          <p:cNvPr id="6" name="Rounded Rectangle 5"/>
          <p:cNvSpPr/>
          <p:nvPr/>
        </p:nvSpPr>
        <p:spPr>
          <a:xfrm>
            <a:off x="731520" y="1645920"/>
            <a:ext cx="5029200" cy="4572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50292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83080"/>
            <a:ext cx="4572000" cy="365760"/>
          </a:xfrm>
          <a:prstGeom prst="rect">
            <a:avLst/>
          </a:prstGeom>
          <a:noFill/>
        </p:spPr>
        <p:txBody>
          <a:bodyPr wrap="square">
            <a:spAutoFit/>
          </a:bodyPr>
          <a:lstStyle/>
          <a:p>
            <a:pPr algn="l">
              <a:defRPr sz="1600" b="1">
                <a:solidFill>
                  <a:srgbClr val="FF6F00"/>
                </a:solidFill>
              </a:defRPr>
            </a:pPr>
            <a:r>
              <a:t>Compound AI System (Databricks Pattern)</a:t>
            </a:r>
          </a:p>
        </p:txBody>
      </p:sp>
      <p:sp>
        <p:nvSpPr>
          <p:cNvPr id="9" name="TextBox 8"/>
          <p:cNvSpPr txBox="1"/>
          <p:nvPr/>
        </p:nvSpPr>
        <p:spPr>
          <a:xfrm>
            <a:off x="1005840" y="2194560"/>
            <a:ext cx="4572000" cy="3840480"/>
          </a:xfrm>
          <a:prstGeom prst="rect">
            <a:avLst/>
          </a:prstGeom>
          <a:noFill/>
        </p:spPr>
        <p:txBody>
          <a:bodyPr wrap="square">
            <a:spAutoFit/>
          </a:bodyPr>
          <a:lstStyle/>
          <a:p>
            <a:pPr algn="ctr">
              <a:spcAft>
                <a:spcPts val="0"/>
              </a:spcAft>
              <a:defRPr sz="1100">
                <a:solidFill>
                  <a:srgbClr val="FFFFFF"/>
                </a:solidFill>
                <a:latin typeface="Courier New"/>
              </a:defRPr>
            </a:pPr>
            <a:r>
              <a:t>┌─────────────────────────────┐</a:t>
            </a:r>
          </a:p>
          <a:p>
            <a:pPr algn="ctr">
              <a:spcAft>
                <a:spcPts val="0"/>
              </a:spcAft>
              <a:defRPr sz="1100">
                <a:solidFill>
                  <a:srgbClr val="FFFFFF"/>
                </a:solidFill>
                <a:latin typeface="Courier New"/>
              </a:defRPr>
            </a:pPr>
            <a:r>
              <a:t>│       USER / TRIGGER        │</a:t>
            </a:r>
          </a:p>
          <a:p>
            <a:pPr algn="ctr">
              <a:spcAft>
                <a:spcPts val="0"/>
              </a:spcAft>
              <a:defRPr sz="1100">
                <a:solidFill>
                  <a:srgbClr val="FFFFFF"/>
                </a:solidFill>
                <a:latin typeface="Courier New"/>
              </a:defRPr>
            </a:pPr>
            <a:r>
              <a:t>└──────────────┬──────────────┘</a:t>
            </a:r>
          </a:p>
          <a:p>
            <a:pPr algn="ctr">
              <a:spcAft>
                <a:spcPts val="0"/>
              </a:spcAft>
              <a:defRPr sz="1100">
                <a:solidFill>
                  <a:srgbClr val="FFFFFF"/>
                </a:solidFill>
                <a:latin typeface="Courier New"/>
              </a:defRPr>
            </a:pPr>
            <a:r>
              <a:t>               │</a:t>
            </a:r>
          </a:p>
          <a:p>
            <a:pPr algn="ctr">
              <a:spcAft>
                <a:spcPts val="0"/>
              </a:spcAft>
              <a:defRPr sz="1100">
                <a:solidFill>
                  <a:srgbClr val="FFFFFF"/>
                </a:solidFill>
                <a:latin typeface="Courier New"/>
              </a:defRPr>
            </a:pPr>
            <a:r>
              <a:t>               ▼</a:t>
            </a:r>
          </a:p>
          <a:p>
            <a:pPr algn="ctr">
              <a:spcAft>
                <a:spcPts val="0"/>
              </a:spcAft>
              <a:defRPr sz="1100">
                <a:solidFill>
                  <a:srgbClr val="FFFFFF"/>
                </a:solidFill>
                <a:latin typeface="Courier New"/>
              </a:defRPr>
            </a:pPr>
            <a:r>
              <a:t>┌─────────────────────────────┐</a:t>
            </a:r>
          </a:p>
          <a:p>
            <a:pPr algn="ctr">
              <a:spcAft>
                <a:spcPts val="0"/>
              </a:spcAft>
              <a:defRPr sz="1100">
                <a:solidFill>
                  <a:srgbClr val="FFFFFF"/>
                </a:solidFill>
                <a:latin typeface="Courier New"/>
              </a:defRPr>
            </a:pPr>
            <a:r>
              <a:t>│    AGENT ORCHESTRATOR       │</a:t>
            </a:r>
          </a:p>
          <a:p>
            <a:pPr algn="ctr">
              <a:spcAft>
                <a:spcPts val="0"/>
              </a:spcAft>
              <a:defRPr sz="1100">
                <a:solidFill>
                  <a:srgbClr val="FFFFFF"/>
                </a:solidFill>
                <a:latin typeface="Courier New"/>
              </a:defRPr>
            </a:pPr>
            <a:r>
              <a:t>│ [Plan] [Memory] [Guardrail]│</a:t>
            </a:r>
          </a:p>
          <a:p>
            <a:pPr algn="ctr">
              <a:spcAft>
                <a:spcPts val="0"/>
              </a:spcAft>
              <a:defRPr sz="1100">
                <a:solidFill>
                  <a:srgbClr val="FFFFFF"/>
                </a:solidFill>
                <a:latin typeface="Courier New"/>
              </a:defRPr>
            </a:pPr>
            <a:r>
              <a:t>└──────────────┬──────────────┘</a:t>
            </a:r>
          </a:p>
          <a:p>
            <a:pPr algn="ctr">
              <a:spcAft>
                <a:spcPts val="0"/>
              </a:spcAft>
              <a:defRPr sz="1100">
                <a:solidFill>
                  <a:srgbClr val="FFFFFF"/>
                </a:solidFill>
                <a:latin typeface="Courier New"/>
              </a:defRPr>
            </a:pPr>
            <a:r>
              <a:t>         ┌─────┼─────┐</a:t>
            </a:r>
          </a:p>
          <a:p>
            <a:pPr algn="ctr">
              <a:spcAft>
                <a:spcPts val="0"/>
              </a:spcAft>
              <a:defRPr sz="1100">
                <a:solidFill>
                  <a:srgbClr val="FFFFFF"/>
                </a:solidFill>
                <a:latin typeface="Courier New"/>
              </a:defRPr>
            </a:pPr>
            <a:r>
              <a:t>         ▼     ▼     ▼</a:t>
            </a:r>
          </a:p>
          <a:p>
            <a:pPr algn="ctr">
              <a:spcAft>
                <a:spcPts val="0"/>
              </a:spcAft>
              <a:defRPr sz="1100">
                <a:solidFill>
                  <a:srgbClr val="FFFFFF"/>
                </a:solidFill>
                <a:latin typeface="Courier New"/>
              </a:defRPr>
            </a:pPr>
            <a:r>
              <a:t>      [RAG] [Tool] [Code]</a:t>
            </a:r>
          </a:p>
          <a:p>
            <a:pPr algn="ctr">
              <a:spcAft>
                <a:spcPts val="0"/>
              </a:spcAft>
              <a:defRPr sz="1100">
                <a:solidFill>
                  <a:srgbClr val="FFFFFF"/>
                </a:solidFill>
                <a:latin typeface="Courier New"/>
              </a:defRPr>
            </a:pPr>
            <a:r>
              <a:t>       ↕     ↕     ↕</a:t>
            </a:r>
          </a:p>
          <a:p>
            <a:pPr algn="ctr">
              <a:spcAft>
                <a:spcPts val="0"/>
              </a:spcAft>
              <a:defRPr sz="1100">
                <a:solidFill>
                  <a:srgbClr val="FFFFFF"/>
                </a:solidFill>
                <a:latin typeface="Courier New"/>
              </a:defRPr>
            </a:pPr>
            <a:r>
              <a:t>┌─────────────────────────────┐</a:t>
            </a:r>
          </a:p>
          <a:p>
            <a:pPr algn="ctr">
              <a:spcAft>
                <a:spcPts val="0"/>
              </a:spcAft>
              <a:defRPr sz="1100">
                <a:solidFill>
                  <a:srgbClr val="FFFFFF"/>
                </a:solidFill>
                <a:latin typeface="Courier New"/>
              </a:defRPr>
            </a:pPr>
            <a:r>
              <a:t>│  DATA LAYER (Lakehouse)     │</a:t>
            </a:r>
          </a:p>
          <a:p>
            <a:pPr algn="ctr">
              <a:spcAft>
                <a:spcPts val="0"/>
              </a:spcAft>
              <a:defRPr sz="1100">
                <a:solidFill>
                  <a:srgbClr val="FFFFFF"/>
                </a:solidFill>
                <a:latin typeface="Courier New"/>
              </a:defRPr>
            </a:pPr>
            <a:r>
              <a:t>│ Unity Catalog │ Lakebase    │</a:t>
            </a:r>
          </a:p>
          <a:p>
            <a:pPr algn="ctr">
              <a:spcAft>
                <a:spcPts val="0"/>
              </a:spcAft>
              <a:defRPr sz="1100">
                <a:solidFill>
                  <a:srgbClr val="FFFFFF"/>
                </a:solidFill>
                <a:latin typeface="Courier New"/>
              </a:defRPr>
            </a:pPr>
            <a:r>
              <a:t>│ Vector Search │ Delta Lake  │</a:t>
            </a:r>
          </a:p>
          <a:p>
            <a:pPr algn="ctr">
              <a:spcAft>
                <a:spcPts val="0"/>
              </a:spcAft>
              <a:defRPr sz="1100">
                <a:solidFill>
                  <a:srgbClr val="FFFFFF"/>
                </a:solidFill>
                <a:latin typeface="Courier New"/>
              </a:defRPr>
            </a:pPr>
            <a:r>
              <a:t>└─────────────────────────────┘</a:t>
            </a:r>
          </a:p>
          <a:p>
            <a:pPr algn="ctr">
              <a:spcAft>
                <a:spcPts val="0"/>
              </a:spcAft>
              <a:defRPr sz="1100">
                <a:solidFill>
                  <a:srgbClr val="FFFFFF"/>
                </a:solidFill>
                <a:latin typeface="Courier New"/>
              </a:defRPr>
            </a:pPr>
            <a:r>
              <a:t>         ┌─────┴─────┐</a:t>
            </a:r>
          </a:p>
          <a:p>
            <a:pPr algn="ctr">
              <a:spcAft>
                <a:spcPts val="0"/>
              </a:spcAft>
              <a:defRPr sz="1100">
                <a:solidFill>
                  <a:srgbClr val="FFFFFF"/>
                </a:solidFill>
                <a:latin typeface="Courier New"/>
              </a:defRPr>
            </a:pPr>
            <a:r>
              <a:t>    [MLflow 3.0] [AI Gateway]</a:t>
            </a:r>
          </a:p>
          <a:p>
            <a:pPr algn="ctr">
              <a:spcAft>
                <a:spcPts val="0"/>
              </a:spcAft>
              <a:defRPr sz="1100">
                <a:solidFill>
                  <a:srgbClr val="FFFFFF"/>
                </a:solidFill>
                <a:latin typeface="Courier New"/>
              </a:defRPr>
            </a:pPr>
            <a:r>
              <a:t>     Monitoring    Governance</a:t>
            </a:r>
          </a:p>
        </p:txBody>
      </p:sp>
      <p:sp>
        <p:nvSpPr>
          <p:cNvPr id="10" name="Rounded Rectangle 9"/>
          <p:cNvSpPr/>
          <p:nvPr/>
        </p:nvSpPr>
        <p:spPr>
          <a:xfrm>
            <a:off x="6035040" y="1645920"/>
            <a:ext cx="5029200" cy="210312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645920"/>
            <a:ext cx="502920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783080"/>
            <a:ext cx="4572000" cy="365760"/>
          </a:xfrm>
          <a:prstGeom prst="rect">
            <a:avLst/>
          </a:prstGeom>
          <a:noFill/>
        </p:spPr>
        <p:txBody>
          <a:bodyPr wrap="square">
            <a:spAutoFit/>
          </a:bodyPr>
          <a:lstStyle/>
          <a:p>
            <a:pPr algn="l">
              <a:defRPr sz="1600" b="1">
                <a:solidFill>
                  <a:srgbClr val="3B82F6"/>
                </a:solidFill>
              </a:defRPr>
            </a:pPr>
            <a:r>
              <a:t>Agent Orchestration Patterns</a:t>
            </a:r>
          </a:p>
        </p:txBody>
      </p:sp>
      <p:sp>
        <p:nvSpPr>
          <p:cNvPr id="13" name="TextBox 12"/>
          <p:cNvSpPr txBox="1"/>
          <p:nvPr/>
        </p:nvSpPr>
        <p:spPr>
          <a:xfrm>
            <a:off x="6309360" y="2194560"/>
            <a:ext cx="4572000" cy="1371600"/>
          </a:xfrm>
          <a:prstGeom prst="rect">
            <a:avLst/>
          </a:prstGeom>
          <a:noFill/>
        </p:spPr>
        <p:txBody>
          <a:bodyPr wrap="square">
            <a:spAutoFit/>
          </a:bodyPr>
          <a:lstStyle/>
          <a:p>
            <a:pPr algn="l">
              <a:spcAft>
                <a:spcPts val="400"/>
              </a:spcAft>
              <a:defRPr sz="1200" b="0">
                <a:solidFill>
                  <a:srgbClr val="FFFFFF"/>
                </a:solidFill>
              </a:defRPr>
            </a:pPr>
            <a:r>
              <a:t>•  Supervisor: Manager agent delegates to specialists (37% adoption)</a:t>
            </a:r>
          </a:p>
          <a:p>
            <a:pPr algn="l">
              <a:spcAft>
                <a:spcPts val="400"/>
              </a:spcAft>
              <a:defRPr sz="1200" b="0">
                <a:solidFill>
                  <a:srgbClr val="FFFFFF"/>
                </a:solidFill>
              </a:defRPr>
            </a:pPr>
            <a:r>
              <a:t>•  Sequential: Agents work in defined pipeline order</a:t>
            </a:r>
          </a:p>
          <a:p>
            <a:pPr algn="l">
              <a:spcAft>
                <a:spcPts val="400"/>
              </a:spcAft>
              <a:defRPr sz="1200" b="0">
                <a:solidFill>
                  <a:srgbClr val="FFFFFF"/>
                </a:solidFill>
              </a:defRPr>
            </a:pPr>
            <a:r>
              <a:t>•  Parallel: Concurrent tool calls via managed MCP</a:t>
            </a:r>
          </a:p>
          <a:p>
            <a:pPr algn="l">
              <a:spcAft>
                <a:spcPts val="400"/>
              </a:spcAft>
              <a:defRPr sz="1200" b="0">
                <a:solidFill>
                  <a:srgbClr val="FFFFFF"/>
                </a:solidFill>
              </a:defRPr>
            </a:pPr>
            <a:r>
              <a:t>•  ReAct: Reasoning + Acting loop with self-correction</a:t>
            </a:r>
          </a:p>
          <a:p>
            <a:pPr algn="l">
              <a:spcAft>
                <a:spcPts val="600"/>
              </a:spcAft>
              <a:defRPr sz="1200" b="0">
                <a:solidFill>
                  <a:srgbClr val="FFFFFF"/>
                </a:solidFill>
              </a:defRPr>
            </a:pPr>
            <a:r>
              <a:t>•  Digital Twin: Agent mirroring for governance (adidas)</a:t>
            </a:r>
          </a:p>
        </p:txBody>
      </p:sp>
      <p:sp>
        <p:nvSpPr>
          <p:cNvPr id="14" name="Rounded Rectangle 13"/>
          <p:cNvSpPr/>
          <p:nvPr/>
        </p:nvSpPr>
        <p:spPr>
          <a:xfrm>
            <a:off x="6035040" y="3931920"/>
            <a:ext cx="5029200" cy="22860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3931920"/>
            <a:ext cx="502920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4069080"/>
            <a:ext cx="4572000" cy="365760"/>
          </a:xfrm>
          <a:prstGeom prst="rect">
            <a:avLst/>
          </a:prstGeom>
          <a:noFill/>
        </p:spPr>
        <p:txBody>
          <a:bodyPr wrap="square">
            <a:spAutoFit/>
          </a:bodyPr>
          <a:lstStyle/>
          <a:p>
            <a:pPr algn="l">
              <a:defRPr sz="1600" b="1">
                <a:solidFill>
                  <a:srgbClr val="22C55E"/>
                </a:solidFill>
              </a:defRPr>
            </a:pPr>
            <a:r>
              <a:t>Monitoring &amp; Observability</a:t>
            </a:r>
          </a:p>
        </p:txBody>
      </p:sp>
      <p:sp>
        <p:nvSpPr>
          <p:cNvPr id="17" name="TextBox 16"/>
          <p:cNvSpPr txBox="1"/>
          <p:nvPr/>
        </p:nvSpPr>
        <p:spPr>
          <a:xfrm>
            <a:off x="6309360" y="4480560"/>
            <a:ext cx="4572000" cy="1554480"/>
          </a:xfrm>
          <a:prstGeom prst="rect">
            <a:avLst/>
          </a:prstGeom>
          <a:noFill/>
        </p:spPr>
        <p:txBody>
          <a:bodyPr wrap="square">
            <a:spAutoFit/>
          </a:bodyPr>
          <a:lstStyle/>
          <a:p>
            <a:pPr algn="l">
              <a:spcAft>
                <a:spcPts val="400"/>
              </a:spcAft>
              <a:defRPr sz="1200" b="0">
                <a:solidFill>
                  <a:srgbClr val="FFFFFF"/>
                </a:solidFill>
              </a:defRPr>
            </a:pPr>
            <a:r>
              <a:t>•  End-user feedback for iterative improvement</a:t>
            </a:r>
          </a:p>
          <a:p>
            <a:pPr algn="l">
              <a:spcAft>
                <a:spcPts val="400"/>
              </a:spcAft>
              <a:defRPr sz="1200" b="0">
                <a:solidFill>
                  <a:srgbClr val="FFFFFF"/>
                </a:solidFill>
              </a:defRPr>
            </a:pPr>
            <a:r>
              <a:t>•  AI judges for continuous quality evaluation</a:t>
            </a:r>
          </a:p>
          <a:p>
            <a:pPr algn="l">
              <a:spcAft>
                <a:spcPts val="400"/>
              </a:spcAft>
              <a:defRPr sz="1200" b="0">
                <a:solidFill>
                  <a:srgbClr val="FFFFFF"/>
                </a:solidFill>
              </a:defRPr>
            </a:pPr>
            <a:r>
              <a:t>•  Token usage tracking via AI Gateway system tables</a:t>
            </a:r>
          </a:p>
          <a:p>
            <a:pPr algn="l">
              <a:spcAft>
                <a:spcPts val="400"/>
              </a:spcAft>
              <a:defRPr sz="1200" b="0">
                <a:solidFill>
                  <a:srgbClr val="FFFFFF"/>
                </a:solidFill>
              </a:defRPr>
            </a:pPr>
            <a:r>
              <a:t>•  Per-hop cost forensics for agent chains</a:t>
            </a:r>
          </a:p>
          <a:p>
            <a:pPr algn="l">
              <a:spcAft>
                <a:spcPts val="600"/>
              </a:spcAft>
              <a:defRPr sz="1200" b="0">
                <a:solidFill>
                  <a:srgbClr val="FFFFFF"/>
                </a:solidFill>
              </a:defRPr>
            </a:pPr>
            <a:r>
              <a:t>•  MLflow 3.0 tracing across all deployment targets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AI Agent Usage in Company Filings (Part 1)</a:t>
            </a:r>
          </a:p>
        </p:txBody>
      </p:sp>
      <p:sp>
        <p:nvSpPr>
          <p:cNvPr id="4" name="Rectangle 3"/>
          <p:cNvSpPr/>
          <p:nvPr/>
        </p:nvSpPr>
        <p:spPr>
          <a:xfrm>
            <a:off x="731520" y="1051560"/>
            <a:ext cx="274320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9144000" cy="365760"/>
          </a:xfrm>
          <a:prstGeom prst="rect">
            <a:avLst/>
          </a:prstGeom>
          <a:noFill/>
        </p:spPr>
        <p:txBody>
          <a:bodyPr wrap="square">
            <a:spAutoFit/>
          </a:bodyPr>
          <a:lstStyle/>
          <a:p>
            <a:pPr algn="l">
              <a:defRPr sz="1300" b="0">
                <a:solidFill>
                  <a:srgbClr val="A0AEC0"/>
                </a:solidFill>
              </a:defRPr>
            </a:pPr>
            <a:r>
              <a:t>Metrics from SEC filings, 10-K reports, and public earnings calls (2025–2026)</a:t>
            </a:r>
          </a:p>
        </p:txBody>
      </p:sp>
      <p:sp>
        <p:nvSpPr>
          <p:cNvPr id="6" name="Rounded Rectangle 5"/>
          <p:cNvSpPr/>
          <p:nvPr/>
        </p:nvSpPr>
        <p:spPr>
          <a:xfrm>
            <a:off x="731520" y="1645920"/>
            <a:ext cx="10515600" cy="23774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63500" cy="237744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719072"/>
            <a:ext cx="4572000" cy="320040"/>
          </a:xfrm>
          <a:prstGeom prst="rect">
            <a:avLst/>
          </a:prstGeom>
          <a:noFill/>
        </p:spPr>
        <p:txBody>
          <a:bodyPr wrap="square">
            <a:spAutoFit/>
          </a:bodyPr>
          <a:lstStyle/>
          <a:p>
            <a:pPr algn="l">
              <a:defRPr sz="1800" b="1">
                <a:solidFill>
                  <a:srgbClr val="FF6F00"/>
                </a:solidFill>
              </a:defRPr>
            </a:pPr>
            <a:r>
              <a:t>Salesforce — Agentforce</a:t>
            </a:r>
          </a:p>
        </p:txBody>
      </p:sp>
      <p:sp>
        <p:nvSpPr>
          <p:cNvPr id="9" name="TextBox 8"/>
          <p:cNvSpPr txBox="1"/>
          <p:nvPr/>
        </p:nvSpPr>
        <p:spPr>
          <a:xfrm>
            <a:off x="6400800" y="1719072"/>
            <a:ext cx="4572000" cy="320040"/>
          </a:xfrm>
          <a:prstGeom prst="rect">
            <a:avLst/>
          </a:prstGeom>
          <a:noFill/>
        </p:spPr>
        <p:txBody>
          <a:bodyPr wrap="square">
            <a:spAutoFit/>
          </a:bodyPr>
          <a:lstStyle/>
          <a:p>
            <a:pPr algn="r">
              <a:defRPr sz="1200" b="0">
                <a:solidFill>
                  <a:srgbClr val="707890"/>
                </a:solidFill>
              </a:defRPr>
            </a:pPr>
            <a:r>
              <a:t>Q4 FY2026 Earnings (Feb 2026)</a:t>
            </a:r>
          </a:p>
        </p:txBody>
      </p:sp>
      <p:sp>
        <p:nvSpPr>
          <p:cNvPr id="10" name="Rounded Rectangle 9"/>
          <p:cNvSpPr/>
          <p:nvPr/>
        </p:nvSpPr>
        <p:spPr>
          <a:xfrm>
            <a:off x="1097280" y="2057400"/>
            <a:ext cx="1554480" cy="8229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0" y="2057400"/>
            <a:ext cx="155448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2194560"/>
            <a:ext cx="1188720" cy="548640"/>
          </a:xfrm>
          <a:prstGeom prst="rect">
            <a:avLst/>
          </a:prstGeom>
          <a:noFill/>
        </p:spPr>
        <p:txBody>
          <a:bodyPr wrap="square">
            <a:spAutoFit/>
          </a:bodyPr>
          <a:lstStyle/>
          <a:p>
            <a:pPr algn="ctr">
              <a:defRPr sz="2800" b="1">
                <a:solidFill>
                  <a:srgbClr val="FF6F00"/>
                </a:solidFill>
              </a:defRPr>
            </a:pPr>
            <a:r>
              <a:t>$800M</a:t>
            </a:r>
          </a:p>
        </p:txBody>
      </p:sp>
      <p:sp>
        <p:nvSpPr>
          <p:cNvPr id="13" name="TextBox 12"/>
          <p:cNvSpPr txBox="1"/>
          <p:nvPr/>
        </p:nvSpPr>
        <p:spPr>
          <a:xfrm>
            <a:off x="1280160" y="2697480"/>
            <a:ext cx="1188720" cy="0"/>
          </a:xfrm>
          <a:prstGeom prst="rect">
            <a:avLst/>
          </a:prstGeom>
          <a:noFill/>
        </p:spPr>
        <p:txBody>
          <a:bodyPr wrap="square">
            <a:spAutoFit/>
          </a:bodyPr>
          <a:lstStyle/>
          <a:p>
            <a:pPr algn="ctr">
              <a:defRPr sz="1200" b="0">
                <a:solidFill>
                  <a:srgbClr val="A0AEC0"/>
                </a:solidFill>
              </a:defRPr>
            </a:pPr>
            <a:r>
              <a:t>Agentforce ARR</a:t>
            </a:r>
            <a:br/>
            <a:r>
              <a:t>(+169% YoY)</a:t>
            </a:r>
          </a:p>
        </p:txBody>
      </p:sp>
      <p:sp>
        <p:nvSpPr>
          <p:cNvPr id="14" name="Rounded Rectangle 13"/>
          <p:cNvSpPr/>
          <p:nvPr/>
        </p:nvSpPr>
        <p:spPr>
          <a:xfrm>
            <a:off x="2788920" y="2057400"/>
            <a:ext cx="1554480" cy="8229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88920" y="2057400"/>
            <a:ext cx="155448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2194560"/>
            <a:ext cx="1188720" cy="548640"/>
          </a:xfrm>
          <a:prstGeom prst="rect">
            <a:avLst/>
          </a:prstGeom>
          <a:noFill/>
        </p:spPr>
        <p:txBody>
          <a:bodyPr wrap="square">
            <a:spAutoFit/>
          </a:bodyPr>
          <a:lstStyle/>
          <a:p>
            <a:pPr algn="ctr">
              <a:defRPr sz="2800" b="1">
                <a:solidFill>
                  <a:srgbClr val="3B82F6"/>
                </a:solidFill>
              </a:defRPr>
            </a:pPr>
            <a:r>
              <a:t>29,000+</a:t>
            </a:r>
          </a:p>
        </p:txBody>
      </p:sp>
      <p:sp>
        <p:nvSpPr>
          <p:cNvPr id="17" name="TextBox 16"/>
          <p:cNvSpPr txBox="1"/>
          <p:nvPr/>
        </p:nvSpPr>
        <p:spPr>
          <a:xfrm>
            <a:off x="2971800" y="2697480"/>
            <a:ext cx="1188720" cy="0"/>
          </a:xfrm>
          <a:prstGeom prst="rect">
            <a:avLst/>
          </a:prstGeom>
          <a:noFill/>
        </p:spPr>
        <p:txBody>
          <a:bodyPr wrap="square">
            <a:spAutoFit/>
          </a:bodyPr>
          <a:lstStyle/>
          <a:p>
            <a:pPr algn="ctr">
              <a:defRPr sz="1200" b="0">
                <a:solidFill>
                  <a:srgbClr val="A0AEC0"/>
                </a:solidFill>
              </a:defRPr>
            </a:pPr>
            <a:r>
              <a:t>Deals Closed</a:t>
            </a:r>
            <a:br/>
            <a:r>
              <a:t>(+50% QoQ)</a:t>
            </a:r>
          </a:p>
        </p:txBody>
      </p:sp>
      <p:sp>
        <p:nvSpPr>
          <p:cNvPr id="18" name="Rounded Rectangle 17"/>
          <p:cNvSpPr/>
          <p:nvPr/>
        </p:nvSpPr>
        <p:spPr>
          <a:xfrm>
            <a:off x="4480560" y="2057400"/>
            <a:ext cx="1554480" cy="8229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2057400"/>
            <a:ext cx="155448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63440" y="2194560"/>
            <a:ext cx="1188720" cy="548640"/>
          </a:xfrm>
          <a:prstGeom prst="rect">
            <a:avLst/>
          </a:prstGeom>
          <a:noFill/>
        </p:spPr>
        <p:txBody>
          <a:bodyPr wrap="square">
            <a:spAutoFit/>
          </a:bodyPr>
          <a:lstStyle/>
          <a:p>
            <a:pPr algn="ctr">
              <a:defRPr sz="2800" b="1">
                <a:solidFill>
                  <a:srgbClr val="22C55E"/>
                </a:solidFill>
              </a:defRPr>
            </a:pPr>
            <a:r>
              <a:t>2.4B</a:t>
            </a:r>
          </a:p>
        </p:txBody>
      </p:sp>
      <p:sp>
        <p:nvSpPr>
          <p:cNvPr id="21" name="TextBox 20"/>
          <p:cNvSpPr txBox="1"/>
          <p:nvPr/>
        </p:nvSpPr>
        <p:spPr>
          <a:xfrm>
            <a:off x="4663440" y="2697480"/>
            <a:ext cx="1188720" cy="0"/>
          </a:xfrm>
          <a:prstGeom prst="rect">
            <a:avLst/>
          </a:prstGeom>
          <a:noFill/>
        </p:spPr>
        <p:txBody>
          <a:bodyPr wrap="square">
            <a:spAutoFit/>
          </a:bodyPr>
          <a:lstStyle/>
          <a:p>
            <a:pPr algn="ctr">
              <a:defRPr sz="1200" b="0">
                <a:solidFill>
                  <a:srgbClr val="A0AEC0"/>
                </a:solidFill>
              </a:defRPr>
            </a:pPr>
            <a:r>
              <a:t>Agentic Work</a:t>
            </a:r>
            <a:br/>
            <a:r>
              <a:t>Units Delivered</a:t>
            </a:r>
          </a:p>
        </p:txBody>
      </p:sp>
      <p:sp>
        <p:nvSpPr>
          <p:cNvPr id="22" name="TextBox 21"/>
          <p:cNvSpPr txBox="1"/>
          <p:nvPr/>
        </p:nvSpPr>
        <p:spPr>
          <a:xfrm>
            <a:off x="6309360" y="2057400"/>
            <a:ext cx="4754880" cy="1828800"/>
          </a:xfrm>
          <a:prstGeom prst="rect">
            <a:avLst/>
          </a:prstGeom>
          <a:noFill/>
        </p:spPr>
        <p:txBody>
          <a:bodyPr wrap="square">
            <a:spAutoFit/>
          </a:bodyPr>
          <a:lstStyle/>
          <a:p>
            <a:pPr algn="l">
              <a:spcAft>
                <a:spcPts val="200"/>
              </a:spcAft>
              <a:defRPr sz="1000" b="0">
                <a:solidFill>
                  <a:srgbClr val="A0AEC0"/>
                </a:solidFill>
              </a:defRPr>
            </a:pPr>
            <a:r>
              <a:t>•  FY26 revenue $41.5B (+10% YoY); Agentforce + Data 360 ARR &gt;$2.9B (+200% YoY)</a:t>
            </a:r>
          </a:p>
          <a:p>
            <a:pPr algn="l">
              <a:spcAft>
                <a:spcPts val="200"/>
              </a:spcAft>
              <a:defRPr sz="1000" b="0">
                <a:solidFill>
                  <a:srgbClr val="A0AEC0"/>
                </a:solidFill>
              </a:defRPr>
            </a:pPr>
            <a:r>
              <a:t>•  Introduced 'Agentic Work Units' (AWUs) as new metric — 2.4B delivered, +57% QoQ</a:t>
            </a:r>
          </a:p>
          <a:p>
            <a:pPr algn="l">
              <a:spcAft>
                <a:spcPts val="200"/>
              </a:spcAft>
              <a:defRPr sz="1000" b="0">
                <a:solidFill>
                  <a:srgbClr val="A0AEC0"/>
                </a:solidFill>
              </a:defRPr>
            </a:pPr>
            <a:r>
              <a:t>•  Processed 19T+ tokens (+5x YoY); agents in production +50% QoQ</a:t>
            </a:r>
          </a:p>
          <a:p>
            <a:pPr algn="l">
              <a:spcAft>
                <a:spcPts val="200"/>
              </a:spcAft>
              <a:defRPr sz="1000" b="0">
                <a:solidFill>
                  <a:srgbClr val="A0AEC0"/>
                </a:solidFill>
              </a:defRPr>
            </a:pPr>
            <a:r>
              <a:t>•  CEO Benioff: "Agentforce just became an $800 million business"</a:t>
            </a:r>
          </a:p>
          <a:p>
            <a:pPr algn="l">
              <a:spcAft>
                <a:spcPts val="200"/>
              </a:spcAft>
              <a:defRPr sz="1000" b="0">
                <a:solidFill>
                  <a:srgbClr val="A0AEC0"/>
                </a:solidFill>
              </a:defRPr>
            </a:pPr>
            <a:r>
              <a:t>•  Digital labor model: agents billed per conversation, not per seat</a:t>
            </a:r>
          </a:p>
        </p:txBody>
      </p:sp>
      <p:sp>
        <p:nvSpPr>
          <p:cNvPr id="23" name="Rounded Rectangle 22"/>
          <p:cNvSpPr/>
          <p:nvPr/>
        </p:nvSpPr>
        <p:spPr>
          <a:xfrm>
            <a:off x="731520" y="4160520"/>
            <a:ext cx="10515600" cy="23774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4160520"/>
            <a:ext cx="63500" cy="23774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233672"/>
            <a:ext cx="4572000" cy="320040"/>
          </a:xfrm>
          <a:prstGeom prst="rect">
            <a:avLst/>
          </a:prstGeom>
          <a:noFill/>
        </p:spPr>
        <p:txBody>
          <a:bodyPr wrap="square">
            <a:spAutoFit/>
          </a:bodyPr>
          <a:lstStyle/>
          <a:p>
            <a:pPr algn="l">
              <a:defRPr sz="1800" b="1">
                <a:solidFill>
                  <a:srgbClr val="3B82F6"/>
                </a:solidFill>
              </a:defRPr>
            </a:pPr>
            <a:r>
              <a:t>Microsoft — Copilot &amp; Agent 365</a:t>
            </a:r>
          </a:p>
        </p:txBody>
      </p:sp>
      <p:sp>
        <p:nvSpPr>
          <p:cNvPr id="26" name="TextBox 25"/>
          <p:cNvSpPr txBox="1"/>
          <p:nvPr/>
        </p:nvSpPr>
        <p:spPr>
          <a:xfrm>
            <a:off x="6400800" y="4233672"/>
            <a:ext cx="4572000" cy="320040"/>
          </a:xfrm>
          <a:prstGeom prst="rect">
            <a:avLst/>
          </a:prstGeom>
          <a:noFill/>
        </p:spPr>
        <p:txBody>
          <a:bodyPr wrap="square">
            <a:spAutoFit/>
          </a:bodyPr>
          <a:lstStyle/>
          <a:p>
            <a:pPr algn="r">
              <a:defRPr sz="1200" b="0">
                <a:solidFill>
                  <a:srgbClr val="707890"/>
                </a:solidFill>
              </a:defRPr>
            </a:pPr>
            <a:r>
              <a:t>FY2025 Annual Report / 10-K</a:t>
            </a:r>
          </a:p>
        </p:txBody>
      </p:sp>
      <p:sp>
        <p:nvSpPr>
          <p:cNvPr id="27" name="Rounded Rectangle 26"/>
          <p:cNvSpPr/>
          <p:nvPr/>
        </p:nvSpPr>
        <p:spPr>
          <a:xfrm>
            <a:off x="1097280" y="4572000"/>
            <a:ext cx="1554480" cy="8229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7280" y="4572000"/>
            <a:ext cx="155448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80160" y="4709160"/>
            <a:ext cx="1188720" cy="548640"/>
          </a:xfrm>
          <a:prstGeom prst="rect">
            <a:avLst/>
          </a:prstGeom>
          <a:noFill/>
        </p:spPr>
        <p:txBody>
          <a:bodyPr wrap="square">
            <a:spAutoFit/>
          </a:bodyPr>
          <a:lstStyle/>
          <a:p>
            <a:pPr algn="ctr">
              <a:defRPr sz="2800" b="1">
                <a:solidFill>
                  <a:srgbClr val="3B82F6"/>
                </a:solidFill>
              </a:defRPr>
            </a:pPr>
            <a:r>
              <a:t>90%+</a:t>
            </a:r>
          </a:p>
        </p:txBody>
      </p:sp>
      <p:sp>
        <p:nvSpPr>
          <p:cNvPr id="30" name="TextBox 29"/>
          <p:cNvSpPr txBox="1"/>
          <p:nvPr/>
        </p:nvSpPr>
        <p:spPr>
          <a:xfrm>
            <a:off x="1280160" y="5212080"/>
            <a:ext cx="1188720" cy="0"/>
          </a:xfrm>
          <a:prstGeom prst="rect">
            <a:avLst/>
          </a:prstGeom>
          <a:noFill/>
        </p:spPr>
        <p:txBody>
          <a:bodyPr wrap="square">
            <a:spAutoFit/>
          </a:bodyPr>
          <a:lstStyle/>
          <a:p>
            <a:pPr algn="ctr">
              <a:defRPr sz="1200" b="0">
                <a:solidFill>
                  <a:srgbClr val="A0AEC0"/>
                </a:solidFill>
              </a:defRPr>
            </a:pPr>
            <a:r>
              <a:t>Fortune 500 Use</a:t>
            </a:r>
            <a:br/>
            <a:r>
              <a:t>M365 Copilot</a:t>
            </a:r>
          </a:p>
        </p:txBody>
      </p:sp>
      <p:sp>
        <p:nvSpPr>
          <p:cNvPr id="31" name="Rounded Rectangle 30"/>
          <p:cNvSpPr/>
          <p:nvPr/>
        </p:nvSpPr>
        <p:spPr>
          <a:xfrm>
            <a:off x="2788920" y="4572000"/>
            <a:ext cx="1554480" cy="8229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88920" y="4572000"/>
            <a:ext cx="155448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71800" y="4709160"/>
            <a:ext cx="1188720" cy="548640"/>
          </a:xfrm>
          <a:prstGeom prst="rect">
            <a:avLst/>
          </a:prstGeom>
          <a:noFill/>
        </p:spPr>
        <p:txBody>
          <a:bodyPr wrap="square">
            <a:spAutoFit/>
          </a:bodyPr>
          <a:lstStyle/>
          <a:p>
            <a:pPr algn="ctr">
              <a:defRPr sz="2800" b="1">
                <a:solidFill>
                  <a:srgbClr val="A755F7"/>
                </a:solidFill>
              </a:defRPr>
            </a:pPr>
            <a:r>
              <a:t>$281.7B</a:t>
            </a:r>
          </a:p>
        </p:txBody>
      </p:sp>
      <p:sp>
        <p:nvSpPr>
          <p:cNvPr id="34" name="TextBox 33"/>
          <p:cNvSpPr txBox="1"/>
          <p:nvPr/>
        </p:nvSpPr>
        <p:spPr>
          <a:xfrm>
            <a:off x="2971800" y="5212080"/>
            <a:ext cx="1188720" cy="0"/>
          </a:xfrm>
          <a:prstGeom prst="rect">
            <a:avLst/>
          </a:prstGeom>
          <a:noFill/>
        </p:spPr>
        <p:txBody>
          <a:bodyPr wrap="square">
            <a:spAutoFit/>
          </a:bodyPr>
          <a:lstStyle/>
          <a:p>
            <a:pPr algn="ctr">
              <a:defRPr sz="1200" b="0">
                <a:solidFill>
                  <a:srgbClr val="A0AEC0"/>
                </a:solidFill>
              </a:defRPr>
            </a:pPr>
            <a:r>
              <a:t>Total Revenue</a:t>
            </a:r>
            <a:br/>
            <a:r>
              <a:t>(+15% YoY)</a:t>
            </a:r>
          </a:p>
        </p:txBody>
      </p:sp>
      <p:sp>
        <p:nvSpPr>
          <p:cNvPr id="35" name="Rounded Rectangle 34"/>
          <p:cNvSpPr/>
          <p:nvPr/>
        </p:nvSpPr>
        <p:spPr>
          <a:xfrm>
            <a:off x="4480560" y="4572000"/>
            <a:ext cx="1554480" cy="8229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80560" y="4572000"/>
            <a:ext cx="155448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63440" y="4709160"/>
            <a:ext cx="1188720" cy="548640"/>
          </a:xfrm>
          <a:prstGeom prst="rect">
            <a:avLst/>
          </a:prstGeom>
          <a:noFill/>
        </p:spPr>
        <p:txBody>
          <a:bodyPr wrap="square">
            <a:spAutoFit/>
          </a:bodyPr>
          <a:lstStyle/>
          <a:p>
            <a:pPr algn="ctr">
              <a:defRPr sz="2800" b="1">
                <a:solidFill>
                  <a:srgbClr val="22C55E"/>
                </a:solidFill>
              </a:defRPr>
            </a:pPr>
            <a:r>
              <a:t>400+</a:t>
            </a:r>
          </a:p>
        </p:txBody>
      </p:sp>
      <p:sp>
        <p:nvSpPr>
          <p:cNvPr id="38" name="TextBox 37"/>
          <p:cNvSpPr txBox="1"/>
          <p:nvPr/>
        </p:nvSpPr>
        <p:spPr>
          <a:xfrm>
            <a:off x="4663440" y="5212080"/>
            <a:ext cx="1188720" cy="0"/>
          </a:xfrm>
          <a:prstGeom prst="rect">
            <a:avLst/>
          </a:prstGeom>
          <a:noFill/>
        </p:spPr>
        <p:txBody>
          <a:bodyPr wrap="square">
            <a:spAutoFit/>
          </a:bodyPr>
          <a:lstStyle/>
          <a:p>
            <a:pPr algn="ctr">
              <a:defRPr sz="1200" b="0">
                <a:solidFill>
                  <a:srgbClr val="A0AEC0"/>
                </a:solidFill>
              </a:defRPr>
            </a:pPr>
            <a:r>
              <a:t>New Copilot</a:t>
            </a:r>
            <a:br/>
            <a:r>
              <a:t>Features Shipped</a:t>
            </a:r>
          </a:p>
        </p:txBody>
      </p:sp>
      <p:sp>
        <p:nvSpPr>
          <p:cNvPr id="39" name="TextBox 38"/>
          <p:cNvSpPr txBox="1"/>
          <p:nvPr/>
        </p:nvSpPr>
        <p:spPr>
          <a:xfrm>
            <a:off x="6309360" y="4572000"/>
            <a:ext cx="4754880" cy="1828800"/>
          </a:xfrm>
          <a:prstGeom prst="rect">
            <a:avLst/>
          </a:prstGeom>
          <a:noFill/>
        </p:spPr>
        <p:txBody>
          <a:bodyPr wrap="square">
            <a:spAutoFit/>
          </a:bodyPr>
          <a:lstStyle/>
          <a:p>
            <a:pPr algn="l">
              <a:spcAft>
                <a:spcPts val="200"/>
              </a:spcAft>
              <a:defRPr sz="1000" b="0">
                <a:solidFill>
                  <a:srgbClr val="A0AEC0"/>
                </a:solidFill>
              </a:defRPr>
            </a:pPr>
            <a:r>
              <a:t>•  CEO Nadella: "Every customer I talk to is looking to reshape processes with AI agents"</a:t>
            </a:r>
          </a:p>
          <a:p>
            <a:pPr algn="l">
              <a:spcAft>
                <a:spcPts val="200"/>
              </a:spcAft>
              <a:defRPr sz="1000" b="0">
                <a:solidFill>
                  <a:srgbClr val="A0AEC0"/>
                </a:solidFill>
              </a:defRPr>
            </a:pPr>
            <a:r>
              <a:t>•  "Frontier Firm" concept: human-led, agent-operated organizations</a:t>
            </a:r>
          </a:p>
          <a:p>
            <a:pPr algn="l">
              <a:spcAft>
                <a:spcPts val="200"/>
              </a:spcAft>
              <a:defRPr sz="1000" b="0">
                <a:solidFill>
                  <a:srgbClr val="A0AEC0"/>
                </a:solidFill>
              </a:defRPr>
            </a:pPr>
            <a:r>
              <a:t>•  Agent 365 control plane for managing and securing agents at enterprise scale</a:t>
            </a:r>
          </a:p>
          <a:p>
            <a:pPr algn="l">
              <a:spcAft>
                <a:spcPts val="200"/>
              </a:spcAft>
              <a:defRPr sz="1000" b="0">
                <a:solidFill>
                  <a:srgbClr val="A0AEC0"/>
                </a:solidFill>
              </a:defRPr>
            </a:pPr>
            <a:r>
              <a:t>•  Multi-agent orchestration: agents collaborating on complex work together</a:t>
            </a:r>
          </a:p>
          <a:p>
            <a:pPr algn="l">
              <a:spcAft>
                <a:spcPts val="200"/>
              </a:spcAft>
              <a:defRPr sz="1000" b="0">
                <a:solidFill>
                  <a:srgbClr val="A0AEC0"/>
                </a:solidFill>
              </a:defRPr>
            </a:pPr>
            <a:r>
              <a:t>•  Copilot Studio Tuning: low-code model training with company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AI Agent Usage in Company Filings (Part 2)</a:t>
            </a:r>
          </a:p>
        </p:txBody>
      </p:sp>
      <p:sp>
        <p:nvSpPr>
          <p:cNvPr id="4" name="Rectangle 3"/>
          <p:cNvSpPr/>
          <p:nvPr/>
        </p:nvSpPr>
        <p:spPr>
          <a:xfrm>
            <a:off x="731520" y="1051560"/>
            <a:ext cx="274320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9144000" cy="365760"/>
          </a:xfrm>
          <a:prstGeom prst="rect">
            <a:avLst/>
          </a:prstGeom>
          <a:noFill/>
        </p:spPr>
        <p:txBody>
          <a:bodyPr wrap="square">
            <a:spAutoFit/>
          </a:bodyPr>
          <a:lstStyle/>
          <a:p>
            <a:pPr algn="l">
              <a:defRPr sz="1300" b="0">
                <a:solidFill>
                  <a:srgbClr val="A0AEC0"/>
                </a:solidFill>
              </a:defRPr>
            </a:pPr>
            <a:r>
              <a:t>Metrics from SEC filings, 10-K reports, and public earnings calls (2025–2026)</a:t>
            </a:r>
          </a:p>
        </p:txBody>
      </p:sp>
      <p:sp>
        <p:nvSpPr>
          <p:cNvPr id="6" name="Rounded Rectangle 5"/>
          <p:cNvSpPr/>
          <p:nvPr/>
        </p:nvSpPr>
        <p:spPr>
          <a:xfrm>
            <a:off x="731520" y="1554480"/>
            <a:ext cx="10515600" cy="16002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63500" cy="16002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09344"/>
            <a:ext cx="4114800" cy="274320"/>
          </a:xfrm>
          <a:prstGeom prst="rect">
            <a:avLst/>
          </a:prstGeom>
          <a:noFill/>
        </p:spPr>
        <p:txBody>
          <a:bodyPr wrap="square">
            <a:spAutoFit/>
          </a:bodyPr>
          <a:lstStyle/>
          <a:p>
            <a:pPr algn="l">
              <a:defRPr sz="1600" b="1">
                <a:solidFill>
                  <a:srgbClr val="22C55E"/>
                </a:solidFill>
              </a:defRPr>
            </a:pPr>
            <a:r>
              <a:t>ServiceNow — Now Assist Agents</a:t>
            </a:r>
          </a:p>
        </p:txBody>
      </p:sp>
      <p:sp>
        <p:nvSpPr>
          <p:cNvPr id="9" name="TextBox 8"/>
          <p:cNvSpPr txBox="1"/>
          <p:nvPr/>
        </p:nvSpPr>
        <p:spPr>
          <a:xfrm>
            <a:off x="6400800" y="1609344"/>
            <a:ext cx="4572000" cy="274320"/>
          </a:xfrm>
          <a:prstGeom prst="rect">
            <a:avLst/>
          </a:prstGeom>
          <a:noFill/>
        </p:spPr>
        <p:txBody>
          <a:bodyPr wrap="square">
            <a:spAutoFit/>
          </a:bodyPr>
          <a:lstStyle/>
          <a:p>
            <a:pPr algn="r">
              <a:defRPr sz="1100" b="0">
                <a:solidFill>
                  <a:srgbClr val="707890"/>
                </a:solidFill>
              </a:defRPr>
            </a:pPr>
            <a:r>
              <a:t>Q4 2025 Earnings / 10-K</a:t>
            </a:r>
          </a:p>
        </p:txBody>
      </p:sp>
      <p:sp>
        <p:nvSpPr>
          <p:cNvPr id="10" name="Rounded Rectangle 9"/>
          <p:cNvSpPr/>
          <p:nvPr/>
        </p:nvSpPr>
        <p:spPr>
          <a:xfrm>
            <a:off x="1097280" y="1901952"/>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0" y="1901952"/>
            <a:ext cx="146304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2039112"/>
            <a:ext cx="1097280" cy="548640"/>
          </a:xfrm>
          <a:prstGeom prst="rect">
            <a:avLst/>
          </a:prstGeom>
          <a:noFill/>
        </p:spPr>
        <p:txBody>
          <a:bodyPr wrap="square">
            <a:spAutoFit/>
          </a:bodyPr>
          <a:lstStyle/>
          <a:p>
            <a:pPr algn="ctr">
              <a:defRPr sz="2800" b="1">
                <a:solidFill>
                  <a:srgbClr val="22C55E"/>
                </a:solidFill>
              </a:defRPr>
            </a:pPr>
            <a:r>
              <a:t>$600M+</a:t>
            </a:r>
          </a:p>
        </p:txBody>
      </p:sp>
      <p:sp>
        <p:nvSpPr>
          <p:cNvPr id="13" name="TextBox 12"/>
          <p:cNvSpPr txBox="1"/>
          <p:nvPr/>
        </p:nvSpPr>
        <p:spPr>
          <a:xfrm>
            <a:off x="1280160" y="2542032"/>
            <a:ext cx="1097280" cy="-137160"/>
          </a:xfrm>
          <a:prstGeom prst="rect">
            <a:avLst/>
          </a:prstGeom>
          <a:noFill/>
        </p:spPr>
        <p:txBody>
          <a:bodyPr wrap="square">
            <a:spAutoFit/>
          </a:bodyPr>
          <a:lstStyle/>
          <a:p>
            <a:pPr algn="ctr">
              <a:defRPr sz="1200" b="0">
                <a:solidFill>
                  <a:srgbClr val="A0AEC0"/>
                </a:solidFill>
              </a:defRPr>
            </a:pPr>
            <a:r>
              <a:t>Now Assist ACV</a:t>
            </a:r>
          </a:p>
        </p:txBody>
      </p:sp>
      <p:sp>
        <p:nvSpPr>
          <p:cNvPr id="14" name="Rounded Rectangle 13"/>
          <p:cNvSpPr/>
          <p:nvPr/>
        </p:nvSpPr>
        <p:spPr>
          <a:xfrm>
            <a:off x="2697480" y="1901952"/>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97480" y="1901952"/>
            <a:ext cx="146304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80360" y="2039112"/>
            <a:ext cx="1097280" cy="548640"/>
          </a:xfrm>
          <a:prstGeom prst="rect">
            <a:avLst/>
          </a:prstGeom>
          <a:noFill/>
        </p:spPr>
        <p:txBody>
          <a:bodyPr wrap="square">
            <a:spAutoFit/>
          </a:bodyPr>
          <a:lstStyle/>
          <a:p>
            <a:pPr algn="ctr">
              <a:defRPr sz="2800" b="1">
                <a:solidFill>
                  <a:srgbClr val="3B82F6"/>
                </a:solidFill>
              </a:defRPr>
            </a:pPr>
            <a:r>
              <a:t>2x</a:t>
            </a:r>
          </a:p>
        </p:txBody>
      </p:sp>
      <p:sp>
        <p:nvSpPr>
          <p:cNvPr id="17" name="TextBox 16"/>
          <p:cNvSpPr txBox="1"/>
          <p:nvPr/>
        </p:nvSpPr>
        <p:spPr>
          <a:xfrm>
            <a:off x="2880360" y="2542032"/>
            <a:ext cx="1097280" cy="-137160"/>
          </a:xfrm>
          <a:prstGeom prst="rect">
            <a:avLst/>
          </a:prstGeom>
          <a:noFill/>
        </p:spPr>
        <p:txBody>
          <a:bodyPr wrap="square">
            <a:spAutoFit/>
          </a:bodyPr>
          <a:lstStyle/>
          <a:p>
            <a:pPr algn="ctr">
              <a:defRPr sz="1200" b="0">
                <a:solidFill>
                  <a:srgbClr val="A0AEC0"/>
                </a:solidFill>
              </a:defRPr>
            </a:pPr>
            <a:r>
              <a:t>Net New ACV</a:t>
            </a:r>
            <a:br/>
            <a:r>
              <a:t>YoY Growth</a:t>
            </a:r>
          </a:p>
        </p:txBody>
      </p:sp>
      <p:sp>
        <p:nvSpPr>
          <p:cNvPr id="18" name="Rounded Rectangle 17"/>
          <p:cNvSpPr/>
          <p:nvPr/>
        </p:nvSpPr>
        <p:spPr>
          <a:xfrm>
            <a:off x="4297680" y="1901952"/>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1901952"/>
            <a:ext cx="146304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2039112"/>
            <a:ext cx="1097280" cy="548640"/>
          </a:xfrm>
          <a:prstGeom prst="rect">
            <a:avLst/>
          </a:prstGeom>
          <a:noFill/>
        </p:spPr>
        <p:txBody>
          <a:bodyPr wrap="square">
            <a:spAutoFit/>
          </a:bodyPr>
          <a:lstStyle/>
          <a:p>
            <a:pPr algn="ctr">
              <a:defRPr sz="2800" b="1">
                <a:solidFill>
                  <a:srgbClr val="A755F7"/>
                </a:solidFill>
              </a:defRPr>
            </a:pPr>
            <a:r>
              <a:t>35</a:t>
            </a:r>
          </a:p>
        </p:txBody>
      </p:sp>
      <p:sp>
        <p:nvSpPr>
          <p:cNvPr id="21" name="TextBox 20"/>
          <p:cNvSpPr txBox="1"/>
          <p:nvPr/>
        </p:nvSpPr>
        <p:spPr>
          <a:xfrm>
            <a:off x="4480560" y="2542032"/>
            <a:ext cx="1097280" cy="-137160"/>
          </a:xfrm>
          <a:prstGeom prst="rect">
            <a:avLst/>
          </a:prstGeom>
          <a:noFill/>
        </p:spPr>
        <p:txBody>
          <a:bodyPr wrap="square">
            <a:spAutoFit/>
          </a:bodyPr>
          <a:lstStyle/>
          <a:p>
            <a:pPr algn="ctr">
              <a:defRPr sz="1200" b="0">
                <a:solidFill>
                  <a:srgbClr val="A0AEC0"/>
                </a:solidFill>
              </a:defRPr>
            </a:pPr>
            <a:r>
              <a:t>Deals &gt;$1M</a:t>
            </a:r>
            <a:br/>
            <a:r>
              <a:t>in Q4</a:t>
            </a:r>
          </a:p>
        </p:txBody>
      </p:sp>
      <p:sp>
        <p:nvSpPr>
          <p:cNvPr id="22" name="TextBox 21"/>
          <p:cNvSpPr txBox="1"/>
          <p:nvPr/>
        </p:nvSpPr>
        <p:spPr>
          <a:xfrm>
            <a:off x="6035040" y="1874520"/>
            <a:ext cx="5029200" cy="1188720"/>
          </a:xfrm>
          <a:prstGeom prst="rect">
            <a:avLst/>
          </a:prstGeom>
          <a:noFill/>
        </p:spPr>
        <p:txBody>
          <a:bodyPr wrap="square">
            <a:spAutoFit/>
          </a:bodyPr>
          <a:lstStyle/>
          <a:p>
            <a:pPr algn="l">
              <a:spcAft>
                <a:spcPts val="100"/>
              </a:spcAft>
              <a:defRPr sz="900" b="0">
                <a:solidFill>
                  <a:srgbClr val="A0AEC0"/>
                </a:solidFill>
              </a:defRPr>
            </a:pPr>
            <a:r>
              <a:t>•  Q4 2025 subscription revenue $3.47B (+21% YoY); total revenue $3.57B (+20.5%)</a:t>
            </a:r>
          </a:p>
          <a:p>
            <a:pPr algn="l">
              <a:spcAft>
                <a:spcPts val="100"/>
              </a:spcAft>
              <a:defRPr sz="900" b="0">
                <a:solidFill>
                  <a:srgbClr val="A0AEC0"/>
                </a:solidFill>
              </a:defRPr>
            </a:pPr>
            <a:r>
              <a:t>•  603 customers with &gt;$5M ACV (+20% YoY); 244 deals &gt;$1M net new ACV (+40% YoY)</a:t>
            </a:r>
          </a:p>
          <a:p>
            <a:pPr algn="l">
              <a:spcAft>
                <a:spcPts val="100"/>
              </a:spcAft>
              <a:defRPr sz="900" b="0">
                <a:solidFill>
                  <a:srgbClr val="A0AEC0"/>
                </a:solidFill>
              </a:defRPr>
            </a:pPr>
            <a:r>
              <a:t>•  Launched thousands of pre-built AI agents + AI Agent Studio (no-code)</a:t>
            </a:r>
          </a:p>
          <a:p>
            <a:pPr algn="l">
              <a:spcAft>
                <a:spcPts val="100"/>
              </a:spcAft>
              <a:defRPr sz="900" b="0">
                <a:solidFill>
                  <a:srgbClr val="A0AEC0"/>
                </a:solidFill>
              </a:defRPr>
            </a:pPr>
            <a:r>
              <a:t>•  AI Agent Orchestrator to manage agent fleets across the enterprise</a:t>
            </a:r>
          </a:p>
        </p:txBody>
      </p:sp>
      <p:sp>
        <p:nvSpPr>
          <p:cNvPr id="23" name="Rounded Rectangle 22"/>
          <p:cNvSpPr/>
          <p:nvPr/>
        </p:nvSpPr>
        <p:spPr>
          <a:xfrm>
            <a:off x="731520" y="3246120"/>
            <a:ext cx="10515600" cy="16002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3246120"/>
            <a:ext cx="63500" cy="16002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3300984"/>
            <a:ext cx="4114800" cy="274320"/>
          </a:xfrm>
          <a:prstGeom prst="rect">
            <a:avLst/>
          </a:prstGeom>
          <a:noFill/>
        </p:spPr>
        <p:txBody>
          <a:bodyPr wrap="square">
            <a:spAutoFit/>
          </a:bodyPr>
          <a:lstStyle/>
          <a:p>
            <a:pPr algn="l">
              <a:defRPr sz="1600" b="1">
                <a:solidFill>
                  <a:srgbClr val="14B8A6"/>
                </a:solidFill>
              </a:defRPr>
            </a:pPr>
            <a:r>
              <a:t>AWS — Bedrock Agents</a:t>
            </a:r>
          </a:p>
        </p:txBody>
      </p:sp>
      <p:sp>
        <p:nvSpPr>
          <p:cNvPr id="26" name="TextBox 25"/>
          <p:cNvSpPr txBox="1"/>
          <p:nvPr/>
        </p:nvSpPr>
        <p:spPr>
          <a:xfrm>
            <a:off x="6400800" y="3300984"/>
            <a:ext cx="4572000" cy="274320"/>
          </a:xfrm>
          <a:prstGeom prst="rect">
            <a:avLst/>
          </a:prstGeom>
          <a:noFill/>
        </p:spPr>
        <p:txBody>
          <a:bodyPr wrap="square">
            <a:spAutoFit/>
          </a:bodyPr>
          <a:lstStyle/>
          <a:p>
            <a:pPr algn="r">
              <a:defRPr sz="1100" b="0">
                <a:solidFill>
                  <a:srgbClr val="707890"/>
                </a:solidFill>
              </a:defRPr>
            </a:pPr>
            <a:r>
              <a:t>Q4 2025 Earnings (Amazon)</a:t>
            </a:r>
          </a:p>
        </p:txBody>
      </p:sp>
      <p:sp>
        <p:nvSpPr>
          <p:cNvPr id="27" name="Rounded Rectangle 26"/>
          <p:cNvSpPr/>
          <p:nvPr/>
        </p:nvSpPr>
        <p:spPr>
          <a:xfrm>
            <a:off x="1097280" y="3593592"/>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7280" y="3593592"/>
            <a:ext cx="146304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80160" y="3730752"/>
            <a:ext cx="1097280" cy="548640"/>
          </a:xfrm>
          <a:prstGeom prst="rect">
            <a:avLst/>
          </a:prstGeom>
          <a:noFill/>
        </p:spPr>
        <p:txBody>
          <a:bodyPr wrap="square">
            <a:spAutoFit/>
          </a:bodyPr>
          <a:lstStyle/>
          <a:p>
            <a:pPr algn="ctr">
              <a:defRPr sz="2800" b="1">
                <a:solidFill>
                  <a:srgbClr val="FF6F00"/>
                </a:solidFill>
              </a:defRPr>
            </a:pPr>
            <a:r>
              <a:t>$128.7B</a:t>
            </a:r>
          </a:p>
        </p:txBody>
      </p:sp>
      <p:sp>
        <p:nvSpPr>
          <p:cNvPr id="30" name="TextBox 29"/>
          <p:cNvSpPr txBox="1"/>
          <p:nvPr/>
        </p:nvSpPr>
        <p:spPr>
          <a:xfrm>
            <a:off x="1280160" y="4233672"/>
            <a:ext cx="1097280" cy="-137160"/>
          </a:xfrm>
          <a:prstGeom prst="rect">
            <a:avLst/>
          </a:prstGeom>
          <a:noFill/>
        </p:spPr>
        <p:txBody>
          <a:bodyPr wrap="square">
            <a:spAutoFit/>
          </a:bodyPr>
          <a:lstStyle/>
          <a:p>
            <a:pPr algn="ctr">
              <a:defRPr sz="1200" b="0">
                <a:solidFill>
                  <a:srgbClr val="A0AEC0"/>
                </a:solidFill>
              </a:defRPr>
            </a:pPr>
            <a:r>
              <a:t>AWS Full-Year</a:t>
            </a:r>
            <a:br/>
            <a:r>
              <a:t>Revenue</a:t>
            </a:r>
          </a:p>
        </p:txBody>
      </p:sp>
      <p:sp>
        <p:nvSpPr>
          <p:cNvPr id="31" name="Rounded Rectangle 30"/>
          <p:cNvSpPr/>
          <p:nvPr/>
        </p:nvSpPr>
        <p:spPr>
          <a:xfrm>
            <a:off x="2697480" y="3593592"/>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697480" y="3593592"/>
            <a:ext cx="146304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80360" y="3730752"/>
            <a:ext cx="1097280" cy="548640"/>
          </a:xfrm>
          <a:prstGeom prst="rect">
            <a:avLst/>
          </a:prstGeom>
          <a:noFill/>
        </p:spPr>
        <p:txBody>
          <a:bodyPr wrap="square">
            <a:spAutoFit/>
          </a:bodyPr>
          <a:lstStyle/>
          <a:p>
            <a:pPr algn="ctr">
              <a:defRPr sz="2800" b="1">
                <a:solidFill>
                  <a:srgbClr val="14B8A6"/>
                </a:solidFill>
              </a:defRPr>
            </a:pPr>
            <a:r>
              <a:t>100K+</a:t>
            </a:r>
          </a:p>
        </p:txBody>
      </p:sp>
      <p:sp>
        <p:nvSpPr>
          <p:cNvPr id="34" name="TextBox 33"/>
          <p:cNvSpPr txBox="1"/>
          <p:nvPr/>
        </p:nvSpPr>
        <p:spPr>
          <a:xfrm>
            <a:off x="2880360" y="4233672"/>
            <a:ext cx="1097280" cy="-137160"/>
          </a:xfrm>
          <a:prstGeom prst="rect">
            <a:avLst/>
          </a:prstGeom>
          <a:noFill/>
        </p:spPr>
        <p:txBody>
          <a:bodyPr wrap="square">
            <a:spAutoFit/>
          </a:bodyPr>
          <a:lstStyle/>
          <a:p>
            <a:pPr algn="ctr">
              <a:defRPr sz="1200" b="0">
                <a:solidFill>
                  <a:srgbClr val="A0AEC0"/>
                </a:solidFill>
              </a:defRPr>
            </a:pPr>
            <a:r>
              <a:t>Bedrock</a:t>
            </a:r>
            <a:br/>
            <a:r>
              <a:t>Organizations</a:t>
            </a:r>
          </a:p>
        </p:txBody>
      </p:sp>
      <p:sp>
        <p:nvSpPr>
          <p:cNvPr id="35" name="Rounded Rectangle 34"/>
          <p:cNvSpPr/>
          <p:nvPr/>
        </p:nvSpPr>
        <p:spPr>
          <a:xfrm>
            <a:off x="4297680" y="3593592"/>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297680" y="3593592"/>
            <a:ext cx="146304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0560" y="3730752"/>
            <a:ext cx="1097280" cy="548640"/>
          </a:xfrm>
          <a:prstGeom prst="rect">
            <a:avLst/>
          </a:prstGeom>
          <a:noFill/>
        </p:spPr>
        <p:txBody>
          <a:bodyPr wrap="square">
            <a:spAutoFit/>
          </a:bodyPr>
          <a:lstStyle/>
          <a:p>
            <a:pPr algn="ctr">
              <a:defRPr sz="2800" b="1">
                <a:solidFill>
                  <a:srgbClr val="3B82F6"/>
                </a:solidFill>
              </a:defRPr>
            </a:pPr>
            <a:r>
              <a:t>60%</a:t>
            </a:r>
          </a:p>
        </p:txBody>
      </p:sp>
      <p:sp>
        <p:nvSpPr>
          <p:cNvPr id="38" name="TextBox 37"/>
          <p:cNvSpPr txBox="1"/>
          <p:nvPr/>
        </p:nvSpPr>
        <p:spPr>
          <a:xfrm>
            <a:off x="4480560" y="4233672"/>
            <a:ext cx="1097280" cy="-137160"/>
          </a:xfrm>
          <a:prstGeom prst="rect">
            <a:avLst/>
          </a:prstGeom>
          <a:noFill/>
        </p:spPr>
        <p:txBody>
          <a:bodyPr wrap="square">
            <a:spAutoFit/>
          </a:bodyPr>
          <a:lstStyle/>
          <a:p>
            <a:pPr algn="ctr">
              <a:defRPr sz="1200" b="0">
                <a:solidFill>
                  <a:srgbClr val="A0AEC0"/>
                </a:solidFill>
              </a:defRPr>
            </a:pPr>
            <a:r>
              <a:t>Customer Spend</a:t>
            </a:r>
            <a:br/>
            <a:r>
              <a:t>Growth QoQ</a:t>
            </a:r>
          </a:p>
        </p:txBody>
      </p:sp>
      <p:sp>
        <p:nvSpPr>
          <p:cNvPr id="39" name="TextBox 38"/>
          <p:cNvSpPr txBox="1"/>
          <p:nvPr/>
        </p:nvSpPr>
        <p:spPr>
          <a:xfrm>
            <a:off x="6035040" y="3566160"/>
            <a:ext cx="5029200" cy="1188720"/>
          </a:xfrm>
          <a:prstGeom prst="rect">
            <a:avLst/>
          </a:prstGeom>
          <a:noFill/>
        </p:spPr>
        <p:txBody>
          <a:bodyPr wrap="square">
            <a:spAutoFit/>
          </a:bodyPr>
          <a:lstStyle/>
          <a:p>
            <a:pPr algn="l">
              <a:spcAft>
                <a:spcPts val="100"/>
              </a:spcAft>
              <a:defRPr sz="900" b="0">
                <a:solidFill>
                  <a:srgbClr val="A0AEC0"/>
                </a:solidFill>
              </a:defRPr>
            </a:pPr>
            <a:r>
              <a:t>•  AWS revenue $35.6B in Q4 (+24% YoY) — fastest growth in 13 quarters</a:t>
            </a:r>
          </a:p>
          <a:p>
            <a:pPr algn="l">
              <a:spcAft>
                <a:spcPts val="100"/>
              </a:spcAft>
              <a:defRPr sz="900" b="0">
                <a:solidFill>
                  <a:srgbClr val="A0AEC0"/>
                </a:solidFill>
              </a:defRPr>
            </a:pPr>
            <a:r>
              <a:t>•  Bedrock: multi-billion dollar run-rate; customer spend +60% quarter-over-quarter</a:t>
            </a:r>
          </a:p>
          <a:p>
            <a:pPr algn="l">
              <a:spcAft>
                <a:spcPts val="100"/>
              </a:spcAft>
              <a:defRPr sz="900" b="0">
                <a:solidFill>
                  <a:srgbClr val="A0AEC0"/>
                </a:solidFill>
              </a:defRPr>
            </a:pPr>
            <a:r>
              <a:t>•  Bedrock AgentCore launched: secure deployment, governance, monitoring at scale</a:t>
            </a:r>
          </a:p>
          <a:p>
            <a:pPr algn="l">
              <a:spcAft>
                <a:spcPts val="100"/>
              </a:spcAft>
              <a:defRPr sz="900" b="0">
                <a:solidFill>
                  <a:srgbClr val="A0AEC0"/>
                </a:solidFill>
              </a:defRPr>
            </a:pPr>
            <a:r>
              <a:t>•  CEO Jassy: ~$200B planned capex for 2026, largely in AWS AI infrastructure</a:t>
            </a:r>
          </a:p>
        </p:txBody>
      </p:sp>
      <p:sp>
        <p:nvSpPr>
          <p:cNvPr id="40" name="Rounded Rectangle 39"/>
          <p:cNvSpPr/>
          <p:nvPr/>
        </p:nvSpPr>
        <p:spPr>
          <a:xfrm>
            <a:off x="731520" y="4937760"/>
            <a:ext cx="10515600" cy="16002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31520" y="4937760"/>
            <a:ext cx="63500" cy="16002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4992624"/>
            <a:ext cx="4114800" cy="274320"/>
          </a:xfrm>
          <a:prstGeom prst="rect">
            <a:avLst/>
          </a:prstGeom>
          <a:noFill/>
        </p:spPr>
        <p:txBody>
          <a:bodyPr wrap="square">
            <a:spAutoFit/>
          </a:bodyPr>
          <a:lstStyle/>
          <a:p>
            <a:pPr algn="l">
              <a:defRPr sz="1600" b="1">
                <a:solidFill>
                  <a:srgbClr val="A755F7"/>
                </a:solidFill>
              </a:defRPr>
            </a:pPr>
            <a:r>
              <a:t>Palantir — AIP Agents</a:t>
            </a:r>
          </a:p>
        </p:txBody>
      </p:sp>
      <p:sp>
        <p:nvSpPr>
          <p:cNvPr id="43" name="TextBox 42"/>
          <p:cNvSpPr txBox="1"/>
          <p:nvPr/>
        </p:nvSpPr>
        <p:spPr>
          <a:xfrm>
            <a:off x="6400800" y="4992624"/>
            <a:ext cx="4572000" cy="274320"/>
          </a:xfrm>
          <a:prstGeom prst="rect">
            <a:avLst/>
          </a:prstGeom>
          <a:noFill/>
        </p:spPr>
        <p:txBody>
          <a:bodyPr wrap="square">
            <a:spAutoFit/>
          </a:bodyPr>
          <a:lstStyle/>
          <a:p>
            <a:pPr algn="r">
              <a:defRPr sz="1100" b="0">
                <a:solidFill>
                  <a:srgbClr val="707890"/>
                </a:solidFill>
              </a:defRPr>
            </a:pPr>
            <a:r>
              <a:t>Q4 2025 Earnings / 10-K</a:t>
            </a:r>
          </a:p>
        </p:txBody>
      </p:sp>
      <p:sp>
        <p:nvSpPr>
          <p:cNvPr id="44" name="Rounded Rectangle 43"/>
          <p:cNvSpPr/>
          <p:nvPr/>
        </p:nvSpPr>
        <p:spPr>
          <a:xfrm>
            <a:off x="1097280" y="5285232"/>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7280" y="5285232"/>
            <a:ext cx="146304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80160" y="5422392"/>
            <a:ext cx="1097280" cy="548640"/>
          </a:xfrm>
          <a:prstGeom prst="rect">
            <a:avLst/>
          </a:prstGeom>
          <a:noFill/>
        </p:spPr>
        <p:txBody>
          <a:bodyPr wrap="square">
            <a:spAutoFit/>
          </a:bodyPr>
          <a:lstStyle/>
          <a:p>
            <a:pPr algn="ctr">
              <a:defRPr sz="2800" b="1">
                <a:solidFill>
                  <a:srgbClr val="A755F7"/>
                </a:solidFill>
              </a:defRPr>
            </a:pPr>
            <a:r>
              <a:t>$4.5B</a:t>
            </a:r>
          </a:p>
        </p:txBody>
      </p:sp>
      <p:sp>
        <p:nvSpPr>
          <p:cNvPr id="47" name="TextBox 46"/>
          <p:cNvSpPr txBox="1"/>
          <p:nvPr/>
        </p:nvSpPr>
        <p:spPr>
          <a:xfrm>
            <a:off x="1280160" y="5925312"/>
            <a:ext cx="1097280" cy="-137160"/>
          </a:xfrm>
          <a:prstGeom prst="rect">
            <a:avLst/>
          </a:prstGeom>
          <a:noFill/>
        </p:spPr>
        <p:txBody>
          <a:bodyPr wrap="square">
            <a:spAutoFit/>
          </a:bodyPr>
          <a:lstStyle/>
          <a:p>
            <a:pPr algn="ctr">
              <a:defRPr sz="1200" b="0">
                <a:solidFill>
                  <a:srgbClr val="A0AEC0"/>
                </a:solidFill>
              </a:defRPr>
            </a:pPr>
            <a:r>
              <a:t>Total Revenue</a:t>
            </a:r>
            <a:br/>
            <a:r>
              <a:t>(+56% YoY)</a:t>
            </a:r>
          </a:p>
        </p:txBody>
      </p:sp>
      <p:sp>
        <p:nvSpPr>
          <p:cNvPr id="48" name="Rounded Rectangle 47"/>
          <p:cNvSpPr/>
          <p:nvPr/>
        </p:nvSpPr>
        <p:spPr>
          <a:xfrm>
            <a:off x="2697480" y="5285232"/>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697480" y="5285232"/>
            <a:ext cx="1463040" cy="5080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80360" y="5422392"/>
            <a:ext cx="1097280" cy="548640"/>
          </a:xfrm>
          <a:prstGeom prst="rect">
            <a:avLst/>
          </a:prstGeom>
          <a:noFill/>
        </p:spPr>
        <p:txBody>
          <a:bodyPr wrap="square">
            <a:spAutoFit/>
          </a:bodyPr>
          <a:lstStyle/>
          <a:p>
            <a:pPr algn="ctr">
              <a:defRPr sz="2800" b="1">
                <a:solidFill>
                  <a:srgbClr val="E84D3D"/>
                </a:solidFill>
              </a:defRPr>
            </a:pPr>
            <a:r>
              <a:t>137%</a:t>
            </a:r>
          </a:p>
        </p:txBody>
      </p:sp>
      <p:sp>
        <p:nvSpPr>
          <p:cNvPr id="51" name="TextBox 50"/>
          <p:cNvSpPr txBox="1"/>
          <p:nvPr/>
        </p:nvSpPr>
        <p:spPr>
          <a:xfrm>
            <a:off x="2880360" y="5925312"/>
            <a:ext cx="1097280" cy="-137160"/>
          </a:xfrm>
          <a:prstGeom prst="rect">
            <a:avLst/>
          </a:prstGeom>
          <a:noFill/>
        </p:spPr>
        <p:txBody>
          <a:bodyPr wrap="square">
            <a:spAutoFit/>
          </a:bodyPr>
          <a:lstStyle/>
          <a:p>
            <a:pPr algn="ctr">
              <a:defRPr sz="1200" b="0">
                <a:solidFill>
                  <a:srgbClr val="A0AEC0"/>
                </a:solidFill>
              </a:defRPr>
            </a:pPr>
            <a:r>
              <a:t>US Commercial</a:t>
            </a:r>
            <a:br/>
            <a:r>
              <a:t>Q4 Growth YoY</a:t>
            </a:r>
          </a:p>
        </p:txBody>
      </p:sp>
      <p:sp>
        <p:nvSpPr>
          <p:cNvPr id="52" name="Rounded Rectangle 51"/>
          <p:cNvSpPr/>
          <p:nvPr/>
        </p:nvSpPr>
        <p:spPr>
          <a:xfrm>
            <a:off x="4297680" y="5285232"/>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297680" y="5285232"/>
            <a:ext cx="146304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480560" y="5422392"/>
            <a:ext cx="1097280" cy="548640"/>
          </a:xfrm>
          <a:prstGeom prst="rect">
            <a:avLst/>
          </a:prstGeom>
          <a:noFill/>
        </p:spPr>
        <p:txBody>
          <a:bodyPr wrap="square">
            <a:spAutoFit/>
          </a:bodyPr>
          <a:lstStyle/>
          <a:p>
            <a:pPr algn="ctr">
              <a:defRPr sz="2800" b="1">
                <a:solidFill>
                  <a:srgbClr val="FF6F00"/>
                </a:solidFill>
              </a:defRPr>
            </a:pPr>
            <a:r>
              <a:t>50%</a:t>
            </a:r>
          </a:p>
        </p:txBody>
      </p:sp>
      <p:sp>
        <p:nvSpPr>
          <p:cNvPr id="55" name="TextBox 54"/>
          <p:cNvSpPr txBox="1"/>
          <p:nvPr/>
        </p:nvSpPr>
        <p:spPr>
          <a:xfrm>
            <a:off x="4480560" y="5925312"/>
            <a:ext cx="1097280" cy="-137160"/>
          </a:xfrm>
          <a:prstGeom prst="rect">
            <a:avLst/>
          </a:prstGeom>
          <a:noFill/>
        </p:spPr>
        <p:txBody>
          <a:bodyPr wrap="square">
            <a:spAutoFit/>
          </a:bodyPr>
          <a:lstStyle/>
          <a:p>
            <a:pPr algn="ctr">
              <a:defRPr sz="1200" b="0">
                <a:solidFill>
                  <a:srgbClr val="A0AEC0"/>
                </a:solidFill>
              </a:defRPr>
            </a:pPr>
            <a:r>
              <a:t>Adjusted Op.</a:t>
            </a:r>
            <a:br/>
            <a:r>
              <a:t>Margin</a:t>
            </a:r>
          </a:p>
        </p:txBody>
      </p:sp>
      <p:sp>
        <p:nvSpPr>
          <p:cNvPr id="56" name="TextBox 55"/>
          <p:cNvSpPr txBox="1"/>
          <p:nvPr/>
        </p:nvSpPr>
        <p:spPr>
          <a:xfrm>
            <a:off x="6035040" y="5257800"/>
            <a:ext cx="5029200" cy="1188720"/>
          </a:xfrm>
          <a:prstGeom prst="rect">
            <a:avLst/>
          </a:prstGeom>
          <a:noFill/>
        </p:spPr>
        <p:txBody>
          <a:bodyPr wrap="square">
            <a:spAutoFit/>
          </a:bodyPr>
          <a:lstStyle/>
          <a:p>
            <a:pPr algn="l">
              <a:spcAft>
                <a:spcPts val="100"/>
              </a:spcAft>
              <a:defRPr sz="900" b="0">
                <a:solidFill>
                  <a:srgbClr val="A0AEC0"/>
                </a:solidFill>
              </a:defRPr>
            </a:pPr>
            <a:r>
              <a:t>•  U.S. commercial revenue $1.47B (+109% YoY); Q4 alone $507M (+137% YoY)</a:t>
            </a:r>
          </a:p>
          <a:p>
            <a:pPr algn="l">
              <a:spcAft>
                <a:spcPts val="100"/>
              </a:spcAft>
              <a:defRPr sz="900" b="0">
                <a:solidFill>
                  <a:srgbClr val="A0AEC0"/>
                </a:solidFill>
              </a:defRPr>
            </a:pPr>
            <a:r>
              <a:t>•  Record $4.26B total contract value (+138% YoY); Rule of 40 score: 127%</a:t>
            </a:r>
          </a:p>
          <a:p>
            <a:pPr algn="l">
              <a:spcAft>
                <a:spcPts val="100"/>
              </a:spcAft>
              <a:defRPr sz="900" b="0">
                <a:solidFill>
                  <a:srgbClr val="A0AEC0"/>
                </a:solidFill>
              </a:defRPr>
            </a:pPr>
            <a:r>
              <a:t>•  Q4: 180 deals &gt;$1M, 84 &gt;$5M, 61 &gt;$10M — AIP platform driving expansion</a:t>
            </a:r>
          </a:p>
          <a:p>
            <a:pPr algn="l">
              <a:spcAft>
                <a:spcPts val="100"/>
              </a:spcAft>
              <a:defRPr sz="900" b="0">
                <a:solidFill>
                  <a:srgbClr val="A0AEC0"/>
                </a:solidFill>
              </a:defRPr>
            </a:pPr>
            <a:r>
              <a:t>•  CEO Karp: AI "has just put gasoline on all the tribal knowledge in our products"</a:t>
            </a:r>
          </a:p>
        </p:txBody>
      </p:sp>
      <p:sp>
        <p:nvSpPr>
          <p:cNvPr id="57" name="TextBox 56"/>
          <p:cNvSpPr txBox="1"/>
          <p:nvPr/>
        </p:nvSpPr>
        <p:spPr>
          <a:xfrm>
            <a:off x="731520" y="6400800"/>
            <a:ext cx="10058400" cy="365760"/>
          </a:xfrm>
          <a:prstGeom prst="rect">
            <a:avLst/>
          </a:prstGeom>
          <a:noFill/>
        </p:spPr>
        <p:txBody>
          <a:bodyPr wrap="square">
            <a:spAutoFit/>
          </a:bodyPr>
          <a:lstStyle/>
          <a:p>
            <a:pPr algn="l">
              <a:spcAft>
                <a:spcPts val="600"/>
              </a:spcAft>
              <a:defRPr sz="1000" b="0">
                <a:solidFill>
                  <a:srgbClr val="707890"/>
                </a:solidFill>
              </a:defRPr>
            </a:pPr>
            <a:r>
              <a:t>Additional filings: Google Cloud $70B+ run rate (+48% YoY in Q4 '25); NVIDIA $130.5B revenue (+114% YoY); Snowflake AI revenue $100M run rate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Competitive Landscape: Databricks vs. Peers</a:t>
            </a:r>
          </a:p>
        </p:txBody>
      </p:sp>
      <p:sp>
        <p:nvSpPr>
          <p:cNvPr id="4" name="Rectangle 3"/>
          <p:cNvSpPr/>
          <p:nvPr/>
        </p:nvSpPr>
        <p:spPr>
          <a:xfrm>
            <a:off x="731520" y="1051560"/>
            <a:ext cx="2743200" cy="5080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9144000" cy="365760"/>
          </a:xfrm>
          <a:prstGeom prst="rect">
            <a:avLst/>
          </a:prstGeom>
          <a:noFill/>
        </p:spPr>
        <p:txBody>
          <a:bodyPr wrap="square">
            <a:spAutoFit/>
          </a:bodyPr>
          <a:lstStyle/>
          <a:p>
            <a:pPr algn="l">
              <a:defRPr sz="1300" b="0">
                <a:solidFill>
                  <a:srgbClr val="A0AEC0"/>
                </a:solidFill>
              </a:defRPr>
            </a:pPr>
            <a:r>
              <a:t>Where Databricks positions in the agentic AI platform market (data from filings &amp; earnings)</a:t>
            </a:r>
          </a:p>
        </p:txBody>
      </p:sp>
      <p:sp>
        <p:nvSpPr>
          <p:cNvPr id="6" name="Rounded Rectangle 5"/>
          <p:cNvSpPr/>
          <p:nvPr/>
        </p:nvSpPr>
        <p:spPr>
          <a:xfrm>
            <a:off x="731520" y="1645920"/>
            <a:ext cx="10515600" cy="21945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05156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83080"/>
            <a:ext cx="4572000" cy="320040"/>
          </a:xfrm>
          <a:prstGeom prst="rect">
            <a:avLst/>
          </a:prstGeom>
          <a:noFill/>
        </p:spPr>
        <p:txBody>
          <a:bodyPr wrap="square">
            <a:spAutoFit/>
          </a:bodyPr>
          <a:lstStyle/>
          <a:p>
            <a:pPr algn="l">
              <a:defRPr sz="1600" b="1">
                <a:solidFill>
                  <a:srgbClr val="FF6F00"/>
                </a:solidFill>
              </a:defRPr>
            </a:pPr>
            <a:r>
              <a:t>Data Platform Rivals: Databricks vs. Snowflake</a:t>
            </a:r>
          </a:p>
        </p:txBody>
      </p:sp>
      <p:sp>
        <p:nvSpPr>
          <p:cNvPr id="9" name="TextBox 8"/>
          <p:cNvSpPr txBox="1"/>
          <p:nvPr/>
        </p:nvSpPr>
        <p:spPr>
          <a:xfrm>
            <a:off x="1005840" y="2148840"/>
            <a:ext cx="9875520" cy="1554480"/>
          </a:xfrm>
          <a:prstGeom prst="rect">
            <a:avLst/>
          </a:prstGeom>
          <a:noFill/>
        </p:spPr>
        <p:txBody>
          <a:bodyPr wrap="square">
            <a:spAutoFit/>
          </a:bodyPr>
          <a:lstStyle/>
          <a:p/>
        </p:txBody>
      </p:sp>
      <p:sp>
        <p:nvSpPr>
          <p:cNvPr id="10" name="TextBox 9"/>
          <p:cNvSpPr txBox="1"/>
          <p:nvPr/>
        </p:nvSpPr>
        <p:spPr>
          <a:xfrm>
            <a:off x="1005840" y="2148840"/>
            <a:ext cx="9875520" cy="1554480"/>
          </a:xfrm>
          <a:prstGeom prst="rect">
            <a:avLst/>
          </a:prstGeom>
          <a:noFill/>
        </p:spPr>
        <p:txBody>
          <a:bodyPr wrap="square">
            <a:spAutoFit/>
          </a:bodyPr>
          <a:lstStyle/>
          <a:p>
            <a:pPr algn="l">
              <a:spcAft>
                <a:spcPts val="400"/>
              </a:spcAft>
              <a:defRPr sz="1200" b="0">
                <a:solidFill>
                  <a:srgbClr val="FFFFFF"/>
                </a:solidFill>
              </a:defRPr>
            </a:pPr>
            <a:r>
              <a:t>Revenue          Databricks $5.4B ARR (~65% YoY)   vs   Snowflake $4.47B (29% YoY)</a:t>
            </a:r>
          </a:p>
          <a:p>
            <a:pPr algn="l">
              <a:spcAft>
                <a:spcPts val="400"/>
              </a:spcAft>
              <a:defRPr sz="1200" b="0">
                <a:solidFill>
                  <a:srgbClr val="FFFFFF"/>
                </a:solidFill>
              </a:defRPr>
            </a:pPr>
            <a:r>
              <a:t>AI Revenue      Databricks $1.4B AI ARR   vs   Snowflake ~$100M AI run rate</a:t>
            </a:r>
          </a:p>
          <a:p>
            <a:pPr algn="l">
              <a:spcAft>
                <a:spcPts val="400"/>
              </a:spcAft>
              <a:defRPr sz="1200" b="0">
                <a:solidFill>
                  <a:srgbClr val="FFFFFF"/>
                </a:solidFill>
              </a:defRPr>
            </a:pPr>
            <a:r>
              <a:t>Agent Tools      Mosaic AI + Agent Bricks + MCP   vs   Cortex AI + Snowflake Intelligence</a:t>
            </a:r>
          </a:p>
          <a:p>
            <a:pPr algn="l">
              <a:spcAft>
                <a:spcPts val="400"/>
              </a:spcAft>
              <a:defRPr sz="1200" b="0">
                <a:solidFill>
                  <a:srgbClr val="FFFFFF"/>
                </a:solidFill>
              </a:defRPr>
            </a:pPr>
            <a:r>
              <a:t>Agent Traction  20,000+ customers, 327% multi-agent growth   vs   2,500+ Intelligence customers (3 months)</a:t>
            </a:r>
          </a:p>
          <a:p>
            <a:pPr algn="l">
              <a:spcAft>
                <a:spcPts val="400"/>
              </a:spcAft>
              <a:defRPr sz="1200" b="0">
                <a:solidFill>
                  <a:srgbClr val="FFFFFF"/>
                </a:solidFill>
              </a:defRPr>
            </a:pPr>
            <a:r>
              <a:t>Valuation         $134B (private)   vs   ~$59B (NYSE: SNOW)</a:t>
            </a:r>
          </a:p>
          <a:p>
            <a:pPr algn="l">
              <a:spcAft>
                <a:spcPts val="600"/>
              </a:spcAft>
              <a:defRPr sz="1100" b="1">
                <a:solidFill>
                  <a:srgbClr val="FF6F00"/>
                </a:solidFill>
              </a:defRPr>
            </a:pPr>
            <a:r>
              <a:t>Note: 74% of consulting firms work with both platforms in hybrid deployments</a:t>
            </a:r>
          </a:p>
        </p:txBody>
      </p:sp>
      <p:sp>
        <p:nvSpPr>
          <p:cNvPr id="11" name="Rounded Rectangle 10"/>
          <p:cNvSpPr/>
          <p:nvPr/>
        </p:nvSpPr>
        <p:spPr>
          <a:xfrm>
            <a:off x="731520" y="4023360"/>
            <a:ext cx="5029200" cy="256032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023360"/>
            <a:ext cx="502920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160520"/>
            <a:ext cx="4572000" cy="320040"/>
          </a:xfrm>
          <a:prstGeom prst="rect">
            <a:avLst/>
          </a:prstGeom>
          <a:noFill/>
        </p:spPr>
        <p:txBody>
          <a:bodyPr wrap="square">
            <a:spAutoFit/>
          </a:bodyPr>
          <a:lstStyle/>
          <a:p>
            <a:pPr algn="l">
              <a:defRPr sz="1600" b="1">
                <a:solidFill>
                  <a:srgbClr val="3B82F6"/>
                </a:solidFill>
              </a:defRPr>
            </a:pPr>
            <a:r>
              <a:t>Cloud Hyperscaler Agent Platforms</a:t>
            </a:r>
          </a:p>
        </p:txBody>
      </p:sp>
      <p:sp>
        <p:nvSpPr>
          <p:cNvPr id="14" name="TextBox 13"/>
          <p:cNvSpPr txBox="1"/>
          <p:nvPr/>
        </p:nvSpPr>
        <p:spPr>
          <a:xfrm>
            <a:off x="1005840" y="4526280"/>
            <a:ext cx="4572000" cy="1920240"/>
          </a:xfrm>
          <a:prstGeom prst="rect">
            <a:avLst/>
          </a:prstGeom>
          <a:noFill/>
        </p:spPr>
        <p:txBody>
          <a:bodyPr wrap="square">
            <a:spAutoFit/>
          </a:bodyPr>
          <a:lstStyle/>
          <a:p>
            <a:pPr algn="l">
              <a:spcAft>
                <a:spcPts val="200"/>
              </a:spcAft>
              <a:defRPr sz="1300" b="1">
                <a:solidFill>
                  <a:srgbClr val="FF6F00"/>
                </a:solidFill>
              </a:defRPr>
            </a:pPr>
            <a:r>
              <a:t>AWS Bedrock Agents</a:t>
            </a:r>
          </a:p>
          <a:p>
            <a:pPr algn="l">
              <a:spcAft>
                <a:spcPts val="600"/>
              </a:spcAft>
              <a:defRPr sz="1100" b="0">
                <a:solidFill>
                  <a:srgbClr val="A0AEC0"/>
                </a:solidFill>
              </a:defRPr>
            </a:pPr>
            <a:r>
              <a:t>  100K+ orgs; multi-B$ run rate; AgentCore for governance</a:t>
            </a:r>
          </a:p>
          <a:p>
            <a:pPr algn="l">
              <a:spcAft>
                <a:spcPts val="200"/>
              </a:spcAft>
              <a:defRPr sz="1300" b="1">
                <a:solidFill>
                  <a:srgbClr val="22C55E"/>
                </a:solidFill>
              </a:defRPr>
            </a:pPr>
            <a:r>
              <a:t>Google Cloud Vertex AI</a:t>
            </a:r>
          </a:p>
          <a:p>
            <a:pPr algn="l">
              <a:spcAft>
                <a:spcPts val="600"/>
              </a:spcAft>
              <a:defRPr sz="1100" b="0">
                <a:solidFill>
                  <a:srgbClr val="A0AEC0"/>
                </a:solidFill>
              </a:defRPr>
            </a:pPr>
            <a:r>
              <a:t>  $70B+ run rate (+48% YoY); 8M+ paid Gemini Enterprise seats</a:t>
            </a:r>
          </a:p>
          <a:p>
            <a:pPr algn="l">
              <a:spcAft>
                <a:spcPts val="200"/>
              </a:spcAft>
              <a:defRPr sz="1300" b="1">
                <a:solidFill>
                  <a:srgbClr val="A755F7"/>
                </a:solidFill>
              </a:defRPr>
            </a:pPr>
            <a:r>
              <a:t>Microsoft Azure AI / Copilot</a:t>
            </a:r>
          </a:p>
          <a:p>
            <a:pPr algn="l">
              <a:spcAft>
                <a:spcPts val="600"/>
              </a:spcAft>
              <a:defRPr sz="1100" b="0">
                <a:solidFill>
                  <a:srgbClr val="A0AEC0"/>
                </a:solidFill>
              </a:defRPr>
            </a:pPr>
            <a:r>
              <a:t>  Azure &gt;$75B rev; 90%+ Fortune 500 on M365 Copilot; Agent 365</a:t>
            </a:r>
          </a:p>
          <a:p>
            <a:pPr algn="l">
              <a:spcAft>
                <a:spcPts val="600"/>
              </a:spcAft>
              <a:defRPr sz="1100" b="1">
                <a:solidFill>
                  <a:srgbClr val="14B8A6"/>
                </a:solidFill>
              </a:defRPr>
            </a:pPr>
            <a:r>
              <a:t>Databricks runs on all three clouds — complementary, not competing</a:t>
            </a:r>
          </a:p>
        </p:txBody>
      </p:sp>
      <p:sp>
        <p:nvSpPr>
          <p:cNvPr id="15" name="Rounded Rectangle 14"/>
          <p:cNvSpPr/>
          <p:nvPr/>
        </p:nvSpPr>
        <p:spPr>
          <a:xfrm>
            <a:off x="6035040" y="4023360"/>
            <a:ext cx="5029200" cy="256032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4023360"/>
            <a:ext cx="502920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4160520"/>
            <a:ext cx="4572000" cy="320040"/>
          </a:xfrm>
          <a:prstGeom prst="rect">
            <a:avLst/>
          </a:prstGeom>
          <a:noFill/>
        </p:spPr>
        <p:txBody>
          <a:bodyPr wrap="square">
            <a:spAutoFit/>
          </a:bodyPr>
          <a:lstStyle/>
          <a:p>
            <a:pPr algn="l">
              <a:defRPr sz="1600" b="1">
                <a:solidFill>
                  <a:srgbClr val="A755F7"/>
                </a:solidFill>
              </a:defRPr>
            </a:pPr>
            <a:r>
              <a:t>Enterprise SaaS &amp; Infra Agents</a:t>
            </a:r>
          </a:p>
        </p:txBody>
      </p:sp>
      <p:sp>
        <p:nvSpPr>
          <p:cNvPr id="18" name="TextBox 17"/>
          <p:cNvSpPr txBox="1"/>
          <p:nvPr/>
        </p:nvSpPr>
        <p:spPr>
          <a:xfrm>
            <a:off x="6309360" y="4526280"/>
            <a:ext cx="4572000" cy="1920240"/>
          </a:xfrm>
          <a:prstGeom prst="rect">
            <a:avLst/>
          </a:prstGeom>
          <a:noFill/>
        </p:spPr>
        <p:txBody>
          <a:bodyPr wrap="square">
            <a:spAutoFit/>
          </a:bodyPr>
          <a:lstStyle/>
          <a:p>
            <a:pPr algn="l">
              <a:spcAft>
                <a:spcPts val="200"/>
              </a:spcAft>
              <a:defRPr sz="1300" b="1">
                <a:solidFill>
                  <a:srgbClr val="FF6F00"/>
                </a:solidFill>
              </a:defRPr>
            </a:pPr>
            <a:r>
              <a:t>Salesforce Agentforce</a:t>
            </a:r>
          </a:p>
          <a:p>
            <a:pPr algn="l">
              <a:spcAft>
                <a:spcPts val="600"/>
              </a:spcAft>
              <a:defRPr sz="1100" b="0">
                <a:solidFill>
                  <a:srgbClr val="A0AEC0"/>
                </a:solidFill>
              </a:defRPr>
            </a:pPr>
            <a:r>
              <a:t>  $800M ARR (+169% YoY); 29K deals; digital labor model</a:t>
            </a:r>
          </a:p>
          <a:p>
            <a:pPr algn="l">
              <a:spcAft>
                <a:spcPts val="200"/>
              </a:spcAft>
              <a:defRPr sz="1300" b="1">
                <a:solidFill>
                  <a:srgbClr val="22C55E"/>
                </a:solidFill>
              </a:defRPr>
            </a:pPr>
            <a:r>
              <a:t>ServiceNow Now Assist</a:t>
            </a:r>
          </a:p>
          <a:p>
            <a:pPr algn="l">
              <a:spcAft>
                <a:spcPts val="600"/>
              </a:spcAft>
              <a:defRPr sz="1100" b="0">
                <a:solidFill>
                  <a:srgbClr val="A0AEC0"/>
                </a:solidFill>
              </a:defRPr>
            </a:pPr>
            <a:r>
              <a:t>  $600M+ ACV; 2x net new ACV growth; agent fleet orchestration</a:t>
            </a:r>
          </a:p>
          <a:p>
            <a:pPr algn="l">
              <a:spcAft>
                <a:spcPts val="200"/>
              </a:spcAft>
              <a:defRPr sz="1300" b="1">
                <a:solidFill>
                  <a:srgbClr val="A755F7"/>
                </a:solidFill>
              </a:defRPr>
            </a:pPr>
            <a:r>
              <a:t>Palantir AIP</a:t>
            </a:r>
          </a:p>
          <a:p>
            <a:pPr algn="l">
              <a:spcAft>
                <a:spcPts val="600"/>
              </a:spcAft>
              <a:defRPr sz="1100" b="0">
                <a:solidFill>
                  <a:srgbClr val="A0AEC0"/>
                </a:solidFill>
              </a:defRPr>
            </a:pPr>
            <a:r>
              <a:t>  $4.5B revenue (+56% YoY); US comm +109%; enterprise AI agents</a:t>
            </a:r>
          </a:p>
          <a:p>
            <a:pPr algn="l">
              <a:spcAft>
                <a:spcPts val="200"/>
              </a:spcAft>
              <a:defRPr sz="1300" b="1">
                <a:solidFill>
                  <a:srgbClr val="14B8A6"/>
                </a:solidFill>
              </a:defRPr>
            </a:pPr>
            <a:r>
              <a:t>NVIDIA Inference Infrastructure</a:t>
            </a:r>
          </a:p>
          <a:p>
            <a:pPr algn="l">
              <a:spcAft>
                <a:spcPts val="600"/>
              </a:spcAft>
              <a:defRPr sz="1100" b="0">
                <a:solidFill>
                  <a:srgbClr val="A0AEC0"/>
                </a:solidFill>
              </a:defRPr>
            </a:pPr>
            <a:r>
              <a:t>  $130.5B rev (+114%); Dynamo 40x token throughput; AI factories</a:t>
            </a:r>
          </a:p>
        </p:txBody>
      </p:sp>
      <p:sp>
        <p:nvSpPr>
          <p:cNvPr id="19" name="TextBox 18"/>
          <p:cNvSpPr txBox="1"/>
          <p:nvPr/>
        </p:nvSpPr>
        <p:spPr>
          <a:xfrm>
            <a:off x="731520" y="6492240"/>
            <a:ext cx="10058400" cy="274320"/>
          </a:xfrm>
          <a:prstGeom prst="rect">
            <a:avLst/>
          </a:prstGeom>
          <a:noFill/>
        </p:spPr>
        <p:txBody>
          <a:bodyPr wrap="square">
            <a:spAutoFit/>
          </a:bodyPr>
          <a:lstStyle/>
          <a:p>
            <a:pPr algn="l">
              <a:spcAft>
                <a:spcPts val="600"/>
              </a:spcAft>
              <a:defRPr sz="1000" b="0">
                <a:solidFill>
                  <a:srgbClr val="707890"/>
                </a:solidFill>
              </a:defRPr>
            </a:pPr>
            <a:r>
              <a:t>Sources: Public SEC filings (10-K), earnings call transcripts, and investor presentations (2025–2026)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Private AI Companies: Foundation Model Providers</a:t>
            </a:r>
          </a:p>
        </p:txBody>
      </p:sp>
      <p:sp>
        <p:nvSpPr>
          <p:cNvPr id="4" name="Rectangle 3"/>
          <p:cNvSpPr/>
          <p:nvPr/>
        </p:nvSpPr>
        <p:spPr>
          <a:xfrm>
            <a:off x="731520" y="1051560"/>
            <a:ext cx="2743200" cy="5080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9144000" cy="365760"/>
          </a:xfrm>
          <a:prstGeom prst="rect">
            <a:avLst/>
          </a:prstGeom>
          <a:noFill/>
        </p:spPr>
        <p:txBody>
          <a:bodyPr wrap="square">
            <a:spAutoFit/>
          </a:bodyPr>
          <a:lstStyle/>
          <a:p>
            <a:pPr algn="l">
              <a:defRPr sz="1300" b="0">
                <a:solidFill>
                  <a:srgbClr val="A0AEC0"/>
                </a:solidFill>
              </a:defRPr>
            </a:pPr>
            <a:r>
              <a:t>Privately held companies building agentic AI products and infrastructure</a:t>
            </a:r>
          </a:p>
        </p:txBody>
      </p:sp>
      <p:sp>
        <p:nvSpPr>
          <p:cNvPr id="6" name="Rounded Rectangle 5"/>
          <p:cNvSpPr/>
          <p:nvPr/>
        </p:nvSpPr>
        <p:spPr>
          <a:xfrm>
            <a:off x="731520" y="1554480"/>
            <a:ext cx="10515600" cy="24688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63500" cy="246888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27632"/>
            <a:ext cx="2743200" cy="274320"/>
          </a:xfrm>
          <a:prstGeom prst="rect">
            <a:avLst/>
          </a:prstGeom>
          <a:noFill/>
        </p:spPr>
        <p:txBody>
          <a:bodyPr wrap="square">
            <a:spAutoFit/>
          </a:bodyPr>
          <a:lstStyle/>
          <a:p>
            <a:pPr algn="l">
              <a:defRPr sz="2000" b="1">
                <a:solidFill>
                  <a:srgbClr val="FF6F00"/>
                </a:solidFill>
              </a:defRPr>
            </a:pPr>
            <a:r>
              <a:t>OpenAI</a:t>
            </a:r>
          </a:p>
        </p:txBody>
      </p:sp>
      <p:sp>
        <p:nvSpPr>
          <p:cNvPr id="9" name="TextBox 8"/>
          <p:cNvSpPr txBox="1"/>
          <p:nvPr/>
        </p:nvSpPr>
        <p:spPr>
          <a:xfrm>
            <a:off x="4114800" y="1627632"/>
            <a:ext cx="3657600" cy="274320"/>
          </a:xfrm>
          <a:prstGeom prst="rect">
            <a:avLst/>
          </a:prstGeom>
          <a:noFill/>
        </p:spPr>
        <p:txBody>
          <a:bodyPr wrap="square">
            <a:spAutoFit/>
          </a:bodyPr>
          <a:lstStyle/>
          <a:p>
            <a:pPr algn="l">
              <a:defRPr sz="1100" b="1">
                <a:solidFill>
                  <a:srgbClr val="FFFFFF"/>
                </a:solidFill>
              </a:defRPr>
            </a:pPr>
            <a:r>
              <a:t>Agents SDK, Operator, Swarm</a:t>
            </a:r>
          </a:p>
        </p:txBody>
      </p:sp>
      <p:sp>
        <p:nvSpPr>
          <p:cNvPr id="10" name="TextBox 9"/>
          <p:cNvSpPr txBox="1"/>
          <p:nvPr/>
        </p:nvSpPr>
        <p:spPr>
          <a:xfrm>
            <a:off x="8686800" y="1627632"/>
            <a:ext cx="2286000" cy="274320"/>
          </a:xfrm>
          <a:prstGeom prst="rect">
            <a:avLst/>
          </a:prstGeom>
          <a:noFill/>
        </p:spPr>
        <p:txBody>
          <a:bodyPr wrap="square">
            <a:spAutoFit/>
          </a:bodyPr>
          <a:lstStyle/>
          <a:p>
            <a:pPr algn="r">
              <a:defRPr sz="1100" b="0">
                <a:solidFill>
                  <a:srgbClr val="707890"/>
                </a:solidFill>
              </a:defRPr>
            </a:pPr>
            <a:r>
              <a:t>Valuation: $500B → $1T</a:t>
            </a:r>
          </a:p>
        </p:txBody>
      </p:sp>
      <p:sp>
        <p:nvSpPr>
          <p:cNvPr id="11" name="Rounded Rectangle 10"/>
          <p:cNvSpPr/>
          <p:nvPr/>
        </p:nvSpPr>
        <p:spPr>
          <a:xfrm>
            <a:off x="1097280" y="1938528"/>
            <a:ext cx="155448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7280" y="1938528"/>
            <a:ext cx="155448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075688"/>
            <a:ext cx="1188720" cy="548640"/>
          </a:xfrm>
          <a:prstGeom prst="rect">
            <a:avLst/>
          </a:prstGeom>
          <a:noFill/>
        </p:spPr>
        <p:txBody>
          <a:bodyPr wrap="square">
            <a:spAutoFit/>
          </a:bodyPr>
          <a:lstStyle/>
          <a:p>
            <a:pPr algn="ctr">
              <a:defRPr sz="2800" b="1">
                <a:solidFill>
                  <a:srgbClr val="FF6F00"/>
                </a:solidFill>
              </a:defRPr>
            </a:pPr>
            <a:r>
              <a:t>$25B</a:t>
            </a:r>
          </a:p>
        </p:txBody>
      </p:sp>
      <p:sp>
        <p:nvSpPr>
          <p:cNvPr id="14" name="TextBox 13"/>
          <p:cNvSpPr txBox="1"/>
          <p:nvPr/>
        </p:nvSpPr>
        <p:spPr>
          <a:xfrm>
            <a:off x="1280160" y="2578608"/>
            <a:ext cx="1188720" cy="-45720"/>
          </a:xfrm>
          <a:prstGeom prst="rect">
            <a:avLst/>
          </a:prstGeom>
          <a:noFill/>
        </p:spPr>
        <p:txBody>
          <a:bodyPr wrap="square">
            <a:spAutoFit/>
          </a:bodyPr>
          <a:lstStyle/>
          <a:p>
            <a:pPr algn="ctr">
              <a:defRPr sz="1200" b="0">
                <a:solidFill>
                  <a:srgbClr val="A0AEC0"/>
                </a:solidFill>
              </a:defRPr>
            </a:pPr>
            <a:r>
              <a:t>Annualized</a:t>
            </a:r>
            <a:br/>
            <a:r>
              <a:t>Revenue</a:t>
            </a:r>
          </a:p>
        </p:txBody>
      </p:sp>
      <p:sp>
        <p:nvSpPr>
          <p:cNvPr id="15" name="Rounded Rectangle 14"/>
          <p:cNvSpPr/>
          <p:nvPr/>
        </p:nvSpPr>
        <p:spPr>
          <a:xfrm>
            <a:off x="2788920" y="1938528"/>
            <a:ext cx="155448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88920" y="1938528"/>
            <a:ext cx="155448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71800" y="2075688"/>
            <a:ext cx="1188720" cy="548640"/>
          </a:xfrm>
          <a:prstGeom prst="rect">
            <a:avLst/>
          </a:prstGeom>
          <a:noFill/>
        </p:spPr>
        <p:txBody>
          <a:bodyPr wrap="square">
            <a:spAutoFit/>
          </a:bodyPr>
          <a:lstStyle/>
          <a:p>
            <a:pPr algn="ctr">
              <a:defRPr sz="2800" b="1">
                <a:solidFill>
                  <a:srgbClr val="3B82F6"/>
                </a:solidFill>
              </a:defRPr>
            </a:pPr>
            <a:r>
              <a:t>$500B</a:t>
            </a:r>
          </a:p>
        </p:txBody>
      </p:sp>
      <p:sp>
        <p:nvSpPr>
          <p:cNvPr id="18" name="TextBox 17"/>
          <p:cNvSpPr txBox="1"/>
          <p:nvPr/>
        </p:nvSpPr>
        <p:spPr>
          <a:xfrm>
            <a:off x="2971800" y="2578608"/>
            <a:ext cx="1188720" cy="-45720"/>
          </a:xfrm>
          <a:prstGeom prst="rect">
            <a:avLst/>
          </a:prstGeom>
          <a:noFill/>
        </p:spPr>
        <p:txBody>
          <a:bodyPr wrap="square">
            <a:spAutoFit/>
          </a:bodyPr>
          <a:lstStyle/>
          <a:p>
            <a:pPr algn="ctr">
              <a:defRPr sz="1200" b="0">
                <a:solidFill>
                  <a:srgbClr val="A0AEC0"/>
                </a:solidFill>
              </a:defRPr>
            </a:pPr>
            <a:r>
              <a:t>Valuation</a:t>
            </a:r>
            <a:br/>
            <a:r>
              <a:t>(Oct 2025)</a:t>
            </a:r>
          </a:p>
        </p:txBody>
      </p:sp>
      <p:sp>
        <p:nvSpPr>
          <p:cNvPr id="19" name="Rounded Rectangle 18"/>
          <p:cNvSpPr/>
          <p:nvPr/>
        </p:nvSpPr>
        <p:spPr>
          <a:xfrm>
            <a:off x="4480560" y="1938528"/>
            <a:ext cx="155448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1938528"/>
            <a:ext cx="155448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2075688"/>
            <a:ext cx="1188720" cy="548640"/>
          </a:xfrm>
          <a:prstGeom prst="rect">
            <a:avLst/>
          </a:prstGeom>
          <a:noFill/>
        </p:spPr>
        <p:txBody>
          <a:bodyPr wrap="square">
            <a:spAutoFit/>
          </a:bodyPr>
          <a:lstStyle/>
          <a:p>
            <a:pPr algn="ctr">
              <a:defRPr sz="2800" b="1">
                <a:solidFill>
                  <a:srgbClr val="22C55E"/>
                </a:solidFill>
              </a:defRPr>
            </a:pPr>
            <a:r>
              <a:t>$175B</a:t>
            </a:r>
          </a:p>
        </p:txBody>
      </p:sp>
      <p:sp>
        <p:nvSpPr>
          <p:cNvPr id="22" name="TextBox 21"/>
          <p:cNvSpPr txBox="1"/>
          <p:nvPr/>
        </p:nvSpPr>
        <p:spPr>
          <a:xfrm>
            <a:off x="4663440" y="2578608"/>
            <a:ext cx="1188720" cy="-45720"/>
          </a:xfrm>
          <a:prstGeom prst="rect">
            <a:avLst/>
          </a:prstGeom>
          <a:noFill/>
        </p:spPr>
        <p:txBody>
          <a:bodyPr wrap="square">
            <a:spAutoFit/>
          </a:bodyPr>
          <a:lstStyle/>
          <a:p>
            <a:pPr algn="ctr">
              <a:defRPr sz="1200" b="0">
                <a:solidFill>
                  <a:srgbClr val="A0AEC0"/>
                </a:solidFill>
              </a:defRPr>
            </a:pPr>
            <a:r>
              <a:t>Total</a:t>
            </a:r>
            <a:br/>
            <a:r>
              <a:t>Funding</a:t>
            </a:r>
          </a:p>
        </p:txBody>
      </p:sp>
      <p:sp>
        <p:nvSpPr>
          <p:cNvPr id="23" name="TextBox 22"/>
          <p:cNvSpPr txBox="1"/>
          <p:nvPr/>
        </p:nvSpPr>
        <p:spPr>
          <a:xfrm>
            <a:off x="6309360" y="1938528"/>
            <a:ext cx="4754880" cy="1920240"/>
          </a:xfrm>
          <a:prstGeom prst="rect">
            <a:avLst/>
          </a:prstGeom>
          <a:noFill/>
        </p:spPr>
        <p:txBody>
          <a:bodyPr wrap="square">
            <a:spAutoFit/>
          </a:bodyPr>
          <a:lstStyle/>
          <a:p>
            <a:pPr algn="l">
              <a:spcAft>
                <a:spcPts val="200"/>
              </a:spcAft>
              <a:defRPr sz="1000" b="0">
                <a:solidFill>
                  <a:srgbClr val="A0AEC0"/>
                </a:solidFill>
              </a:defRPr>
            </a:pPr>
            <a:r>
              <a:t>•  ARR tripled from $6B (2024) to $20B (2025); hit $25B run rate by Mar 2026</a:t>
            </a:r>
          </a:p>
          <a:p>
            <a:pPr algn="l">
              <a:spcAft>
                <a:spcPts val="200"/>
              </a:spcAft>
              <a:defRPr sz="1000" b="0">
                <a:solidFill>
                  <a:srgbClr val="A0AEC0"/>
                </a:solidFill>
              </a:defRPr>
            </a:pPr>
            <a:r>
              <a:t>•  Agents SDK (Mar 2025): tool calls, handoffs, guardrails, built-in tracing</a:t>
            </a:r>
          </a:p>
          <a:p>
            <a:pPr algn="l">
              <a:spcAft>
                <a:spcPts val="200"/>
              </a:spcAft>
              <a:defRPr sz="1000" b="0">
                <a:solidFill>
                  <a:srgbClr val="A0AEC0"/>
                </a:solidFill>
              </a:defRPr>
            </a:pPr>
            <a:r>
              <a:t>•  Operator (Jan 2025): autonomous web browser agent with safety controls</a:t>
            </a:r>
          </a:p>
          <a:p>
            <a:pPr algn="l">
              <a:spcAft>
                <a:spcPts val="200"/>
              </a:spcAft>
              <a:defRPr sz="1000" b="0">
                <a:solidFill>
                  <a:srgbClr val="A0AEC0"/>
                </a:solidFill>
              </a:defRPr>
            </a:pPr>
            <a:r>
              <a:t>•  Swarm (Oct 2024): multi-agent handoff architecture for orchestration</a:t>
            </a:r>
          </a:p>
          <a:p>
            <a:pPr algn="l">
              <a:spcAft>
                <a:spcPts val="200"/>
              </a:spcAft>
              <a:defRPr sz="1000" b="0">
                <a:solidFill>
                  <a:srgbClr val="A0AEC0"/>
                </a:solidFill>
              </a:defRPr>
            </a:pPr>
            <a:r>
              <a:t>•  Compute: 0.2 GW (2023) → 0.6 GW (2024) → 1.9 GW (2025); targeting $600B by 2030</a:t>
            </a:r>
          </a:p>
        </p:txBody>
      </p:sp>
      <p:sp>
        <p:nvSpPr>
          <p:cNvPr id="24" name="Rounded Rectangle 23"/>
          <p:cNvSpPr/>
          <p:nvPr/>
        </p:nvSpPr>
        <p:spPr>
          <a:xfrm>
            <a:off x="731520" y="4160520"/>
            <a:ext cx="10515600" cy="24688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4160520"/>
            <a:ext cx="63500" cy="246888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4233672"/>
            <a:ext cx="2743200" cy="274320"/>
          </a:xfrm>
          <a:prstGeom prst="rect">
            <a:avLst/>
          </a:prstGeom>
          <a:noFill/>
        </p:spPr>
        <p:txBody>
          <a:bodyPr wrap="square">
            <a:spAutoFit/>
          </a:bodyPr>
          <a:lstStyle/>
          <a:p>
            <a:pPr algn="l">
              <a:defRPr sz="2000" b="1">
                <a:solidFill>
                  <a:srgbClr val="A755F7"/>
                </a:solidFill>
              </a:defRPr>
            </a:pPr>
            <a:r>
              <a:t>Anthropic</a:t>
            </a:r>
          </a:p>
        </p:txBody>
      </p:sp>
      <p:sp>
        <p:nvSpPr>
          <p:cNvPr id="27" name="TextBox 26"/>
          <p:cNvSpPr txBox="1"/>
          <p:nvPr/>
        </p:nvSpPr>
        <p:spPr>
          <a:xfrm>
            <a:off x="4114800" y="4233672"/>
            <a:ext cx="3657600" cy="274320"/>
          </a:xfrm>
          <a:prstGeom prst="rect">
            <a:avLst/>
          </a:prstGeom>
          <a:noFill/>
        </p:spPr>
        <p:txBody>
          <a:bodyPr wrap="square">
            <a:spAutoFit/>
          </a:bodyPr>
          <a:lstStyle/>
          <a:p>
            <a:pPr algn="l">
              <a:defRPr sz="1100" b="1">
                <a:solidFill>
                  <a:srgbClr val="FFFFFF"/>
                </a:solidFill>
              </a:defRPr>
            </a:pPr>
            <a:r>
              <a:t>Claude Code, MCP, Computer Use</a:t>
            </a:r>
          </a:p>
        </p:txBody>
      </p:sp>
      <p:sp>
        <p:nvSpPr>
          <p:cNvPr id="28" name="TextBox 27"/>
          <p:cNvSpPr txBox="1"/>
          <p:nvPr/>
        </p:nvSpPr>
        <p:spPr>
          <a:xfrm>
            <a:off x="8686800" y="4233672"/>
            <a:ext cx="2286000" cy="274320"/>
          </a:xfrm>
          <a:prstGeom prst="rect">
            <a:avLst/>
          </a:prstGeom>
          <a:noFill/>
        </p:spPr>
        <p:txBody>
          <a:bodyPr wrap="square">
            <a:spAutoFit/>
          </a:bodyPr>
          <a:lstStyle/>
          <a:p>
            <a:pPr algn="r">
              <a:defRPr sz="1100" b="0">
                <a:solidFill>
                  <a:srgbClr val="707890"/>
                </a:solidFill>
              </a:defRPr>
            </a:pPr>
            <a:r>
              <a:t>Valuation: $380B</a:t>
            </a:r>
          </a:p>
        </p:txBody>
      </p:sp>
      <p:sp>
        <p:nvSpPr>
          <p:cNvPr id="29" name="Rounded Rectangle 28"/>
          <p:cNvSpPr/>
          <p:nvPr/>
        </p:nvSpPr>
        <p:spPr>
          <a:xfrm>
            <a:off x="1097280" y="4544568"/>
            <a:ext cx="155448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97280" y="4544568"/>
            <a:ext cx="155448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80160" y="4681728"/>
            <a:ext cx="1188720" cy="548640"/>
          </a:xfrm>
          <a:prstGeom prst="rect">
            <a:avLst/>
          </a:prstGeom>
          <a:noFill/>
        </p:spPr>
        <p:txBody>
          <a:bodyPr wrap="square">
            <a:spAutoFit/>
          </a:bodyPr>
          <a:lstStyle/>
          <a:p>
            <a:pPr algn="ctr">
              <a:defRPr sz="2800" b="1">
                <a:solidFill>
                  <a:srgbClr val="A755F7"/>
                </a:solidFill>
              </a:defRPr>
            </a:pPr>
            <a:r>
              <a:t>$14B</a:t>
            </a:r>
          </a:p>
        </p:txBody>
      </p:sp>
      <p:sp>
        <p:nvSpPr>
          <p:cNvPr id="32" name="TextBox 31"/>
          <p:cNvSpPr txBox="1"/>
          <p:nvPr/>
        </p:nvSpPr>
        <p:spPr>
          <a:xfrm>
            <a:off x="1280160" y="5184648"/>
            <a:ext cx="1188720" cy="-45720"/>
          </a:xfrm>
          <a:prstGeom prst="rect">
            <a:avLst/>
          </a:prstGeom>
          <a:noFill/>
        </p:spPr>
        <p:txBody>
          <a:bodyPr wrap="square">
            <a:spAutoFit/>
          </a:bodyPr>
          <a:lstStyle/>
          <a:p>
            <a:pPr algn="ctr">
              <a:defRPr sz="1200" b="0">
                <a:solidFill>
                  <a:srgbClr val="A0AEC0"/>
                </a:solidFill>
              </a:defRPr>
            </a:pPr>
            <a:r>
              <a:t>Revenue</a:t>
            </a:r>
            <a:br/>
            <a:r>
              <a:t>Run Rate</a:t>
            </a:r>
          </a:p>
        </p:txBody>
      </p:sp>
      <p:sp>
        <p:nvSpPr>
          <p:cNvPr id="33" name="Rounded Rectangle 32"/>
          <p:cNvSpPr/>
          <p:nvPr/>
        </p:nvSpPr>
        <p:spPr>
          <a:xfrm>
            <a:off x="2788920" y="4544568"/>
            <a:ext cx="155448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88920" y="4544568"/>
            <a:ext cx="1554480" cy="5080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71800" y="4681728"/>
            <a:ext cx="1188720" cy="548640"/>
          </a:xfrm>
          <a:prstGeom prst="rect">
            <a:avLst/>
          </a:prstGeom>
          <a:noFill/>
        </p:spPr>
        <p:txBody>
          <a:bodyPr wrap="square">
            <a:spAutoFit/>
          </a:bodyPr>
          <a:lstStyle/>
          <a:p>
            <a:pPr algn="ctr">
              <a:defRPr sz="2800" b="1">
                <a:solidFill>
                  <a:srgbClr val="E84D3D"/>
                </a:solidFill>
              </a:defRPr>
            </a:pPr>
            <a:r>
              <a:t>$380B</a:t>
            </a:r>
          </a:p>
        </p:txBody>
      </p:sp>
      <p:sp>
        <p:nvSpPr>
          <p:cNvPr id="36" name="TextBox 35"/>
          <p:cNvSpPr txBox="1"/>
          <p:nvPr/>
        </p:nvSpPr>
        <p:spPr>
          <a:xfrm>
            <a:off x="2971800" y="5184648"/>
            <a:ext cx="1188720" cy="-45720"/>
          </a:xfrm>
          <a:prstGeom prst="rect">
            <a:avLst/>
          </a:prstGeom>
          <a:noFill/>
        </p:spPr>
        <p:txBody>
          <a:bodyPr wrap="square">
            <a:spAutoFit/>
          </a:bodyPr>
          <a:lstStyle/>
          <a:p>
            <a:pPr algn="ctr">
              <a:defRPr sz="1200" b="0">
                <a:solidFill>
                  <a:srgbClr val="A0AEC0"/>
                </a:solidFill>
              </a:defRPr>
            </a:pPr>
            <a:r>
              <a:t>Valuation</a:t>
            </a:r>
            <a:br/>
            <a:r>
              <a:t>(Feb 2026)</a:t>
            </a:r>
          </a:p>
        </p:txBody>
      </p:sp>
      <p:sp>
        <p:nvSpPr>
          <p:cNvPr id="37" name="Rounded Rectangle 36"/>
          <p:cNvSpPr/>
          <p:nvPr/>
        </p:nvSpPr>
        <p:spPr>
          <a:xfrm>
            <a:off x="4480560" y="4544568"/>
            <a:ext cx="155448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80560" y="4544568"/>
            <a:ext cx="155448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63440" y="4681728"/>
            <a:ext cx="1188720" cy="548640"/>
          </a:xfrm>
          <a:prstGeom prst="rect">
            <a:avLst/>
          </a:prstGeom>
          <a:noFill/>
        </p:spPr>
        <p:txBody>
          <a:bodyPr wrap="square">
            <a:spAutoFit/>
          </a:bodyPr>
          <a:lstStyle/>
          <a:p>
            <a:pPr algn="ctr">
              <a:defRPr sz="2800" b="1">
                <a:solidFill>
                  <a:srgbClr val="3B82F6"/>
                </a:solidFill>
              </a:defRPr>
            </a:pPr>
            <a:r>
              <a:t>$30B</a:t>
            </a:r>
          </a:p>
        </p:txBody>
      </p:sp>
      <p:sp>
        <p:nvSpPr>
          <p:cNvPr id="40" name="TextBox 39"/>
          <p:cNvSpPr txBox="1"/>
          <p:nvPr/>
        </p:nvSpPr>
        <p:spPr>
          <a:xfrm>
            <a:off x="4663440" y="5184648"/>
            <a:ext cx="1188720" cy="-45720"/>
          </a:xfrm>
          <a:prstGeom prst="rect">
            <a:avLst/>
          </a:prstGeom>
          <a:noFill/>
        </p:spPr>
        <p:txBody>
          <a:bodyPr wrap="square">
            <a:spAutoFit/>
          </a:bodyPr>
          <a:lstStyle/>
          <a:p>
            <a:pPr algn="ctr">
              <a:defRPr sz="1200" b="0">
                <a:solidFill>
                  <a:srgbClr val="A0AEC0"/>
                </a:solidFill>
              </a:defRPr>
            </a:pPr>
            <a:r>
              <a:t>Series G</a:t>
            </a:r>
            <a:br/>
            <a:r>
              <a:t>Funding</a:t>
            </a:r>
          </a:p>
        </p:txBody>
      </p:sp>
      <p:sp>
        <p:nvSpPr>
          <p:cNvPr id="41" name="TextBox 40"/>
          <p:cNvSpPr txBox="1"/>
          <p:nvPr/>
        </p:nvSpPr>
        <p:spPr>
          <a:xfrm>
            <a:off x="6309360" y="4544568"/>
            <a:ext cx="4754880" cy="1920240"/>
          </a:xfrm>
          <a:prstGeom prst="rect">
            <a:avLst/>
          </a:prstGeom>
          <a:noFill/>
        </p:spPr>
        <p:txBody>
          <a:bodyPr wrap="square">
            <a:spAutoFit/>
          </a:bodyPr>
          <a:lstStyle/>
          <a:p>
            <a:pPr algn="l">
              <a:spcAft>
                <a:spcPts val="200"/>
              </a:spcAft>
              <a:defRPr sz="1000" b="0">
                <a:solidFill>
                  <a:srgbClr val="A0AEC0"/>
                </a:solidFill>
              </a:defRPr>
            </a:pPr>
            <a:r>
              <a:t>•  Three consecutive years of 10x growth; 80% revenue from enterprise customers</a:t>
            </a:r>
          </a:p>
          <a:p>
            <a:pPr algn="l">
              <a:spcAft>
                <a:spcPts val="200"/>
              </a:spcAft>
              <a:defRPr sz="1000" b="0">
                <a:solidFill>
                  <a:srgbClr val="A0AEC0"/>
                </a:solidFill>
              </a:defRPr>
            </a:pPr>
            <a:r>
              <a:t>•  Claude Code: $2.5B ARR, doubled since Jan 2026; 50%+ from enterprise accounts</a:t>
            </a:r>
          </a:p>
          <a:p>
            <a:pPr algn="l">
              <a:spcAft>
                <a:spcPts val="200"/>
              </a:spcAft>
              <a:defRPr sz="1000" b="0">
                <a:solidFill>
                  <a:srgbClr val="A0AEC0"/>
                </a:solidFill>
              </a:defRPr>
            </a:pPr>
            <a:r>
              <a:t>•  Created Model Context Protocol (MCP) — now adopted across industry (inc. Databricks)</a:t>
            </a:r>
          </a:p>
          <a:p>
            <a:pPr algn="l">
              <a:spcAft>
                <a:spcPts val="200"/>
              </a:spcAft>
              <a:defRPr sz="1000" b="0">
                <a:solidFill>
                  <a:srgbClr val="A0AEC0"/>
                </a:solidFill>
              </a:defRPr>
            </a:pPr>
            <a:r>
              <a:t>•  Computer Use: Claude agents that interact with desktop applications autonomously</a:t>
            </a:r>
          </a:p>
          <a:p>
            <a:pPr algn="l">
              <a:spcAft>
                <a:spcPts val="200"/>
              </a:spcAft>
              <a:defRPr sz="1000" b="0">
                <a:solidFill>
                  <a:srgbClr val="A0AEC0"/>
                </a:solidFill>
              </a:defRPr>
            </a:pPr>
            <a:r>
              <a:t>•  300,000+ business and enterprise customers; targeting $20–26B revenue in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Private AI Companies: Agent-Native Products</a:t>
            </a:r>
          </a:p>
        </p:txBody>
      </p:sp>
      <p:sp>
        <p:nvSpPr>
          <p:cNvPr id="4" name="Rectangle 3"/>
          <p:cNvSpPr/>
          <p:nvPr/>
        </p:nvSpPr>
        <p:spPr>
          <a:xfrm>
            <a:off x="731520" y="1051560"/>
            <a:ext cx="274320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9144000" cy="365760"/>
          </a:xfrm>
          <a:prstGeom prst="rect">
            <a:avLst/>
          </a:prstGeom>
          <a:noFill/>
        </p:spPr>
        <p:txBody>
          <a:bodyPr wrap="square">
            <a:spAutoFit/>
          </a:bodyPr>
          <a:lstStyle/>
          <a:p>
            <a:pPr algn="l">
              <a:defRPr sz="1300" b="0">
                <a:solidFill>
                  <a:srgbClr val="A0AEC0"/>
                </a:solidFill>
              </a:defRPr>
            </a:pPr>
            <a:r>
              <a:t>Companies building agentic AI products for coding, search, and enterprise</a:t>
            </a:r>
          </a:p>
        </p:txBody>
      </p:sp>
      <p:sp>
        <p:nvSpPr>
          <p:cNvPr id="6" name="Rounded Rectangle 5"/>
          <p:cNvSpPr/>
          <p:nvPr/>
        </p:nvSpPr>
        <p:spPr>
          <a:xfrm>
            <a:off x="731520" y="1554480"/>
            <a:ext cx="10515600" cy="15544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63500" cy="155448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09344"/>
            <a:ext cx="2286000" cy="256032"/>
          </a:xfrm>
          <a:prstGeom prst="rect">
            <a:avLst/>
          </a:prstGeom>
          <a:noFill/>
        </p:spPr>
        <p:txBody>
          <a:bodyPr wrap="square">
            <a:spAutoFit/>
          </a:bodyPr>
          <a:lstStyle/>
          <a:p>
            <a:pPr algn="l">
              <a:defRPr sz="1700" b="1">
                <a:solidFill>
                  <a:srgbClr val="FF6F00"/>
                </a:solidFill>
              </a:defRPr>
            </a:pPr>
            <a:r>
              <a:t>Cursor</a:t>
            </a:r>
          </a:p>
        </p:txBody>
      </p:sp>
      <p:sp>
        <p:nvSpPr>
          <p:cNvPr id="9" name="TextBox 8"/>
          <p:cNvSpPr txBox="1"/>
          <p:nvPr/>
        </p:nvSpPr>
        <p:spPr>
          <a:xfrm>
            <a:off x="3474720" y="1609344"/>
            <a:ext cx="2286000" cy="256032"/>
          </a:xfrm>
          <a:prstGeom prst="rect">
            <a:avLst/>
          </a:prstGeom>
          <a:noFill/>
        </p:spPr>
        <p:txBody>
          <a:bodyPr wrap="square">
            <a:spAutoFit/>
          </a:bodyPr>
          <a:lstStyle/>
          <a:p>
            <a:pPr algn="l">
              <a:defRPr sz="1100" b="1">
                <a:solidFill>
                  <a:srgbClr val="FFFFFF"/>
                </a:solidFill>
              </a:defRPr>
            </a:pPr>
            <a:r>
              <a:t>AI Coding Agent</a:t>
            </a:r>
          </a:p>
        </p:txBody>
      </p:sp>
      <p:sp>
        <p:nvSpPr>
          <p:cNvPr id="10" name="TextBox 9"/>
          <p:cNvSpPr txBox="1"/>
          <p:nvPr/>
        </p:nvSpPr>
        <p:spPr>
          <a:xfrm>
            <a:off x="8686800" y="1609344"/>
            <a:ext cx="2286000" cy="256032"/>
          </a:xfrm>
          <a:prstGeom prst="rect">
            <a:avLst/>
          </a:prstGeom>
          <a:noFill/>
        </p:spPr>
        <p:txBody>
          <a:bodyPr wrap="square">
            <a:spAutoFit/>
          </a:bodyPr>
          <a:lstStyle/>
          <a:p>
            <a:pPr algn="r">
              <a:defRPr sz="1100" b="0">
                <a:solidFill>
                  <a:srgbClr val="707890"/>
                </a:solidFill>
              </a:defRPr>
            </a:pPr>
            <a:r>
              <a:t>$29.3B valuation</a:t>
            </a:r>
          </a:p>
        </p:txBody>
      </p:sp>
      <p:sp>
        <p:nvSpPr>
          <p:cNvPr id="11" name="Rounded Rectangle 10"/>
          <p:cNvSpPr/>
          <p:nvPr/>
        </p:nvSpPr>
        <p:spPr>
          <a:xfrm>
            <a:off x="1097280" y="1883664"/>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7280" y="1883664"/>
            <a:ext cx="146304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2020824"/>
            <a:ext cx="1097280" cy="548640"/>
          </a:xfrm>
          <a:prstGeom prst="rect">
            <a:avLst/>
          </a:prstGeom>
          <a:noFill/>
        </p:spPr>
        <p:txBody>
          <a:bodyPr wrap="square">
            <a:spAutoFit/>
          </a:bodyPr>
          <a:lstStyle/>
          <a:p>
            <a:pPr algn="ctr">
              <a:defRPr sz="2800" b="1">
                <a:solidFill>
                  <a:srgbClr val="FF6F00"/>
                </a:solidFill>
              </a:defRPr>
            </a:pPr>
            <a:r>
              <a:t>$2B+</a:t>
            </a:r>
          </a:p>
        </p:txBody>
      </p:sp>
      <p:sp>
        <p:nvSpPr>
          <p:cNvPr id="14" name="TextBox 13"/>
          <p:cNvSpPr txBox="1"/>
          <p:nvPr/>
        </p:nvSpPr>
        <p:spPr>
          <a:xfrm>
            <a:off x="1280160" y="2523744"/>
            <a:ext cx="1097280" cy="-137160"/>
          </a:xfrm>
          <a:prstGeom prst="rect">
            <a:avLst/>
          </a:prstGeom>
          <a:noFill/>
        </p:spPr>
        <p:txBody>
          <a:bodyPr wrap="square">
            <a:spAutoFit/>
          </a:bodyPr>
          <a:lstStyle/>
          <a:p>
            <a:pPr algn="ctr">
              <a:defRPr sz="1200" b="0">
                <a:solidFill>
                  <a:srgbClr val="A0AEC0"/>
                </a:solidFill>
              </a:defRPr>
            </a:pPr>
            <a:r>
              <a:t>ARR</a:t>
            </a:r>
            <a:br/>
            <a:r>
              <a:t>(Feb 2026)</a:t>
            </a:r>
          </a:p>
        </p:txBody>
      </p:sp>
      <p:sp>
        <p:nvSpPr>
          <p:cNvPr id="15" name="Rounded Rectangle 14"/>
          <p:cNvSpPr/>
          <p:nvPr/>
        </p:nvSpPr>
        <p:spPr>
          <a:xfrm>
            <a:off x="2697480" y="1883664"/>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697480" y="1883664"/>
            <a:ext cx="146304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80360" y="2020824"/>
            <a:ext cx="1097280" cy="548640"/>
          </a:xfrm>
          <a:prstGeom prst="rect">
            <a:avLst/>
          </a:prstGeom>
          <a:noFill/>
        </p:spPr>
        <p:txBody>
          <a:bodyPr wrap="square">
            <a:spAutoFit/>
          </a:bodyPr>
          <a:lstStyle/>
          <a:p>
            <a:pPr algn="ctr">
              <a:defRPr sz="2800" b="1">
                <a:solidFill>
                  <a:srgbClr val="3B82F6"/>
                </a:solidFill>
              </a:defRPr>
            </a:pPr>
            <a:r>
              <a:t>1M+</a:t>
            </a:r>
          </a:p>
        </p:txBody>
      </p:sp>
      <p:sp>
        <p:nvSpPr>
          <p:cNvPr id="18" name="TextBox 17"/>
          <p:cNvSpPr txBox="1"/>
          <p:nvPr/>
        </p:nvSpPr>
        <p:spPr>
          <a:xfrm>
            <a:off x="2880360" y="2523744"/>
            <a:ext cx="1097280" cy="-137160"/>
          </a:xfrm>
          <a:prstGeom prst="rect">
            <a:avLst/>
          </a:prstGeom>
          <a:noFill/>
        </p:spPr>
        <p:txBody>
          <a:bodyPr wrap="square">
            <a:spAutoFit/>
          </a:bodyPr>
          <a:lstStyle/>
          <a:p>
            <a:pPr algn="ctr">
              <a:defRPr sz="1200" b="0">
                <a:solidFill>
                  <a:srgbClr val="A0AEC0"/>
                </a:solidFill>
              </a:defRPr>
            </a:pPr>
            <a:r>
              <a:t>Daily Active</a:t>
            </a:r>
            <a:br/>
            <a:r>
              <a:t>Users</a:t>
            </a:r>
          </a:p>
        </p:txBody>
      </p:sp>
      <p:sp>
        <p:nvSpPr>
          <p:cNvPr id="19" name="Rounded Rectangle 18"/>
          <p:cNvSpPr/>
          <p:nvPr/>
        </p:nvSpPr>
        <p:spPr>
          <a:xfrm>
            <a:off x="4297680" y="1883664"/>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80" y="1883664"/>
            <a:ext cx="146304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2020824"/>
            <a:ext cx="1097280" cy="548640"/>
          </a:xfrm>
          <a:prstGeom prst="rect">
            <a:avLst/>
          </a:prstGeom>
          <a:noFill/>
        </p:spPr>
        <p:txBody>
          <a:bodyPr wrap="square">
            <a:spAutoFit/>
          </a:bodyPr>
          <a:lstStyle/>
          <a:p>
            <a:pPr algn="ctr">
              <a:defRPr sz="2800" b="1">
                <a:solidFill>
                  <a:srgbClr val="22C55E"/>
                </a:solidFill>
              </a:defRPr>
            </a:pPr>
            <a:r>
              <a:t>50%+</a:t>
            </a:r>
          </a:p>
        </p:txBody>
      </p:sp>
      <p:sp>
        <p:nvSpPr>
          <p:cNvPr id="22" name="TextBox 21"/>
          <p:cNvSpPr txBox="1"/>
          <p:nvPr/>
        </p:nvSpPr>
        <p:spPr>
          <a:xfrm>
            <a:off x="4480560" y="2523744"/>
            <a:ext cx="1097280" cy="-137160"/>
          </a:xfrm>
          <a:prstGeom prst="rect">
            <a:avLst/>
          </a:prstGeom>
          <a:noFill/>
        </p:spPr>
        <p:txBody>
          <a:bodyPr wrap="square">
            <a:spAutoFit/>
          </a:bodyPr>
          <a:lstStyle/>
          <a:p>
            <a:pPr algn="ctr">
              <a:defRPr sz="1200" b="0">
                <a:solidFill>
                  <a:srgbClr val="A0AEC0"/>
                </a:solidFill>
              </a:defRPr>
            </a:pPr>
            <a:r>
              <a:t>Fortune 500</a:t>
            </a:r>
            <a:br/>
            <a:r>
              <a:t>Adoption</a:t>
            </a:r>
          </a:p>
        </p:txBody>
      </p:sp>
      <p:sp>
        <p:nvSpPr>
          <p:cNvPr id="23" name="TextBox 22"/>
          <p:cNvSpPr txBox="1"/>
          <p:nvPr/>
        </p:nvSpPr>
        <p:spPr>
          <a:xfrm>
            <a:off x="6035040" y="1856232"/>
            <a:ext cx="5029200" cy="1188720"/>
          </a:xfrm>
          <a:prstGeom prst="rect">
            <a:avLst/>
          </a:prstGeom>
          <a:noFill/>
        </p:spPr>
        <p:txBody>
          <a:bodyPr wrap="square">
            <a:spAutoFit/>
          </a:bodyPr>
          <a:lstStyle/>
          <a:p>
            <a:pPr algn="l">
              <a:spcAft>
                <a:spcPts val="100"/>
              </a:spcAft>
              <a:defRPr sz="900" b="0">
                <a:solidFill>
                  <a:srgbClr val="A0AEC0"/>
                </a:solidFill>
              </a:defRPr>
            </a:pPr>
            <a:r>
              <a:t>•  Fastest B2B company to $1B ARR (24 months); doubled to $2B in 3 more months</a:t>
            </a:r>
          </a:p>
          <a:p>
            <a:pPr algn="l">
              <a:spcAft>
                <a:spcPts val="100"/>
              </a:spcAft>
              <a:defRPr sz="900" b="0">
                <a:solidFill>
                  <a:srgbClr val="A0AEC0"/>
                </a:solidFill>
              </a:defRPr>
            </a:pPr>
            <a:r>
              <a:t>•  Background agents, multi-file editing, autonomous coding workflows</a:t>
            </a:r>
          </a:p>
          <a:p>
            <a:pPr algn="l">
              <a:spcAft>
                <a:spcPts val="100"/>
              </a:spcAft>
              <a:defRPr sz="900" b="0">
                <a:solidFill>
                  <a:srgbClr val="A0AEC0"/>
                </a:solidFill>
              </a:defRPr>
            </a:pPr>
            <a:r>
              <a:t>•  $2.3B Series D (Nov 2025) led by Accel/Coatue; NVIDIA &amp; Google participated</a:t>
            </a:r>
          </a:p>
          <a:p>
            <a:pPr algn="l">
              <a:spcAft>
                <a:spcPts val="100"/>
              </a:spcAft>
              <a:defRPr sz="900" b="0">
                <a:solidFill>
                  <a:srgbClr val="A0AEC0"/>
                </a:solidFill>
              </a:defRPr>
            </a:pPr>
            <a:r>
              <a:t>•  Enterprise 45-60% of revenue; ~100% of revenue spent on AI infrastructure</a:t>
            </a:r>
          </a:p>
        </p:txBody>
      </p:sp>
      <p:sp>
        <p:nvSpPr>
          <p:cNvPr id="24" name="Rounded Rectangle 23"/>
          <p:cNvSpPr/>
          <p:nvPr/>
        </p:nvSpPr>
        <p:spPr>
          <a:xfrm>
            <a:off x="731520" y="3218688"/>
            <a:ext cx="10515600" cy="15544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3218688"/>
            <a:ext cx="63500" cy="155448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3273552"/>
            <a:ext cx="2286000" cy="256032"/>
          </a:xfrm>
          <a:prstGeom prst="rect">
            <a:avLst/>
          </a:prstGeom>
          <a:noFill/>
        </p:spPr>
        <p:txBody>
          <a:bodyPr wrap="square">
            <a:spAutoFit/>
          </a:bodyPr>
          <a:lstStyle/>
          <a:p>
            <a:pPr algn="l">
              <a:defRPr sz="1700" b="1">
                <a:solidFill>
                  <a:srgbClr val="A755F7"/>
                </a:solidFill>
              </a:defRPr>
            </a:pPr>
            <a:r>
              <a:t>Perplexity</a:t>
            </a:r>
          </a:p>
        </p:txBody>
      </p:sp>
      <p:sp>
        <p:nvSpPr>
          <p:cNvPr id="27" name="TextBox 26"/>
          <p:cNvSpPr txBox="1"/>
          <p:nvPr/>
        </p:nvSpPr>
        <p:spPr>
          <a:xfrm>
            <a:off x="3474720" y="3273552"/>
            <a:ext cx="2286000" cy="256032"/>
          </a:xfrm>
          <a:prstGeom prst="rect">
            <a:avLst/>
          </a:prstGeom>
          <a:noFill/>
        </p:spPr>
        <p:txBody>
          <a:bodyPr wrap="square">
            <a:spAutoFit/>
          </a:bodyPr>
          <a:lstStyle/>
          <a:p>
            <a:pPr algn="l">
              <a:defRPr sz="1100" b="1">
                <a:solidFill>
                  <a:srgbClr val="FFFFFF"/>
                </a:solidFill>
              </a:defRPr>
            </a:pPr>
            <a:r>
              <a:t>AI Search Agent</a:t>
            </a:r>
          </a:p>
        </p:txBody>
      </p:sp>
      <p:sp>
        <p:nvSpPr>
          <p:cNvPr id="28" name="TextBox 27"/>
          <p:cNvSpPr txBox="1"/>
          <p:nvPr/>
        </p:nvSpPr>
        <p:spPr>
          <a:xfrm>
            <a:off x="8686800" y="3273552"/>
            <a:ext cx="2286000" cy="256032"/>
          </a:xfrm>
          <a:prstGeom prst="rect">
            <a:avLst/>
          </a:prstGeom>
          <a:noFill/>
        </p:spPr>
        <p:txBody>
          <a:bodyPr wrap="square">
            <a:spAutoFit/>
          </a:bodyPr>
          <a:lstStyle/>
          <a:p>
            <a:pPr algn="r">
              <a:defRPr sz="1100" b="0">
                <a:solidFill>
                  <a:srgbClr val="707890"/>
                </a:solidFill>
              </a:defRPr>
            </a:pPr>
            <a:r>
              <a:t>$20B valuation</a:t>
            </a:r>
          </a:p>
        </p:txBody>
      </p:sp>
      <p:sp>
        <p:nvSpPr>
          <p:cNvPr id="29" name="Rounded Rectangle 28"/>
          <p:cNvSpPr/>
          <p:nvPr/>
        </p:nvSpPr>
        <p:spPr>
          <a:xfrm>
            <a:off x="1097280" y="3547872"/>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97280" y="3547872"/>
            <a:ext cx="146304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80160" y="3685032"/>
            <a:ext cx="1097280" cy="548640"/>
          </a:xfrm>
          <a:prstGeom prst="rect">
            <a:avLst/>
          </a:prstGeom>
          <a:noFill/>
        </p:spPr>
        <p:txBody>
          <a:bodyPr wrap="square">
            <a:spAutoFit/>
          </a:bodyPr>
          <a:lstStyle/>
          <a:p>
            <a:pPr algn="ctr">
              <a:defRPr sz="2800" b="1">
                <a:solidFill>
                  <a:srgbClr val="A755F7"/>
                </a:solidFill>
              </a:defRPr>
            </a:pPr>
            <a:r>
              <a:t>$148M</a:t>
            </a:r>
          </a:p>
        </p:txBody>
      </p:sp>
      <p:sp>
        <p:nvSpPr>
          <p:cNvPr id="32" name="TextBox 31"/>
          <p:cNvSpPr txBox="1"/>
          <p:nvPr/>
        </p:nvSpPr>
        <p:spPr>
          <a:xfrm>
            <a:off x="1280160" y="4187952"/>
            <a:ext cx="1097280" cy="-137160"/>
          </a:xfrm>
          <a:prstGeom prst="rect">
            <a:avLst/>
          </a:prstGeom>
          <a:noFill/>
        </p:spPr>
        <p:txBody>
          <a:bodyPr wrap="square">
            <a:spAutoFit/>
          </a:bodyPr>
          <a:lstStyle/>
          <a:p>
            <a:pPr algn="ctr">
              <a:defRPr sz="1200" b="0">
                <a:solidFill>
                  <a:srgbClr val="A0AEC0"/>
                </a:solidFill>
              </a:defRPr>
            </a:pPr>
            <a:r>
              <a:t>ARR</a:t>
            </a:r>
            <a:br/>
            <a:r>
              <a:t>(Jun 2025)</a:t>
            </a:r>
          </a:p>
        </p:txBody>
      </p:sp>
      <p:sp>
        <p:nvSpPr>
          <p:cNvPr id="33" name="Rounded Rectangle 32"/>
          <p:cNvSpPr/>
          <p:nvPr/>
        </p:nvSpPr>
        <p:spPr>
          <a:xfrm>
            <a:off x="2697480" y="3547872"/>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697480" y="3547872"/>
            <a:ext cx="146304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80360" y="3685032"/>
            <a:ext cx="1097280" cy="548640"/>
          </a:xfrm>
          <a:prstGeom prst="rect">
            <a:avLst/>
          </a:prstGeom>
          <a:noFill/>
        </p:spPr>
        <p:txBody>
          <a:bodyPr wrap="square">
            <a:spAutoFit/>
          </a:bodyPr>
          <a:lstStyle/>
          <a:p>
            <a:pPr algn="ctr">
              <a:defRPr sz="2800" b="1">
                <a:solidFill>
                  <a:srgbClr val="14B8A6"/>
                </a:solidFill>
              </a:defRPr>
            </a:pPr>
            <a:r>
              <a:t>45M</a:t>
            </a:r>
          </a:p>
        </p:txBody>
      </p:sp>
      <p:sp>
        <p:nvSpPr>
          <p:cNvPr id="36" name="TextBox 35"/>
          <p:cNvSpPr txBox="1"/>
          <p:nvPr/>
        </p:nvSpPr>
        <p:spPr>
          <a:xfrm>
            <a:off x="2880360" y="4187952"/>
            <a:ext cx="1097280" cy="-137160"/>
          </a:xfrm>
          <a:prstGeom prst="rect">
            <a:avLst/>
          </a:prstGeom>
          <a:noFill/>
        </p:spPr>
        <p:txBody>
          <a:bodyPr wrap="square">
            <a:spAutoFit/>
          </a:bodyPr>
          <a:lstStyle/>
          <a:p>
            <a:pPr algn="ctr">
              <a:defRPr sz="1200" b="0">
                <a:solidFill>
                  <a:srgbClr val="A0AEC0"/>
                </a:solidFill>
              </a:defRPr>
            </a:pPr>
            <a:r>
              <a:t>Monthly Active</a:t>
            </a:r>
            <a:br/>
            <a:r>
              <a:t>Users</a:t>
            </a:r>
          </a:p>
        </p:txBody>
      </p:sp>
      <p:sp>
        <p:nvSpPr>
          <p:cNvPr id="37" name="Rounded Rectangle 36"/>
          <p:cNvSpPr/>
          <p:nvPr/>
        </p:nvSpPr>
        <p:spPr>
          <a:xfrm>
            <a:off x="4297680" y="3547872"/>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297680" y="3547872"/>
            <a:ext cx="1463040" cy="5080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80560" y="3685032"/>
            <a:ext cx="1097280" cy="548640"/>
          </a:xfrm>
          <a:prstGeom prst="rect">
            <a:avLst/>
          </a:prstGeom>
          <a:noFill/>
        </p:spPr>
        <p:txBody>
          <a:bodyPr wrap="square">
            <a:spAutoFit/>
          </a:bodyPr>
          <a:lstStyle/>
          <a:p>
            <a:pPr algn="ctr">
              <a:defRPr sz="2800" b="1">
                <a:solidFill>
                  <a:srgbClr val="E84D3D"/>
                </a:solidFill>
              </a:defRPr>
            </a:pPr>
            <a:r>
              <a:t>780M</a:t>
            </a:r>
          </a:p>
        </p:txBody>
      </p:sp>
      <p:sp>
        <p:nvSpPr>
          <p:cNvPr id="40" name="TextBox 39"/>
          <p:cNvSpPr txBox="1"/>
          <p:nvPr/>
        </p:nvSpPr>
        <p:spPr>
          <a:xfrm>
            <a:off x="4480560" y="4187952"/>
            <a:ext cx="1097280" cy="-137160"/>
          </a:xfrm>
          <a:prstGeom prst="rect">
            <a:avLst/>
          </a:prstGeom>
          <a:noFill/>
        </p:spPr>
        <p:txBody>
          <a:bodyPr wrap="square">
            <a:spAutoFit/>
          </a:bodyPr>
          <a:lstStyle/>
          <a:p>
            <a:pPr algn="ctr">
              <a:defRPr sz="1200" b="0">
                <a:solidFill>
                  <a:srgbClr val="A0AEC0"/>
                </a:solidFill>
              </a:defRPr>
            </a:pPr>
            <a:r>
              <a:t>Monthly</a:t>
            </a:r>
            <a:br/>
            <a:r>
              <a:t>Queries</a:t>
            </a:r>
          </a:p>
        </p:txBody>
      </p:sp>
      <p:sp>
        <p:nvSpPr>
          <p:cNvPr id="41" name="TextBox 40"/>
          <p:cNvSpPr txBox="1"/>
          <p:nvPr/>
        </p:nvSpPr>
        <p:spPr>
          <a:xfrm>
            <a:off x="6035040" y="3520440"/>
            <a:ext cx="5029200" cy="1188720"/>
          </a:xfrm>
          <a:prstGeom prst="rect">
            <a:avLst/>
          </a:prstGeom>
          <a:noFill/>
        </p:spPr>
        <p:txBody>
          <a:bodyPr wrap="square">
            <a:spAutoFit/>
          </a:bodyPr>
          <a:lstStyle/>
          <a:p>
            <a:pPr algn="l">
              <a:spcAft>
                <a:spcPts val="100"/>
              </a:spcAft>
              <a:defRPr sz="900" b="0">
                <a:solidFill>
                  <a:srgbClr val="A0AEC0"/>
                </a:solidFill>
              </a:defRPr>
            </a:pPr>
            <a:r>
              <a:t>•  700% ARR growth in 2024; targeting $656M revenue by end of 2026</a:t>
            </a:r>
          </a:p>
          <a:p>
            <a:pPr algn="l">
              <a:spcAft>
                <a:spcPts val="100"/>
              </a:spcAft>
              <a:defRPr sz="900" b="0">
                <a:solidFill>
                  <a:srgbClr val="A0AEC0"/>
                </a:solidFill>
              </a:defRPr>
            </a:pPr>
            <a:r>
              <a:t>•  Agentic search: multi-step research, source verification, and synthesis</a:t>
            </a:r>
          </a:p>
          <a:p>
            <a:pPr algn="l">
              <a:spcAft>
                <a:spcPts val="100"/>
              </a:spcAft>
              <a:defRPr sz="900" b="0">
                <a:solidFill>
                  <a:srgbClr val="A0AEC0"/>
                </a:solidFill>
              </a:defRPr>
            </a:pPr>
            <a:r>
              <a:t>•  $1.5B+ total funding; investors include NVIDIA, Jeff Bezos, SoftBank</a:t>
            </a:r>
          </a:p>
          <a:p>
            <a:pPr algn="l">
              <a:spcAft>
                <a:spcPts val="100"/>
              </a:spcAft>
              <a:defRPr sz="900" b="0">
                <a:solidFill>
                  <a:srgbClr val="A0AEC0"/>
                </a:solidFill>
              </a:defRPr>
            </a:pPr>
            <a:r>
              <a:t>•  60-70M daily queries globally; 50M+ mobile app downloads</a:t>
            </a:r>
          </a:p>
        </p:txBody>
      </p:sp>
      <p:sp>
        <p:nvSpPr>
          <p:cNvPr id="42" name="Rounded Rectangle 41"/>
          <p:cNvSpPr/>
          <p:nvPr/>
        </p:nvSpPr>
        <p:spPr>
          <a:xfrm>
            <a:off x="731520" y="4882896"/>
            <a:ext cx="10515600" cy="155448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1520" y="4882896"/>
            <a:ext cx="63500" cy="15544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97280" y="4937760"/>
            <a:ext cx="2286000" cy="256032"/>
          </a:xfrm>
          <a:prstGeom prst="rect">
            <a:avLst/>
          </a:prstGeom>
          <a:noFill/>
        </p:spPr>
        <p:txBody>
          <a:bodyPr wrap="square">
            <a:spAutoFit/>
          </a:bodyPr>
          <a:lstStyle/>
          <a:p>
            <a:pPr algn="l">
              <a:defRPr sz="1700" b="1">
                <a:solidFill>
                  <a:srgbClr val="3B82F6"/>
                </a:solidFill>
              </a:defRPr>
            </a:pPr>
            <a:r>
              <a:t>Cognition (Devin)</a:t>
            </a:r>
          </a:p>
        </p:txBody>
      </p:sp>
      <p:sp>
        <p:nvSpPr>
          <p:cNvPr id="45" name="TextBox 44"/>
          <p:cNvSpPr txBox="1"/>
          <p:nvPr/>
        </p:nvSpPr>
        <p:spPr>
          <a:xfrm>
            <a:off x="3474720" y="4937760"/>
            <a:ext cx="2286000" cy="256032"/>
          </a:xfrm>
          <a:prstGeom prst="rect">
            <a:avLst/>
          </a:prstGeom>
          <a:noFill/>
        </p:spPr>
        <p:txBody>
          <a:bodyPr wrap="square">
            <a:spAutoFit/>
          </a:bodyPr>
          <a:lstStyle/>
          <a:p>
            <a:pPr algn="l">
              <a:defRPr sz="1100" b="1">
                <a:solidFill>
                  <a:srgbClr val="FFFFFF"/>
                </a:solidFill>
              </a:defRPr>
            </a:pPr>
            <a:r>
              <a:t>Autonomous Coding Agent</a:t>
            </a:r>
          </a:p>
        </p:txBody>
      </p:sp>
      <p:sp>
        <p:nvSpPr>
          <p:cNvPr id="46" name="TextBox 45"/>
          <p:cNvSpPr txBox="1"/>
          <p:nvPr/>
        </p:nvSpPr>
        <p:spPr>
          <a:xfrm>
            <a:off x="8686800" y="4937760"/>
            <a:ext cx="2286000" cy="256032"/>
          </a:xfrm>
          <a:prstGeom prst="rect">
            <a:avLst/>
          </a:prstGeom>
          <a:noFill/>
        </p:spPr>
        <p:txBody>
          <a:bodyPr wrap="square">
            <a:spAutoFit/>
          </a:bodyPr>
          <a:lstStyle/>
          <a:p>
            <a:pPr algn="r">
              <a:defRPr sz="1100" b="0">
                <a:solidFill>
                  <a:srgbClr val="707890"/>
                </a:solidFill>
              </a:defRPr>
            </a:pPr>
            <a:r>
              <a:t>$10.2B valuation</a:t>
            </a:r>
          </a:p>
        </p:txBody>
      </p:sp>
      <p:sp>
        <p:nvSpPr>
          <p:cNvPr id="47" name="Rounded Rectangle 46"/>
          <p:cNvSpPr/>
          <p:nvPr/>
        </p:nvSpPr>
        <p:spPr>
          <a:xfrm>
            <a:off x="1097280" y="5212080"/>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97280" y="5212080"/>
            <a:ext cx="146304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80160" y="5349240"/>
            <a:ext cx="1097280" cy="548640"/>
          </a:xfrm>
          <a:prstGeom prst="rect">
            <a:avLst/>
          </a:prstGeom>
          <a:noFill/>
        </p:spPr>
        <p:txBody>
          <a:bodyPr wrap="square">
            <a:spAutoFit/>
          </a:bodyPr>
          <a:lstStyle/>
          <a:p>
            <a:pPr algn="ctr">
              <a:defRPr sz="2800" b="1">
                <a:solidFill>
                  <a:srgbClr val="3B82F6"/>
                </a:solidFill>
              </a:defRPr>
            </a:pPr>
            <a:r>
              <a:t>$150M+</a:t>
            </a:r>
          </a:p>
        </p:txBody>
      </p:sp>
      <p:sp>
        <p:nvSpPr>
          <p:cNvPr id="50" name="TextBox 49"/>
          <p:cNvSpPr txBox="1"/>
          <p:nvPr/>
        </p:nvSpPr>
        <p:spPr>
          <a:xfrm>
            <a:off x="1280160" y="5852160"/>
            <a:ext cx="1097280" cy="-137160"/>
          </a:xfrm>
          <a:prstGeom prst="rect">
            <a:avLst/>
          </a:prstGeom>
          <a:noFill/>
        </p:spPr>
        <p:txBody>
          <a:bodyPr wrap="square">
            <a:spAutoFit/>
          </a:bodyPr>
          <a:lstStyle/>
          <a:p>
            <a:pPr algn="ctr">
              <a:defRPr sz="1200" b="0">
                <a:solidFill>
                  <a:srgbClr val="A0AEC0"/>
                </a:solidFill>
              </a:defRPr>
            </a:pPr>
            <a:r>
              <a:t>Combined ARR</a:t>
            </a:r>
            <a:br/>
            <a:r>
              <a:t>(post-Windsurf)</a:t>
            </a:r>
          </a:p>
        </p:txBody>
      </p:sp>
      <p:sp>
        <p:nvSpPr>
          <p:cNvPr id="51" name="Rounded Rectangle 50"/>
          <p:cNvSpPr/>
          <p:nvPr/>
        </p:nvSpPr>
        <p:spPr>
          <a:xfrm>
            <a:off x="2697480" y="5212080"/>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697480" y="5212080"/>
            <a:ext cx="146304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880360" y="5349240"/>
            <a:ext cx="1097280" cy="548640"/>
          </a:xfrm>
          <a:prstGeom prst="rect">
            <a:avLst/>
          </a:prstGeom>
          <a:noFill/>
        </p:spPr>
        <p:txBody>
          <a:bodyPr wrap="square">
            <a:spAutoFit/>
          </a:bodyPr>
          <a:lstStyle/>
          <a:p>
            <a:pPr algn="ctr">
              <a:defRPr sz="2800" b="1">
                <a:solidFill>
                  <a:srgbClr val="22C55E"/>
                </a:solidFill>
              </a:defRPr>
            </a:pPr>
            <a:r>
              <a:t>67%</a:t>
            </a:r>
          </a:p>
        </p:txBody>
      </p:sp>
      <p:sp>
        <p:nvSpPr>
          <p:cNvPr id="54" name="TextBox 53"/>
          <p:cNvSpPr txBox="1"/>
          <p:nvPr/>
        </p:nvSpPr>
        <p:spPr>
          <a:xfrm>
            <a:off x="2880360" y="5852160"/>
            <a:ext cx="1097280" cy="-137160"/>
          </a:xfrm>
          <a:prstGeom prst="rect">
            <a:avLst/>
          </a:prstGeom>
          <a:noFill/>
        </p:spPr>
        <p:txBody>
          <a:bodyPr wrap="square">
            <a:spAutoFit/>
          </a:bodyPr>
          <a:lstStyle/>
          <a:p>
            <a:pPr algn="ctr">
              <a:defRPr sz="1200" b="0">
                <a:solidFill>
                  <a:srgbClr val="A0AEC0"/>
                </a:solidFill>
              </a:defRPr>
            </a:pPr>
            <a:r>
              <a:t>PR Merge</a:t>
            </a:r>
            <a:br/>
            <a:r>
              <a:t>Rate</a:t>
            </a:r>
          </a:p>
        </p:txBody>
      </p:sp>
      <p:sp>
        <p:nvSpPr>
          <p:cNvPr id="55" name="Rounded Rectangle 54"/>
          <p:cNvSpPr/>
          <p:nvPr/>
        </p:nvSpPr>
        <p:spPr>
          <a:xfrm>
            <a:off x="4297680" y="5212080"/>
            <a:ext cx="1463040" cy="6858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297680" y="5212080"/>
            <a:ext cx="146304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80560" y="5349240"/>
            <a:ext cx="1097280" cy="548640"/>
          </a:xfrm>
          <a:prstGeom prst="rect">
            <a:avLst/>
          </a:prstGeom>
          <a:noFill/>
        </p:spPr>
        <p:txBody>
          <a:bodyPr wrap="square">
            <a:spAutoFit/>
          </a:bodyPr>
          <a:lstStyle/>
          <a:p>
            <a:pPr algn="ctr">
              <a:defRPr sz="2800" b="1">
                <a:solidFill>
                  <a:srgbClr val="FF6F00"/>
                </a:solidFill>
              </a:defRPr>
            </a:pPr>
            <a:r>
              <a:t>$500</a:t>
            </a:r>
          </a:p>
        </p:txBody>
      </p:sp>
      <p:sp>
        <p:nvSpPr>
          <p:cNvPr id="58" name="TextBox 57"/>
          <p:cNvSpPr txBox="1"/>
          <p:nvPr/>
        </p:nvSpPr>
        <p:spPr>
          <a:xfrm>
            <a:off x="4480560" y="5852160"/>
            <a:ext cx="1097280" cy="-137160"/>
          </a:xfrm>
          <a:prstGeom prst="rect">
            <a:avLst/>
          </a:prstGeom>
          <a:noFill/>
        </p:spPr>
        <p:txBody>
          <a:bodyPr wrap="square">
            <a:spAutoFit/>
          </a:bodyPr>
          <a:lstStyle/>
          <a:p>
            <a:pPr algn="ctr">
              <a:defRPr sz="1200" b="0">
                <a:solidFill>
                  <a:srgbClr val="A0AEC0"/>
                </a:solidFill>
              </a:defRPr>
            </a:pPr>
            <a:r>
              <a:t>Per Seat</a:t>
            </a:r>
            <a:br/>
            <a:r>
              <a:t>/ Month</a:t>
            </a:r>
          </a:p>
        </p:txBody>
      </p:sp>
      <p:sp>
        <p:nvSpPr>
          <p:cNvPr id="59" name="TextBox 58"/>
          <p:cNvSpPr txBox="1"/>
          <p:nvPr/>
        </p:nvSpPr>
        <p:spPr>
          <a:xfrm>
            <a:off x="6035040" y="5184648"/>
            <a:ext cx="5029200" cy="1188720"/>
          </a:xfrm>
          <a:prstGeom prst="rect">
            <a:avLst/>
          </a:prstGeom>
          <a:noFill/>
        </p:spPr>
        <p:txBody>
          <a:bodyPr wrap="square">
            <a:spAutoFit/>
          </a:bodyPr>
          <a:lstStyle/>
          <a:p>
            <a:pPr algn="l">
              <a:spcAft>
                <a:spcPts val="100"/>
              </a:spcAft>
              <a:defRPr sz="900" b="0">
                <a:solidFill>
                  <a:srgbClr val="A0AEC0"/>
                </a:solidFill>
              </a:defRPr>
            </a:pPr>
            <a:r>
              <a:t>•  ARR grew from $1M (Sep 2024) to $73M (Jun 2025); 73x in 9 months</a:t>
            </a:r>
          </a:p>
          <a:p>
            <a:pPr algn="l">
              <a:spcAft>
                <a:spcPts val="100"/>
              </a:spcAft>
              <a:defRPr sz="900" b="0">
                <a:solidFill>
                  <a:srgbClr val="A0AEC0"/>
                </a:solidFill>
              </a:defRPr>
            </a:pPr>
            <a:r>
              <a:t>•  Merged hundreds of thousands of PRs; Goldman Sachs, Citi, Dell, Palantir</a:t>
            </a:r>
          </a:p>
          <a:p>
            <a:pPr algn="l">
              <a:spcAft>
                <a:spcPts val="100"/>
              </a:spcAft>
              <a:defRPr sz="900" b="0">
                <a:solidFill>
                  <a:srgbClr val="A0AEC0"/>
                </a:solidFill>
              </a:defRPr>
            </a:pPr>
            <a:r>
              <a:t>•  $400M raised (Sep 2025) at $10.2B; total net burn under $20M across history</a:t>
            </a:r>
          </a:p>
          <a:p>
            <a:pPr algn="l">
              <a:spcAft>
                <a:spcPts val="100"/>
              </a:spcAft>
              <a:defRPr sz="900" b="0">
                <a:solidFill>
                  <a:srgbClr val="A0AEC0"/>
                </a:solidFill>
              </a:defRPr>
            </a:pPr>
            <a:r>
              <a:t>•  67% PR merge rate (+33pp YoY); 4x faster, 2x more efficient than prior year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Private AI Companies: Enterprise &amp; Infrastructure</a:t>
            </a:r>
          </a:p>
        </p:txBody>
      </p:sp>
      <p:sp>
        <p:nvSpPr>
          <p:cNvPr id="4" name="Rectangle 3"/>
          <p:cNvSpPr/>
          <p:nvPr/>
        </p:nvSpPr>
        <p:spPr>
          <a:xfrm>
            <a:off x="731520" y="1051560"/>
            <a:ext cx="274320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9144000" cy="365760"/>
          </a:xfrm>
          <a:prstGeom prst="rect">
            <a:avLst/>
          </a:prstGeom>
          <a:noFill/>
        </p:spPr>
        <p:txBody>
          <a:bodyPr wrap="square">
            <a:spAutoFit/>
          </a:bodyPr>
          <a:lstStyle/>
          <a:p>
            <a:pPr algn="l">
              <a:defRPr sz="1300" b="0">
                <a:solidFill>
                  <a:srgbClr val="A0AEC0"/>
                </a:solidFill>
              </a:defRPr>
            </a:pPr>
            <a:r>
              <a:t>Enterprise-focused and infrastructure private AI companies building the agentic stack</a:t>
            </a:r>
          </a:p>
        </p:txBody>
      </p:sp>
      <p:sp>
        <p:nvSpPr>
          <p:cNvPr id="6" name="Rounded Rectangle 5"/>
          <p:cNvSpPr/>
          <p:nvPr/>
        </p:nvSpPr>
        <p:spPr>
          <a:xfrm>
            <a:off x="731520" y="1508760"/>
            <a:ext cx="10515600" cy="1207008"/>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63500" cy="1207008"/>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545336"/>
            <a:ext cx="2103120" cy="228600"/>
          </a:xfrm>
          <a:prstGeom prst="rect">
            <a:avLst/>
          </a:prstGeom>
          <a:noFill/>
        </p:spPr>
        <p:txBody>
          <a:bodyPr wrap="square">
            <a:spAutoFit/>
          </a:bodyPr>
          <a:lstStyle/>
          <a:p>
            <a:pPr algn="l">
              <a:defRPr sz="1400" b="1">
                <a:solidFill>
                  <a:srgbClr val="E84D3D"/>
                </a:solidFill>
              </a:defRPr>
            </a:pPr>
            <a:r>
              <a:t>xAI (Grok)</a:t>
            </a:r>
          </a:p>
        </p:txBody>
      </p:sp>
      <p:sp>
        <p:nvSpPr>
          <p:cNvPr id="9" name="TextBox 8"/>
          <p:cNvSpPr txBox="1"/>
          <p:nvPr/>
        </p:nvSpPr>
        <p:spPr>
          <a:xfrm>
            <a:off x="3291840" y="1545336"/>
            <a:ext cx="3200400" cy="228600"/>
          </a:xfrm>
          <a:prstGeom prst="rect">
            <a:avLst/>
          </a:prstGeom>
          <a:noFill/>
        </p:spPr>
        <p:txBody>
          <a:bodyPr wrap="square">
            <a:spAutoFit/>
          </a:bodyPr>
          <a:lstStyle/>
          <a:p>
            <a:pPr algn="l">
              <a:defRPr sz="1000" b="1">
                <a:solidFill>
                  <a:srgbClr val="FFFFFF"/>
                </a:solidFill>
              </a:defRPr>
            </a:pPr>
            <a:r>
              <a:t>Grok Models &amp; Enterprise API</a:t>
            </a:r>
          </a:p>
        </p:txBody>
      </p:sp>
      <p:sp>
        <p:nvSpPr>
          <p:cNvPr id="10" name="TextBox 9"/>
          <p:cNvSpPr txBox="1"/>
          <p:nvPr/>
        </p:nvSpPr>
        <p:spPr>
          <a:xfrm>
            <a:off x="8686800" y="1545336"/>
            <a:ext cx="2286000" cy="228600"/>
          </a:xfrm>
          <a:prstGeom prst="rect">
            <a:avLst/>
          </a:prstGeom>
          <a:noFill/>
        </p:spPr>
        <p:txBody>
          <a:bodyPr wrap="square">
            <a:spAutoFit/>
          </a:bodyPr>
          <a:lstStyle/>
          <a:p>
            <a:pPr algn="r">
              <a:defRPr sz="1000" b="0">
                <a:solidFill>
                  <a:srgbClr val="707890"/>
                </a:solidFill>
              </a:defRPr>
            </a:pPr>
            <a:r>
              <a:t>$250B valuation</a:t>
            </a:r>
          </a:p>
        </p:txBody>
      </p:sp>
      <p:sp>
        <p:nvSpPr>
          <p:cNvPr id="11" name="Rounded Rectangle 10"/>
          <p:cNvSpPr/>
          <p:nvPr/>
        </p:nvSpPr>
        <p:spPr>
          <a:xfrm>
            <a:off x="1097280" y="1783080"/>
            <a:ext cx="1371600" cy="5943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7280" y="1783080"/>
            <a:ext cx="13716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1920240"/>
            <a:ext cx="1005840" cy="548640"/>
          </a:xfrm>
          <a:prstGeom prst="rect">
            <a:avLst/>
          </a:prstGeom>
          <a:noFill/>
        </p:spPr>
        <p:txBody>
          <a:bodyPr wrap="square">
            <a:spAutoFit/>
          </a:bodyPr>
          <a:lstStyle/>
          <a:p>
            <a:pPr algn="ctr">
              <a:defRPr sz="2800" b="1">
                <a:solidFill>
                  <a:srgbClr val="FF6F00"/>
                </a:solidFill>
              </a:defRPr>
            </a:pPr>
            <a:r>
              <a:t>$3.8B</a:t>
            </a:r>
          </a:p>
        </p:txBody>
      </p:sp>
      <p:sp>
        <p:nvSpPr>
          <p:cNvPr id="14" name="TextBox 13"/>
          <p:cNvSpPr txBox="1"/>
          <p:nvPr/>
        </p:nvSpPr>
        <p:spPr>
          <a:xfrm>
            <a:off x="1280160" y="2423160"/>
            <a:ext cx="1005840" cy="-228600"/>
          </a:xfrm>
          <a:prstGeom prst="rect">
            <a:avLst/>
          </a:prstGeom>
          <a:noFill/>
        </p:spPr>
        <p:txBody>
          <a:bodyPr wrap="square">
            <a:spAutoFit/>
          </a:bodyPr>
          <a:lstStyle/>
          <a:p>
            <a:pPr algn="ctr">
              <a:defRPr sz="1200" b="0">
                <a:solidFill>
                  <a:srgbClr val="A0AEC0"/>
                </a:solidFill>
              </a:defRPr>
            </a:pPr>
            <a:r>
              <a:t>Annualized Rev.</a:t>
            </a:r>
            <a:br/>
            <a:r>
              <a:t>(incl. X, 2025)</a:t>
            </a:r>
          </a:p>
        </p:txBody>
      </p:sp>
      <p:sp>
        <p:nvSpPr>
          <p:cNvPr id="15" name="Rounded Rectangle 14"/>
          <p:cNvSpPr/>
          <p:nvPr/>
        </p:nvSpPr>
        <p:spPr>
          <a:xfrm>
            <a:off x="2606040" y="1783080"/>
            <a:ext cx="1371600" cy="5943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606040" y="1783080"/>
            <a:ext cx="1371600" cy="5080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88920" y="1920240"/>
            <a:ext cx="1005840" cy="548640"/>
          </a:xfrm>
          <a:prstGeom prst="rect">
            <a:avLst/>
          </a:prstGeom>
          <a:noFill/>
        </p:spPr>
        <p:txBody>
          <a:bodyPr wrap="square">
            <a:spAutoFit/>
          </a:bodyPr>
          <a:lstStyle/>
          <a:p>
            <a:pPr algn="ctr">
              <a:defRPr sz="2800" b="1">
                <a:solidFill>
                  <a:srgbClr val="E84D3D"/>
                </a:solidFill>
              </a:defRPr>
            </a:pPr>
            <a:r>
              <a:t>600M</a:t>
            </a:r>
          </a:p>
        </p:txBody>
      </p:sp>
      <p:sp>
        <p:nvSpPr>
          <p:cNvPr id="18" name="TextBox 17"/>
          <p:cNvSpPr txBox="1"/>
          <p:nvPr/>
        </p:nvSpPr>
        <p:spPr>
          <a:xfrm>
            <a:off x="2788920" y="2423160"/>
            <a:ext cx="1005840" cy="-228600"/>
          </a:xfrm>
          <a:prstGeom prst="rect">
            <a:avLst/>
          </a:prstGeom>
          <a:noFill/>
        </p:spPr>
        <p:txBody>
          <a:bodyPr wrap="square">
            <a:spAutoFit/>
          </a:bodyPr>
          <a:lstStyle/>
          <a:p>
            <a:pPr algn="ctr">
              <a:defRPr sz="1200" b="0">
                <a:solidFill>
                  <a:srgbClr val="A0AEC0"/>
                </a:solidFill>
              </a:defRPr>
            </a:pPr>
            <a:r>
              <a:t>Monthly Active</a:t>
            </a:r>
            <a:br/>
            <a:r>
              <a:t>Users (X+Grok)</a:t>
            </a:r>
          </a:p>
        </p:txBody>
      </p:sp>
      <p:sp>
        <p:nvSpPr>
          <p:cNvPr id="19" name="Rounded Rectangle 18"/>
          <p:cNvSpPr/>
          <p:nvPr/>
        </p:nvSpPr>
        <p:spPr>
          <a:xfrm>
            <a:off x="4114800" y="1783080"/>
            <a:ext cx="1371600" cy="5943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0" y="1783080"/>
            <a:ext cx="137160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80" y="1920240"/>
            <a:ext cx="1005840" cy="548640"/>
          </a:xfrm>
          <a:prstGeom prst="rect">
            <a:avLst/>
          </a:prstGeom>
          <a:noFill/>
        </p:spPr>
        <p:txBody>
          <a:bodyPr wrap="square">
            <a:spAutoFit/>
          </a:bodyPr>
          <a:lstStyle/>
          <a:p>
            <a:pPr algn="ctr">
              <a:defRPr sz="2800" b="1">
                <a:solidFill>
                  <a:srgbClr val="3B82F6"/>
                </a:solidFill>
              </a:defRPr>
            </a:pPr>
            <a:r>
              <a:t>$20B</a:t>
            </a:r>
          </a:p>
        </p:txBody>
      </p:sp>
      <p:sp>
        <p:nvSpPr>
          <p:cNvPr id="22" name="TextBox 21"/>
          <p:cNvSpPr txBox="1"/>
          <p:nvPr/>
        </p:nvSpPr>
        <p:spPr>
          <a:xfrm>
            <a:off x="4297680" y="2423160"/>
            <a:ext cx="1005840" cy="-228600"/>
          </a:xfrm>
          <a:prstGeom prst="rect">
            <a:avLst/>
          </a:prstGeom>
          <a:noFill/>
        </p:spPr>
        <p:txBody>
          <a:bodyPr wrap="square">
            <a:spAutoFit/>
          </a:bodyPr>
          <a:lstStyle/>
          <a:p>
            <a:pPr algn="ctr">
              <a:defRPr sz="1200" b="0">
                <a:solidFill>
                  <a:srgbClr val="A0AEC0"/>
                </a:solidFill>
              </a:defRPr>
            </a:pPr>
            <a:r>
              <a:t>Series E</a:t>
            </a:r>
            <a:br/>
            <a:r>
              <a:t>(Jan 2026)</a:t>
            </a:r>
          </a:p>
        </p:txBody>
      </p:sp>
      <p:sp>
        <p:nvSpPr>
          <p:cNvPr id="23" name="TextBox 22"/>
          <p:cNvSpPr txBox="1"/>
          <p:nvPr/>
        </p:nvSpPr>
        <p:spPr>
          <a:xfrm>
            <a:off x="5852160" y="1764792"/>
            <a:ext cx="5212080" cy="914400"/>
          </a:xfrm>
          <a:prstGeom prst="rect">
            <a:avLst/>
          </a:prstGeom>
          <a:noFill/>
        </p:spPr>
        <p:txBody>
          <a:bodyPr wrap="square">
            <a:spAutoFit/>
          </a:bodyPr>
          <a:lstStyle/>
          <a:p>
            <a:pPr algn="l">
              <a:spcAft>
                <a:spcPts val="0"/>
              </a:spcAft>
              <a:defRPr sz="800" b="0">
                <a:solidFill>
                  <a:srgbClr val="A0AEC0"/>
                </a:solidFill>
              </a:defRPr>
            </a:pPr>
            <a:r>
              <a:t>•  Standalone xAI ~$500M ARR run rate; 38x YoY growth (incl. X merger)</a:t>
            </a:r>
          </a:p>
          <a:p>
            <a:pPr algn="l">
              <a:spcAft>
                <a:spcPts val="0"/>
              </a:spcAft>
              <a:defRPr sz="800" b="0">
                <a:solidFill>
                  <a:srgbClr val="A0AEC0"/>
                </a:solidFill>
              </a:defRPr>
            </a:pPr>
            <a:r>
              <a:t>•  500+ enterprise API clients; 30M Grok monthly active users (app)</a:t>
            </a:r>
          </a:p>
          <a:p>
            <a:pPr algn="l">
              <a:spcAft>
                <a:spcPts val="0"/>
              </a:spcAft>
              <a:defRPr sz="800" b="0">
                <a:solidFill>
                  <a:srgbClr val="A0AEC0"/>
                </a:solidFill>
              </a:defRPr>
            </a:pPr>
            <a:r>
              <a:t>•  SpaceX acquired xAI at $250B (Feb 2026); burning ~$1B/month, target profit by 2027</a:t>
            </a:r>
          </a:p>
          <a:p>
            <a:pPr algn="l">
              <a:spcAft>
                <a:spcPts val="0"/>
              </a:spcAft>
              <a:defRPr sz="800" b="0">
                <a:solidFill>
                  <a:srgbClr val="A0AEC0"/>
                </a:solidFill>
              </a:defRPr>
            </a:pPr>
            <a:r>
              <a:t>•  Investors: Valor, Fidelity, QIA, NVIDIA, Cisco; $175B+ total funding</a:t>
            </a:r>
          </a:p>
        </p:txBody>
      </p:sp>
      <p:sp>
        <p:nvSpPr>
          <p:cNvPr id="24" name="Rounded Rectangle 23"/>
          <p:cNvSpPr/>
          <p:nvPr/>
        </p:nvSpPr>
        <p:spPr>
          <a:xfrm>
            <a:off x="731520" y="2788920"/>
            <a:ext cx="10515600" cy="1207008"/>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2788920"/>
            <a:ext cx="63500" cy="120700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2825496"/>
            <a:ext cx="2103120" cy="228600"/>
          </a:xfrm>
          <a:prstGeom prst="rect">
            <a:avLst/>
          </a:prstGeom>
          <a:noFill/>
        </p:spPr>
        <p:txBody>
          <a:bodyPr wrap="square">
            <a:spAutoFit/>
          </a:bodyPr>
          <a:lstStyle/>
          <a:p>
            <a:pPr algn="l">
              <a:defRPr sz="1400" b="1">
                <a:solidFill>
                  <a:srgbClr val="22C55E"/>
                </a:solidFill>
              </a:defRPr>
            </a:pPr>
            <a:r>
              <a:t>Mistral AI</a:t>
            </a:r>
          </a:p>
        </p:txBody>
      </p:sp>
      <p:sp>
        <p:nvSpPr>
          <p:cNvPr id="27" name="TextBox 26"/>
          <p:cNvSpPr txBox="1"/>
          <p:nvPr/>
        </p:nvSpPr>
        <p:spPr>
          <a:xfrm>
            <a:off x="3291840" y="2825496"/>
            <a:ext cx="3200400" cy="228600"/>
          </a:xfrm>
          <a:prstGeom prst="rect">
            <a:avLst/>
          </a:prstGeom>
          <a:noFill/>
        </p:spPr>
        <p:txBody>
          <a:bodyPr wrap="square">
            <a:spAutoFit/>
          </a:bodyPr>
          <a:lstStyle/>
          <a:p>
            <a:pPr algn="l">
              <a:defRPr sz="1000" b="1">
                <a:solidFill>
                  <a:srgbClr val="FFFFFF"/>
                </a:solidFill>
              </a:defRPr>
            </a:pPr>
            <a:r>
              <a:t>Le Chat, Mistral Large, Enterprise API</a:t>
            </a:r>
          </a:p>
        </p:txBody>
      </p:sp>
      <p:sp>
        <p:nvSpPr>
          <p:cNvPr id="28" name="TextBox 27"/>
          <p:cNvSpPr txBox="1"/>
          <p:nvPr/>
        </p:nvSpPr>
        <p:spPr>
          <a:xfrm>
            <a:off x="8686800" y="2825496"/>
            <a:ext cx="2286000" cy="228600"/>
          </a:xfrm>
          <a:prstGeom prst="rect">
            <a:avLst/>
          </a:prstGeom>
          <a:noFill/>
        </p:spPr>
        <p:txBody>
          <a:bodyPr wrap="square">
            <a:spAutoFit/>
          </a:bodyPr>
          <a:lstStyle/>
          <a:p>
            <a:pPr algn="r">
              <a:defRPr sz="1000" b="0">
                <a:solidFill>
                  <a:srgbClr val="707890"/>
                </a:solidFill>
              </a:defRPr>
            </a:pPr>
            <a:r>
              <a:t>$14B valuation</a:t>
            </a:r>
          </a:p>
        </p:txBody>
      </p:sp>
      <p:sp>
        <p:nvSpPr>
          <p:cNvPr id="29" name="Rounded Rectangle 28"/>
          <p:cNvSpPr/>
          <p:nvPr/>
        </p:nvSpPr>
        <p:spPr>
          <a:xfrm>
            <a:off x="1097280" y="3063240"/>
            <a:ext cx="1371600" cy="5943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97280" y="3063240"/>
            <a:ext cx="137160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80160" y="3200400"/>
            <a:ext cx="1005840" cy="548640"/>
          </a:xfrm>
          <a:prstGeom prst="rect">
            <a:avLst/>
          </a:prstGeom>
          <a:noFill/>
        </p:spPr>
        <p:txBody>
          <a:bodyPr wrap="square">
            <a:spAutoFit/>
          </a:bodyPr>
          <a:lstStyle/>
          <a:p>
            <a:pPr algn="ctr">
              <a:defRPr sz="2800" b="1">
                <a:solidFill>
                  <a:srgbClr val="22C55E"/>
                </a:solidFill>
              </a:defRPr>
            </a:pPr>
            <a:r>
              <a:t>€60M</a:t>
            </a:r>
          </a:p>
        </p:txBody>
      </p:sp>
      <p:sp>
        <p:nvSpPr>
          <p:cNvPr id="32" name="TextBox 31"/>
          <p:cNvSpPr txBox="1"/>
          <p:nvPr/>
        </p:nvSpPr>
        <p:spPr>
          <a:xfrm>
            <a:off x="1280160" y="3703320"/>
            <a:ext cx="1005840" cy="-228600"/>
          </a:xfrm>
          <a:prstGeom prst="rect">
            <a:avLst/>
          </a:prstGeom>
          <a:noFill/>
        </p:spPr>
        <p:txBody>
          <a:bodyPr wrap="square">
            <a:spAutoFit/>
          </a:bodyPr>
          <a:lstStyle/>
          <a:p>
            <a:pPr algn="ctr">
              <a:defRPr sz="1200" b="0">
                <a:solidFill>
                  <a:srgbClr val="A0AEC0"/>
                </a:solidFill>
              </a:defRPr>
            </a:pPr>
            <a:r>
              <a:t>2025 Revenue</a:t>
            </a:r>
            <a:br/>
            <a:r>
              <a:t>(5x from '23)</a:t>
            </a:r>
          </a:p>
        </p:txBody>
      </p:sp>
      <p:sp>
        <p:nvSpPr>
          <p:cNvPr id="33" name="Rounded Rectangle 32"/>
          <p:cNvSpPr/>
          <p:nvPr/>
        </p:nvSpPr>
        <p:spPr>
          <a:xfrm>
            <a:off x="2606040" y="3063240"/>
            <a:ext cx="1371600" cy="5943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606040" y="3063240"/>
            <a:ext cx="137160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88920" y="3200400"/>
            <a:ext cx="1005840" cy="548640"/>
          </a:xfrm>
          <a:prstGeom prst="rect">
            <a:avLst/>
          </a:prstGeom>
          <a:noFill/>
        </p:spPr>
        <p:txBody>
          <a:bodyPr wrap="square">
            <a:spAutoFit/>
          </a:bodyPr>
          <a:lstStyle/>
          <a:p>
            <a:pPr algn="ctr">
              <a:defRPr sz="2800" b="1">
                <a:solidFill>
                  <a:srgbClr val="14B8A6"/>
                </a:solidFill>
              </a:defRPr>
            </a:pPr>
            <a:r>
              <a:t>€1B</a:t>
            </a:r>
          </a:p>
        </p:txBody>
      </p:sp>
      <p:sp>
        <p:nvSpPr>
          <p:cNvPr id="36" name="TextBox 35"/>
          <p:cNvSpPr txBox="1"/>
          <p:nvPr/>
        </p:nvSpPr>
        <p:spPr>
          <a:xfrm>
            <a:off x="2788920" y="3703320"/>
            <a:ext cx="1005840" cy="-228600"/>
          </a:xfrm>
          <a:prstGeom prst="rect">
            <a:avLst/>
          </a:prstGeom>
          <a:noFill/>
        </p:spPr>
        <p:txBody>
          <a:bodyPr wrap="square">
            <a:spAutoFit/>
          </a:bodyPr>
          <a:lstStyle/>
          <a:p>
            <a:pPr algn="ctr">
              <a:defRPr sz="1200" b="0">
                <a:solidFill>
                  <a:srgbClr val="A0AEC0"/>
                </a:solidFill>
              </a:defRPr>
            </a:pPr>
            <a:r>
              <a:t>2026 Revenue</a:t>
            </a:r>
            <a:br/>
            <a:r>
              <a:t>Target</a:t>
            </a:r>
          </a:p>
        </p:txBody>
      </p:sp>
      <p:sp>
        <p:nvSpPr>
          <p:cNvPr id="37" name="Rounded Rectangle 36"/>
          <p:cNvSpPr/>
          <p:nvPr/>
        </p:nvSpPr>
        <p:spPr>
          <a:xfrm>
            <a:off x="4114800" y="3063240"/>
            <a:ext cx="1371600" cy="5943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114800" y="3063240"/>
            <a:ext cx="137160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97680" y="3200400"/>
            <a:ext cx="1005840" cy="548640"/>
          </a:xfrm>
          <a:prstGeom prst="rect">
            <a:avLst/>
          </a:prstGeom>
          <a:noFill/>
        </p:spPr>
        <p:txBody>
          <a:bodyPr wrap="square">
            <a:spAutoFit/>
          </a:bodyPr>
          <a:lstStyle/>
          <a:p>
            <a:pPr algn="ctr">
              <a:defRPr sz="2800" b="1">
                <a:solidFill>
                  <a:srgbClr val="A755F7"/>
                </a:solidFill>
              </a:defRPr>
            </a:pPr>
            <a:r>
              <a:t>20K+</a:t>
            </a:r>
          </a:p>
        </p:txBody>
      </p:sp>
      <p:sp>
        <p:nvSpPr>
          <p:cNvPr id="40" name="TextBox 39"/>
          <p:cNvSpPr txBox="1"/>
          <p:nvPr/>
        </p:nvSpPr>
        <p:spPr>
          <a:xfrm>
            <a:off x="4297680" y="3703320"/>
            <a:ext cx="1005840" cy="-228600"/>
          </a:xfrm>
          <a:prstGeom prst="rect">
            <a:avLst/>
          </a:prstGeom>
          <a:noFill/>
        </p:spPr>
        <p:txBody>
          <a:bodyPr wrap="square">
            <a:spAutoFit/>
          </a:bodyPr>
          <a:lstStyle/>
          <a:p>
            <a:pPr algn="ctr">
              <a:defRPr sz="1200" b="0">
                <a:solidFill>
                  <a:srgbClr val="A0AEC0"/>
                </a:solidFill>
              </a:defRPr>
            </a:pPr>
            <a:r>
              <a:t>Companies</a:t>
            </a:r>
            <a:br/>
            <a:r>
              <a:t>Using API</a:t>
            </a:r>
          </a:p>
        </p:txBody>
      </p:sp>
      <p:sp>
        <p:nvSpPr>
          <p:cNvPr id="41" name="TextBox 40"/>
          <p:cNvSpPr txBox="1"/>
          <p:nvPr/>
        </p:nvSpPr>
        <p:spPr>
          <a:xfrm>
            <a:off x="5852160" y="3044952"/>
            <a:ext cx="5212080" cy="914400"/>
          </a:xfrm>
          <a:prstGeom prst="rect">
            <a:avLst/>
          </a:prstGeom>
          <a:noFill/>
        </p:spPr>
        <p:txBody>
          <a:bodyPr wrap="square">
            <a:spAutoFit/>
          </a:bodyPr>
          <a:lstStyle/>
          <a:p>
            <a:pPr algn="l">
              <a:spcAft>
                <a:spcPts val="0"/>
              </a:spcAft>
              <a:defRPr sz="800" b="0">
                <a:solidFill>
                  <a:srgbClr val="A0AEC0"/>
                </a:solidFill>
              </a:defRPr>
            </a:pPr>
            <a:r>
              <a:t>•  Europe's largest AI company; €2B funding round at $14B valuation (Sep 2025)</a:t>
            </a:r>
          </a:p>
          <a:p>
            <a:pPr algn="l">
              <a:spcAft>
                <a:spcPts val="0"/>
              </a:spcAft>
              <a:defRPr sz="800" b="0">
                <a:solidFill>
                  <a:srgbClr val="A0AEC0"/>
                </a:solidFill>
              </a:defRPr>
            </a:pPr>
            <a:r>
              <a:t>•  Clients: BNP Paribas, Airbus, Schneider Electric; targeting €1B revenue in 2026</a:t>
            </a:r>
          </a:p>
          <a:p>
            <a:pPr algn="l">
              <a:spcAft>
                <a:spcPts val="0"/>
              </a:spcAft>
              <a:defRPr sz="800" b="0">
                <a:solidFill>
                  <a:srgbClr val="A0AEC0"/>
                </a:solidFill>
              </a:defRPr>
            </a:pPr>
            <a:r>
              <a:t>•  Le Chat hit 1M users within a month; Vibe 2.0 for enterprise agent workflows</a:t>
            </a:r>
          </a:p>
          <a:p>
            <a:pPr algn="l">
              <a:spcAft>
                <a:spcPts val="0"/>
              </a:spcAft>
              <a:defRPr sz="800" b="0">
                <a:solidFill>
                  <a:srgbClr val="A0AEC0"/>
                </a:solidFill>
              </a:defRPr>
            </a:pPr>
            <a:r>
              <a:t>•  650 employees; building tiered professional and team agentic features</a:t>
            </a:r>
          </a:p>
        </p:txBody>
      </p:sp>
      <p:sp>
        <p:nvSpPr>
          <p:cNvPr id="42" name="Rounded Rectangle 41"/>
          <p:cNvSpPr/>
          <p:nvPr/>
        </p:nvSpPr>
        <p:spPr>
          <a:xfrm>
            <a:off x="731520" y="4069080"/>
            <a:ext cx="10515600" cy="1207008"/>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1520" y="4069080"/>
            <a:ext cx="63500" cy="120700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97280" y="4105656"/>
            <a:ext cx="2103120" cy="228600"/>
          </a:xfrm>
          <a:prstGeom prst="rect">
            <a:avLst/>
          </a:prstGeom>
          <a:noFill/>
        </p:spPr>
        <p:txBody>
          <a:bodyPr wrap="square">
            <a:spAutoFit/>
          </a:bodyPr>
          <a:lstStyle/>
          <a:p>
            <a:pPr algn="l">
              <a:defRPr sz="1400" b="1">
                <a:solidFill>
                  <a:srgbClr val="3B82F6"/>
                </a:solidFill>
              </a:defRPr>
            </a:pPr>
            <a:r>
              <a:t>Cohere</a:t>
            </a:r>
          </a:p>
        </p:txBody>
      </p:sp>
      <p:sp>
        <p:nvSpPr>
          <p:cNvPr id="45" name="TextBox 44"/>
          <p:cNvSpPr txBox="1"/>
          <p:nvPr/>
        </p:nvSpPr>
        <p:spPr>
          <a:xfrm>
            <a:off x="3291840" y="4105656"/>
            <a:ext cx="3200400" cy="228600"/>
          </a:xfrm>
          <a:prstGeom prst="rect">
            <a:avLst/>
          </a:prstGeom>
          <a:noFill/>
        </p:spPr>
        <p:txBody>
          <a:bodyPr wrap="square">
            <a:spAutoFit/>
          </a:bodyPr>
          <a:lstStyle/>
          <a:p>
            <a:pPr algn="l">
              <a:defRPr sz="1000" b="1">
                <a:solidFill>
                  <a:srgbClr val="FFFFFF"/>
                </a:solidFill>
              </a:defRPr>
            </a:pPr>
            <a:r>
              <a:t>North Agent Platform, Command R</a:t>
            </a:r>
          </a:p>
        </p:txBody>
      </p:sp>
      <p:sp>
        <p:nvSpPr>
          <p:cNvPr id="46" name="TextBox 45"/>
          <p:cNvSpPr txBox="1"/>
          <p:nvPr/>
        </p:nvSpPr>
        <p:spPr>
          <a:xfrm>
            <a:off x="8686800" y="4105656"/>
            <a:ext cx="2286000" cy="228600"/>
          </a:xfrm>
          <a:prstGeom prst="rect">
            <a:avLst/>
          </a:prstGeom>
          <a:noFill/>
        </p:spPr>
        <p:txBody>
          <a:bodyPr wrap="square">
            <a:spAutoFit/>
          </a:bodyPr>
          <a:lstStyle/>
          <a:p>
            <a:pPr algn="r">
              <a:defRPr sz="1000" b="0">
                <a:solidFill>
                  <a:srgbClr val="707890"/>
                </a:solidFill>
              </a:defRPr>
            </a:pPr>
            <a:r>
              <a:t>$7B valuation</a:t>
            </a:r>
          </a:p>
        </p:txBody>
      </p:sp>
      <p:sp>
        <p:nvSpPr>
          <p:cNvPr id="47" name="Rounded Rectangle 46"/>
          <p:cNvSpPr/>
          <p:nvPr/>
        </p:nvSpPr>
        <p:spPr>
          <a:xfrm>
            <a:off x="1097280" y="4343400"/>
            <a:ext cx="1371600" cy="5943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97280" y="4343400"/>
            <a:ext cx="137160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80160" y="4480560"/>
            <a:ext cx="1005840" cy="548640"/>
          </a:xfrm>
          <a:prstGeom prst="rect">
            <a:avLst/>
          </a:prstGeom>
          <a:noFill/>
        </p:spPr>
        <p:txBody>
          <a:bodyPr wrap="square">
            <a:spAutoFit/>
          </a:bodyPr>
          <a:lstStyle/>
          <a:p>
            <a:pPr algn="ctr">
              <a:defRPr sz="2800" b="1">
                <a:solidFill>
                  <a:srgbClr val="3B82F6"/>
                </a:solidFill>
              </a:defRPr>
            </a:pPr>
            <a:r>
              <a:t>$240M</a:t>
            </a:r>
          </a:p>
        </p:txBody>
      </p:sp>
      <p:sp>
        <p:nvSpPr>
          <p:cNvPr id="50" name="TextBox 49"/>
          <p:cNvSpPr txBox="1"/>
          <p:nvPr/>
        </p:nvSpPr>
        <p:spPr>
          <a:xfrm>
            <a:off x="1280160" y="4983480"/>
            <a:ext cx="1005840" cy="-228600"/>
          </a:xfrm>
          <a:prstGeom prst="rect">
            <a:avLst/>
          </a:prstGeom>
          <a:noFill/>
        </p:spPr>
        <p:txBody>
          <a:bodyPr wrap="square">
            <a:spAutoFit/>
          </a:bodyPr>
          <a:lstStyle/>
          <a:p>
            <a:pPr algn="ctr">
              <a:defRPr sz="1200" b="0">
                <a:solidFill>
                  <a:srgbClr val="A0AEC0"/>
                </a:solidFill>
              </a:defRPr>
            </a:pPr>
            <a:r>
              <a:t>ARR</a:t>
            </a:r>
            <a:br/>
            <a:r>
              <a:t>(2025)</a:t>
            </a:r>
          </a:p>
        </p:txBody>
      </p:sp>
      <p:sp>
        <p:nvSpPr>
          <p:cNvPr id="51" name="Rounded Rectangle 50"/>
          <p:cNvSpPr/>
          <p:nvPr/>
        </p:nvSpPr>
        <p:spPr>
          <a:xfrm>
            <a:off x="2606040" y="4343400"/>
            <a:ext cx="1371600" cy="5943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606040" y="4343400"/>
            <a:ext cx="13716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88920" y="4480560"/>
            <a:ext cx="1005840" cy="548640"/>
          </a:xfrm>
          <a:prstGeom prst="rect">
            <a:avLst/>
          </a:prstGeom>
          <a:noFill/>
        </p:spPr>
        <p:txBody>
          <a:bodyPr wrap="square">
            <a:spAutoFit/>
          </a:bodyPr>
          <a:lstStyle/>
          <a:p>
            <a:pPr algn="ctr">
              <a:defRPr sz="2800" b="1">
                <a:solidFill>
                  <a:srgbClr val="FF6F00"/>
                </a:solidFill>
              </a:defRPr>
            </a:pPr>
            <a:r>
              <a:t>287%</a:t>
            </a:r>
          </a:p>
        </p:txBody>
      </p:sp>
      <p:sp>
        <p:nvSpPr>
          <p:cNvPr id="54" name="TextBox 53"/>
          <p:cNvSpPr txBox="1"/>
          <p:nvPr/>
        </p:nvSpPr>
        <p:spPr>
          <a:xfrm>
            <a:off x="2788920" y="4983480"/>
            <a:ext cx="1005840" cy="-228600"/>
          </a:xfrm>
          <a:prstGeom prst="rect">
            <a:avLst/>
          </a:prstGeom>
          <a:noFill/>
        </p:spPr>
        <p:txBody>
          <a:bodyPr wrap="square">
            <a:spAutoFit/>
          </a:bodyPr>
          <a:lstStyle/>
          <a:p>
            <a:pPr algn="ctr">
              <a:defRPr sz="1200" b="0">
                <a:solidFill>
                  <a:srgbClr val="A0AEC0"/>
                </a:solidFill>
              </a:defRPr>
            </a:pPr>
            <a:r>
              <a:t>YoY ARR</a:t>
            </a:r>
            <a:br/>
            <a:r>
              <a:t>Growth</a:t>
            </a:r>
          </a:p>
        </p:txBody>
      </p:sp>
      <p:sp>
        <p:nvSpPr>
          <p:cNvPr id="55" name="Rounded Rectangle 54"/>
          <p:cNvSpPr/>
          <p:nvPr/>
        </p:nvSpPr>
        <p:spPr>
          <a:xfrm>
            <a:off x="4114800" y="4343400"/>
            <a:ext cx="1371600" cy="5943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114800" y="4343400"/>
            <a:ext cx="137160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297680" y="4480560"/>
            <a:ext cx="1005840" cy="548640"/>
          </a:xfrm>
          <a:prstGeom prst="rect">
            <a:avLst/>
          </a:prstGeom>
          <a:noFill/>
        </p:spPr>
        <p:txBody>
          <a:bodyPr wrap="square">
            <a:spAutoFit/>
          </a:bodyPr>
          <a:lstStyle/>
          <a:p>
            <a:pPr algn="ctr">
              <a:defRPr sz="2800" b="1">
                <a:solidFill>
                  <a:srgbClr val="22C55E"/>
                </a:solidFill>
              </a:defRPr>
            </a:pPr>
            <a:r>
              <a:t>70%</a:t>
            </a:r>
          </a:p>
        </p:txBody>
      </p:sp>
      <p:sp>
        <p:nvSpPr>
          <p:cNvPr id="58" name="TextBox 57"/>
          <p:cNvSpPr txBox="1"/>
          <p:nvPr/>
        </p:nvSpPr>
        <p:spPr>
          <a:xfrm>
            <a:off x="4297680" y="4983480"/>
            <a:ext cx="1005840" cy="-228600"/>
          </a:xfrm>
          <a:prstGeom prst="rect">
            <a:avLst/>
          </a:prstGeom>
          <a:noFill/>
        </p:spPr>
        <p:txBody>
          <a:bodyPr wrap="square">
            <a:spAutoFit/>
          </a:bodyPr>
          <a:lstStyle/>
          <a:p>
            <a:pPr algn="ctr">
              <a:defRPr sz="1200" b="0">
                <a:solidFill>
                  <a:srgbClr val="A0AEC0"/>
                </a:solidFill>
              </a:defRPr>
            </a:pPr>
            <a:r>
              <a:t>Gross</a:t>
            </a:r>
            <a:br/>
            <a:r>
              <a:t>Margins</a:t>
            </a:r>
          </a:p>
        </p:txBody>
      </p:sp>
      <p:sp>
        <p:nvSpPr>
          <p:cNvPr id="59" name="TextBox 58"/>
          <p:cNvSpPr txBox="1"/>
          <p:nvPr/>
        </p:nvSpPr>
        <p:spPr>
          <a:xfrm>
            <a:off x="5852160" y="4325112"/>
            <a:ext cx="5212080" cy="914400"/>
          </a:xfrm>
          <a:prstGeom prst="rect">
            <a:avLst/>
          </a:prstGeom>
          <a:noFill/>
        </p:spPr>
        <p:txBody>
          <a:bodyPr wrap="square">
            <a:spAutoFit/>
          </a:bodyPr>
          <a:lstStyle/>
          <a:p>
            <a:pPr algn="l">
              <a:spcAft>
                <a:spcPts val="0"/>
              </a:spcAft>
              <a:defRPr sz="800" b="0">
                <a:solidFill>
                  <a:srgbClr val="A0AEC0"/>
                </a:solidFill>
              </a:defRPr>
            </a:pPr>
            <a:r>
              <a:t>•  85% revenue from private deployments; enterprise clients: Oracle, RBC, LG, Notion</a:t>
            </a:r>
          </a:p>
          <a:p>
            <a:pPr algn="l">
              <a:spcAft>
                <a:spcPts val="0"/>
              </a:spcAft>
              <a:defRPr sz="800" b="0">
                <a:solidFill>
                  <a:srgbClr val="A0AEC0"/>
                </a:solidFill>
              </a:defRPr>
            </a:pPr>
            <a:r>
              <a:t>•  'North' AI agent platform for knowledge workers — multi-step business processes</a:t>
            </a:r>
          </a:p>
          <a:p>
            <a:pPr algn="l">
              <a:spcAft>
                <a:spcPts val="0"/>
              </a:spcAft>
              <a:defRPr sz="800" b="0">
                <a:solidFill>
                  <a:srgbClr val="A0AEC0"/>
                </a:solidFill>
              </a:defRPr>
            </a:pPr>
            <a:r>
              <a:t>•  $970M total funding; backed by NVIDIA, Salesforce Ventures, AMD Ventures</a:t>
            </a:r>
          </a:p>
          <a:p>
            <a:pPr algn="l">
              <a:spcAft>
                <a:spcPts val="0"/>
              </a:spcAft>
              <a:defRPr sz="800" b="0">
                <a:solidFill>
                  <a:srgbClr val="A0AEC0"/>
                </a:solidFill>
              </a:defRPr>
            </a:pPr>
            <a:r>
              <a:t>•  Positioning for IPO; 50%+ quarter-over-quarter growth throughout 2025</a:t>
            </a:r>
          </a:p>
        </p:txBody>
      </p:sp>
      <p:sp>
        <p:nvSpPr>
          <p:cNvPr id="60" name="Rounded Rectangle 59"/>
          <p:cNvSpPr/>
          <p:nvPr/>
        </p:nvSpPr>
        <p:spPr>
          <a:xfrm>
            <a:off x="731520" y="5349240"/>
            <a:ext cx="10515600" cy="1207008"/>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31520" y="5349240"/>
            <a:ext cx="63500" cy="1207008"/>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97280" y="5385816"/>
            <a:ext cx="2103120" cy="228600"/>
          </a:xfrm>
          <a:prstGeom prst="rect">
            <a:avLst/>
          </a:prstGeom>
          <a:noFill/>
        </p:spPr>
        <p:txBody>
          <a:bodyPr wrap="square">
            <a:spAutoFit/>
          </a:bodyPr>
          <a:lstStyle/>
          <a:p>
            <a:pPr algn="l">
              <a:defRPr sz="1400" b="1">
                <a:solidFill>
                  <a:srgbClr val="FF6F00"/>
                </a:solidFill>
              </a:defRPr>
            </a:pPr>
            <a:r>
              <a:t>Databricks (Private)</a:t>
            </a:r>
          </a:p>
        </p:txBody>
      </p:sp>
      <p:sp>
        <p:nvSpPr>
          <p:cNvPr id="63" name="TextBox 62"/>
          <p:cNvSpPr txBox="1"/>
          <p:nvPr/>
        </p:nvSpPr>
        <p:spPr>
          <a:xfrm>
            <a:off x="3291840" y="5385816"/>
            <a:ext cx="3200400" cy="228600"/>
          </a:xfrm>
          <a:prstGeom prst="rect">
            <a:avLst/>
          </a:prstGeom>
          <a:noFill/>
        </p:spPr>
        <p:txBody>
          <a:bodyPr wrap="square">
            <a:spAutoFit/>
          </a:bodyPr>
          <a:lstStyle/>
          <a:p>
            <a:pPr algn="l">
              <a:defRPr sz="1000" b="1">
                <a:solidFill>
                  <a:srgbClr val="FFFFFF"/>
                </a:solidFill>
              </a:defRPr>
            </a:pPr>
            <a:r>
              <a:t>Mosaic AI, Agent Bricks, Lakebase</a:t>
            </a:r>
          </a:p>
        </p:txBody>
      </p:sp>
      <p:sp>
        <p:nvSpPr>
          <p:cNvPr id="64" name="TextBox 63"/>
          <p:cNvSpPr txBox="1"/>
          <p:nvPr/>
        </p:nvSpPr>
        <p:spPr>
          <a:xfrm>
            <a:off x="8686800" y="5385816"/>
            <a:ext cx="2286000" cy="228600"/>
          </a:xfrm>
          <a:prstGeom prst="rect">
            <a:avLst/>
          </a:prstGeom>
          <a:noFill/>
        </p:spPr>
        <p:txBody>
          <a:bodyPr wrap="square">
            <a:spAutoFit/>
          </a:bodyPr>
          <a:lstStyle/>
          <a:p>
            <a:pPr algn="r">
              <a:defRPr sz="1000" b="0">
                <a:solidFill>
                  <a:srgbClr val="707890"/>
                </a:solidFill>
              </a:defRPr>
            </a:pPr>
            <a:r>
              <a:t>$134B valuation</a:t>
            </a:r>
          </a:p>
        </p:txBody>
      </p:sp>
      <p:sp>
        <p:nvSpPr>
          <p:cNvPr id="65" name="Rounded Rectangle 64"/>
          <p:cNvSpPr/>
          <p:nvPr/>
        </p:nvSpPr>
        <p:spPr>
          <a:xfrm>
            <a:off x="1097280" y="5623560"/>
            <a:ext cx="1371600" cy="5943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97280" y="5623560"/>
            <a:ext cx="13716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280160" y="5760720"/>
            <a:ext cx="1005840" cy="548640"/>
          </a:xfrm>
          <a:prstGeom prst="rect">
            <a:avLst/>
          </a:prstGeom>
          <a:noFill/>
        </p:spPr>
        <p:txBody>
          <a:bodyPr wrap="square">
            <a:spAutoFit/>
          </a:bodyPr>
          <a:lstStyle/>
          <a:p>
            <a:pPr algn="ctr">
              <a:defRPr sz="2800" b="1">
                <a:solidFill>
                  <a:srgbClr val="FF6F00"/>
                </a:solidFill>
              </a:defRPr>
            </a:pPr>
            <a:r>
              <a:t>$5.4B</a:t>
            </a:r>
          </a:p>
        </p:txBody>
      </p:sp>
      <p:sp>
        <p:nvSpPr>
          <p:cNvPr id="68" name="TextBox 67"/>
          <p:cNvSpPr txBox="1"/>
          <p:nvPr/>
        </p:nvSpPr>
        <p:spPr>
          <a:xfrm>
            <a:off x="1280160" y="6263640"/>
            <a:ext cx="1005840" cy="-228600"/>
          </a:xfrm>
          <a:prstGeom prst="rect">
            <a:avLst/>
          </a:prstGeom>
          <a:noFill/>
        </p:spPr>
        <p:txBody>
          <a:bodyPr wrap="square">
            <a:spAutoFit/>
          </a:bodyPr>
          <a:lstStyle/>
          <a:p>
            <a:pPr algn="ctr">
              <a:defRPr sz="1200" b="0">
                <a:solidFill>
                  <a:srgbClr val="A0AEC0"/>
                </a:solidFill>
              </a:defRPr>
            </a:pPr>
            <a:r>
              <a:t>ARR</a:t>
            </a:r>
            <a:br/>
            <a:r>
              <a:t>(~65% YoY)</a:t>
            </a:r>
          </a:p>
        </p:txBody>
      </p:sp>
      <p:sp>
        <p:nvSpPr>
          <p:cNvPr id="69" name="Rounded Rectangle 68"/>
          <p:cNvSpPr/>
          <p:nvPr/>
        </p:nvSpPr>
        <p:spPr>
          <a:xfrm>
            <a:off x="2606040" y="5623560"/>
            <a:ext cx="1371600" cy="5943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606040" y="5623560"/>
            <a:ext cx="137160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788920" y="5760720"/>
            <a:ext cx="1005840" cy="548640"/>
          </a:xfrm>
          <a:prstGeom prst="rect">
            <a:avLst/>
          </a:prstGeom>
          <a:noFill/>
        </p:spPr>
        <p:txBody>
          <a:bodyPr wrap="square">
            <a:spAutoFit/>
          </a:bodyPr>
          <a:lstStyle/>
          <a:p>
            <a:pPr algn="ctr">
              <a:defRPr sz="2800" b="1">
                <a:solidFill>
                  <a:srgbClr val="A755F7"/>
                </a:solidFill>
              </a:defRPr>
            </a:pPr>
            <a:r>
              <a:t>$1.4B</a:t>
            </a:r>
          </a:p>
        </p:txBody>
      </p:sp>
      <p:sp>
        <p:nvSpPr>
          <p:cNvPr id="72" name="TextBox 71"/>
          <p:cNvSpPr txBox="1"/>
          <p:nvPr/>
        </p:nvSpPr>
        <p:spPr>
          <a:xfrm>
            <a:off x="2788920" y="6263640"/>
            <a:ext cx="1005840" cy="-228600"/>
          </a:xfrm>
          <a:prstGeom prst="rect">
            <a:avLst/>
          </a:prstGeom>
          <a:noFill/>
        </p:spPr>
        <p:txBody>
          <a:bodyPr wrap="square">
            <a:spAutoFit/>
          </a:bodyPr>
          <a:lstStyle/>
          <a:p>
            <a:pPr algn="ctr">
              <a:defRPr sz="1200" b="0">
                <a:solidFill>
                  <a:srgbClr val="A0AEC0"/>
                </a:solidFill>
              </a:defRPr>
            </a:pPr>
            <a:r>
              <a:t>AI-Specific</a:t>
            </a:r>
            <a:br/>
            <a:r>
              <a:t>ARR</a:t>
            </a:r>
          </a:p>
        </p:txBody>
      </p:sp>
      <p:sp>
        <p:nvSpPr>
          <p:cNvPr id="73" name="Rounded Rectangle 72"/>
          <p:cNvSpPr/>
          <p:nvPr/>
        </p:nvSpPr>
        <p:spPr>
          <a:xfrm>
            <a:off x="4114800" y="5623560"/>
            <a:ext cx="1371600" cy="59436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114800" y="5623560"/>
            <a:ext cx="137160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297680" y="5760720"/>
            <a:ext cx="1005840" cy="548640"/>
          </a:xfrm>
          <a:prstGeom prst="rect">
            <a:avLst/>
          </a:prstGeom>
          <a:noFill/>
        </p:spPr>
        <p:txBody>
          <a:bodyPr wrap="square">
            <a:spAutoFit/>
          </a:bodyPr>
          <a:lstStyle/>
          <a:p>
            <a:pPr algn="ctr">
              <a:defRPr sz="2800" b="1">
                <a:solidFill>
                  <a:srgbClr val="14B8A6"/>
                </a:solidFill>
              </a:defRPr>
            </a:pPr>
            <a:r>
              <a:t>20K+</a:t>
            </a:r>
          </a:p>
        </p:txBody>
      </p:sp>
      <p:sp>
        <p:nvSpPr>
          <p:cNvPr id="76" name="TextBox 75"/>
          <p:cNvSpPr txBox="1"/>
          <p:nvPr/>
        </p:nvSpPr>
        <p:spPr>
          <a:xfrm>
            <a:off x="4297680" y="6263640"/>
            <a:ext cx="1005840" cy="-228600"/>
          </a:xfrm>
          <a:prstGeom prst="rect">
            <a:avLst/>
          </a:prstGeom>
          <a:noFill/>
        </p:spPr>
        <p:txBody>
          <a:bodyPr wrap="square">
            <a:spAutoFit/>
          </a:bodyPr>
          <a:lstStyle/>
          <a:p>
            <a:pPr algn="ctr">
              <a:defRPr sz="1200" b="0">
                <a:solidFill>
                  <a:srgbClr val="A0AEC0"/>
                </a:solidFill>
              </a:defRPr>
            </a:pPr>
            <a:r>
              <a:t>Global</a:t>
            </a:r>
            <a:br/>
            <a:r>
              <a:t>Customers</a:t>
            </a:r>
          </a:p>
        </p:txBody>
      </p:sp>
      <p:sp>
        <p:nvSpPr>
          <p:cNvPr id="77" name="TextBox 76"/>
          <p:cNvSpPr txBox="1"/>
          <p:nvPr/>
        </p:nvSpPr>
        <p:spPr>
          <a:xfrm>
            <a:off x="5852160" y="5605272"/>
            <a:ext cx="5212080" cy="914400"/>
          </a:xfrm>
          <a:prstGeom prst="rect">
            <a:avLst/>
          </a:prstGeom>
          <a:noFill/>
        </p:spPr>
        <p:txBody>
          <a:bodyPr wrap="square">
            <a:spAutoFit/>
          </a:bodyPr>
          <a:lstStyle/>
          <a:p>
            <a:pPr algn="l">
              <a:spcAft>
                <a:spcPts val="0"/>
              </a:spcAft>
              <a:defRPr sz="800" b="0">
                <a:solidFill>
                  <a:srgbClr val="A0AEC0"/>
                </a:solidFill>
              </a:defRPr>
            </a:pPr>
            <a:r>
              <a:t>•  Largest private data AI company; 60%+ Fortune 500 on platform</a:t>
            </a:r>
          </a:p>
          <a:p>
            <a:pPr algn="l">
              <a:spcAft>
                <a:spcPts val="0"/>
              </a:spcAft>
              <a:defRPr sz="800" b="0">
                <a:solidFill>
                  <a:srgbClr val="A0AEC0"/>
                </a:solidFill>
              </a:defRPr>
            </a:pPr>
            <a:r>
              <a:t>•  $7B equity + debt raise at $134B; approaching IPO readiness (FCF positive)</a:t>
            </a:r>
          </a:p>
          <a:p>
            <a:pPr algn="l">
              <a:spcAft>
                <a:spcPts val="0"/>
              </a:spcAft>
              <a:defRPr sz="800" b="0">
                <a:solidFill>
                  <a:srgbClr val="A0AEC0"/>
                </a:solidFill>
              </a:defRPr>
            </a:pPr>
            <a:r>
              <a:t>•  80% of databases created by AI agents; 327% multi-agent workflow growth</a:t>
            </a:r>
          </a:p>
          <a:p>
            <a:pPr algn="l">
              <a:spcAft>
                <a:spcPts val="0"/>
              </a:spcAft>
              <a:defRPr sz="800" b="0">
                <a:solidFill>
                  <a:srgbClr val="A0AEC0"/>
                </a:solidFill>
              </a:defRPr>
            </a:pPr>
            <a:r>
              <a:t>•  Open-source stack: MLflow, Unity Catalog; runs on AWS, GCP, Azure</a:t>
            </a:r>
          </a:p>
        </p:txBody>
      </p:sp>
      <p:sp>
        <p:nvSpPr>
          <p:cNvPr id="78" name="TextBox 77"/>
          <p:cNvSpPr txBox="1"/>
          <p:nvPr/>
        </p:nvSpPr>
        <p:spPr>
          <a:xfrm>
            <a:off x="731520" y="6492240"/>
            <a:ext cx="10058400" cy="274320"/>
          </a:xfrm>
          <a:prstGeom prst="rect">
            <a:avLst/>
          </a:prstGeom>
          <a:noFill/>
        </p:spPr>
        <p:txBody>
          <a:bodyPr wrap="square">
            <a:spAutoFit/>
          </a:bodyPr>
          <a:lstStyle/>
          <a:p>
            <a:pPr algn="l">
              <a:spcAft>
                <a:spcPts val="600"/>
              </a:spcAft>
              <a:defRPr sz="900" b="0">
                <a:solidFill>
                  <a:srgbClr val="707890"/>
                </a:solidFill>
              </a:defRPr>
            </a:pPr>
            <a:r>
              <a:t>Sources: Press releases, funding announcements, investor disclosures, and media reports (2025–2026). Private company revenue figures are estimates from public reporting.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Private AI Valuation Landscape</a:t>
            </a:r>
          </a:p>
        </p:txBody>
      </p:sp>
      <p:sp>
        <p:nvSpPr>
          <p:cNvPr id="4" name="Rectangle 3"/>
          <p:cNvSpPr/>
          <p:nvPr/>
        </p:nvSpPr>
        <p:spPr>
          <a:xfrm>
            <a:off x="731520" y="1051560"/>
            <a:ext cx="228600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9144000" cy="365760"/>
          </a:xfrm>
          <a:prstGeom prst="rect">
            <a:avLst/>
          </a:prstGeom>
          <a:noFill/>
        </p:spPr>
        <p:txBody>
          <a:bodyPr wrap="square">
            <a:spAutoFit/>
          </a:bodyPr>
          <a:lstStyle/>
          <a:p>
            <a:pPr algn="l">
              <a:defRPr sz="1300" b="0">
                <a:solidFill>
                  <a:srgbClr val="A0AEC0"/>
                </a:solidFill>
              </a:defRPr>
            </a:pPr>
            <a:r>
              <a:t>Valuations and ARR of privately held agentic AI companies (2025–2026)</a:t>
            </a:r>
          </a:p>
        </p:txBody>
      </p:sp>
      <p:sp>
        <p:nvSpPr>
          <p:cNvPr id="6" name="Rectangle 5"/>
          <p:cNvSpPr/>
          <p:nvPr/>
        </p:nvSpPr>
        <p:spPr>
          <a:xfrm>
            <a:off x="731520" y="1600200"/>
            <a:ext cx="10515600" cy="381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45920"/>
            <a:ext cx="1645920" cy="274320"/>
          </a:xfrm>
          <a:prstGeom prst="rect">
            <a:avLst/>
          </a:prstGeom>
          <a:noFill/>
        </p:spPr>
        <p:txBody>
          <a:bodyPr wrap="square">
            <a:spAutoFit/>
          </a:bodyPr>
          <a:lstStyle/>
          <a:p>
            <a:pPr algn="l">
              <a:defRPr sz="1400" b="1">
                <a:solidFill>
                  <a:srgbClr val="FF6F00"/>
                </a:solidFill>
              </a:defRPr>
            </a:pPr>
            <a:r>
              <a:t>$250B+</a:t>
            </a:r>
          </a:p>
        </p:txBody>
      </p:sp>
      <p:sp>
        <p:nvSpPr>
          <p:cNvPr id="8" name="Rounded Rectangle 7"/>
          <p:cNvSpPr/>
          <p:nvPr/>
        </p:nvSpPr>
        <p:spPr>
          <a:xfrm>
            <a:off x="731520" y="1920240"/>
            <a:ext cx="3383280" cy="5486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20240"/>
            <a:ext cx="50800" cy="54864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38528"/>
            <a:ext cx="1371600" cy="228600"/>
          </a:xfrm>
          <a:prstGeom prst="rect">
            <a:avLst/>
          </a:prstGeom>
          <a:noFill/>
        </p:spPr>
        <p:txBody>
          <a:bodyPr wrap="square">
            <a:spAutoFit/>
          </a:bodyPr>
          <a:lstStyle/>
          <a:p>
            <a:pPr algn="l">
              <a:defRPr sz="1300" b="1">
                <a:solidFill>
                  <a:srgbClr val="FF6F00"/>
                </a:solidFill>
              </a:defRPr>
            </a:pPr>
            <a:r>
              <a:t>OpenAI</a:t>
            </a:r>
          </a:p>
        </p:txBody>
      </p:sp>
      <p:sp>
        <p:nvSpPr>
          <p:cNvPr id="11" name="TextBox 10"/>
          <p:cNvSpPr txBox="1"/>
          <p:nvPr/>
        </p:nvSpPr>
        <p:spPr>
          <a:xfrm>
            <a:off x="2286000" y="1938528"/>
            <a:ext cx="1645920" cy="228600"/>
          </a:xfrm>
          <a:prstGeom prst="rect">
            <a:avLst/>
          </a:prstGeom>
          <a:noFill/>
        </p:spPr>
        <p:txBody>
          <a:bodyPr wrap="square">
            <a:spAutoFit/>
          </a:bodyPr>
          <a:lstStyle/>
          <a:p>
            <a:pPr algn="l">
              <a:defRPr sz="1000" b="0">
                <a:solidFill>
                  <a:srgbClr val="FFFFFF"/>
                </a:solidFill>
              </a:defRPr>
            </a:pPr>
            <a:r>
              <a:t>$500B  |  $25B ARR</a:t>
            </a:r>
          </a:p>
        </p:txBody>
      </p:sp>
      <p:sp>
        <p:nvSpPr>
          <p:cNvPr id="12" name="TextBox 11"/>
          <p:cNvSpPr txBox="1"/>
          <p:nvPr/>
        </p:nvSpPr>
        <p:spPr>
          <a:xfrm>
            <a:off x="868680" y="2176272"/>
            <a:ext cx="3108960" cy="228600"/>
          </a:xfrm>
          <a:prstGeom prst="rect">
            <a:avLst/>
          </a:prstGeom>
          <a:noFill/>
        </p:spPr>
        <p:txBody>
          <a:bodyPr wrap="square">
            <a:spAutoFit/>
          </a:bodyPr>
          <a:lstStyle/>
          <a:p>
            <a:pPr algn="l">
              <a:defRPr sz="900" b="0">
                <a:solidFill>
                  <a:srgbClr val="A0AEC0"/>
                </a:solidFill>
              </a:defRPr>
            </a:pPr>
            <a:r>
              <a:t>GPT, Agents SDK, Operator</a:t>
            </a:r>
          </a:p>
        </p:txBody>
      </p:sp>
      <p:sp>
        <p:nvSpPr>
          <p:cNvPr id="13" name="Rounded Rectangle 12"/>
          <p:cNvSpPr/>
          <p:nvPr/>
        </p:nvSpPr>
        <p:spPr>
          <a:xfrm>
            <a:off x="4297680" y="1920240"/>
            <a:ext cx="3383280" cy="5486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920240"/>
            <a:ext cx="50800" cy="54864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1938528"/>
            <a:ext cx="1371600" cy="228600"/>
          </a:xfrm>
          <a:prstGeom prst="rect">
            <a:avLst/>
          </a:prstGeom>
          <a:noFill/>
        </p:spPr>
        <p:txBody>
          <a:bodyPr wrap="square">
            <a:spAutoFit/>
          </a:bodyPr>
          <a:lstStyle/>
          <a:p>
            <a:pPr algn="l">
              <a:defRPr sz="1300" b="1">
                <a:solidFill>
                  <a:srgbClr val="A755F7"/>
                </a:solidFill>
              </a:defRPr>
            </a:pPr>
            <a:r>
              <a:t>Anthropic</a:t>
            </a:r>
          </a:p>
        </p:txBody>
      </p:sp>
      <p:sp>
        <p:nvSpPr>
          <p:cNvPr id="16" name="TextBox 15"/>
          <p:cNvSpPr txBox="1"/>
          <p:nvPr/>
        </p:nvSpPr>
        <p:spPr>
          <a:xfrm>
            <a:off x="5852160" y="1938528"/>
            <a:ext cx="1645920" cy="228600"/>
          </a:xfrm>
          <a:prstGeom prst="rect">
            <a:avLst/>
          </a:prstGeom>
          <a:noFill/>
        </p:spPr>
        <p:txBody>
          <a:bodyPr wrap="square">
            <a:spAutoFit/>
          </a:bodyPr>
          <a:lstStyle/>
          <a:p>
            <a:pPr algn="l">
              <a:defRPr sz="1000" b="0">
                <a:solidFill>
                  <a:srgbClr val="FFFFFF"/>
                </a:solidFill>
              </a:defRPr>
            </a:pPr>
            <a:r>
              <a:t>$380B  |  $14B ARR</a:t>
            </a:r>
          </a:p>
        </p:txBody>
      </p:sp>
      <p:sp>
        <p:nvSpPr>
          <p:cNvPr id="17" name="TextBox 16"/>
          <p:cNvSpPr txBox="1"/>
          <p:nvPr/>
        </p:nvSpPr>
        <p:spPr>
          <a:xfrm>
            <a:off x="4434840" y="2176272"/>
            <a:ext cx="3108960" cy="228600"/>
          </a:xfrm>
          <a:prstGeom prst="rect">
            <a:avLst/>
          </a:prstGeom>
          <a:noFill/>
        </p:spPr>
        <p:txBody>
          <a:bodyPr wrap="square">
            <a:spAutoFit/>
          </a:bodyPr>
          <a:lstStyle/>
          <a:p>
            <a:pPr algn="l">
              <a:defRPr sz="900" b="0">
                <a:solidFill>
                  <a:srgbClr val="A0AEC0"/>
                </a:solidFill>
              </a:defRPr>
            </a:pPr>
            <a:r>
              <a:t>Claude, MCP, Computer Use</a:t>
            </a:r>
          </a:p>
        </p:txBody>
      </p:sp>
      <p:sp>
        <p:nvSpPr>
          <p:cNvPr id="18" name="Rounded Rectangle 17"/>
          <p:cNvSpPr/>
          <p:nvPr/>
        </p:nvSpPr>
        <p:spPr>
          <a:xfrm>
            <a:off x="7863840" y="1920240"/>
            <a:ext cx="3383280" cy="5486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863840" y="1920240"/>
            <a:ext cx="50800" cy="54864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01000" y="1938528"/>
            <a:ext cx="1371600" cy="228600"/>
          </a:xfrm>
          <a:prstGeom prst="rect">
            <a:avLst/>
          </a:prstGeom>
          <a:noFill/>
        </p:spPr>
        <p:txBody>
          <a:bodyPr wrap="square">
            <a:spAutoFit/>
          </a:bodyPr>
          <a:lstStyle/>
          <a:p>
            <a:pPr algn="l">
              <a:defRPr sz="1300" b="1">
                <a:solidFill>
                  <a:srgbClr val="E84D3D"/>
                </a:solidFill>
              </a:defRPr>
            </a:pPr>
            <a:r>
              <a:t>xAI</a:t>
            </a:r>
          </a:p>
        </p:txBody>
      </p:sp>
      <p:sp>
        <p:nvSpPr>
          <p:cNvPr id="21" name="TextBox 20"/>
          <p:cNvSpPr txBox="1"/>
          <p:nvPr/>
        </p:nvSpPr>
        <p:spPr>
          <a:xfrm>
            <a:off x="9418320" y="1938528"/>
            <a:ext cx="1645920" cy="228600"/>
          </a:xfrm>
          <a:prstGeom prst="rect">
            <a:avLst/>
          </a:prstGeom>
          <a:noFill/>
        </p:spPr>
        <p:txBody>
          <a:bodyPr wrap="square">
            <a:spAutoFit/>
          </a:bodyPr>
          <a:lstStyle/>
          <a:p>
            <a:pPr algn="l">
              <a:defRPr sz="1000" b="0">
                <a:solidFill>
                  <a:srgbClr val="FFFFFF"/>
                </a:solidFill>
              </a:defRPr>
            </a:pPr>
            <a:r>
              <a:t>$250B  |  ~$500M standalone</a:t>
            </a:r>
          </a:p>
        </p:txBody>
      </p:sp>
      <p:sp>
        <p:nvSpPr>
          <p:cNvPr id="22" name="TextBox 21"/>
          <p:cNvSpPr txBox="1"/>
          <p:nvPr/>
        </p:nvSpPr>
        <p:spPr>
          <a:xfrm>
            <a:off x="8001000" y="2176272"/>
            <a:ext cx="3108960" cy="228600"/>
          </a:xfrm>
          <a:prstGeom prst="rect">
            <a:avLst/>
          </a:prstGeom>
          <a:noFill/>
        </p:spPr>
        <p:txBody>
          <a:bodyPr wrap="square">
            <a:spAutoFit/>
          </a:bodyPr>
          <a:lstStyle/>
          <a:p>
            <a:pPr algn="l">
              <a:defRPr sz="900" b="0">
                <a:solidFill>
                  <a:srgbClr val="A0AEC0"/>
                </a:solidFill>
              </a:defRPr>
            </a:pPr>
            <a:r>
              <a:t>Grok, Enterprise API</a:t>
            </a:r>
          </a:p>
        </p:txBody>
      </p:sp>
      <p:sp>
        <p:nvSpPr>
          <p:cNvPr id="23" name="Rectangle 22"/>
          <p:cNvSpPr/>
          <p:nvPr/>
        </p:nvSpPr>
        <p:spPr>
          <a:xfrm>
            <a:off x="731520" y="2697480"/>
            <a:ext cx="1051560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743200"/>
            <a:ext cx="1645920" cy="274320"/>
          </a:xfrm>
          <a:prstGeom prst="rect">
            <a:avLst/>
          </a:prstGeom>
          <a:noFill/>
        </p:spPr>
        <p:txBody>
          <a:bodyPr wrap="square">
            <a:spAutoFit/>
          </a:bodyPr>
          <a:lstStyle/>
          <a:p>
            <a:pPr algn="l">
              <a:defRPr sz="1400" b="1">
                <a:solidFill>
                  <a:srgbClr val="3B82F6"/>
                </a:solidFill>
              </a:defRPr>
            </a:pPr>
            <a:r>
              <a:t>$10B – $134B</a:t>
            </a:r>
          </a:p>
        </p:txBody>
      </p:sp>
      <p:sp>
        <p:nvSpPr>
          <p:cNvPr id="25" name="Rounded Rectangle 24"/>
          <p:cNvSpPr/>
          <p:nvPr/>
        </p:nvSpPr>
        <p:spPr>
          <a:xfrm>
            <a:off x="731520" y="3017520"/>
            <a:ext cx="3383280" cy="5486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3017520"/>
            <a:ext cx="50800" cy="5486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3035808"/>
            <a:ext cx="1371600" cy="228600"/>
          </a:xfrm>
          <a:prstGeom prst="rect">
            <a:avLst/>
          </a:prstGeom>
          <a:noFill/>
        </p:spPr>
        <p:txBody>
          <a:bodyPr wrap="square">
            <a:spAutoFit/>
          </a:bodyPr>
          <a:lstStyle/>
          <a:p>
            <a:pPr algn="l">
              <a:defRPr sz="1300" b="1">
                <a:solidFill>
                  <a:srgbClr val="3B82F6"/>
                </a:solidFill>
              </a:defRPr>
            </a:pPr>
            <a:r>
              <a:t>Databricks</a:t>
            </a:r>
          </a:p>
        </p:txBody>
      </p:sp>
      <p:sp>
        <p:nvSpPr>
          <p:cNvPr id="28" name="TextBox 27"/>
          <p:cNvSpPr txBox="1"/>
          <p:nvPr/>
        </p:nvSpPr>
        <p:spPr>
          <a:xfrm>
            <a:off x="2286000" y="3035808"/>
            <a:ext cx="1645920" cy="228600"/>
          </a:xfrm>
          <a:prstGeom prst="rect">
            <a:avLst/>
          </a:prstGeom>
          <a:noFill/>
        </p:spPr>
        <p:txBody>
          <a:bodyPr wrap="square">
            <a:spAutoFit/>
          </a:bodyPr>
          <a:lstStyle/>
          <a:p>
            <a:pPr algn="l">
              <a:defRPr sz="1000" b="0">
                <a:solidFill>
                  <a:srgbClr val="FFFFFF"/>
                </a:solidFill>
              </a:defRPr>
            </a:pPr>
            <a:r>
              <a:t>$134B  |  $5.4B ARR</a:t>
            </a:r>
          </a:p>
        </p:txBody>
      </p:sp>
      <p:sp>
        <p:nvSpPr>
          <p:cNvPr id="29" name="TextBox 28"/>
          <p:cNvSpPr txBox="1"/>
          <p:nvPr/>
        </p:nvSpPr>
        <p:spPr>
          <a:xfrm>
            <a:off x="868680" y="3273552"/>
            <a:ext cx="3108960" cy="228600"/>
          </a:xfrm>
          <a:prstGeom prst="rect">
            <a:avLst/>
          </a:prstGeom>
          <a:noFill/>
        </p:spPr>
        <p:txBody>
          <a:bodyPr wrap="square">
            <a:spAutoFit/>
          </a:bodyPr>
          <a:lstStyle/>
          <a:p>
            <a:pPr algn="l">
              <a:defRPr sz="900" b="0">
                <a:solidFill>
                  <a:srgbClr val="A0AEC0"/>
                </a:solidFill>
              </a:defRPr>
            </a:pPr>
            <a:r>
              <a:t>Mosaic AI, Agent Bricks, Lakebase</a:t>
            </a:r>
          </a:p>
        </p:txBody>
      </p:sp>
      <p:sp>
        <p:nvSpPr>
          <p:cNvPr id="30" name="Rounded Rectangle 29"/>
          <p:cNvSpPr/>
          <p:nvPr/>
        </p:nvSpPr>
        <p:spPr>
          <a:xfrm>
            <a:off x="4297680" y="3017520"/>
            <a:ext cx="3383280" cy="5486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97680" y="3017520"/>
            <a:ext cx="50800" cy="5486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3035808"/>
            <a:ext cx="1371600" cy="228600"/>
          </a:xfrm>
          <a:prstGeom prst="rect">
            <a:avLst/>
          </a:prstGeom>
          <a:noFill/>
        </p:spPr>
        <p:txBody>
          <a:bodyPr wrap="square">
            <a:spAutoFit/>
          </a:bodyPr>
          <a:lstStyle/>
          <a:p>
            <a:pPr algn="l">
              <a:defRPr sz="1300" b="1">
                <a:solidFill>
                  <a:srgbClr val="22C55E"/>
                </a:solidFill>
              </a:defRPr>
            </a:pPr>
            <a:r>
              <a:t>Cursor</a:t>
            </a:r>
          </a:p>
        </p:txBody>
      </p:sp>
      <p:sp>
        <p:nvSpPr>
          <p:cNvPr id="33" name="TextBox 32"/>
          <p:cNvSpPr txBox="1"/>
          <p:nvPr/>
        </p:nvSpPr>
        <p:spPr>
          <a:xfrm>
            <a:off x="5852160" y="3035808"/>
            <a:ext cx="1645920" cy="228600"/>
          </a:xfrm>
          <a:prstGeom prst="rect">
            <a:avLst/>
          </a:prstGeom>
          <a:noFill/>
        </p:spPr>
        <p:txBody>
          <a:bodyPr wrap="square">
            <a:spAutoFit/>
          </a:bodyPr>
          <a:lstStyle/>
          <a:p>
            <a:pPr algn="l">
              <a:defRPr sz="1000" b="0">
                <a:solidFill>
                  <a:srgbClr val="FFFFFF"/>
                </a:solidFill>
              </a:defRPr>
            </a:pPr>
            <a:r>
              <a:t>$29.3B  |  $2B+ ARR</a:t>
            </a:r>
          </a:p>
        </p:txBody>
      </p:sp>
      <p:sp>
        <p:nvSpPr>
          <p:cNvPr id="34" name="TextBox 33"/>
          <p:cNvSpPr txBox="1"/>
          <p:nvPr/>
        </p:nvSpPr>
        <p:spPr>
          <a:xfrm>
            <a:off x="4434840" y="3273552"/>
            <a:ext cx="3108960" cy="228600"/>
          </a:xfrm>
          <a:prstGeom prst="rect">
            <a:avLst/>
          </a:prstGeom>
          <a:noFill/>
        </p:spPr>
        <p:txBody>
          <a:bodyPr wrap="square">
            <a:spAutoFit/>
          </a:bodyPr>
          <a:lstStyle/>
          <a:p>
            <a:pPr algn="l">
              <a:defRPr sz="900" b="0">
                <a:solidFill>
                  <a:srgbClr val="A0AEC0"/>
                </a:solidFill>
              </a:defRPr>
            </a:pPr>
            <a:r>
              <a:t>AI coding agent, background agents</a:t>
            </a:r>
          </a:p>
        </p:txBody>
      </p:sp>
      <p:sp>
        <p:nvSpPr>
          <p:cNvPr id="35" name="Rounded Rectangle 34"/>
          <p:cNvSpPr/>
          <p:nvPr/>
        </p:nvSpPr>
        <p:spPr>
          <a:xfrm>
            <a:off x="7863840" y="3017520"/>
            <a:ext cx="3383280" cy="5486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863840" y="3017520"/>
            <a:ext cx="50800" cy="54864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01000" y="3035808"/>
            <a:ext cx="1371600" cy="228600"/>
          </a:xfrm>
          <a:prstGeom prst="rect">
            <a:avLst/>
          </a:prstGeom>
          <a:noFill/>
        </p:spPr>
        <p:txBody>
          <a:bodyPr wrap="square">
            <a:spAutoFit/>
          </a:bodyPr>
          <a:lstStyle/>
          <a:p>
            <a:pPr algn="l">
              <a:defRPr sz="1300" b="1">
                <a:solidFill>
                  <a:srgbClr val="14B8A6"/>
                </a:solidFill>
              </a:defRPr>
            </a:pPr>
            <a:r>
              <a:t>Perplexity</a:t>
            </a:r>
          </a:p>
        </p:txBody>
      </p:sp>
      <p:sp>
        <p:nvSpPr>
          <p:cNvPr id="38" name="TextBox 37"/>
          <p:cNvSpPr txBox="1"/>
          <p:nvPr/>
        </p:nvSpPr>
        <p:spPr>
          <a:xfrm>
            <a:off x="9418320" y="3035808"/>
            <a:ext cx="1645920" cy="228600"/>
          </a:xfrm>
          <a:prstGeom prst="rect">
            <a:avLst/>
          </a:prstGeom>
          <a:noFill/>
        </p:spPr>
        <p:txBody>
          <a:bodyPr wrap="square">
            <a:spAutoFit/>
          </a:bodyPr>
          <a:lstStyle/>
          <a:p>
            <a:pPr algn="l">
              <a:defRPr sz="1000" b="0">
                <a:solidFill>
                  <a:srgbClr val="FFFFFF"/>
                </a:solidFill>
              </a:defRPr>
            </a:pPr>
            <a:r>
              <a:t>$20B  |  $148M ARR</a:t>
            </a:r>
          </a:p>
        </p:txBody>
      </p:sp>
      <p:sp>
        <p:nvSpPr>
          <p:cNvPr id="39" name="TextBox 38"/>
          <p:cNvSpPr txBox="1"/>
          <p:nvPr/>
        </p:nvSpPr>
        <p:spPr>
          <a:xfrm>
            <a:off x="8001000" y="3273552"/>
            <a:ext cx="3108960" cy="228600"/>
          </a:xfrm>
          <a:prstGeom prst="rect">
            <a:avLst/>
          </a:prstGeom>
          <a:noFill/>
        </p:spPr>
        <p:txBody>
          <a:bodyPr wrap="square">
            <a:spAutoFit/>
          </a:bodyPr>
          <a:lstStyle/>
          <a:p>
            <a:pPr algn="l">
              <a:defRPr sz="900" b="0">
                <a:solidFill>
                  <a:srgbClr val="A0AEC0"/>
                </a:solidFill>
              </a:defRPr>
            </a:pPr>
            <a:r>
              <a:t>AI search agent, research</a:t>
            </a:r>
          </a:p>
        </p:txBody>
      </p:sp>
      <p:sp>
        <p:nvSpPr>
          <p:cNvPr id="40" name="Rounded Rectangle 39"/>
          <p:cNvSpPr/>
          <p:nvPr/>
        </p:nvSpPr>
        <p:spPr>
          <a:xfrm>
            <a:off x="731520" y="3657600"/>
            <a:ext cx="3383280" cy="5486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31520" y="3657600"/>
            <a:ext cx="50800" cy="54864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3675888"/>
            <a:ext cx="1371600" cy="228600"/>
          </a:xfrm>
          <a:prstGeom prst="rect">
            <a:avLst/>
          </a:prstGeom>
          <a:noFill/>
        </p:spPr>
        <p:txBody>
          <a:bodyPr wrap="square">
            <a:spAutoFit/>
          </a:bodyPr>
          <a:lstStyle/>
          <a:p>
            <a:pPr algn="l">
              <a:defRPr sz="1300" b="1">
                <a:solidFill>
                  <a:srgbClr val="FF6F00"/>
                </a:solidFill>
              </a:defRPr>
            </a:pPr>
            <a:r>
              <a:t>Mistral AI</a:t>
            </a:r>
          </a:p>
        </p:txBody>
      </p:sp>
      <p:sp>
        <p:nvSpPr>
          <p:cNvPr id="43" name="TextBox 42"/>
          <p:cNvSpPr txBox="1"/>
          <p:nvPr/>
        </p:nvSpPr>
        <p:spPr>
          <a:xfrm>
            <a:off x="2286000" y="3675888"/>
            <a:ext cx="1645920" cy="228600"/>
          </a:xfrm>
          <a:prstGeom prst="rect">
            <a:avLst/>
          </a:prstGeom>
          <a:noFill/>
        </p:spPr>
        <p:txBody>
          <a:bodyPr wrap="square">
            <a:spAutoFit/>
          </a:bodyPr>
          <a:lstStyle/>
          <a:p>
            <a:pPr algn="l">
              <a:defRPr sz="1000" b="0">
                <a:solidFill>
                  <a:srgbClr val="FFFFFF"/>
                </a:solidFill>
              </a:defRPr>
            </a:pPr>
            <a:r>
              <a:t>$14B  |  €60M rev</a:t>
            </a:r>
          </a:p>
        </p:txBody>
      </p:sp>
      <p:sp>
        <p:nvSpPr>
          <p:cNvPr id="44" name="TextBox 43"/>
          <p:cNvSpPr txBox="1"/>
          <p:nvPr/>
        </p:nvSpPr>
        <p:spPr>
          <a:xfrm>
            <a:off x="868680" y="3913632"/>
            <a:ext cx="3108960" cy="228600"/>
          </a:xfrm>
          <a:prstGeom prst="rect">
            <a:avLst/>
          </a:prstGeom>
          <a:noFill/>
        </p:spPr>
        <p:txBody>
          <a:bodyPr wrap="square">
            <a:spAutoFit/>
          </a:bodyPr>
          <a:lstStyle/>
          <a:p>
            <a:pPr algn="l">
              <a:defRPr sz="900" b="0">
                <a:solidFill>
                  <a:srgbClr val="A0AEC0"/>
                </a:solidFill>
              </a:defRPr>
            </a:pPr>
            <a:r>
              <a:t>Le Chat, enterprise models</a:t>
            </a:r>
          </a:p>
        </p:txBody>
      </p:sp>
      <p:sp>
        <p:nvSpPr>
          <p:cNvPr id="45" name="Rounded Rectangle 44"/>
          <p:cNvSpPr/>
          <p:nvPr/>
        </p:nvSpPr>
        <p:spPr>
          <a:xfrm>
            <a:off x="4297680" y="3657600"/>
            <a:ext cx="3383280" cy="5486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297680" y="3657600"/>
            <a:ext cx="50800" cy="54864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34840" y="3675888"/>
            <a:ext cx="1371600" cy="228600"/>
          </a:xfrm>
          <a:prstGeom prst="rect">
            <a:avLst/>
          </a:prstGeom>
          <a:noFill/>
        </p:spPr>
        <p:txBody>
          <a:bodyPr wrap="square">
            <a:spAutoFit/>
          </a:bodyPr>
          <a:lstStyle/>
          <a:p>
            <a:pPr algn="l">
              <a:defRPr sz="1300" b="1">
                <a:solidFill>
                  <a:srgbClr val="A755F7"/>
                </a:solidFill>
              </a:defRPr>
            </a:pPr>
            <a:r>
              <a:t>Cognition</a:t>
            </a:r>
          </a:p>
        </p:txBody>
      </p:sp>
      <p:sp>
        <p:nvSpPr>
          <p:cNvPr id="48" name="TextBox 47"/>
          <p:cNvSpPr txBox="1"/>
          <p:nvPr/>
        </p:nvSpPr>
        <p:spPr>
          <a:xfrm>
            <a:off x="5852160" y="3675888"/>
            <a:ext cx="1645920" cy="228600"/>
          </a:xfrm>
          <a:prstGeom prst="rect">
            <a:avLst/>
          </a:prstGeom>
          <a:noFill/>
        </p:spPr>
        <p:txBody>
          <a:bodyPr wrap="square">
            <a:spAutoFit/>
          </a:bodyPr>
          <a:lstStyle/>
          <a:p>
            <a:pPr algn="l">
              <a:defRPr sz="1000" b="0">
                <a:solidFill>
                  <a:srgbClr val="FFFFFF"/>
                </a:solidFill>
              </a:defRPr>
            </a:pPr>
            <a:r>
              <a:t>$10.2B  |  $150M+ ARR</a:t>
            </a:r>
          </a:p>
        </p:txBody>
      </p:sp>
      <p:sp>
        <p:nvSpPr>
          <p:cNvPr id="49" name="TextBox 48"/>
          <p:cNvSpPr txBox="1"/>
          <p:nvPr/>
        </p:nvSpPr>
        <p:spPr>
          <a:xfrm>
            <a:off x="4434840" y="3913632"/>
            <a:ext cx="3108960" cy="228600"/>
          </a:xfrm>
          <a:prstGeom prst="rect">
            <a:avLst/>
          </a:prstGeom>
          <a:noFill/>
        </p:spPr>
        <p:txBody>
          <a:bodyPr wrap="square">
            <a:spAutoFit/>
          </a:bodyPr>
          <a:lstStyle/>
          <a:p>
            <a:pPr algn="l">
              <a:defRPr sz="900" b="0">
                <a:solidFill>
                  <a:srgbClr val="A0AEC0"/>
                </a:solidFill>
              </a:defRPr>
            </a:pPr>
            <a:r>
              <a:t>Devin autonomous coding agent</a:t>
            </a:r>
          </a:p>
        </p:txBody>
      </p:sp>
      <p:sp>
        <p:nvSpPr>
          <p:cNvPr id="50" name="Rectangle 49"/>
          <p:cNvSpPr/>
          <p:nvPr/>
        </p:nvSpPr>
        <p:spPr>
          <a:xfrm>
            <a:off x="731520" y="4434840"/>
            <a:ext cx="10515600"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1520" y="4480560"/>
            <a:ext cx="1645920" cy="274320"/>
          </a:xfrm>
          <a:prstGeom prst="rect">
            <a:avLst/>
          </a:prstGeom>
          <a:noFill/>
        </p:spPr>
        <p:txBody>
          <a:bodyPr wrap="square">
            <a:spAutoFit/>
          </a:bodyPr>
          <a:lstStyle/>
          <a:p>
            <a:pPr algn="l">
              <a:defRPr sz="1400" b="1">
                <a:solidFill>
                  <a:srgbClr val="22C55E"/>
                </a:solidFill>
              </a:defRPr>
            </a:pPr>
            <a:r>
              <a:t>$5B – $10B</a:t>
            </a:r>
          </a:p>
        </p:txBody>
      </p:sp>
      <p:sp>
        <p:nvSpPr>
          <p:cNvPr id="52" name="Rounded Rectangle 51"/>
          <p:cNvSpPr/>
          <p:nvPr/>
        </p:nvSpPr>
        <p:spPr>
          <a:xfrm>
            <a:off x="731520" y="4754880"/>
            <a:ext cx="3383280" cy="5486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31520" y="4754880"/>
            <a:ext cx="50800" cy="5486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8680" y="4773168"/>
            <a:ext cx="1371600" cy="228600"/>
          </a:xfrm>
          <a:prstGeom prst="rect">
            <a:avLst/>
          </a:prstGeom>
          <a:noFill/>
        </p:spPr>
        <p:txBody>
          <a:bodyPr wrap="square">
            <a:spAutoFit/>
          </a:bodyPr>
          <a:lstStyle/>
          <a:p>
            <a:pPr algn="l">
              <a:defRPr sz="1300" b="1">
                <a:solidFill>
                  <a:srgbClr val="22C55E"/>
                </a:solidFill>
              </a:defRPr>
            </a:pPr>
            <a:r>
              <a:t>Cohere</a:t>
            </a:r>
          </a:p>
        </p:txBody>
      </p:sp>
      <p:sp>
        <p:nvSpPr>
          <p:cNvPr id="55" name="TextBox 54"/>
          <p:cNvSpPr txBox="1"/>
          <p:nvPr/>
        </p:nvSpPr>
        <p:spPr>
          <a:xfrm>
            <a:off x="2286000" y="4773168"/>
            <a:ext cx="1645920" cy="228600"/>
          </a:xfrm>
          <a:prstGeom prst="rect">
            <a:avLst/>
          </a:prstGeom>
          <a:noFill/>
        </p:spPr>
        <p:txBody>
          <a:bodyPr wrap="square">
            <a:spAutoFit/>
          </a:bodyPr>
          <a:lstStyle/>
          <a:p>
            <a:pPr algn="l">
              <a:defRPr sz="1000" b="0">
                <a:solidFill>
                  <a:srgbClr val="FFFFFF"/>
                </a:solidFill>
              </a:defRPr>
            </a:pPr>
            <a:r>
              <a:t>$7B  |  $240M ARR</a:t>
            </a:r>
          </a:p>
        </p:txBody>
      </p:sp>
      <p:sp>
        <p:nvSpPr>
          <p:cNvPr id="56" name="TextBox 55"/>
          <p:cNvSpPr txBox="1"/>
          <p:nvPr/>
        </p:nvSpPr>
        <p:spPr>
          <a:xfrm>
            <a:off x="868680" y="5010912"/>
            <a:ext cx="3108960" cy="228600"/>
          </a:xfrm>
          <a:prstGeom prst="rect">
            <a:avLst/>
          </a:prstGeom>
          <a:noFill/>
        </p:spPr>
        <p:txBody>
          <a:bodyPr wrap="square">
            <a:spAutoFit/>
          </a:bodyPr>
          <a:lstStyle/>
          <a:p>
            <a:pPr algn="l">
              <a:defRPr sz="900" b="0">
                <a:solidFill>
                  <a:srgbClr val="A0AEC0"/>
                </a:solidFill>
              </a:defRPr>
            </a:pPr>
            <a:r>
              <a:t>North agent platform, Command R</a:t>
            </a:r>
          </a:p>
        </p:txBody>
      </p:sp>
      <p:sp>
        <p:nvSpPr>
          <p:cNvPr id="57" name="TextBox 56"/>
          <p:cNvSpPr txBox="1"/>
          <p:nvPr/>
        </p:nvSpPr>
        <p:spPr>
          <a:xfrm>
            <a:off x="731520" y="5623560"/>
            <a:ext cx="10058400" cy="914400"/>
          </a:xfrm>
          <a:prstGeom prst="rect">
            <a:avLst/>
          </a:prstGeom>
          <a:noFill/>
        </p:spPr>
        <p:txBody>
          <a:bodyPr wrap="square">
            <a:spAutoFit/>
          </a:bodyPr>
          <a:lstStyle/>
          <a:p>
            <a:pPr algn="l">
              <a:spcAft>
                <a:spcPts val="600"/>
              </a:spcAft>
              <a:defRPr sz="1300" b="1">
                <a:solidFill>
                  <a:srgbClr val="FF6F00"/>
                </a:solidFill>
              </a:defRPr>
            </a:pPr>
            <a:r>
              <a:t>Key Trend: Combined private AI company valuations exceed $1.3 trillion. Agentic AI capabilities are the primary growth driver across all tiers.</a:t>
            </a:r>
          </a:p>
          <a:p>
            <a:pPr algn="l">
              <a:spcAft>
                <a:spcPts val="400"/>
              </a:spcAft>
              <a:defRPr sz="1200" b="0">
                <a:solidFill>
                  <a:srgbClr val="A0AEC0"/>
                </a:solidFill>
              </a:defRPr>
            </a:pPr>
            <a:r>
              <a:t>Databricks ($134B) sits at the center of this landscape — providing the enterprise data platform that both foundation model providers and agent-native companies rely on for production deployments.</a:t>
            </a:r>
          </a:p>
          <a:p>
            <a:pPr algn="l">
              <a:spcAft>
                <a:spcPts val="600"/>
              </a:spcAft>
              <a:defRPr sz="1000" b="0">
                <a:solidFill>
                  <a:srgbClr val="707890"/>
                </a:solidFill>
              </a:defRPr>
            </a:pPr>
            <a:r>
              <a:t>Sources: Press releases, funding announcements, and media reports. Private valuations and revenue figures are estimates from public reporting.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CEO Quotes on Agentic AI — From Filings &amp; Earnings</a:t>
            </a:r>
          </a:p>
        </p:txBody>
      </p:sp>
      <p:sp>
        <p:nvSpPr>
          <p:cNvPr id="4" name="Rectangle 3"/>
          <p:cNvSpPr/>
          <p:nvPr/>
        </p:nvSpPr>
        <p:spPr>
          <a:xfrm>
            <a:off x="731520" y="1051560"/>
            <a:ext cx="27432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1051560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63500" cy="77724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417320"/>
            <a:ext cx="2011680" cy="274320"/>
          </a:xfrm>
          <a:prstGeom prst="rect">
            <a:avLst/>
          </a:prstGeom>
          <a:noFill/>
        </p:spPr>
        <p:txBody>
          <a:bodyPr wrap="square">
            <a:spAutoFit/>
          </a:bodyPr>
          <a:lstStyle/>
          <a:p>
            <a:pPr algn="l">
              <a:defRPr sz="1200" b="1">
                <a:solidFill>
                  <a:srgbClr val="FF6F00"/>
                </a:solidFill>
              </a:defRPr>
            </a:pPr>
            <a:r>
              <a:t>Ali Ghodsi, Databricks CEO</a:t>
            </a:r>
          </a:p>
        </p:txBody>
      </p:sp>
      <p:sp>
        <p:nvSpPr>
          <p:cNvPr id="8" name="TextBox 7"/>
          <p:cNvSpPr txBox="1"/>
          <p:nvPr/>
        </p:nvSpPr>
        <p:spPr>
          <a:xfrm>
            <a:off x="1097280" y="1645920"/>
            <a:ext cx="2011680" cy="457200"/>
          </a:xfrm>
          <a:prstGeom prst="rect">
            <a:avLst/>
          </a:prstGeom>
          <a:noFill/>
        </p:spPr>
        <p:txBody>
          <a:bodyPr wrap="square">
            <a:spAutoFit/>
          </a:bodyPr>
          <a:lstStyle/>
          <a:p>
            <a:pPr algn="l">
              <a:defRPr sz="900" b="0">
                <a:solidFill>
                  <a:srgbClr val="707890"/>
                </a:solidFill>
              </a:defRPr>
            </a:pPr>
            <a:r>
              <a:t>Fortune Brainstorm AI, Dec 2025</a:t>
            </a:r>
          </a:p>
        </p:txBody>
      </p:sp>
      <p:sp>
        <p:nvSpPr>
          <p:cNvPr id="9" name="TextBox 8"/>
          <p:cNvSpPr txBox="1"/>
          <p:nvPr/>
        </p:nvSpPr>
        <p:spPr>
          <a:xfrm>
            <a:off x="3383280" y="1444752"/>
            <a:ext cx="7589520" cy="640080"/>
          </a:xfrm>
          <a:prstGeom prst="rect">
            <a:avLst/>
          </a:prstGeom>
          <a:noFill/>
        </p:spPr>
        <p:txBody>
          <a:bodyPr wrap="square">
            <a:spAutoFit/>
          </a:bodyPr>
          <a:lstStyle/>
          <a:p>
            <a:pPr algn="l">
              <a:defRPr sz="1200" b="0">
                <a:solidFill>
                  <a:srgbClr val="A0AEC0"/>
                </a:solidFill>
              </a:defRPr>
            </a:pPr>
            <a:r>
              <a:t>"It's very elusive to get AI that really works and understands that proprietary data that's inside enterprise... this could maybe get all the way to a trillion."</a:t>
            </a:r>
          </a:p>
        </p:txBody>
      </p:sp>
      <p:sp>
        <p:nvSpPr>
          <p:cNvPr id="10" name="Rounded Rectangle 9"/>
          <p:cNvSpPr/>
          <p:nvPr/>
        </p:nvSpPr>
        <p:spPr>
          <a:xfrm>
            <a:off x="731520" y="2240280"/>
            <a:ext cx="1051560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240280"/>
            <a:ext cx="635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286000"/>
            <a:ext cx="2011680" cy="274320"/>
          </a:xfrm>
          <a:prstGeom prst="rect">
            <a:avLst/>
          </a:prstGeom>
          <a:noFill/>
        </p:spPr>
        <p:txBody>
          <a:bodyPr wrap="square">
            <a:spAutoFit/>
          </a:bodyPr>
          <a:lstStyle/>
          <a:p>
            <a:pPr algn="l">
              <a:defRPr sz="1200" b="1">
                <a:solidFill>
                  <a:srgbClr val="3B82F6"/>
                </a:solidFill>
              </a:defRPr>
            </a:pPr>
            <a:r>
              <a:t>Marc Benioff, Salesforce CEO</a:t>
            </a:r>
          </a:p>
        </p:txBody>
      </p:sp>
      <p:sp>
        <p:nvSpPr>
          <p:cNvPr id="13" name="TextBox 12"/>
          <p:cNvSpPr txBox="1"/>
          <p:nvPr/>
        </p:nvSpPr>
        <p:spPr>
          <a:xfrm>
            <a:off x="1097280" y="2514600"/>
            <a:ext cx="2011680" cy="457200"/>
          </a:xfrm>
          <a:prstGeom prst="rect">
            <a:avLst/>
          </a:prstGeom>
          <a:noFill/>
        </p:spPr>
        <p:txBody>
          <a:bodyPr wrap="square">
            <a:spAutoFit/>
          </a:bodyPr>
          <a:lstStyle/>
          <a:p>
            <a:pPr algn="l">
              <a:defRPr sz="900" b="0">
                <a:solidFill>
                  <a:srgbClr val="707890"/>
                </a:solidFill>
              </a:defRPr>
            </a:pPr>
            <a:r>
              <a:t>Q4 FY2026 Earnings, Feb 2026</a:t>
            </a:r>
          </a:p>
        </p:txBody>
      </p:sp>
      <p:sp>
        <p:nvSpPr>
          <p:cNvPr id="14" name="TextBox 13"/>
          <p:cNvSpPr txBox="1"/>
          <p:nvPr/>
        </p:nvSpPr>
        <p:spPr>
          <a:xfrm>
            <a:off x="3383280" y="2313432"/>
            <a:ext cx="7589520" cy="640080"/>
          </a:xfrm>
          <a:prstGeom prst="rect">
            <a:avLst/>
          </a:prstGeom>
          <a:noFill/>
        </p:spPr>
        <p:txBody>
          <a:bodyPr wrap="square">
            <a:spAutoFit/>
          </a:bodyPr>
          <a:lstStyle/>
          <a:p>
            <a:pPr algn="l">
              <a:defRPr sz="1200" b="0">
                <a:solidFill>
                  <a:srgbClr val="A0AEC0"/>
                </a:solidFill>
              </a:defRPr>
            </a:pPr>
            <a:r>
              <a:t>"Agentforce just became an $800 million business. Agentic AI is a tailwind for our business... this is the third wave of AI."</a:t>
            </a:r>
          </a:p>
        </p:txBody>
      </p:sp>
      <p:sp>
        <p:nvSpPr>
          <p:cNvPr id="15" name="Rounded Rectangle 14"/>
          <p:cNvSpPr/>
          <p:nvPr/>
        </p:nvSpPr>
        <p:spPr>
          <a:xfrm>
            <a:off x="731520" y="3108960"/>
            <a:ext cx="1051560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108960"/>
            <a:ext cx="63500" cy="77724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154680"/>
            <a:ext cx="2011680" cy="274320"/>
          </a:xfrm>
          <a:prstGeom prst="rect">
            <a:avLst/>
          </a:prstGeom>
          <a:noFill/>
        </p:spPr>
        <p:txBody>
          <a:bodyPr wrap="square">
            <a:spAutoFit/>
          </a:bodyPr>
          <a:lstStyle/>
          <a:p>
            <a:pPr algn="l">
              <a:defRPr sz="1200" b="1">
                <a:solidFill>
                  <a:srgbClr val="A755F7"/>
                </a:solidFill>
              </a:defRPr>
            </a:pPr>
            <a:r>
              <a:t>Satya Nadella, Microsoft CEO</a:t>
            </a:r>
          </a:p>
        </p:txBody>
      </p:sp>
      <p:sp>
        <p:nvSpPr>
          <p:cNvPr id="18" name="TextBox 17"/>
          <p:cNvSpPr txBox="1"/>
          <p:nvPr/>
        </p:nvSpPr>
        <p:spPr>
          <a:xfrm>
            <a:off x="1097280" y="3383280"/>
            <a:ext cx="2011680" cy="457200"/>
          </a:xfrm>
          <a:prstGeom prst="rect">
            <a:avLst/>
          </a:prstGeom>
          <a:noFill/>
        </p:spPr>
        <p:txBody>
          <a:bodyPr wrap="square">
            <a:spAutoFit/>
          </a:bodyPr>
          <a:lstStyle/>
          <a:p>
            <a:pPr algn="l">
              <a:defRPr sz="900" b="0">
                <a:solidFill>
                  <a:srgbClr val="707890"/>
                </a:solidFill>
              </a:defRPr>
            </a:pPr>
            <a:r>
              <a:t>FY2025 Annual Report / Ignite 2025</a:t>
            </a:r>
          </a:p>
        </p:txBody>
      </p:sp>
      <p:sp>
        <p:nvSpPr>
          <p:cNvPr id="19" name="TextBox 18"/>
          <p:cNvSpPr txBox="1"/>
          <p:nvPr/>
        </p:nvSpPr>
        <p:spPr>
          <a:xfrm>
            <a:off x="3383280" y="3182112"/>
            <a:ext cx="7589520" cy="640080"/>
          </a:xfrm>
          <a:prstGeom prst="rect">
            <a:avLst/>
          </a:prstGeom>
          <a:noFill/>
        </p:spPr>
        <p:txBody>
          <a:bodyPr wrap="square">
            <a:spAutoFit/>
          </a:bodyPr>
          <a:lstStyle/>
          <a:p>
            <a:pPr algn="l">
              <a:defRPr sz="1200" b="0">
                <a:solidFill>
                  <a:srgbClr val="A0AEC0"/>
                </a:solidFill>
              </a:defRPr>
            </a:pPr>
            <a:r>
              <a:t>"Every customer I talk to is looking to reshape their business processes with AI agents. We are building the Frontier Firm — human-led, agent-operated."</a:t>
            </a:r>
          </a:p>
        </p:txBody>
      </p:sp>
      <p:sp>
        <p:nvSpPr>
          <p:cNvPr id="20" name="Rounded Rectangle 19"/>
          <p:cNvSpPr/>
          <p:nvPr/>
        </p:nvSpPr>
        <p:spPr>
          <a:xfrm>
            <a:off x="731520" y="3977640"/>
            <a:ext cx="1051560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977640"/>
            <a:ext cx="63500" cy="7772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4023360"/>
            <a:ext cx="2011680" cy="274320"/>
          </a:xfrm>
          <a:prstGeom prst="rect">
            <a:avLst/>
          </a:prstGeom>
          <a:noFill/>
        </p:spPr>
        <p:txBody>
          <a:bodyPr wrap="square">
            <a:spAutoFit/>
          </a:bodyPr>
          <a:lstStyle/>
          <a:p>
            <a:pPr algn="l">
              <a:defRPr sz="1200" b="1">
                <a:solidFill>
                  <a:srgbClr val="22C55E"/>
                </a:solidFill>
              </a:defRPr>
            </a:pPr>
            <a:r>
              <a:t>Jensen Huang, NVIDIA CEO</a:t>
            </a:r>
          </a:p>
        </p:txBody>
      </p:sp>
      <p:sp>
        <p:nvSpPr>
          <p:cNvPr id="23" name="TextBox 22"/>
          <p:cNvSpPr txBox="1"/>
          <p:nvPr/>
        </p:nvSpPr>
        <p:spPr>
          <a:xfrm>
            <a:off x="1097280" y="4251960"/>
            <a:ext cx="2011680" cy="457200"/>
          </a:xfrm>
          <a:prstGeom prst="rect">
            <a:avLst/>
          </a:prstGeom>
          <a:noFill/>
        </p:spPr>
        <p:txBody>
          <a:bodyPr wrap="square">
            <a:spAutoFit/>
          </a:bodyPr>
          <a:lstStyle/>
          <a:p>
            <a:pPr algn="l">
              <a:defRPr sz="900" b="0">
                <a:solidFill>
                  <a:srgbClr val="707890"/>
                </a:solidFill>
              </a:defRPr>
            </a:pPr>
            <a:r>
              <a:t>GTC 2025 Keynote</a:t>
            </a:r>
          </a:p>
        </p:txBody>
      </p:sp>
      <p:sp>
        <p:nvSpPr>
          <p:cNvPr id="24" name="TextBox 23"/>
          <p:cNvSpPr txBox="1"/>
          <p:nvPr/>
        </p:nvSpPr>
        <p:spPr>
          <a:xfrm>
            <a:off x="3383280" y="4050792"/>
            <a:ext cx="7589520" cy="640080"/>
          </a:xfrm>
          <a:prstGeom prst="rect">
            <a:avLst/>
          </a:prstGeom>
          <a:noFill/>
        </p:spPr>
        <p:txBody>
          <a:bodyPr wrap="square">
            <a:spAutoFit/>
          </a:bodyPr>
          <a:lstStyle/>
          <a:p>
            <a:pPr algn="l">
              <a:defRPr sz="1200" b="0">
                <a:solidFill>
                  <a:srgbClr val="A0AEC0"/>
                </a:solidFill>
              </a:defRPr>
            </a:pPr>
            <a:r>
              <a:t>"The amount of compute we need for AI inference is easily 100x more than we thought we needed this time last year. Agents reason, plan, and act."</a:t>
            </a:r>
          </a:p>
        </p:txBody>
      </p:sp>
      <p:sp>
        <p:nvSpPr>
          <p:cNvPr id="25" name="Rounded Rectangle 24"/>
          <p:cNvSpPr/>
          <p:nvPr/>
        </p:nvSpPr>
        <p:spPr>
          <a:xfrm>
            <a:off x="731520" y="4846320"/>
            <a:ext cx="1051560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4846320"/>
            <a:ext cx="63500" cy="77724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4892040"/>
            <a:ext cx="2011680" cy="274320"/>
          </a:xfrm>
          <a:prstGeom prst="rect">
            <a:avLst/>
          </a:prstGeom>
          <a:noFill/>
        </p:spPr>
        <p:txBody>
          <a:bodyPr wrap="square">
            <a:spAutoFit/>
          </a:bodyPr>
          <a:lstStyle/>
          <a:p>
            <a:pPr algn="l">
              <a:defRPr sz="1200" b="1">
                <a:solidFill>
                  <a:srgbClr val="E84D3D"/>
                </a:solidFill>
              </a:defRPr>
            </a:pPr>
            <a:r>
              <a:t>Alex Karp, Palantir CEO</a:t>
            </a:r>
          </a:p>
        </p:txBody>
      </p:sp>
      <p:sp>
        <p:nvSpPr>
          <p:cNvPr id="28" name="TextBox 27"/>
          <p:cNvSpPr txBox="1"/>
          <p:nvPr/>
        </p:nvSpPr>
        <p:spPr>
          <a:xfrm>
            <a:off x="1097280" y="5120640"/>
            <a:ext cx="2011680" cy="457200"/>
          </a:xfrm>
          <a:prstGeom prst="rect">
            <a:avLst/>
          </a:prstGeom>
          <a:noFill/>
        </p:spPr>
        <p:txBody>
          <a:bodyPr wrap="square">
            <a:spAutoFit/>
          </a:bodyPr>
          <a:lstStyle/>
          <a:p>
            <a:pPr algn="l">
              <a:defRPr sz="900" b="0">
                <a:solidFill>
                  <a:srgbClr val="707890"/>
                </a:solidFill>
              </a:defRPr>
            </a:pPr>
            <a:r>
              <a:t>Q4 2025 Earnings, Feb 2026</a:t>
            </a:r>
          </a:p>
        </p:txBody>
      </p:sp>
      <p:sp>
        <p:nvSpPr>
          <p:cNvPr id="29" name="TextBox 28"/>
          <p:cNvSpPr txBox="1"/>
          <p:nvPr/>
        </p:nvSpPr>
        <p:spPr>
          <a:xfrm>
            <a:off x="3383280" y="4919472"/>
            <a:ext cx="7589520" cy="640080"/>
          </a:xfrm>
          <a:prstGeom prst="rect">
            <a:avLst/>
          </a:prstGeom>
          <a:noFill/>
        </p:spPr>
        <p:txBody>
          <a:bodyPr wrap="square">
            <a:spAutoFit/>
          </a:bodyPr>
          <a:lstStyle/>
          <a:p>
            <a:pPr algn="l">
              <a:defRPr sz="1200" b="0">
                <a:solidFill>
                  <a:srgbClr val="A0AEC0"/>
                </a:solidFill>
              </a:defRPr>
            </a:pPr>
            <a:r>
              <a:t>"AI has just put gasoline on all the tribal knowledge we have in our products. The demand for AI agents that can do things in the real world is unlike anything we've seen."</a:t>
            </a:r>
          </a:p>
        </p:txBody>
      </p:sp>
      <p:sp>
        <p:nvSpPr>
          <p:cNvPr id="30" name="Rounded Rectangle 29"/>
          <p:cNvSpPr/>
          <p:nvPr/>
        </p:nvSpPr>
        <p:spPr>
          <a:xfrm>
            <a:off x="731520" y="5715000"/>
            <a:ext cx="10515600" cy="7772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 y="5715000"/>
            <a:ext cx="63500" cy="77724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760720"/>
            <a:ext cx="2011680" cy="274320"/>
          </a:xfrm>
          <a:prstGeom prst="rect">
            <a:avLst/>
          </a:prstGeom>
          <a:noFill/>
        </p:spPr>
        <p:txBody>
          <a:bodyPr wrap="square">
            <a:spAutoFit/>
          </a:bodyPr>
          <a:lstStyle/>
          <a:p>
            <a:pPr algn="l">
              <a:defRPr sz="1200" b="1">
                <a:solidFill>
                  <a:srgbClr val="14B8A6"/>
                </a:solidFill>
              </a:defRPr>
            </a:pPr>
            <a:r>
              <a:t>Sridhar Ramaswamy, Snowflake CEO</a:t>
            </a:r>
          </a:p>
        </p:txBody>
      </p:sp>
      <p:sp>
        <p:nvSpPr>
          <p:cNvPr id="33" name="TextBox 32"/>
          <p:cNvSpPr txBox="1"/>
          <p:nvPr/>
        </p:nvSpPr>
        <p:spPr>
          <a:xfrm>
            <a:off x="1097280" y="5989320"/>
            <a:ext cx="2011680" cy="457200"/>
          </a:xfrm>
          <a:prstGeom prst="rect">
            <a:avLst/>
          </a:prstGeom>
          <a:noFill/>
        </p:spPr>
        <p:txBody>
          <a:bodyPr wrap="square">
            <a:spAutoFit/>
          </a:bodyPr>
          <a:lstStyle/>
          <a:p>
            <a:pPr algn="l">
              <a:defRPr sz="900" b="0">
                <a:solidFill>
                  <a:srgbClr val="707890"/>
                </a:solidFill>
              </a:defRPr>
            </a:pPr>
            <a:r>
              <a:t>Q4 FY2026 Earnings, Feb 2026</a:t>
            </a:r>
          </a:p>
        </p:txBody>
      </p:sp>
      <p:sp>
        <p:nvSpPr>
          <p:cNvPr id="34" name="TextBox 33"/>
          <p:cNvSpPr txBox="1"/>
          <p:nvPr/>
        </p:nvSpPr>
        <p:spPr>
          <a:xfrm>
            <a:off x="3383280" y="5788152"/>
            <a:ext cx="7589520" cy="640080"/>
          </a:xfrm>
          <a:prstGeom prst="rect">
            <a:avLst/>
          </a:prstGeom>
          <a:noFill/>
        </p:spPr>
        <p:txBody>
          <a:bodyPr wrap="square">
            <a:spAutoFit/>
          </a:bodyPr>
          <a:lstStyle/>
          <a:p>
            <a:pPr algn="l">
              <a:defRPr sz="1200" b="0">
                <a:solidFill>
                  <a:srgbClr val="A0AEC0"/>
                </a:solidFill>
              </a:defRPr>
            </a:pPr>
            <a:r>
              <a:t>"Winners will be platforms that combine trusted data with secure execution. We are the control plane for the agentic era."</a:t>
            </a:r>
          </a:p>
        </p:txBody>
      </p:sp>
      <p:sp>
        <p:nvSpPr>
          <p:cNvPr id="35" name="TextBox 34"/>
          <p:cNvSpPr txBox="1"/>
          <p:nvPr/>
        </p:nvSpPr>
        <p:spPr>
          <a:xfrm>
            <a:off x="731520" y="6492240"/>
            <a:ext cx="10058400" cy="274320"/>
          </a:xfrm>
          <a:prstGeom prst="rect">
            <a:avLst/>
          </a:prstGeom>
          <a:noFill/>
        </p:spPr>
        <p:txBody>
          <a:bodyPr wrap="square">
            <a:spAutoFit/>
          </a:bodyPr>
          <a:lstStyle/>
          <a:p>
            <a:pPr algn="l">
              <a:spcAft>
                <a:spcPts val="600"/>
              </a:spcAft>
              <a:defRPr sz="1000" b="0">
                <a:solidFill>
                  <a:srgbClr val="707890"/>
                </a:solidFill>
              </a:defRPr>
            </a:pPr>
            <a:r>
              <a:t>Sources: Public earnings call transcripts, SEC filings, and conference keynotes (2025–2026)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Enterprise AI Agent Market Context</a:t>
            </a:r>
          </a:p>
        </p:txBody>
      </p:sp>
      <p:sp>
        <p:nvSpPr>
          <p:cNvPr id="4" name="Rectangle 3"/>
          <p:cNvSpPr/>
          <p:nvPr/>
        </p:nvSpPr>
        <p:spPr>
          <a:xfrm>
            <a:off x="731520" y="1051560"/>
            <a:ext cx="18288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246888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2103120" cy="548640"/>
          </a:xfrm>
          <a:prstGeom prst="rect">
            <a:avLst/>
          </a:prstGeom>
          <a:noFill/>
        </p:spPr>
        <p:txBody>
          <a:bodyPr wrap="square">
            <a:spAutoFit/>
          </a:bodyPr>
          <a:lstStyle/>
          <a:p>
            <a:pPr algn="ctr">
              <a:defRPr sz="2800" b="1">
                <a:solidFill>
                  <a:srgbClr val="FF6F00"/>
                </a:solidFill>
              </a:defRPr>
            </a:pPr>
            <a:r>
              <a:t>$58B → $474B</a:t>
            </a:r>
          </a:p>
        </p:txBody>
      </p:sp>
      <p:sp>
        <p:nvSpPr>
          <p:cNvPr id="8" name="TextBox 7"/>
          <p:cNvSpPr txBox="1"/>
          <p:nvPr/>
        </p:nvSpPr>
        <p:spPr>
          <a:xfrm>
            <a:off x="914400" y="2011680"/>
            <a:ext cx="2103120" cy="640080"/>
          </a:xfrm>
          <a:prstGeom prst="rect">
            <a:avLst/>
          </a:prstGeom>
          <a:noFill/>
        </p:spPr>
        <p:txBody>
          <a:bodyPr wrap="square">
            <a:spAutoFit/>
          </a:bodyPr>
          <a:lstStyle/>
          <a:p>
            <a:pPr algn="ctr">
              <a:defRPr sz="1200" b="0">
                <a:solidFill>
                  <a:srgbClr val="A0AEC0"/>
                </a:solidFill>
              </a:defRPr>
            </a:pPr>
            <a:r>
              <a:t>Enterprise AI Market</a:t>
            </a:r>
            <a:br/>
            <a:r>
              <a:t>2025 → 2030 (52% CAGR)</a:t>
            </a:r>
          </a:p>
        </p:txBody>
      </p:sp>
      <p:sp>
        <p:nvSpPr>
          <p:cNvPr id="9" name="Rounded Rectangle 8"/>
          <p:cNvSpPr/>
          <p:nvPr/>
        </p:nvSpPr>
        <p:spPr>
          <a:xfrm>
            <a:off x="3474720" y="137160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0" y="1371600"/>
            <a:ext cx="246888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508760"/>
            <a:ext cx="2103120" cy="548640"/>
          </a:xfrm>
          <a:prstGeom prst="rect">
            <a:avLst/>
          </a:prstGeom>
          <a:noFill/>
        </p:spPr>
        <p:txBody>
          <a:bodyPr wrap="square">
            <a:spAutoFit/>
          </a:bodyPr>
          <a:lstStyle/>
          <a:p>
            <a:pPr algn="ctr">
              <a:defRPr sz="2800" b="1">
                <a:solidFill>
                  <a:srgbClr val="3B82F6"/>
                </a:solidFill>
              </a:defRPr>
            </a:pPr>
            <a:r>
              <a:t>$644B</a:t>
            </a:r>
          </a:p>
        </p:txBody>
      </p:sp>
      <p:sp>
        <p:nvSpPr>
          <p:cNvPr id="12" name="TextBox 11"/>
          <p:cNvSpPr txBox="1"/>
          <p:nvPr/>
        </p:nvSpPr>
        <p:spPr>
          <a:xfrm>
            <a:off x="3657600" y="2011680"/>
            <a:ext cx="2103120" cy="640080"/>
          </a:xfrm>
          <a:prstGeom prst="rect">
            <a:avLst/>
          </a:prstGeom>
          <a:noFill/>
        </p:spPr>
        <p:txBody>
          <a:bodyPr wrap="square">
            <a:spAutoFit/>
          </a:bodyPr>
          <a:lstStyle/>
          <a:p>
            <a:pPr algn="ctr">
              <a:defRPr sz="1200" b="0">
                <a:solidFill>
                  <a:srgbClr val="A0AEC0"/>
                </a:solidFill>
              </a:defRPr>
            </a:pPr>
            <a:r>
              <a:t>GenAI Spend</a:t>
            </a:r>
            <a:br/>
            <a:r>
              <a:t>Forecast 2025</a:t>
            </a:r>
          </a:p>
        </p:txBody>
      </p:sp>
      <p:sp>
        <p:nvSpPr>
          <p:cNvPr id="13" name="Rounded Rectangle 12"/>
          <p:cNvSpPr/>
          <p:nvPr/>
        </p:nvSpPr>
        <p:spPr>
          <a:xfrm>
            <a:off x="6217920" y="137160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371600"/>
            <a:ext cx="246888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08760"/>
            <a:ext cx="2103120" cy="548640"/>
          </a:xfrm>
          <a:prstGeom prst="rect">
            <a:avLst/>
          </a:prstGeom>
          <a:noFill/>
        </p:spPr>
        <p:txBody>
          <a:bodyPr wrap="square">
            <a:spAutoFit/>
          </a:bodyPr>
          <a:lstStyle/>
          <a:p>
            <a:pPr algn="ctr">
              <a:defRPr sz="2800" b="1">
                <a:solidFill>
                  <a:srgbClr val="22C55E"/>
                </a:solidFill>
              </a:defRPr>
            </a:pPr>
            <a:r>
              <a:t>$1.5T</a:t>
            </a:r>
          </a:p>
        </p:txBody>
      </p:sp>
      <p:sp>
        <p:nvSpPr>
          <p:cNvPr id="16" name="TextBox 15"/>
          <p:cNvSpPr txBox="1"/>
          <p:nvPr/>
        </p:nvSpPr>
        <p:spPr>
          <a:xfrm>
            <a:off x="6400800" y="2011680"/>
            <a:ext cx="2103120" cy="640080"/>
          </a:xfrm>
          <a:prstGeom prst="rect">
            <a:avLst/>
          </a:prstGeom>
          <a:noFill/>
        </p:spPr>
        <p:txBody>
          <a:bodyPr wrap="square">
            <a:spAutoFit/>
          </a:bodyPr>
          <a:lstStyle/>
          <a:p>
            <a:pPr algn="ctr">
              <a:defRPr sz="1200" b="0">
                <a:solidFill>
                  <a:srgbClr val="A0AEC0"/>
                </a:solidFill>
              </a:defRPr>
            </a:pPr>
            <a:r>
              <a:t>Total AI Spend</a:t>
            </a:r>
            <a:br/>
            <a:r>
              <a:t>Forecast 2025</a:t>
            </a:r>
          </a:p>
        </p:txBody>
      </p:sp>
      <p:sp>
        <p:nvSpPr>
          <p:cNvPr id="17" name="Rounded Rectangle 16"/>
          <p:cNvSpPr/>
          <p:nvPr/>
        </p:nvSpPr>
        <p:spPr>
          <a:xfrm>
            <a:off x="8961120" y="137160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61120" y="1371600"/>
            <a:ext cx="2468880" cy="508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0" y="1508760"/>
            <a:ext cx="2103120" cy="548640"/>
          </a:xfrm>
          <a:prstGeom prst="rect">
            <a:avLst/>
          </a:prstGeom>
          <a:noFill/>
        </p:spPr>
        <p:txBody>
          <a:bodyPr wrap="square">
            <a:spAutoFit/>
          </a:bodyPr>
          <a:lstStyle/>
          <a:p>
            <a:pPr algn="ctr">
              <a:defRPr sz="2800" b="1">
                <a:solidFill>
                  <a:srgbClr val="A755F7"/>
                </a:solidFill>
              </a:defRPr>
            </a:pPr>
            <a:r>
              <a:t>75%</a:t>
            </a:r>
          </a:p>
        </p:txBody>
      </p:sp>
      <p:sp>
        <p:nvSpPr>
          <p:cNvPr id="20" name="TextBox 19"/>
          <p:cNvSpPr txBox="1"/>
          <p:nvPr/>
        </p:nvSpPr>
        <p:spPr>
          <a:xfrm>
            <a:off x="9144000" y="2011680"/>
            <a:ext cx="2103120" cy="640080"/>
          </a:xfrm>
          <a:prstGeom prst="rect">
            <a:avLst/>
          </a:prstGeom>
          <a:noFill/>
        </p:spPr>
        <p:txBody>
          <a:bodyPr wrap="square">
            <a:spAutoFit/>
          </a:bodyPr>
          <a:lstStyle/>
          <a:p>
            <a:pPr algn="ctr">
              <a:defRPr sz="1200" b="0">
                <a:solidFill>
                  <a:srgbClr val="A0AEC0"/>
                </a:solidFill>
              </a:defRPr>
            </a:pPr>
            <a:r>
              <a:t>C-Suite Executives Rank</a:t>
            </a:r>
            <a:br/>
            <a:r>
              <a:t>AI as Top-3 Priority</a:t>
            </a:r>
          </a:p>
        </p:txBody>
      </p:sp>
      <p:sp>
        <p:nvSpPr>
          <p:cNvPr id="21" name="Rounded Rectangle 20"/>
          <p:cNvSpPr/>
          <p:nvPr/>
        </p:nvSpPr>
        <p:spPr>
          <a:xfrm>
            <a:off x="731520" y="320040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3200400"/>
            <a:ext cx="2468880" cy="50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337560"/>
            <a:ext cx="2103120" cy="548640"/>
          </a:xfrm>
          <a:prstGeom prst="rect">
            <a:avLst/>
          </a:prstGeom>
          <a:noFill/>
        </p:spPr>
        <p:txBody>
          <a:bodyPr wrap="square">
            <a:spAutoFit/>
          </a:bodyPr>
          <a:lstStyle/>
          <a:p>
            <a:pPr algn="ctr">
              <a:defRPr sz="2800" b="1">
                <a:solidFill>
                  <a:srgbClr val="14B8A6"/>
                </a:solidFill>
              </a:defRPr>
            </a:pPr>
            <a:r>
              <a:t>11x</a:t>
            </a:r>
          </a:p>
        </p:txBody>
      </p:sp>
      <p:sp>
        <p:nvSpPr>
          <p:cNvPr id="24" name="TextBox 23"/>
          <p:cNvSpPr txBox="1"/>
          <p:nvPr/>
        </p:nvSpPr>
        <p:spPr>
          <a:xfrm>
            <a:off x="914400" y="3840480"/>
            <a:ext cx="2103120" cy="640080"/>
          </a:xfrm>
          <a:prstGeom prst="rect">
            <a:avLst/>
          </a:prstGeom>
          <a:noFill/>
        </p:spPr>
        <p:txBody>
          <a:bodyPr wrap="square">
            <a:spAutoFit/>
          </a:bodyPr>
          <a:lstStyle/>
          <a:p>
            <a:pPr algn="ctr">
              <a:defRPr sz="1200" b="0">
                <a:solidFill>
                  <a:srgbClr val="A0AEC0"/>
                </a:solidFill>
              </a:defRPr>
            </a:pPr>
            <a:r>
              <a:t>More AI Models</a:t>
            </a:r>
            <a:br/>
            <a:r>
              <a:t>Deployed YoY</a:t>
            </a:r>
          </a:p>
        </p:txBody>
      </p:sp>
      <p:sp>
        <p:nvSpPr>
          <p:cNvPr id="25" name="Rounded Rectangle 24"/>
          <p:cNvSpPr/>
          <p:nvPr/>
        </p:nvSpPr>
        <p:spPr>
          <a:xfrm>
            <a:off x="3474720" y="320040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74720" y="3200400"/>
            <a:ext cx="2468880" cy="50800"/>
          </a:xfrm>
          <a:prstGeom prst="rect">
            <a:avLst/>
          </a:prstGeom>
          <a:solidFill>
            <a:srgbClr val="E84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0" y="3337560"/>
            <a:ext cx="2103120" cy="548640"/>
          </a:xfrm>
          <a:prstGeom prst="rect">
            <a:avLst/>
          </a:prstGeom>
          <a:noFill/>
        </p:spPr>
        <p:txBody>
          <a:bodyPr wrap="square">
            <a:spAutoFit/>
          </a:bodyPr>
          <a:lstStyle/>
          <a:p>
            <a:pPr algn="ctr">
              <a:defRPr sz="2800" b="1">
                <a:solidFill>
                  <a:srgbClr val="E84D3D"/>
                </a:solidFill>
              </a:defRPr>
            </a:pPr>
            <a:r>
              <a:t>3x</a:t>
            </a:r>
          </a:p>
        </p:txBody>
      </p:sp>
      <p:sp>
        <p:nvSpPr>
          <p:cNvPr id="28" name="TextBox 27"/>
          <p:cNvSpPr txBox="1"/>
          <p:nvPr/>
        </p:nvSpPr>
        <p:spPr>
          <a:xfrm>
            <a:off x="3657600" y="3840480"/>
            <a:ext cx="2103120" cy="640080"/>
          </a:xfrm>
          <a:prstGeom prst="rect">
            <a:avLst/>
          </a:prstGeom>
          <a:noFill/>
        </p:spPr>
        <p:txBody>
          <a:bodyPr wrap="square">
            <a:spAutoFit/>
          </a:bodyPr>
          <a:lstStyle/>
          <a:p>
            <a:pPr algn="ctr">
              <a:defRPr sz="1200" b="0">
                <a:solidFill>
                  <a:srgbClr val="A0AEC0"/>
                </a:solidFill>
              </a:defRPr>
            </a:pPr>
            <a:r>
              <a:t>More Efficient at</a:t>
            </a:r>
            <a:br/>
            <a:r>
              <a:t>Production Deployment</a:t>
            </a:r>
          </a:p>
        </p:txBody>
      </p:sp>
      <p:sp>
        <p:nvSpPr>
          <p:cNvPr id="29" name="Rounded Rectangle 28"/>
          <p:cNvSpPr/>
          <p:nvPr/>
        </p:nvSpPr>
        <p:spPr>
          <a:xfrm>
            <a:off x="6217920" y="320040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17920" y="3200400"/>
            <a:ext cx="246888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337560"/>
            <a:ext cx="2103120" cy="548640"/>
          </a:xfrm>
          <a:prstGeom prst="rect">
            <a:avLst/>
          </a:prstGeom>
          <a:noFill/>
        </p:spPr>
        <p:txBody>
          <a:bodyPr wrap="square">
            <a:spAutoFit/>
          </a:bodyPr>
          <a:lstStyle/>
          <a:p>
            <a:pPr algn="ctr">
              <a:defRPr sz="2800" b="1">
                <a:solidFill>
                  <a:srgbClr val="3B82F6"/>
                </a:solidFill>
              </a:defRPr>
            </a:pPr>
            <a:r>
              <a:t>377%</a:t>
            </a:r>
          </a:p>
        </p:txBody>
      </p:sp>
      <p:sp>
        <p:nvSpPr>
          <p:cNvPr id="32" name="TextBox 31"/>
          <p:cNvSpPr txBox="1"/>
          <p:nvPr/>
        </p:nvSpPr>
        <p:spPr>
          <a:xfrm>
            <a:off x="6400800" y="3840480"/>
            <a:ext cx="2103120" cy="640080"/>
          </a:xfrm>
          <a:prstGeom prst="rect">
            <a:avLst/>
          </a:prstGeom>
          <a:noFill/>
        </p:spPr>
        <p:txBody>
          <a:bodyPr wrap="square">
            <a:spAutoFit/>
          </a:bodyPr>
          <a:lstStyle/>
          <a:p>
            <a:pPr algn="ctr">
              <a:defRPr sz="1200" b="0">
                <a:solidFill>
                  <a:srgbClr val="A0AEC0"/>
                </a:solidFill>
              </a:defRPr>
            </a:pPr>
            <a:r>
              <a:t>Vector Database</a:t>
            </a:r>
            <a:br/>
            <a:r>
              <a:t>Usage Growth YoY</a:t>
            </a:r>
          </a:p>
        </p:txBody>
      </p:sp>
      <p:sp>
        <p:nvSpPr>
          <p:cNvPr id="33" name="Rounded Rectangle 32"/>
          <p:cNvSpPr/>
          <p:nvPr/>
        </p:nvSpPr>
        <p:spPr>
          <a:xfrm>
            <a:off x="8961120" y="3200400"/>
            <a:ext cx="2468880" cy="146304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61120" y="3200400"/>
            <a:ext cx="246888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0" y="3337560"/>
            <a:ext cx="2103120" cy="548640"/>
          </a:xfrm>
          <a:prstGeom prst="rect">
            <a:avLst/>
          </a:prstGeom>
          <a:noFill/>
        </p:spPr>
        <p:txBody>
          <a:bodyPr wrap="square">
            <a:spAutoFit/>
          </a:bodyPr>
          <a:lstStyle/>
          <a:p>
            <a:pPr algn="ctr">
              <a:defRPr sz="2800" b="1">
                <a:solidFill>
                  <a:srgbClr val="FF6F00"/>
                </a:solidFill>
              </a:defRPr>
            </a:pPr>
            <a:r>
              <a:t>76%</a:t>
            </a:r>
          </a:p>
        </p:txBody>
      </p:sp>
      <p:sp>
        <p:nvSpPr>
          <p:cNvPr id="36" name="TextBox 35"/>
          <p:cNvSpPr txBox="1"/>
          <p:nvPr/>
        </p:nvSpPr>
        <p:spPr>
          <a:xfrm>
            <a:off x="9144000" y="3840480"/>
            <a:ext cx="2103120" cy="640080"/>
          </a:xfrm>
          <a:prstGeom prst="rect">
            <a:avLst/>
          </a:prstGeom>
          <a:noFill/>
        </p:spPr>
        <p:txBody>
          <a:bodyPr wrap="square">
            <a:spAutoFit/>
          </a:bodyPr>
          <a:lstStyle/>
          <a:p>
            <a:pPr algn="ctr">
              <a:defRPr sz="1200" b="0">
                <a:solidFill>
                  <a:srgbClr val="A0AEC0"/>
                </a:solidFill>
              </a:defRPr>
            </a:pPr>
            <a:r>
              <a:t>Companies Using LLMs</a:t>
            </a:r>
            <a:br/>
            <a:r>
              <a:t>Choose Open Source</a:t>
            </a:r>
          </a:p>
        </p:txBody>
      </p:sp>
      <p:sp>
        <p:nvSpPr>
          <p:cNvPr id="37" name="Rounded Rectangle 36"/>
          <p:cNvSpPr/>
          <p:nvPr/>
        </p:nvSpPr>
        <p:spPr>
          <a:xfrm>
            <a:off x="731520" y="5029200"/>
            <a:ext cx="10515600" cy="13716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1520" y="5029200"/>
            <a:ext cx="63500" cy="13716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88720" y="5120640"/>
            <a:ext cx="9601200" cy="1188720"/>
          </a:xfrm>
          <a:prstGeom prst="rect">
            <a:avLst/>
          </a:prstGeom>
          <a:noFill/>
        </p:spPr>
        <p:txBody>
          <a:bodyPr wrap="square">
            <a:spAutoFit/>
          </a:bodyPr>
          <a:lstStyle/>
          <a:p>
            <a:pPr algn="l">
              <a:spcAft>
                <a:spcPts val="400"/>
              </a:spcAft>
              <a:defRPr sz="1400" b="1">
                <a:solidFill>
                  <a:srgbClr val="FF6F00"/>
                </a:solidFill>
              </a:defRPr>
            </a:pPr>
            <a:r>
              <a:t>Key Insight: Financial Services leads GPU usage growth at 88% over 6 months,</a:t>
            </a:r>
          </a:p>
          <a:p>
            <a:pPr algn="l">
              <a:spcAft>
                <a:spcPts val="800"/>
              </a:spcAft>
              <a:defRPr sz="1400" b="0">
                <a:solidFill>
                  <a:srgbClr val="A0AEC0"/>
                </a:solidFill>
              </a:defRPr>
            </a:pPr>
            <a:r>
              <a:t>followed by Healthcare &amp; Life Sciences — highly regulated industries are the surprise early adopters of GenAI.</a:t>
            </a:r>
          </a:p>
          <a:p>
            <a:pPr algn="l">
              <a:spcAft>
                <a:spcPts val="600"/>
              </a:spcAft>
              <a:defRPr sz="1100" b="0">
                <a:solidFill>
                  <a:srgbClr val="707890"/>
                </a:solidFill>
              </a:defRPr>
            </a:pPr>
            <a:r>
              <a:t>Source: Databricks State of Data + AI Report 2024 — 10,000+ global customers including 300+ Fortune 500 companies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Key Takeaways</a:t>
            </a:r>
          </a:p>
        </p:txBody>
      </p:sp>
      <p:sp>
        <p:nvSpPr>
          <p:cNvPr id="4" name="Rectangle 3"/>
          <p:cNvSpPr/>
          <p:nvPr/>
        </p:nvSpPr>
        <p:spPr>
          <a:xfrm>
            <a:off x="731520" y="1051560"/>
            <a:ext cx="137160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10515600" cy="9144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63500" cy="9144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417320"/>
            <a:ext cx="3200400" cy="320040"/>
          </a:xfrm>
          <a:prstGeom prst="rect">
            <a:avLst/>
          </a:prstGeom>
          <a:noFill/>
        </p:spPr>
        <p:txBody>
          <a:bodyPr wrap="square">
            <a:spAutoFit/>
          </a:bodyPr>
          <a:lstStyle/>
          <a:p>
            <a:pPr algn="l">
              <a:defRPr sz="1600" b="1">
                <a:solidFill>
                  <a:srgbClr val="FF6F00"/>
                </a:solidFill>
              </a:defRPr>
            </a:pPr>
            <a:r>
              <a:t>AI Agents Are Reshaping Enterprise Data</a:t>
            </a:r>
          </a:p>
        </p:txBody>
      </p:sp>
      <p:sp>
        <p:nvSpPr>
          <p:cNvPr id="8" name="TextBox 7"/>
          <p:cNvSpPr txBox="1"/>
          <p:nvPr/>
        </p:nvSpPr>
        <p:spPr>
          <a:xfrm>
            <a:off x="1097280" y="1737360"/>
            <a:ext cx="9875520" cy="502920"/>
          </a:xfrm>
          <a:prstGeom prst="rect">
            <a:avLst/>
          </a:prstGeom>
          <a:noFill/>
        </p:spPr>
        <p:txBody>
          <a:bodyPr wrap="square">
            <a:spAutoFit/>
          </a:bodyPr>
          <a:lstStyle/>
          <a:p>
            <a:pPr algn="l">
              <a:defRPr sz="1200" b="0">
                <a:solidFill>
                  <a:srgbClr val="A0AEC0"/>
                </a:solidFill>
              </a:defRPr>
            </a:pPr>
            <a:r>
              <a:t>80% of databases on Databricks are now created by AI agents. Multi-agent workflows grew 327% in just 4 months. The shift from single chatbots to autonomous multi-agent systems is accelerating rapidly.</a:t>
            </a:r>
          </a:p>
        </p:txBody>
      </p:sp>
      <p:sp>
        <p:nvSpPr>
          <p:cNvPr id="9" name="Rounded Rectangle 8"/>
          <p:cNvSpPr/>
          <p:nvPr/>
        </p:nvSpPr>
        <p:spPr>
          <a:xfrm>
            <a:off x="731520" y="2423160"/>
            <a:ext cx="10515600" cy="9144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423160"/>
            <a:ext cx="63500" cy="914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68880"/>
            <a:ext cx="3200400" cy="320040"/>
          </a:xfrm>
          <a:prstGeom prst="rect">
            <a:avLst/>
          </a:prstGeom>
          <a:noFill/>
        </p:spPr>
        <p:txBody>
          <a:bodyPr wrap="square">
            <a:spAutoFit/>
          </a:bodyPr>
          <a:lstStyle/>
          <a:p>
            <a:pPr algn="l">
              <a:defRPr sz="1600" b="1">
                <a:solidFill>
                  <a:srgbClr val="3B82F6"/>
                </a:solidFill>
              </a:defRPr>
            </a:pPr>
            <a:r>
              <a:t>Token Optimization Is Critical for ROI</a:t>
            </a:r>
          </a:p>
        </p:txBody>
      </p:sp>
      <p:sp>
        <p:nvSpPr>
          <p:cNvPr id="12" name="TextBox 11"/>
          <p:cNvSpPr txBox="1"/>
          <p:nvPr/>
        </p:nvSpPr>
        <p:spPr>
          <a:xfrm>
            <a:off x="1097280" y="2788920"/>
            <a:ext cx="9875520" cy="502920"/>
          </a:xfrm>
          <a:prstGeom prst="rect">
            <a:avLst/>
          </a:prstGeom>
          <a:noFill/>
        </p:spPr>
        <p:txBody>
          <a:bodyPr wrap="square">
            <a:spAutoFit/>
          </a:bodyPr>
          <a:lstStyle/>
          <a:p>
            <a:pPr algn="l">
              <a:defRPr sz="1200" b="0">
                <a:solidFill>
                  <a:srgbClr val="A0AEC0"/>
                </a:solidFill>
              </a:defRPr>
            </a:pPr>
            <a:r>
              <a:t>Companies like adidas achieved 98.5% token efficiency (200K → 3K tokens) and 91.67% cost savings. Without governance, Gartner predicts &gt;40% of agentic AI projects will be canceled by 2027.</a:t>
            </a:r>
          </a:p>
        </p:txBody>
      </p:sp>
      <p:sp>
        <p:nvSpPr>
          <p:cNvPr id="13" name="Rounded Rectangle 12"/>
          <p:cNvSpPr/>
          <p:nvPr/>
        </p:nvSpPr>
        <p:spPr>
          <a:xfrm>
            <a:off x="731520" y="3474720"/>
            <a:ext cx="10515600" cy="9144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474720"/>
            <a:ext cx="63500" cy="9144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520440"/>
            <a:ext cx="3200400" cy="320040"/>
          </a:xfrm>
          <a:prstGeom prst="rect">
            <a:avLst/>
          </a:prstGeom>
          <a:noFill/>
        </p:spPr>
        <p:txBody>
          <a:bodyPr wrap="square">
            <a:spAutoFit/>
          </a:bodyPr>
          <a:lstStyle/>
          <a:p>
            <a:pPr algn="l">
              <a:defRPr sz="1600" b="1">
                <a:solidFill>
                  <a:srgbClr val="22C55E"/>
                </a:solidFill>
              </a:defRPr>
            </a:pPr>
            <a:r>
              <a:t>Governance Multiplies Production Success</a:t>
            </a:r>
          </a:p>
        </p:txBody>
      </p:sp>
      <p:sp>
        <p:nvSpPr>
          <p:cNvPr id="16" name="TextBox 15"/>
          <p:cNvSpPr txBox="1"/>
          <p:nvPr/>
        </p:nvSpPr>
        <p:spPr>
          <a:xfrm>
            <a:off x="1097280" y="3840480"/>
            <a:ext cx="9875520" cy="502920"/>
          </a:xfrm>
          <a:prstGeom prst="rect">
            <a:avLst/>
          </a:prstGeom>
          <a:noFill/>
        </p:spPr>
        <p:txBody>
          <a:bodyPr wrap="square">
            <a:spAutoFit/>
          </a:bodyPr>
          <a:lstStyle/>
          <a:p>
            <a:pPr algn="l">
              <a:defRPr sz="1200" b="0">
                <a:solidFill>
                  <a:srgbClr val="A0AEC0"/>
                </a:solidFill>
              </a:defRPr>
            </a:pPr>
            <a:r>
              <a:t>Companies using AI governance tools deploy 12x more projects to production. Evaluation tools yield 6x more deployments. AI Gateway governance usage grew 7x in 9 months.</a:t>
            </a:r>
          </a:p>
        </p:txBody>
      </p:sp>
      <p:sp>
        <p:nvSpPr>
          <p:cNvPr id="17" name="Rounded Rectangle 16"/>
          <p:cNvSpPr/>
          <p:nvPr/>
        </p:nvSpPr>
        <p:spPr>
          <a:xfrm>
            <a:off x="731520" y="4526280"/>
            <a:ext cx="10515600" cy="9144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526280"/>
            <a:ext cx="63500" cy="914400"/>
          </a:xfrm>
          <a:prstGeom prst="rect">
            <a:avLst/>
          </a:prstGeom>
          <a:solidFill>
            <a:srgbClr val="A7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572000"/>
            <a:ext cx="3200400" cy="320040"/>
          </a:xfrm>
          <a:prstGeom prst="rect">
            <a:avLst/>
          </a:prstGeom>
          <a:noFill/>
        </p:spPr>
        <p:txBody>
          <a:bodyPr wrap="square">
            <a:spAutoFit/>
          </a:bodyPr>
          <a:lstStyle/>
          <a:p>
            <a:pPr algn="l">
              <a:defRPr sz="1600" b="1">
                <a:solidFill>
                  <a:srgbClr val="A755F7"/>
                </a:solidFill>
              </a:defRPr>
            </a:pPr>
            <a:r>
              <a:t>Enterprise Case Studies Show Massive Value</a:t>
            </a:r>
          </a:p>
        </p:txBody>
      </p:sp>
      <p:sp>
        <p:nvSpPr>
          <p:cNvPr id="20" name="TextBox 19"/>
          <p:cNvSpPr txBox="1"/>
          <p:nvPr/>
        </p:nvSpPr>
        <p:spPr>
          <a:xfrm>
            <a:off x="1097280" y="4892040"/>
            <a:ext cx="9875520" cy="502920"/>
          </a:xfrm>
          <a:prstGeom prst="rect">
            <a:avLst/>
          </a:prstGeom>
          <a:noFill/>
        </p:spPr>
        <p:txBody>
          <a:bodyPr wrap="square">
            <a:spAutoFit/>
          </a:bodyPr>
          <a:lstStyle/>
          <a:p>
            <a:pPr algn="l">
              <a:defRPr sz="1200" b="0">
                <a:solidFill>
                  <a:srgbClr val="A0AEC0"/>
                </a:solidFill>
              </a:defRPr>
            </a:pPr>
            <a:r>
              <a:t>Walmart saved $5.6M annually; AstraZeneca reviewed 400K documents in 60 minutes; Royal Bank of Canada reduced research from days to minutes; 7-Eleven deployed frontline AI agents.</a:t>
            </a:r>
          </a:p>
        </p:txBody>
      </p:sp>
      <p:sp>
        <p:nvSpPr>
          <p:cNvPr id="21" name="Rounded Rectangle 20"/>
          <p:cNvSpPr/>
          <p:nvPr/>
        </p:nvSpPr>
        <p:spPr>
          <a:xfrm>
            <a:off x="731520" y="5577840"/>
            <a:ext cx="10515600" cy="914400"/>
          </a:xfrm>
          <a:prstGeom prst="roundRect">
            <a:avLst/>
          </a:prstGeom>
          <a:solidFill>
            <a:srgbClr val="2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577840"/>
            <a:ext cx="63500" cy="914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623560"/>
            <a:ext cx="3200400" cy="320040"/>
          </a:xfrm>
          <a:prstGeom prst="rect">
            <a:avLst/>
          </a:prstGeom>
          <a:noFill/>
        </p:spPr>
        <p:txBody>
          <a:bodyPr wrap="square">
            <a:spAutoFit/>
          </a:bodyPr>
          <a:lstStyle/>
          <a:p>
            <a:pPr algn="l">
              <a:defRPr sz="1600" b="1">
                <a:solidFill>
                  <a:srgbClr val="14B8A6"/>
                </a:solidFill>
              </a:defRPr>
            </a:pPr>
            <a:r>
              <a:t>The Technology Stack Is Maturing</a:t>
            </a:r>
          </a:p>
        </p:txBody>
      </p:sp>
      <p:sp>
        <p:nvSpPr>
          <p:cNvPr id="24" name="TextBox 23"/>
          <p:cNvSpPr txBox="1"/>
          <p:nvPr/>
        </p:nvSpPr>
        <p:spPr>
          <a:xfrm>
            <a:off x="1097280" y="5943600"/>
            <a:ext cx="9875520" cy="502920"/>
          </a:xfrm>
          <a:prstGeom prst="rect">
            <a:avLst/>
          </a:prstGeom>
          <a:noFill/>
        </p:spPr>
        <p:txBody>
          <a:bodyPr wrap="square">
            <a:spAutoFit/>
          </a:bodyPr>
          <a:lstStyle/>
          <a:p>
            <a:pPr algn="l">
              <a:defRPr sz="1200" b="0">
                <a:solidFill>
                  <a:srgbClr val="A0AEC0"/>
                </a:solidFill>
              </a:defRPr>
            </a:pPr>
            <a:r>
              <a:t>Mosaic AI for compound systems, MLflow 3.0 for observability, Agent Bricks for no-code building, MCP for tool-calling, and Lakebase for agent databases — the enterprise agent platform is production-ready.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1F2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731520"/>
          </a:xfrm>
          <a:prstGeom prst="rect">
            <a:avLst/>
          </a:prstGeom>
          <a:noFill/>
        </p:spPr>
        <p:txBody>
          <a:bodyPr wrap="square">
            <a:spAutoFit/>
          </a:bodyPr>
          <a:lstStyle/>
          <a:p>
            <a:pPr algn="l">
              <a:defRPr sz="3600" b="1">
                <a:solidFill>
                  <a:srgbClr val="FFFFFF"/>
                </a:solidFill>
              </a:defRPr>
            </a:pPr>
            <a:r>
              <a:t>Sources &amp; References</a:t>
            </a:r>
          </a:p>
        </p:txBody>
      </p:sp>
      <p:sp>
        <p:nvSpPr>
          <p:cNvPr id="4" name="Rectangle 3"/>
          <p:cNvSpPr/>
          <p:nvPr/>
        </p:nvSpPr>
        <p:spPr>
          <a:xfrm>
            <a:off x="731520" y="1051560"/>
            <a:ext cx="1645920" cy="50800"/>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058400" cy="5029200"/>
          </a:xfrm>
          <a:prstGeom prst="rect">
            <a:avLst/>
          </a:prstGeom>
          <a:noFill/>
        </p:spPr>
        <p:txBody>
          <a:bodyPr wrap="square">
            <a:spAutoFit/>
          </a:bodyPr>
          <a:lstStyle/>
          <a:p>
            <a:pPr algn="l">
              <a:spcAft>
                <a:spcPts val="400"/>
              </a:spcAft>
              <a:defRPr sz="1100" b="0">
                <a:solidFill>
                  <a:srgbClr val="A0AEC0"/>
                </a:solidFill>
              </a:defRPr>
            </a:pPr>
            <a:r>
              <a:t>1.  Databricks Data + AI Summit 2024, 2025, 2026 — Keynotes &amp; Agent Sessions</a:t>
            </a:r>
          </a:p>
          <a:p>
            <a:pPr algn="l">
              <a:spcAft>
                <a:spcPts val="400"/>
              </a:spcAft>
              <a:defRPr sz="1100" b="0">
                <a:solidFill>
                  <a:srgbClr val="A0AEC0"/>
                </a:solidFill>
              </a:defRPr>
            </a:pPr>
            <a:r>
              <a:t>2.  Databricks State of AI Agents Report 2026 / State of Data + AI Report 2024</a:t>
            </a:r>
          </a:p>
          <a:p>
            <a:pPr algn="l">
              <a:spcAft>
                <a:spcPts val="400"/>
              </a:spcAft>
              <a:defRPr sz="1100" b="0">
                <a:solidFill>
                  <a:srgbClr val="A0AEC0"/>
                </a:solidFill>
              </a:defRPr>
            </a:pPr>
            <a:r>
              <a:t>3.  Databricks Blog: AI Agent Trends, Mosaic AI, MCP Integration</a:t>
            </a:r>
          </a:p>
          <a:p>
            <a:pPr algn="l">
              <a:spcAft>
                <a:spcPts val="400"/>
              </a:spcAft>
              <a:defRPr sz="1100" b="0">
                <a:solidFill>
                  <a:srgbClr val="A0AEC0"/>
                </a:solidFill>
              </a:defRPr>
            </a:pPr>
            <a:r>
              <a:t>4.  Ali Ghodsi (Databricks CEO): Fortune Brainstorm AI (Dec '25) &amp; CNBC (Feb '26)</a:t>
            </a:r>
          </a:p>
          <a:p>
            <a:pPr algn="l">
              <a:spcAft>
                <a:spcPts val="400"/>
              </a:spcAft>
              <a:defRPr sz="1100" b="0">
                <a:solidFill>
                  <a:srgbClr val="A0AEC0"/>
                </a:solidFill>
              </a:defRPr>
            </a:pPr>
            <a:r>
              <a:t>5.  Salesforce Q4 FY2026 Earnings — Agentforce $800M ARR (salesforce.com, Feb '26)</a:t>
            </a:r>
          </a:p>
          <a:p>
            <a:pPr algn="l">
              <a:spcAft>
                <a:spcPts val="400"/>
              </a:spcAft>
              <a:defRPr sz="1100" b="0">
                <a:solidFill>
                  <a:srgbClr val="A0AEC0"/>
                </a:solidFill>
              </a:defRPr>
            </a:pPr>
            <a:r>
              <a:t>6.  Microsoft FY2025 10-K — Copilot &amp; Agent 365 (sec.gov)</a:t>
            </a:r>
          </a:p>
          <a:p>
            <a:pPr algn="l">
              <a:spcAft>
                <a:spcPts val="400"/>
              </a:spcAft>
              <a:defRPr sz="1100" b="0">
                <a:solidFill>
                  <a:srgbClr val="A0AEC0"/>
                </a:solidFill>
              </a:defRPr>
            </a:pPr>
            <a:r>
              <a:t>7.  ServiceNow Q4 2025 / 10-K — Now Assist $600M+ ACV (sec.gov)</a:t>
            </a:r>
          </a:p>
          <a:p>
            <a:pPr algn="l">
              <a:spcAft>
                <a:spcPts val="400"/>
              </a:spcAft>
              <a:defRPr sz="1100" b="0">
                <a:solidFill>
                  <a:srgbClr val="A0AEC0"/>
                </a:solidFill>
              </a:defRPr>
            </a:pPr>
            <a:r>
              <a:t>8.  Amazon Q4 2025 — AWS Bedrock multi-B$ run rate (sec.gov)</a:t>
            </a:r>
          </a:p>
          <a:p>
            <a:pPr algn="l">
              <a:spcAft>
                <a:spcPts val="400"/>
              </a:spcAft>
              <a:defRPr sz="1100" b="0">
                <a:solidFill>
                  <a:srgbClr val="A0AEC0"/>
                </a:solidFill>
              </a:defRPr>
            </a:pPr>
            <a:r>
              <a:t>9.  Palantir Q4 2025 / 10-K — AIP $4.5B revenue (sec.gov)</a:t>
            </a:r>
          </a:p>
          <a:p>
            <a:pPr algn="l">
              <a:spcAft>
                <a:spcPts val="400"/>
              </a:spcAft>
              <a:defRPr sz="1100" b="0">
                <a:solidFill>
                  <a:srgbClr val="A0AEC0"/>
                </a:solidFill>
              </a:defRPr>
            </a:pPr>
            <a:r>
              <a:t>10.  Snowflake Q4 FY2026 — Cortex AI $100M run rate (sec.gov)</a:t>
            </a:r>
          </a:p>
          <a:p>
            <a:pPr algn="l">
              <a:spcAft>
                <a:spcPts val="400"/>
              </a:spcAft>
              <a:defRPr sz="1100" b="0">
                <a:solidFill>
                  <a:srgbClr val="A0AEC0"/>
                </a:solidFill>
              </a:defRPr>
            </a:pPr>
            <a:r>
              <a:t>11.  NVIDIA FY2025 / GTC 2025 — $130.5B revenue, token economics (sec.gov)</a:t>
            </a:r>
          </a:p>
          <a:p>
            <a:pPr algn="l">
              <a:spcAft>
                <a:spcPts val="400"/>
              </a:spcAft>
              <a:defRPr sz="1100" b="0">
                <a:solidFill>
                  <a:srgbClr val="A0AEC0"/>
                </a:solidFill>
              </a:defRPr>
            </a:pPr>
            <a:r>
              <a:t>12.  Google / Alphabet Q4 2025 / 10-K — Cloud $70B+ run rate (sec.gov)</a:t>
            </a:r>
          </a:p>
          <a:p>
            <a:pPr algn="l">
              <a:spcAft>
                <a:spcPts val="400"/>
              </a:spcAft>
              <a:defRPr sz="1100" b="0">
                <a:solidFill>
                  <a:srgbClr val="A0AEC0"/>
                </a:solidFill>
              </a:defRPr>
            </a:pPr>
            <a:r>
              <a:t>13.  OpenAI — $25B ARR, $500B valuation (Reuters, Jan–Mar 2026)</a:t>
            </a:r>
          </a:p>
          <a:p>
            <a:pPr algn="l">
              <a:spcAft>
                <a:spcPts val="400"/>
              </a:spcAft>
              <a:defRPr sz="1100" b="0">
                <a:solidFill>
                  <a:srgbClr val="A0AEC0"/>
                </a:solidFill>
              </a:defRPr>
            </a:pPr>
            <a:r>
              <a:t>14.  Anthropic — $14B ARR, $380B valuation, Series G (Reuters, Feb 2026)</a:t>
            </a:r>
          </a:p>
          <a:p>
            <a:pPr algn="l">
              <a:spcAft>
                <a:spcPts val="400"/>
              </a:spcAft>
              <a:defRPr sz="1100" b="0">
                <a:solidFill>
                  <a:srgbClr val="A0AEC0"/>
                </a:solidFill>
              </a:defRPr>
            </a:pPr>
            <a:r>
              <a:t>15.  Cursor — $2B+ ARR, $29.3B valuation (Series D, Nov 2025)</a:t>
            </a:r>
          </a:p>
          <a:p>
            <a:pPr algn="l">
              <a:spcAft>
                <a:spcPts val="400"/>
              </a:spcAft>
              <a:defRPr sz="1100" b="0">
                <a:solidFill>
                  <a:srgbClr val="A0AEC0"/>
                </a:solidFill>
              </a:defRPr>
            </a:pPr>
            <a:r>
              <a:t>16.  Perplexity — $148M ARR, $20B valuation (Sacra, Sep 2025)</a:t>
            </a:r>
          </a:p>
          <a:p>
            <a:pPr algn="l">
              <a:spcAft>
                <a:spcPts val="400"/>
              </a:spcAft>
              <a:defRPr sz="1100" b="0">
                <a:solidFill>
                  <a:srgbClr val="A0AEC0"/>
                </a:solidFill>
              </a:defRPr>
            </a:pPr>
            <a:r>
              <a:t>17.  xAI / Grok — $250B valuation, $20B Series E (TechCrunch, Jan 2026)</a:t>
            </a:r>
          </a:p>
          <a:p>
            <a:pPr algn="l">
              <a:spcAft>
                <a:spcPts val="400"/>
              </a:spcAft>
              <a:defRPr sz="1100" b="0">
                <a:solidFill>
                  <a:srgbClr val="A0AEC0"/>
                </a:solidFill>
              </a:defRPr>
            </a:pPr>
            <a:r>
              <a:t>18.  Mistral AI — $14B valuation, €1B 2026 target (Davos, Jan 2026)</a:t>
            </a:r>
          </a:p>
          <a:p>
            <a:pPr algn="l">
              <a:spcAft>
                <a:spcPts val="400"/>
              </a:spcAft>
              <a:defRPr sz="1100" b="0">
                <a:solidFill>
                  <a:srgbClr val="A0AEC0"/>
                </a:solidFill>
              </a:defRPr>
            </a:pPr>
            <a:r>
              <a:t>19.  Cohere — $240M ARR, $7B valuation (Reuters, Aug 2025)</a:t>
            </a:r>
          </a:p>
          <a:p>
            <a:pPr algn="l">
              <a:spcAft>
                <a:spcPts val="400"/>
              </a:spcAft>
              <a:defRPr sz="1100" b="0">
                <a:solidFill>
                  <a:srgbClr val="A0AEC0"/>
                </a:solidFill>
              </a:defRPr>
            </a:pPr>
            <a:r>
              <a:t>20.  Cognition / Devin — $150M+ ARR, $10.2B valuation (Sep 2025)</a:t>
            </a:r>
          </a:p>
          <a:p>
            <a:pPr algn="l">
              <a:spcAft>
                <a:spcPts val="400"/>
              </a:spcAft>
              <a:defRPr sz="1100" b="0">
                <a:solidFill>
                  <a:srgbClr val="A0AEC0"/>
                </a:solidFill>
              </a:defRPr>
            </a:pPr>
            <a:r>
              <a:t>21.  adidas / Walmart / AstraZeneca / 7-Eleven / Zillow / RBC — Summit presentations</a:t>
            </a:r>
          </a:p>
        </p:txBody>
      </p:sp>
      <p:sp>
        <p:nvSpPr>
          <p:cNvPr id="6" name="TextBox 5"/>
          <p:cNvSpPr txBox="1"/>
          <p:nvPr/>
        </p:nvSpPr>
        <p:spPr>
          <a:xfrm>
            <a:off x="731520" y="6217920"/>
            <a:ext cx="10058400" cy="365760"/>
          </a:xfrm>
          <a:prstGeom prst="rect">
            <a:avLst/>
          </a:prstGeom>
          <a:noFill/>
        </p:spPr>
        <p:txBody>
          <a:bodyPr wrap="square">
            <a:spAutoFit/>
          </a:bodyPr>
          <a:lstStyle/>
          <a:p>
            <a:pPr algn="l">
              <a:defRPr sz="1100" b="0">
                <a:solidFill>
                  <a:srgbClr val="707890"/>
                </a:solidFill>
              </a:defRPr>
            </a:pPr>
            <a:r>
              <a:t>All data sourced from publicly available Databricks summit sessions, blog posts, and reports.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
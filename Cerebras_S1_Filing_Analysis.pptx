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914400" y="2194560"/>
            <a:ext cx="91440" cy="20116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103120"/>
            <a:ext cx="9144000" cy="914400"/>
          </a:xfrm>
          <a:prstGeom prst="rect">
            <a:avLst/>
          </a:prstGeom>
          <a:noFill/>
        </p:spPr>
        <p:txBody>
          <a:bodyPr wrap="square">
            <a:spAutoFit/>
          </a:bodyPr>
          <a:lstStyle/>
          <a:p>
            <a:pPr algn="l">
              <a:defRPr sz="4400" b="1">
                <a:solidFill>
                  <a:srgbClr val="FFFFFF"/>
                </a:solidFill>
                <a:latin typeface="Calibri"/>
              </a:defRPr>
            </a:pPr>
            <a:r>
              <a:t>CEREBRAS SYSTEMS</a:t>
            </a:r>
          </a:p>
        </p:txBody>
      </p:sp>
      <p:sp>
        <p:nvSpPr>
          <p:cNvPr id="4" name="TextBox 3"/>
          <p:cNvSpPr txBox="1"/>
          <p:nvPr/>
        </p:nvSpPr>
        <p:spPr>
          <a:xfrm>
            <a:off x="1280160" y="2834640"/>
            <a:ext cx="9144000" cy="548640"/>
          </a:xfrm>
          <a:prstGeom prst="rect">
            <a:avLst/>
          </a:prstGeom>
          <a:noFill/>
        </p:spPr>
        <p:txBody>
          <a:bodyPr wrap="square">
            <a:spAutoFit/>
          </a:bodyPr>
          <a:lstStyle/>
          <a:p>
            <a:pPr algn="l">
              <a:defRPr sz="2200" b="0">
                <a:solidFill>
                  <a:srgbClr val="AACCEE"/>
                </a:solidFill>
                <a:latin typeface="Calibri"/>
              </a:defRPr>
            </a:pPr>
            <a:r>
              <a:t>S-1 Filing Analysis  |  April 2026  |  Nasdaq: CBRS</a:t>
            </a:r>
          </a:p>
        </p:txBody>
      </p:sp>
      <p:sp>
        <p:nvSpPr>
          <p:cNvPr id="5" name="TextBox 4"/>
          <p:cNvSpPr txBox="1"/>
          <p:nvPr/>
        </p:nvSpPr>
        <p:spPr>
          <a:xfrm>
            <a:off x="1280160" y="3474720"/>
            <a:ext cx="9144000" cy="457200"/>
          </a:xfrm>
          <a:prstGeom prst="rect">
            <a:avLst/>
          </a:prstGeom>
          <a:noFill/>
        </p:spPr>
        <p:txBody>
          <a:bodyPr wrap="square">
            <a:spAutoFit/>
          </a:bodyPr>
          <a:lstStyle/>
          <a:p>
            <a:pPr algn="l">
              <a:defRPr sz="1600" b="0">
                <a:solidFill>
                  <a:srgbClr val="88AACC"/>
                </a:solidFill>
                <a:latin typeface="Calibri"/>
              </a:defRPr>
            </a:pPr>
            <a:r>
              <a:t>IPO Target: ~$2B raise  ·  Valuation: $22 – 25B  ·  28M Class A shares at $115 – $125/share</a:t>
            </a:r>
          </a:p>
        </p:txBody>
      </p:sp>
      <p:sp>
        <p:nvSpPr>
          <p:cNvPr id="6" name="TextBox 5"/>
          <p:cNvSpPr txBox="1"/>
          <p:nvPr/>
        </p:nvSpPr>
        <p:spPr>
          <a:xfrm>
            <a:off x="1280160" y="4937760"/>
            <a:ext cx="5486400" cy="365760"/>
          </a:xfrm>
          <a:prstGeom prst="rect">
            <a:avLst/>
          </a:prstGeom>
          <a:noFill/>
        </p:spPr>
        <p:txBody>
          <a:bodyPr wrap="square">
            <a:spAutoFit/>
          </a:bodyPr>
          <a:lstStyle/>
          <a:p>
            <a:pPr algn="l">
              <a:defRPr sz="1100" b="0">
                <a:solidFill>
                  <a:srgbClr val="666666"/>
                </a:solidFill>
                <a:latin typeface="Calibri"/>
              </a:defRPr>
            </a:pPr>
            <a:r>
              <a:t>Source: SEC EDGAR, S-1 Registration Statement filed 17-Apr-2026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Company Snapshot</a:t>
            </a:r>
          </a:p>
        </p:txBody>
      </p:sp>
      <p:sp>
        <p:nvSpPr>
          <p:cNvPr id="4" name="TextBox 3"/>
          <p:cNvSpPr txBox="1"/>
          <p:nvPr/>
        </p:nvSpPr>
        <p:spPr>
          <a:xfrm>
            <a:off x="914400" y="1371600"/>
            <a:ext cx="2103120" cy="365760"/>
          </a:xfrm>
          <a:prstGeom prst="rect">
            <a:avLst/>
          </a:prstGeom>
          <a:noFill/>
        </p:spPr>
        <p:txBody>
          <a:bodyPr wrap="square">
            <a:spAutoFit/>
          </a:bodyPr>
          <a:lstStyle/>
          <a:p>
            <a:pPr algn="l">
              <a:defRPr sz="1400" b="1">
                <a:solidFill>
                  <a:srgbClr val="007ACC"/>
                </a:solidFill>
                <a:latin typeface="Calibri"/>
              </a:defRPr>
            </a:pPr>
            <a:r>
              <a:t>Founded</a:t>
            </a:r>
          </a:p>
        </p:txBody>
      </p:sp>
      <p:sp>
        <p:nvSpPr>
          <p:cNvPr id="5" name="TextBox 4"/>
          <p:cNvSpPr txBox="1"/>
          <p:nvPr/>
        </p:nvSpPr>
        <p:spPr>
          <a:xfrm>
            <a:off x="3108960" y="1371600"/>
            <a:ext cx="8229600" cy="365760"/>
          </a:xfrm>
          <a:prstGeom prst="rect">
            <a:avLst/>
          </a:prstGeom>
          <a:noFill/>
        </p:spPr>
        <p:txBody>
          <a:bodyPr wrap="square">
            <a:spAutoFit/>
          </a:bodyPr>
          <a:lstStyle/>
          <a:p>
            <a:pPr algn="l">
              <a:defRPr sz="1400" b="0">
                <a:solidFill>
                  <a:srgbClr val="1A1A2E"/>
                </a:solidFill>
                <a:latin typeface="Calibri"/>
              </a:defRPr>
            </a:pPr>
            <a:r>
              <a:t>2016 in Sunnyvale, CA</a:t>
            </a:r>
          </a:p>
        </p:txBody>
      </p:sp>
      <p:sp>
        <p:nvSpPr>
          <p:cNvPr id="6" name="TextBox 5"/>
          <p:cNvSpPr txBox="1"/>
          <p:nvPr/>
        </p:nvSpPr>
        <p:spPr>
          <a:xfrm>
            <a:off x="914400" y="1901952"/>
            <a:ext cx="2103120" cy="365760"/>
          </a:xfrm>
          <a:prstGeom prst="rect">
            <a:avLst/>
          </a:prstGeom>
          <a:noFill/>
        </p:spPr>
        <p:txBody>
          <a:bodyPr wrap="square">
            <a:spAutoFit/>
          </a:bodyPr>
          <a:lstStyle/>
          <a:p>
            <a:pPr algn="l">
              <a:defRPr sz="1400" b="1">
                <a:solidFill>
                  <a:srgbClr val="007ACC"/>
                </a:solidFill>
                <a:latin typeface="Calibri"/>
              </a:defRPr>
            </a:pPr>
            <a:r>
              <a:t>CEO</a:t>
            </a:r>
          </a:p>
        </p:txBody>
      </p:sp>
      <p:sp>
        <p:nvSpPr>
          <p:cNvPr id="7" name="TextBox 6"/>
          <p:cNvSpPr txBox="1"/>
          <p:nvPr/>
        </p:nvSpPr>
        <p:spPr>
          <a:xfrm>
            <a:off x="3108960" y="1901952"/>
            <a:ext cx="8229600" cy="365760"/>
          </a:xfrm>
          <a:prstGeom prst="rect">
            <a:avLst/>
          </a:prstGeom>
          <a:noFill/>
        </p:spPr>
        <p:txBody>
          <a:bodyPr wrap="square">
            <a:spAutoFit/>
          </a:bodyPr>
          <a:lstStyle/>
          <a:p>
            <a:pPr algn="l">
              <a:defRPr sz="1400" b="0">
                <a:solidFill>
                  <a:srgbClr val="1A1A2E"/>
                </a:solidFill>
                <a:latin typeface="Calibri"/>
              </a:defRPr>
            </a:pPr>
            <a:r>
              <a:t>Andrew D. Feldman (co-founder)</a:t>
            </a:r>
          </a:p>
        </p:txBody>
      </p:sp>
      <p:sp>
        <p:nvSpPr>
          <p:cNvPr id="8" name="TextBox 7"/>
          <p:cNvSpPr txBox="1"/>
          <p:nvPr/>
        </p:nvSpPr>
        <p:spPr>
          <a:xfrm>
            <a:off x="914400" y="2432304"/>
            <a:ext cx="2103120" cy="365760"/>
          </a:xfrm>
          <a:prstGeom prst="rect">
            <a:avLst/>
          </a:prstGeom>
          <a:noFill/>
        </p:spPr>
        <p:txBody>
          <a:bodyPr wrap="square">
            <a:spAutoFit/>
          </a:bodyPr>
          <a:lstStyle/>
          <a:p>
            <a:pPr algn="l">
              <a:defRPr sz="1400" b="1">
                <a:solidFill>
                  <a:srgbClr val="007ACC"/>
                </a:solidFill>
                <a:latin typeface="Calibri"/>
              </a:defRPr>
            </a:pPr>
            <a:r>
              <a:t>Mission</a:t>
            </a:r>
          </a:p>
        </p:txBody>
      </p:sp>
      <p:sp>
        <p:nvSpPr>
          <p:cNvPr id="9" name="TextBox 8"/>
          <p:cNvSpPr txBox="1"/>
          <p:nvPr/>
        </p:nvSpPr>
        <p:spPr>
          <a:xfrm>
            <a:off x="3108960" y="2432304"/>
            <a:ext cx="8229600" cy="365760"/>
          </a:xfrm>
          <a:prstGeom prst="rect">
            <a:avLst/>
          </a:prstGeom>
          <a:noFill/>
        </p:spPr>
        <p:txBody>
          <a:bodyPr wrap="square">
            <a:spAutoFit/>
          </a:bodyPr>
          <a:lstStyle/>
          <a:p>
            <a:pPr algn="l">
              <a:defRPr sz="1400" b="0">
                <a:solidFill>
                  <a:srgbClr val="1A1A2E"/>
                </a:solidFill>
                <a:latin typeface="Calibri"/>
              </a:defRPr>
            </a:pPr>
            <a:r>
              <a:t>Build the world's largest and fastest AI chips to accelerate AI compute</a:t>
            </a:r>
          </a:p>
        </p:txBody>
      </p:sp>
      <p:sp>
        <p:nvSpPr>
          <p:cNvPr id="10" name="TextBox 9"/>
          <p:cNvSpPr txBox="1"/>
          <p:nvPr/>
        </p:nvSpPr>
        <p:spPr>
          <a:xfrm>
            <a:off x="914400" y="2962656"/>
            <a:ext cx="2103120" cy="365760"/>
          </a:xfrm>
          <a:prstGeom prst="rect">
            <a:avLst/>
          </a:prstGeom>
          <a:noFill/>
        </p:spPr>
        <p:txBody>
          <a:bodyPr wrap="square">
            <a:spAutoFit/>
          </a:bodyPr>
          <a:lstStyle/>
          <a:p>
            <a:pPr algn="l">
              <a:defRPr sz="1400" b="1">
                <a:solidFill>
                  <a:srgbClr val="007ACC"/>
                </a:solidFill>
                <a:latin typeface="Calibri"/>
              </a:defRPr>
            </a:pPr>
            <a:r>
              <a:t>Core Product</a:t>
            </a:r>
          </a:p>
        </p:txBody>
      </p:sp>
      <p:sp>
        <p:nvSpPr>
          <p:cNvPr id="11" name="TextBox 10"/>
          <p:cNvSpPr txBox="1"/>
          <p:nvPr/>
        </p:nvSpPr>
        <p:spPr>
          <a:xfrm>
            <a:off x="3108960" y="2962656"/>
            <a:ext cx="8229600" cy="365760"/>
          </a:xfrm>
          <a:prstGeom prst="rect">
            <a:avLst/>
          </a:prstGeom>
          <a:noFill/>
        </p:spPr>
        <p:txBody>
          <a:bodyPr wrap="square">
            <a:spAutoFit/>
          </a:bodyPr>
          <a:lstStyle/>
          <a:p>
            <a:pPr algn="l">
              <a:defRPr sz="1400" b="0">
                <a:solidFill>
                  <a:srgbClr val="1A1A2E"/>
                </a:solidFill>
                <a:latin typeface="Calibri"/>
              </a:defRPr>
            </a:pPr>
            <a:r>
              <a:t>Wafer-Scale Engine 3 (WSE-3) — the largest chip ever built</a:t>
            </a:r>
          </a:p>
        </p:txBody>
      </p:sp>
      <p:sp>
        <p:nvSpPr>
          <p:cNvPr id="12" name="TextBox 11"/>
          <p:cNvSpPr txBox="1"/>
          <p:nvPr/>
        </p:nvSpPr>
        <p:spPr>
          <a:xfrm>
            <a:off x="914400" y="3493008"/>
            <a:ext cx="2103120" cy="365760"/>
          </a:xfrm>
          <a:prstGeom prst="rect">
            <a:avLst/>
          </a:prstGeom>
          <a:noFill/>
        </p:spPr>
        <p:txBody>
          <a:bodyPr wrap="square">
            <a:spAutoFit/>
          </a:bodyPr>
          <a:lstStyle/>
          <a:p>
            <a:pPr algn="l">
              <a:defRPr sz="1400" b="1">
                <a:solidFill>
                  <a:srgbClr val="007ACC"/>
                </a:solidFill>
                <a:latin typeface="Calibri"/>
              </a:defRPr>
            </a:pPr>
            <a:r>
              <a:t>Business Model</a:t>
            </a:r>
          </a:p>
        </p:txBody>
      </p:sp>
      <p:sp>
        <p:nvSpPr>
          <p:cNvPr id="13" name="TextBox 12"/>
          <p:cNvSpPr txBox="1"/>
          <p:nvPr/>
        </p:nvSpPr>
        <p:spPr>
          <a:xfrm>
            <a:off x="3108960" y="3493008"/>
            <a:ext cx="8229600" cy="365760"/>
          </a:xfrm>
          <a:prstGeom prst="rect">
            <a:avLst/>
          </a:prstGeom>
          <a:noFill/>
        </p:spPr>
        <p:txBody>
          <a:bodyPr wrap="square">
            <a:spAutoFit/>
          </a:bodyPr>
          <a:lstStyle/>
          <a:p>
            <a:pPr algn="l">
              <a:defRPr sz="1400" b="0">
                <a:solidFill>
                  <a:srgbClr val="1A1A2E"/>
                </a:solidFill>
                <a:latin typeface="Calibri"/>
              </a:defRPr>
            </a:pPr>
            <a:r>
              <a:t>Chip sales + cloud inference/training services via own data centers</a:t>
            </a:r>
          </a:p>
        </p:txBody>
      </p:sp>
      <p:sp>
        <p:nvSpPr>
          <p:cNvPr id="14" name="TextBox 13"/>
          <p:cNvSpPr txBox="1"/>
          <p:nvPr/>
        </p:nvSpPr>
        <p:spPr>
          <a:xfrm>
            <a:off x="914400" y="4023360"/>
            <a:ext cx="2103120" cy="365760"/>
          </a:xfrm>
          <a:prstGeom prst="rect">
            <a:avLst/>
          </a:prstGeom>
          <a:noFill/>
        </p:spPr>
        <p:txBody>
          <a:bodyPr wrap="square">
            <a:spAutoFit/>
          </a:bodyPr>
          <a:lstStyle/>
          <a:p>
            <a:pPr algn="l">
              <a:defRPr sz="1400" b="1">
                <a:solidFill>
                  <a:srgbClr val="007ACC"/>
                </a:solidFill>
                <a:latin typeface="Calibri"/>
              </a:defRPr>
            </a:pPr>
            <a:r>
              <a:t>Filing Status</a:t>
            </a:r>
          </a:p>
        </p:txBody>
      </p:sp>
      <p:sp>
        <p:nvSpPr>
          <p:cNvPr id="15" name="TextBox 14"/>
          <p:cNvSpPr txBox="1"/>
          <p:nvPr/>
        </p:nvSpPr>
        <p:spPr>
          <a:xfrm>
            <a:off x="3108960" y="4023360"/>
            <a:ext cx="8229600" cy="365760"/>
          </a:xfrm>
          <a:prstGeom prst="rect">
            <a:avLst/>
          </a:prstGeom>
          <a:noFill/>
        </p:spPr>
        <p:txBody>
          <a:bodyPr wrap="square">
            <a:spAutoFit/>
          </a:bodyPr>
          <a:lstStyle/>
          <a:p>
            <a:pPr algn="l">
              <a:defRPr sz="1400" b="0">
                <a:solidFill>
                  <a:srgbClr val="1A1A2E"/>
                </a:solidFill>
                <a:latin typeface="Calibri"/>
              </a:defRPr>
            </a:pPr>
            <a:r>
              <a:t>Emerging growth company; non-accelerated filer</a:t>
            </a:r>
          </a:p>
        </p:txBody>
      </p:sp>
      <p:sp>
        <p:nvSpPr>
          <p:cNvPr id="16" name="TextBox 15"/>
          <p:cNvSpPr txBox="1"/>
          <p:nvPr/>
        </p:nvSpPr>
        <p:spPr>
          <a:xfrm>
            <a:off x="914400" y="4553712"/>
            <a:ext cx="2103120" cy="365760"/>
          </a:xfrm>
          <a:prstGeom prst="rect">
            <a:avLst/>
          </a:prstGeom>
          <a:noFill/>
        </p:spPr>
        <p:txBody>
          <a:bodyPr wrap="square">
            <a:spAutoFit/>
          </a:bodyPr>
          <a:lstStyle/>
          <a:p>
            <a:pPr algn="l">
              <a:defRPr sz="1400" b="1">
                <a:solidFill>
                  <a:srgbClr val="007ACC"/>
                </a:solidFill>
                <a:latin typeface="Calibri"/>
              </a:defRPr>
            </a:pPr>
            <a:r>
              <a:t>Legal Counsel</a:t>
            </a:r>
          </a:p>
        </p:txBody>
      </p:sp>
      <p:sp>
        <p:nvSpPr>
          <p:cNvPr id="17" name="TextBox 16"/>
          <p:cNvSpPr txBox="1"/>
          <p:nvPr/>
        </p:nvSpPr>
        <p:spPr>
          <a:xfrm>
            <a:off x="3108960" y="4553712"/>
            <a:ext cx="8229600" cy="365760"/>
          </a:xfrm>
          <a:prstGeom prst="rect">
            <a:avLst/>
          </a:prstGeom>
          <a:noFill/>
        </p:spPr>
        <p:txBody>
          <a:bodyPr wrap="square">
            <a:spAutoFit/>
          </a:bodyPr>
          <a:lstStyle/>
          <a:p>
            <a:pPr algn="l">
              <a:defRPr sz="1400" b="0">
                <a:solidFill>
                  <a:srgbClr val="1A1A2E"/>
                </a:solidFill>
                <a:latin typeface="Calibri"/>
              </a:defRPr>
            </a:pPr>
            <a:r>
              <a:t>Latham &amp; Watkins LLP / Davis Polk &amp; Wardwell LLP</a:t>
            </a:r>
          </a:p>
        </p:txBody>
      </p:sp>
      <p:sp>
        <p:nvSpPr>
          <p:cNvPr id="18" name="TextBox 17"/>
          <p:cNvSpPr txBox="1"/>
          <p:nvPr/>
        </p:nvSpPr>
        <p:spPr>
          <a:xfrm>
            <a:off x="914400" y="5084064"/>
            <a:ext cx="2103120" cy="365760"/>
          </a:xfrm>
          <a:prstGeom prst="rect">
            <a:avLst/>
          </a:prstGeom>
          <a:noFill/>
        </p:spPr>
        <p:txBody>
          <a:bodyPr wrap="square">
            <a:spAutoFit/>
          </a:bodyPr>
          <a:lstStyle/>
          <a:p>
            <a:pPr algn="l">
              <a:defRPr sz="1400" b="1">
                <a:solidFill>
                  <a:srgbClr val="007ACC"/>
                </a:solidFill>
                <a:latin typeface="Calibri"/>
              </a:defRPr>
            </a:pPr>
            <a:r>
              <a:t>Underwriters</a:t>
            </a:r>
          </a:p>
        </p:txBody>
      </p:sp>
      <p:sp>
        <p:nvSpPr>
          <p:cNvPr id="19" name="TextBox 18"/>
          <p:cNvSpPr txBox="1"/>
          <p:nvPr/>
        </p:nvSpPr>
        <p:spPr>
          <a:xfrm>
            <a:off x="3108960" y="5084064"/>
            <a:ext cx="8229600" cy="365760"/>
          </a:xfrm>
          <a:prstGeom prst="rect">
            <a:avLst/>
          </a:prstGeom>
          <a:noFill/>
        </p:spPr>
        <p:txBody>
          <a:bodyPr wrap="square">
            <a:spAutoFit/>
          </a:bodyPr>
          <a:lstStyle/>
          <a:p>
            <a:pPr algn="l">
              <a:defRPr sz="1400" b="0">
                <a:solidFill>
                  <a:srgbClr val="1A1A2E"/>
                </a:solidFill>
                <a:latin typeface="Calibri"/>
              </a:defRPr>
            </a:pPr>
            <a:r>
              <a:t>Citi (lead), Barclays, UBS, Wells Fargo, Mizuho, TD Cowen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WSE-3: The World's Largest AI Chip</a:t>
            </a:r>
          </a:p>
        </p:txBody>
      </p:sp>
      <p:sp>
        <p:nvSpPr>
          <p:cNvPr id="4" name="TextBox 3"/>
          <p:cNvSpPr txBox="1"/>
          <p:nvPr/>
        </p:nvSpPr>
        <p:spPr>
          <a:xfrm>
            <a:off x="914400" y="1051560"/>
            <a:ext cx="9144000" cy="365760"/>
          </a:xfrm>
          <a:prstGeom prst="rect">
            <a:avLst/>
          </a:prstGeom>
          <a:noFill/>
        </p:spPr>
        <p:txBody>
          <a:bodyPr wrap="square">
            <a:spAutoFit/>
          </a:bodyPr>
          <a:lstStyle/>
          <a:p>
            <a:pPr algn="l">
              <a:defRPr sz="1400" b="0">
                <a:solidFill>
                  <a:srgbClr val="666666"/>
                </a:solidFill>
                <a:latin typeface="Calibri"/>
              </a:defRPr>
            </a:pPr>
            <a:r>
              <a:t>Manufactured by TSMC on 5 nm process  ·  Unveiled March 2024</a:t>
            </a:r>
          </a:p>
        </p:txBody>
      </p:sp>
      <p:sp>
        <p:nvSpPr>
          <p:cNvPr id="5" name="Rounded Rectangle 4"/>
          <p:cNvSpPr/>
          <p:nvPr/>
        </p:nvSpPr>
        <p:spPr>
          <a:xfrm>
            <a:off x="731520" y="182880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Transistors</a:t>
            </a:r>
          </a:p>
          <a:p>
            <a:pPr algn="ctr">
              <a:spcBef>
                <a:spcPts val="400"/>
              </a:spcBef>
              <a:defRPr sz="2800" b="1">
                <a:solidFill>
                  <a:srgbClr val="007ACC"/>
                </a:solidFill>
                <a:latin typeface="Calibri"/>
              </a:defRPr>
            </a:pPr>
            <a:r>
              <a:t>4 Trillion</a:t>
            </a:r>
          </a:p>
          <a:p>
            <a:pPr algn="ctr">
              <a:spcBef>
                <a:spcPts val="200"/>
              </a:spcBef>
              <a:defRPr sz="1000">
                <a:solidFill>
                  <a:srgbClr val="666666"/>
                </a:solidFill>
                <a:latin typeface="Calibri"/>
              </a:defRPr>
            </a:pPr>
            <a:r>
              <a:t>19× NVIDIA B200</a:t>
            </a:r>
          </a:p>
        </p:txBody>
      </p:sp>
      <p:sp>
        <p:nvSpPr>
          <p:cNvPr id="6" name="Rounded Rectangle 5"/>
          <p:cNvSpPr/>
          <p:nvPr/>
        </p:nvSpPr>
        <p:spPr>
          <a:xfrm>
            <a:off x="3337560" y="182880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AI Cores</a:t>
            </a:r>
          </a:p>
          <a:p>
            <a:pPr algn="ctr">
              <a:spcBef>
                <a:spcPts val="400"/>
              </a:spcBef>
              <a:defRPr sz="2800" b="1">
                <a:solidFill>
                  <a:srgbClr val="007ACC"/>
                </a:solidFill>
                <a:latin typeface="Calibri"/>
              </a:defRPr>
            </a:pPr>
            <a:r>
              <a:t>900,000</a:t>
            </a:r>
          </a:p>
          <a:p>
            <a:pPr algn="ctr">
              <a:spcBef>
                <a:spcPts val="200"/>
              </a:spcBef>
              <a:defRPr sz="1000">
                <a:solidFill>
                  <a:srgbClr val="666666"/>
                </a:solidFill>
                <a:latin typeface="Calibri"/>
              </a:defRPr>
            </a:pPr>
            <a:r>
              <a:t>52× more than largest GPU</a:t>
            </a:r>
          </a:p>
        </p:txBody>
      </p:sp>
      <p:sp>
        <p:nvSpPr>
          <p:cNvPr id="7" name="Rounded Rectangle 6"/>
          <p:cNvSpPr/>
          <p:nvPr/>
        </p:nvSpPr>
        <p:spPr>
          <a:xfrm>
            <a:off x="5943600" y="182880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Silicon Area</a:t>
            </a:r>
          </a:p>
          <a:p>
            <a:pPr algn="ctr">
              <a:spcBef>
                <a:spcPts val="400"/>
              </a:spcBef>
              <a:defRPr sz="2800" b="1">
                <a:solidFill>
                  <a:srgbClr val="007ACC"/>
                </a:solidFill>
                <a:latin typeface="Calibri"/>
              </a:defRPr>
            </a:pPr>
            <a:r>
              <a:t>46,225 mm²</a:t>
            </a:r>
          </a:p>
          <a:p>
            <a:pPr algn="ctr">
              <a:spcBef>
                <a:spcPts val="200"/>
              </a:spcBef>
              <a:defRPr sz="1000">
                <a:solidFill>
                  <a:srgbClr val="666666"/>
                </a:solidFill>
                <a:latin typeface="Calibri"/>
              </a:defRPr>
            </a:pPr>
            <a:r>
              <a:t>57× largest GPU</a:t>
            </a:r>
          </a:p>
        </p:txBody>
      </p:sp>
      <p:sp>
        <p:nvSpPr>
          <p:cNvPr id="8" name="Rounded Rectangle 7"/>
          <p:cNvSpPr/>
          <p:nvPr/>
        </p:nvSpPr>
        <p:spPr>
          <a:xfrm>
            <a:off x="8549640" y="182880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Peak Performance</a:t>
            </a:r>
          </a:p>
          <a:p>
            <a:pPr algn="ctr">
              <a:spcBef>
                <a:spcPts val="400"/>
              </a:spcBef>
              <a:defRPr sz="2800" b="1">
                <a:solidFill>
                  <a:srgbClr val="007ACC"/>
                </a:solidFill>
                <a:latin typeface="Calibri"/>
              </a:defRPr>
            </a:pPr>
            <a:r>
              <a:t>125 PFLOPS</a:t>
            </a:r>
          </a:p>
          <a:p>
            <a:pPr algn="ctr">
              <a:spcBef>
                <a:spcPts val="200"/>
              </a:spcBef>
              <a:defRPr sz="1000">
                <a:solidFill>
                  <a:srgbClr val="666666"/>
                </a:solidFill>
                <a:latin typeface="Calibri"/>
              </a:defRPr>
            </a:pPr>
            <a:r>
              <a:t>28× NVIDIA B200</a:t>
            </a:r>
          </a:p>
        </p:txBody>
      </p:sp>
      <p:sp>
        <p:nvSpPr>
          <p:cNvPr id="9" name="Rounded Rectangle 8"/>
          <p:cNvSpPr/>
          <p:nvPr/>
        </p:nvSpPr>
        <p:spPr>
          <a:xfrm>
            <a:off x="731520" y="361188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On-Chip SRAM</a:t>
            </a:r>
          </a:p>
          <a:p>
            <a:pPr algn="ctr">
              <a:spcBef>
                <a:spcPts val="400"/>
              </a:spcBef>
              <a:defRPr sz="2800" b="1">
                <a:solidFill>
                  <a:srgbClr val="007ACC"/>
                </a:solidFill>
                <a:latin typeface="Calibri"/>
              </a:defRPr>
            </a:pPr>
            <a:r>
              <a:t>44 GB</a:t>
            </a:r>
          </a:p>
          <a:p>
            <a:pPr algn="ctr">
              <a:spcBef>
                <a:spcPts val="200"/>
              </a:spcBef>
              <a:defRPr sz="1000">
                <a:solidFill>
                  <a:srgbClr val="666666"/>
                </a:solidFill>
                <a:latin typeface="Calibri"/>
              </a:defRPr>
            </a:pPr>
            <a:r>
              <a:t>vs. off-chip HBM in GPUs</a:t>
            </a:r>
          </a:p>
        </p:txBody>
      </p:sp>
      <p:sp>
        <p:nvSpPr>
          <p:cNvPr id="10" name="Rounded Rectangle 9"/>
          <p:cNvSpPr/>
          <p:nvPr/>
        </p:nvSpPr>
        <p:spPr>
          <a:xfrm>
            <a:off x="3337560" y="361188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Memory BW</a:t>
            </a:r>
          </a:p>
          <a:p>
            <a:pPr algn="ctr">
              <a:spcBef>
                <a:spcPts val="400"/>
              </a:spcBef>
              <a:defRPr sz="2800" b="1">
                <a:solidFill>
                  <a:srgbClr val="007ACC"/>
                </a:solidFill>
                <a:latin typeface="Calibri"/>
              </a:defRPr>
            </a:pPr>
            <a:r>
              <a:t>21 PB/s</a:t>
            </a:r>
          </a:p>
          <a:p>
            <a:pPr algn="ctr">
              <a:spcBef>
                <a:spcPts val="200"/>
              </a:spcBef>
              <a:defRPr sz="1000">
                <a:solidFill>
                  <a:srgbClr val="666666"/>
                </a:solidFill>
                <a:latin typeface="Calibri"/>
              </a:defRPr>
            </a:pPr>
            <a:r>
              <a:t>7,000× GPU mem BW</a:t>
            </a:r>
          </a:p>
        </p:txBody>
      </p:sp>
      <p:sp>
        <p:nvSpPr>
          <p:cNvPr id="11" name="Rounded Rectangle 10"/>
          <p:cNvSpPr/>
          <p:nvPr/>
        </p:nvSpPr>
        <p:spPr>
          <a:xfrm>
            <a:off x="5943600" y="361188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Fabric BW</a:t>
            </a:r>
          </a:p>
          <a:p>
            <a:pPr algn="ctr">
              <a:spcBef>
                <a:spcPts val="400"/>
              </a:spcBef>
              <a:defRPr sz="2800" b="1">
                <a:solidFill>
                  <a:srgbClr val="007ACC"/>
                </a:solidFill>
                <a:latin typeface="Calibri"/>
              </a:defRPr>
            </a:pPr>
            <a:r>
              <a:t>214 PB/s</a:t>
            </a:r>
          </a:p>
          <a:p>
            <a:pPr algn="ctr">
              <a:spcBef>
                <a:spcPts val="200"/>
              </a:spcBef>
              <a:defRPr sz="1000">
                <a:solidFill>
                  <a:srgbClr val="666666"/>
                </a:solidFill>
                <a:latin typeface="Calibri"/>
              </a:defRPr>
            </a:pPr>
            <a:r>
              <a:t>On-wafer interconnect</a:t>
            </a:r>
          </a:p>
        </p:txBody>
      </p:sp>
      <p:sp>
        <p:nvSpPr>
          <p:cNvPr id="12" name="Rounded Rectangle 11"/>
          <p:cNvSpPr/>
          <p:nvPr/>
        </p:nvSpPr>
        <p:spPr>
          <a:xfrm>
            <a:off x="8549640" y="3611880"/>
            <a:ext cx="2286000" cy="146304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Inference Speed</a:t>
            </a:r>
          </a:p>
          <a:p>
            <a:pPr algn="ctr">
              <a:spcBef>
                <a:spcPts val="400"/>
              </a:spcBef>
              <a:defRPr sz="2800" b="1">
                <a:solidFill>
                  <a:srgbClr val="007ACC"/>
                </a:solidFill>
                <a:latin typeface="Calibri"/>
              </a:defRPr>
            </a:pPr>
            <a:r>
              <a:t>Up to 15×</a:t>
            </a:r>
          </a:p>
          <a:p>
            <a:pPr algn="ctr">
              <a:spcBef>
                <a:spcPts val="200"/>
              </a:spcBef>
              <a:defRPr sz="1000">
                <a:solidFill>
                  <a:srgbClr val="666666"/>
                </a:solidFill>
                <a:latin typeface="Calibri"/>
              </a:defRPr>
            </a:pPr>
            <a:r>
              <a:t>faster than GPU solutions</a:t>
            </a:r>
          </a:p>
        </p:txBody>
      </p:sp>
      <p:sp>
        <p:nvSpPr>
          <p:cNvPr id="13" name="TextBox 12"/>
          <p:cNvSpPr txBox="1"/>
          <p:nvPr/>
        </p:nvSpPr>
        <p:spPr>
          <a:xfrm>
            <a:off x="731520" y="5212080"/>
            <a:ext cx="10058400" cy="548640"/>
          </a:xfrm>
          <a:prstGeom prst="rect">
            <a:avLst/>
          </a:prstGeom>
          <a:noFill/>
        </p:spPr>
        <p:txBody>
          <a:bodyPr wrap="square">
            <a:spAutoFit/>
          </a:bodyPr>
          <a:lstStyle/>
          <a:p>
            <a:pPr algn="l">
              <a:defRPr sz="1300" b="0">
                <a:solidFill>
                  <a:srgbClr val="666666"/>
                </a:solidFill>
                <a:latin typeface="Calibri"/>
              </a:defRPr>
            </a:pPr>
            <a:r>
              <a:t>Cerebras's wafer-scale approach places the entire model on a single chip, eliminating inter-chip communication bottlenecks that limit GPU cluster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Financial Highlights — FY 2025</a:t>
            </a:r>
          </a:p>
        </p:txBody>
      </p:sp>
      <p:sp>
        <p:nvSpPr>
          <p:cNvPr id="4" name="Rounded Rectangle 3"/>
          <p:cNvSpPr/>
          <p:nvPr/>
        </p:nvSpPr>
        <p:spPr>
          <a:xfrm>
            <a:off x="731520" y="146304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Revenue</a:t>
            </a:r>
          </a:p>
          <a:p>
            <a:pPr algn="ctr">
              <a:spcBef>
                <a:spcPts val="400"/>
              </a:spcBef>
              <a:defRPr sz="2800" b="1">
                <a:solidFill>
                  <a:srgbClr val="007ACC"/>
                </a:solidFill>
                <a:latin typeface="Calibri"/>
              </a:defRPr>
            </a:pPr>
            <a:r>
              <a:t>$510M</a:t>
            </a:r>
          </a:p>
          <a:p>
            <a:pPr algn="ctr">
              <a:spcBef>
                <a:spcPts val="200"/>
              </a:spcBef>
              <a:defRPr sz="1000">
                <a:solidFill>
                  <a:srgbClr val="666666"/>
                </a:solidFill>
                <a:latin typeface="Calibri"/>
              </a:defRPr>
            </a:pPr>
            <a:r>
              <a:t>+76% YoY</a:t>
            </a:r>
          </a:p>
        </p:txBody>
      </p:sp>
      <p:sp>
        <p:nvSpPr>
          <p:cNvPr id="5" name="Rounded Rectangle 4"/>
          <p:cNvSpPr/>
          <p:nvPr/>
        </p:nvSpPr>
        <p:spPr>
          <a:xfrm>
            <a:off x="4389120" y="146304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Operating Loss</a:t>
            </a:r>
          </a:p>
          <a:p>
            <a:pPr algn="ctr">
              <a:spcBef>
                <a:spcPts val="400"/>
              </a:spcBef>
              <a:defRPr sz="2800" b="1">
                <a:solidFill>
                  <a:srgbClr val="E83E3E"/>
                </a:solidFill>
                <a:latin typeface="Calibri"/>
              </a:defRPr>
            </a:pPr>
            <a:r>
              <a:t>($75.7M)</a:t>
            </a:r>
          </a:p>
          <a:p>
            <a:pPr algn="ctr">
              <a:spcBef>
                <a:spcPts val="200"/>
              </a:spcBef>
              <a:defRPr sz="1000">
                <a:solidFill>
                  <a:srgbClr val="666666"/>
                </a:solidFill>
                <a:latin typeface="Calibri"/>
              </a:defRPr>
            </a:pPr>
            <a:r>
              <a:t>vs. ($21.8M) in FY24</a:t>
            </a:r>
          </a:p>
        </p:txBody>
      </p:sp>
      <p:sp>
        <p:nvSpPr>
          <p:cNvPr id="6" name="Rounded Rectangle 5"/>
          <p:cNvSpPr/>
          <p:nvPr/>
        </p:nvSpPr>
        <p:spPr>
          <a:xfrm>
            <a:off x="8046720" y="146304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Non-GAAP Net Income</a:t>
            </a:r>
          </a:p>
          <a:p>
            <a:pPr algn="ctr">
              <a:spcBef>
                <a:spcPts val="400"/>
              </a:spcBef>
              <a:defRPr sz="2800" b="1">
                <a:solidFill>
                  <a:srgbClr val="00A86B"/>
                </a:solidFill>
                <a:latin typeface="Calibri"/>
              </a:defRPr>
            </a:pPr>
            <a:r>
              <a:t>$237.8M</a:t>
            </a:r>
          </a:p>
          <a:p>
            <a:pPr algn="ctr">
              <a:spcBef>
                <a:spcPts val="200"/>
              </a:spcBef>
              <a:defRPr sz="1000">
                <a:solidFill>
                  <a:srgbClr val="666666"/>
                </a:solidFill>
                <a:latin typeface="Calibri"/>
              </a:defRPr>
            </a:pPr>
            <a:r>
              <a:t>Includes one-time items</a:t>
            </a:r>
          </a:p>
        </p:txBody>
      </p:sp>
      <p:sp>
        <p:nvSpPr>
          <p:cNvPr id="7" name="Rounded Rectangle 6"/>
          <p:cNvSpPr/>
          <p:nvPr/>
        </p:nvSpPr>
        <p:spPr>
          <a:xfrm>
            <a:off x="731520" y="347472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Order Backlog</a:t>
            </a:r>
          </a:p>
          <a:p>
            <a:pPr algn="ctr">
              <a:spcBef>
                <a:spcPts val="400"/>
              </a:spcBef>
              <a:defRPr sz="2800" b="1">
                <a:solidFill>
                  <a:srgbClr val="007ACC"/>
                </a:solidFill>
                <a:latin typeface="Calibri"/>
              </a:defRPr>
            </a:pPr>
            <a:r>
              <a:t>$24.6B</a:t>
            </a:r>
          </a:p>
          <a:p>
            <a:pPr algn="ctr">
              <a:spcBef>
                <a:spcPts val="200"/>
              </a:spcBef>
              <a:defRPr sz="1000">
                <a:solidFill>
                  <a:srgbClr val="666666"/>
                </a:solidFill>
                <a:latin typeface="Calibri"/>
              </a:defRPr>
            </a:pPr>
            <a:r>
              <a:t>Driven by OpenAI deal</a:t>
            </a:r>
          </a:p>
        </p:txBody>
      </p:sp>
      <p:sp>
        <p:nvSpPr>
          <p:cNvPr id="8" name="Rounded Rectangle 7"/>
          <p:cNvSpPr/>
          <p:nvPr/>
        </p:nvSpPr>
        <p:spPr>
          <a:xfrm>
            <a:off x="4389120" y="347472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OpenAI Loan</a:t>
            </a:r>
          </a:p>
          <a:p>
            <a:pPr algn="ctr">
              <a:spcBef>
                <a:spcPts val="400"/>
              </a:spcBef>
              <a:defRPr sz="2800" b="1">
                <a:solidFill>
                  <a:srgbClr val="FF8C00"/>
                </a:solidFill>
                <a:latin typeface="Calibri"/>
              </a:defRPr>
            </a:pPr>
            <a:r>
              <a:t>$1.0B</a:t>
            </a:r>
          </a:p>
          <a:p>
            <a:pPr algn="ctr">
              <a:spcBef>
                <a:spcPts val="200"/>
              </a:spcBef>
              <a:defRPr sz="1000">
                <a:solidFill>
                  <a:srgbClr val="666666"/>
                </a:solidFill>
                <a:latin typeface="Calibri"/>
              </a:defRPr>
            </a:pPr>
            <a:r>
              <a:t>Advance for compute buildout</a:t>
            </a:r>
          </a:p>
        </p:txBody>
      </p:sp>
      <p:sp>
        <p:nvSpPr>
          <p:cNvPr id="9" name="Rounded Rectangle 8"/>
          <p:cNvSpPr/>
          <p:nvPr/>
        </p:nvSpPr>
        <p:spPr>
          <a:xfrm>
            <a:off x="8046720" y="3474720"/>
            <a:ext cx="3200400" cy="164592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G42 Paper Gain</a:t>
            </a:r>
          </a:p>
          <a:p>
            <a:pPr algn="ctr">
              <a:spcBef>
                <a:spcPts val="400"/>
              </a:spcBef>
              <a:defRPr sz="2800" b="1">
                <a:solidFill>
                  <a:srgbClr val="00A86B"/>
                </a:solidFill>
                <a:latin typeface="Calibri"/>
              </a:defRPr>
            </a:pPr>
            <a:r>
              <a:t>$363M</a:t>
            </a:r>
          </a:p>
          <a:p>
            <a:pPr algn="ctr">
              <a:spcBef>
                <a:spcPts val="200"/>
              </a:spcBef>
              <a:defRPr sz="1000">
                <a:solidFill>
                  <a:srgbClr val="666666"/>
                </a:solidFill>
                <a:latin typeface="Calibri"/>
              </a:defRPr>
            </a:pPr>
            <a:r>
              <a:t>Restructured deal (2025)</a:t>
            </a:r>
          </a:p>
        </p:txBody>
      </p:sp>
      <p:sp>
        <p:nvSpPr>
          <p:cNvPr id="10" name="TextBox 9"/>
          <p:cNvSpPr txBox="1"/>
          <p:nvPr/>
        </p:nvSpPr>
        <p:spPr>
          <a:xfrm>
            <a:off x="731520" y="5486400"/>
            <a:ext cx="10058400" cy="457200"/>
          </a:xfrm>
          <a:prstGeom prst="rect">
            <a:avLst/>
          </a:prstGeom>
          <a:noFill/>
        </p:spPr>
        <p:txBody>
          <a:bodyPr wrap="square">
            <a:spAutoFit/>
          </a:bodyPr>
          <a:lstStyle/>
          <a:p>
            <a:pPr algn="l">
              <a:defRPr sz="1100" b="0">
                <a:solidFill>
                  <a:srgbClr val="666666"/>
                </a:solidFill>
                <a:latin typeface="Calibri"/>
              </a:defRPr>
            </a:pPr>
            <a:r>
              <a:t>Note: GAAP net income was aided by $363M non-cash gain from G42 deal restructuring. Underlying operating loss widened YoY.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Revenue Growth Trajectory</a:t>
            </a:r>
          </a:p>
        </p:txBody>
      </p:sp>
      <p:sp>
        <p:nvSpPr>
          <p:cNvPr id="4" name="Rectangle 3"/>
          <p:cNvSpPr/>
          <p:nvPr/>
        </p:nvSpPr>
        <p:spPr>
          <a:xfrm>
            <a:off x="1828800" y="3514954"/>
            <a:ext cx="2011680" cy="105704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057754"/>
            <a:ext cx="2011680" cy="411480"/>
          </a:xfrm>
          <a:prstGeom prst="rect">
            <a:avLst/>
          </a:prstGeom>
          <a:noFill/>
        </p:spPr>
        <p:txBody>
          <a:bodyPr wrap="square">
            <a:spAutoFit/>
          </a:bodyPr>
          <a:lstStyle/>
          <a:p>
            <a:pPr algn="ctr">
              <a:defRPr sz="1800" b="1">
                <a:solidFill>
                  <a:srgbClr val="007ACC"/>
                </a:solidFill>
                <a:latin typeface="Calibri"/>
              </a:defRPr>
            </a:pPr>
            <a:r>
              <a:t>$289M</a:t>
            </a:r>
          </a:p>
        </p:txBody>
      </p:sp>
      <p:sp>
        <p:nvSpPr>
          <p:cNvPr id="6" name="TextBox 5"/>
          <p:cNvSpPr txBox="1"/>
          <p:nvPr/>
        </p:nvSpPr>
        <p:spPr>
          <a:xfrm>
            <a:off x="1828800" y="4709160"/>
            <a:ext cx="2011680" cy="365760"/>
          </a:xfrm>
          <a:prstGeom prst="rect">
            <a:avLst/>
          </a:prstGeom>
          <a:noFill/>
        </p:spPr>
        <p:txBody>
          <a:bodyPr wrap="square">
            <a:spAutoFit/>
          </a:bodyPr>
          <a:lstStyle/>
          <a:p>
            <a:pPr algn="ctr">
              <a:defRPr sz="1400" b="1">
                <a:solidFill>
                  <a:srgbClr val="1A1A2E"/>
                </a:solidFill>
                <a:latin typeface="Calibri"/>
              </a:defRPr>
            </a:pPr>
            <a:r>
              <a:t>FY 2024</a:t>
            </a:r>
          </a:p>
        </p:txBody>
      </p:sp>
      <p:sp>
        <p:nvSpPr>
          <p:cNvPr id="7" name="Rectangle 6"/>
          <p:cNvSpPr/>
          <p:nvPr/>
        </p:nvSpPr>
        <p:spPr>
          <a:xfrm>
            <a:off x="5212080" y="2706624"/>
            <a:ext cx="2011680" cy="18653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0" y="2249424"/>
            <a:ext cx="2011680" cy="411480"/>
          </a:xfrm>
          <a:prstGeom prst="rect">
            <a:avLst/>
          </a:prstGeom>
          <a:noFill/>
        </p:spPr>
        <p:txBody>
          <a:bodyPr wrap="square">
            <a:spAutoFit/>
          </a:bodyPr>
          <a:lstStyle/>
          <a:p>
            <a:pPr algn="ctr">
              <a:defRPr sz="1800" b="1">
                <a:solidFill>
                  <a:srgbClr val="007ACC"/>
                </a:solidFill>
                <a:latin typeface="Calibri"/>
              </a:defRPr>
            </a:pPr>
            <a:r>
              <a:t>$510M</a:t>
            </a:r>
          </a:p>
        </p:txBody>
      </p:sp>
      <p:sp>
        <p:nvSpPr>
          <p:cNvPr id="9" name="TextBox 8"/>
          <p:cNvSpPr txBox="1"/>
          <p:nvPr/>
        </p:nvSpPr>
        <p:spPr>
          <a:xfrm>
            <a:off x="5212080" y="4709160"/>
            <a:ext cx="2011680" cy="365760"/>
          </a:xfrm>
          <a:prstGeom prst="rect">
            <a:avLst/>
          </a:prstGeom>
          <a:noFill/>
        </p:spPr>
        <p:txBody>
          <a:bodyPr wrap="square">
            <a:spAutoFit/>
          </a:bodyPr>
          <a:lstStyle/>
          <a:p>
            <a:pPr algn="ctr">
              <a:defRPr sz="1400" b="1">
                <a:solidFill>
                  <a:srgbClr val="1A1A2E"/>
                </a:solidFill>
                <a:latin typeface="Calibri"/>
              </a:defRPr>
            </a:pPr>
            <a:r>
              <a:t>FY 2025</a:t>
            </a:r>
          </a:p>
        </p:txBody>
      </p:sp>
      <p:sp>
        <p:nvSpPr>
          <p:cNvPr id="10" name="Rectangle 9"/>
          <p:cNvSpPr/>
          <p:nvPr/>
        </p:nvSpPr>
        <p:spPr>
          <a:xfrm>
            <a:off x="8595360" y="1645920"/>
            <a:ext cx="2011680" cy="29260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188720"/>
            <a:ext cx="2011680" cy="411480"/>
          </a:xfrm>
          <a:prstGeom prst="rect">
            <a:avLst/>
          </a:prstGeom>
          <a:noFill/>
        </p:spPr>
        <p:txBody>
          <a:bodyPr wrap="square">
            <a:spAutoFit/>
          </a:bodyPr>
          <a:lstStyle/>
          <a:p>
            <a:pPr algn="ctr">
              <a:defRPr sz="1800" b="1">
                <a:solidFill>
                  <a:srgbClr val="00A86B"/>
                </a:solidFill>
                <a:latin typeface="Calibri"/>
              </a:defRPr>
            </a:pPr>
            <a:r>
              <a:t>$24.6B backlog</a:t>
            </a:r>
          </a:p>
        </p:txBody>
      </p:sp>
      <p:sp>
        <p:nvSpPr>
          <p:cNvPr id="12" name="TextBox 11"/>
          <p:cNvSpPr txBox="1"/>
          <p:nvPr/>
        </p:nvSpPr>
        <p:spPr>
          <a:xfrm>
            <a:off x="8595360" y="4709160"/>
            <a:ext cx="2011680" cy="365760"/>
          </a:xfrm>
          <a:prstGeom prst="rect">
            <a:avLst/>
          </a:prstGeom>
          <a:noFill/>
        </p:spPr>
        <p:txBody>
          <a:bodyPr wrap="square">
            <a:spAutoFit/>
          </a:bodyPr>
          <a:lstStyle/>
          <a:p>
            <a:pPr algn="ctr">
              <a:defRPr sz="1400" b="1">
                <a:solidFill>
                  <a:srgbClr val="1A1A2E"/>
                </a:solidFill>
                <a:latin typeface="Calibri"/>
              </a:defRPr>
            </a:pPr>
            <a:r>
              <a:t>Backlog</a:t>
            </a:r>
          </a:p>
        </p:txBody>
      </p:sp>
      <p:sp>
        <p:nvSpPr>
          <p:cNvPr id="13" name="TextBox 12"/>
          <p:cNvSpPr txBox="1"/>
          <p:nvPr/>
        </p:nvSpPr>
        <p:spPr>
          <a:xfrm>
            <a:off x="6858000" y="1371600"/>
            <a:ext cx="4572000" cy="365760"/>
          </a:xfrm>
          <a:prstGeom prst="rect">
            <a:avLst/>
          </a:prstGeom>
          <a:noFill/>
        </p:spPr>
        <p:txBody>
          <a:bodyPr wrap="square">
            <a:spAutoFit/>
          </a:bodyPr>
          <a:lstStyle/>
          <a:p>
            <a:pPr algn="l">
              <a:defRPr sz="2000" b="1">
                <a:solidFill>
                  <a:srgbClr val="00A86B"/>
                </a:solidFill>
                <a:latin typeface="Calibri"/>
              </a:defRPr>
            </a:pPr>
            <a:r>
              <a:t>+76% YoY Revenue Growth</a:t>
            </a:r>
          </a:p>
        </p:txBody>
      </p:sp>
      <p:sp>
        <p:nvSpPr>
          <p:cNvPr id="14" name="TextBox 13"/>
          <p:cNvSpPr txBox="1"/>
          <p:nvPr/>
        </p:nvSpPr>
        <p:spPr>
          <a:xfrm>
            <a:off x="6858000" y="1920240"/>
            <a:ext cx="4572000" cy="2286000"/>
          </a:xfrm>
          <a:prstGeom prst="rect">
            <a:avLst/>
          </a:prstGeom>
          <a:noFill/>
        </p:spPr>
        <p:txBody>
          <a:bodyPr wrap="square">
            <a:spAutoFit/>
          </a:bodyPr>
          <a:lstStyle/>
          <a:p>
            <a:pPr algn="l">
              <a:defRPr sz="1400" b="0">
                <a:solidFill>
                  <a:srgbClr val="1A1A2E"/>
                </a:solidFill>
                <a:latin typeface="Calibri"/>
              </a:defRPr>
            </a:pPr>
          </a:p>
          <a:p>
            <a:pPr algn="l">
              <a:spcBef>
                <a:spcPts val="800"/>
              </a:spcBef>
              <a:defRPr sz="1300" b="0">
                <a:solidFill>
                  <a:srgbClr val="1A1A2E"/>
                </a:solidFill>
                <a:latin typeface="Calibri"/>
              </a:defRPr>
            </a:pPr>
            <a:r>
              <a:t>•  Revenue nearly doubled from FY24 to FY25</a:t>
            </a:r>
          </a:p>
          <a:p>
            <a:pPr algn="l">
              <a:spcBef>
                <a:spcPts val="800"/>
              </a:spcBef>
              <a:defRPr sz="1300" b="0">
                <a:solidFill>
                  <a:srgbClr val="1A1A2E"/>
                </a:solidFill>
                <a:latin typeface="Calibri"/>
              </a:defRPr>
            </a:pPr>
            <a:r>
              <a:t>•  Massive $24.6B backlog provides forward visibility</a:t>
            </a:r>
          </a:p>
          <a:p>
            <a:pPr algn="l">
              <a:spcBef>
                <a:spcPts val="800"/>
              </a:spcBef>
              <a:defRPr sz="1300" b="0">
                <a:solidFill>
                  <a:srgbClr val="1A1A2E"/>
                </a:solidFill>
                <a:latin typeface="Calibri"/>
              </a:defRPr>
            </a:pPr>
            <a:r>
              <a:t>•  OpenAI deal: 750 MW AI compute through 2028</a:t>
            </a:r>
          </a:p>
          <a:p>
            <a:pPr algn="l">
              <a:spcBef>
                <a:spcPts val="800"/>
              </a:spcBef>
              <a:defRPr sz="1300" b="0">
                <a:solidFill>
                  <a:srgbClr val="1A1A2E"/>
                </a:solidFill>
                <a:latin typeface="Calibri"/>
              </a:defRPr>
            </a:pPr>
            <a:r>
              <a:t>•  Option for ~3 GW more by 2030</a:t>
            </a:r>
          </a:p>
          <a:p>
            <a:pPr algn="l">
              <a:spcBef>
                <a:spcPts val="800"/>
              </a:spcBef>
              <a:defRPr sz="1300" b="0">
                <a:solidFill>
                  <a:srgbClr val="1A1A2E"/>
                </a:solidFill>
                <a:latin typeface="Calibri"/>
              </a:defRPr>
            </a:pPr>
            <a:r>
              <a:t>•  Business model shift: chip vendor → compute provider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Customer &amp; Revenue Concentration (FY 2025)</a:t>
            </a:r>
          </a:p>
        </p:txBody>
      </p:sp>
      <p:sp>
        <p:nvSpPr>
          <p:cNvPr id="4" name="Rectangle 3"/>
          <p:cNvSpPr/>
          <p:nvPr/>
        </p:nvSpPr>
        <p:spPr>
          <a:xfrm>
            <a:off x="914400" y="1828800"/>
            <a:ext cx="6236208" cy="82296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6236208" cy="822960"/>
          </a:xfrm>
          <a:prstGeom prst="rect">
            <a:avLst/>
          </a:prstGeom>
          <a:noFill/>
        </p:spPr>
        <p:txBody>
          <a:bodyPr wrap="square">
            <a:spAutoFit/>
          </a:bodyPr>
          <a:lstStyle/>
          <a:p>
            <a:pPr algn="ctr">
              <a:defRPr sz="1300" b="1">
                <a:solidFill>
                  <a:srgbClr val="FFFFFF"/>
                </a:solidFill>
                <a:latin typeface="Calibri"/>
              </a:defRPr>
            </a:pPr>
            <a:r>
              <a:t>MBZUAI (UAE)  —  62%</a:t>
            </a:r>
          </a:p>
        </p:txBody>
      </p:sp>
      <p:sp>
        <p:nvSpPr>
          <p:cNvPr id="6" name="Rectangle 5"/>
          <p:cNvSpPr/>
          <p:nvPr/>
        </p:nvSpPr>
        <p:spPr>
          <a:xfrm>
            <a:off x="7150608" y="1828800"/>
            <a:ext cx="2414016" cy="8229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50608" y="1828800"/>
            <a:ext cx="2414016" cy="822960"/>
          </a:xfrm>
          <a:prstGeom prst="rect">
            <a:avLst/>
          </a:prstGeom>
          <a:noFill/>
        </p:spPr>
        <p:txBody>
          <a:bodyPr wrap="square">
            <a:spAutoFit/>
          </a:bodyPr>
          <a:lstStyle/>
          <a:p>
            <a:pPr algn="ctr">
              <a:defRPr sz="1300" b="1">
                <a:solidFill>
                  <a:srgbClr val="FFFFFF"/>
                </a:solidFill>
                <a:latin typeface="Calibri"/>
              </a:defRPr>
            </a:pPr>
            <a:r>
              <a:t>G42 (UAE)  —  24%</a:t>
            </a:r>
          </a:p>
        </p:txBody>
      </p:sp>
      <p:sp>
        <p:nvSpPr>
          <p:cNvPr id="8" name="Rectangle 7"/>
          <p:cNvSpPr/>
          <p:nvPr/>
        </p:nvSpPr>
        <p:spPr>
          <a:xfrm>
            <a:off x="9564624" y="1828800"/>
            <a:ext cx="1408176" cy="822960"/>
          </a:xfrm>
          <a:prstGeom prst="rect">
            <a:avLst/>
          </a:prstGeom>
          <a:solidFill>
            <a:srgbClr val="90B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64624" y="1828800"/>
            <a:ext cx="1408176" cy="822960"/>
          </a:xfrm>
          <a:prstGeom prst="rect">
            <a:avLst/>
          </a:prstGeom>
          <a:noFill/>
        </p:spPr>
        <p:txBody>
          <a:bodyPr wrap="square">
            <a:spAutoFit/>
          </a:bodyPr>
          <a:lstStyle/>
          <a:p>
            <a:pPr algn="ctr">
              <a:defRPr sz="1300" b="1">
                <a:solidFill>
                  <a:srgbClr val="FFFFFF"/>
                </a:solidFill>
                <a:latin typeface="Calibri"/>
              </a:defRPr>
            </a:pPr>
            <a:r>
              <a:t>US Customers  —  14%</a:t>
            </a:r>
          </a:p>
        </p:txBody>
      </p:sp>
      <p:sp>
        <p:nvSpPr>
          <p:cNvPr id="10" name="TextBox 9"/>
          <p:cNvSpPr txBox="1"/>
          <p:nvPr/>
        </p:nvSpPr>
        <p:spPr>
          <a:xfrm>
            <a:off x="914400" y="2926080"/>
            <a:ext cx="10058400" cy="365760"/>
          </a:xfrm>
          <a:prstGeom prst="rect">
            <a:avLst/>
          </a:prstGeom>
          <a:noFill/>
        </p:spPr>
        <p:txBody>
          <a:bodyPr wrap="square">
            <a:spAutoFit/>
          </a:bodyPr>
          <a:lstStyle/>
          <a:p>
            <a:pPr algn="l">
              <a:defRPr sz="1600" b="1">
                <a:solidFill>
                  <a:srgbClr val="E83E3E"/>
                </a:solidFill>
                <a:latin typeface="Calibri"/>
              </a:defRPr>
            </a:pPr>
            <a:r>
              <a:t>86% of FY 2025 revenue from UAE-based entities</a:t>
            </a:r>
          </a:p>
        </p:txBody>
      </p:sp>
      <p:sp>
        <p:nvSpPr>
          <p:cNvPr id="11" name="TextBox 10"/>
          <p:cNvSpPr txBox="1"/>
          <p:nvPr/>
        </p:nvSpPr>
        <p:spPr>
          <a:xfrm>
            <a:off x="914400" y="3657600"/>
            <a:ext cx="2286000" cy="365760"/>
          </a:xfrm>
          <a:prstGeom prst="rect">
            <a:avLst/>
          </a:prstGeom>
          <a:noFill/>
        </p:spPr>
        <p:txBody>
          <a:bodyPr wrap="square">
            <a:spAutoFit/>
          </a:bodyPr>
          <a:lstStyle/>
          <a:p>
            <a:pPr algn="l">
              <a:defRPr sz="1400" b="1">
                <a:solidFill>
                  <a:srgbClr val="007ACC"/>
                </a:solidFill>
                <a:latin typeface="Calibri"/>
              </a:defRPr>
            </a:pPr>
            <a:r>
              <a:t>MBZUAI</a:t>
            </a:r>
          </a:p>
        </p:txBody>
      </p:sp>
      <p:sp>
        <p:nvSpPr>
          <p:cNvPr id="12" name="TextBox 11"/>
          <p:cNvSpPr txBox="1"/>
          <p:nvPr/>
        </p:nvSpPr>
        <p:spPr>
          <a:xfrm>
            <a:off x="3291840" y="3657600"/>
            <a:ext cx="7772400" cy="365760"/>
          </a:xfrm>
          <a:prstGeom prst="rect">
            <a:avLst/>
          </a:prstGeom>
          <a:noFill/>
        </p:spPr>
        <p:txBody>
          <a:bodyPr wrap="square">
            <a:spAutoFit/>
          </a:bodyPr>
          <a:lstStyle/>
          <a:p>
            <a:pPr algn="l">
              <a:defRPr sz="1400" b="0">
                <a:solidFill>
                  <a:srgbClr val="1A1A2E"/>
                </a:solidFill>
                <a:latin typeface="Calibri"/>
              </a:defRPr>
            </a:pPr>
            <a:r>
              <a:t>62% of total revenue — Mohamed bin Zayed University of AI</a:t>
            </a:r>
          </a:p>
        </p:txBody>
      </p:sp>
      <p:sp>
        <p:nvSpPr>
          <p:cNvPr id="13" name="TextBox 12"/>
          <p:cNvSpPr txBox="1"/>
          <p:nvPr/>
        </p:nvSpPr>
        <p:spPr>
          <a:xfrm>
            <a:off x="914400" y="4114800"/>
            <a:ext cx="2286000" cy="365760"/>
          </a:xfrm>
          <a:prstGeom prst="rect">
            <a:avLst/>
          </a:prstGeom>
          <a:noFill/>
        </p:spPr>
        <p:txBody>
          <a:bodyPr wrap="square">
            <a:spAutoFit/>
          </a:bodyPr>
          <a:lstStyle/>
          <a:p>
            <a:pPr algn="l">
              <a:defRPr sz="1400" b="1">
                <a:solidFill>
                  <a:srgbClr val="007ACC"/>
                </a:solidFill>
                <a:latin typeface="Calibri"/>
              </a:defRPr>
            </a:pPr>
            <a:r>
              <a:t>G42</a:t>
            </a:r>
          </a:p>
        </p:txBody>
      </p:sp>
      <p:sp>
        <p:nvSpPr>
          <p:cNvPr id="14" name="TextBox 13"/>
          <p:cNvSpPr txBox="1"/>
          <p:nvPr/>
        </p:nvSpPr>
        <p:spPr>
          <a:xfrm>
            <a:off x="3291840" y="4114800"/>
            <a:ext cx="7772400" cy="365760"/>
          </a:xfrm>
          <a:prstGeom prst="rect">
            <a:avLst/>
          </a:prstGeom>
          <a:noFill/>
        </p:spPr>
        <p:txBody>
          <a:bodyPr wrap="square">
            <a:spAutoFit/>
          </a:bodyPr>
          <a:lstStyle/>
          <a:p>
            <a:pPr algn="l">
              <a:defRPr sz="1400" b="0">
                <a:solidFill>
                  <a:srgbClr val="1A1A2E"/>
                </a:solidFill>
                <a:latin typeface="Calibri"/>
              </a:defRPr>
            </a:pPr>
            <a:r>
              <a:t>24% of total revenue — Abu Dhabi tech conglomerate</a:t>
            </a:r>
          </a:p>
        </p:txBody>
      </p:sp>
      <p:sp>
        <p:nvSpPr>
          <p:cNvPr id="15" name="TextBox 14"/>
          <p:cNvSpPr txBox="1"/>
          <p:nvPr/>
        </p:nvSpPr>
        <p:spPr>
          <a:xfrm>
            <a:off x="914400" y="4572000"/>
            <a:ext cx="2286000" cy="365760"/>
          </a:xfrm>
          <a:prstGeom prst="rect">
            <a:avLst/>
          </a:prstGeom>
          <a:noFill/>
        </p:spPr>
        <p:txBody>
          <a:bodyPr wrap="square">
            <a:spAutoFit/>
          </a:bodyPr>
          <a:lstStyle/>
          <a:p>
            <a:pPr algn="l">
              <a:defRPr sz="1400" b="1">
                <a:solidFill>
                  <a:srgbClr val="007ACC"/>
                </a:solidFill>
                <a:latin typeface="Calibri"/>
              </a:defRPr>
            </a:pPr>
            <a:r>
              <a:t>US Revenue</a:t>
            </a:r>
          </a:p>
        </p:txBody>
      </p:sp>
      <p:sp>
        <p:nvSpPr>
          <p:cNvPr id="16" name="TextBox 15"/>
          <p:cNvSpPr txBox="1"/>
          <p:nvPr/>
        </p:nvSpPr>
        <p:spPr>
          <a:xfrm>
            <a:off x="3291840" y="4572000"/>
            <a:ext cx="7772400" cy="365760"/>
          </a:xfrm>
          <a:prstGeom prst="rect">
            <a:avLst/>
          </a:prstGeom>
          <a:noFill/>
        </p:spPr>
        <p:txBody>
          <a:bodyPr wrap="square">
            <a:spAutoFit/>
          </a:bodyPr>
          <a:lstStyle/>
          <a:p>
            <a:pPr algn="l">
              <a:defRPr sz="1400" b="0">
                <a:solidFill>
                  <a:srgbClr val="1A1A2E"/>
                </a:solidFill>
                <a:latin typeface="Calibri"/>
              </a:defRPr>
            </a:pPr>
            <a:r>
              <a:t>$187.6M — down 34% YoY (from $282.7M in FY24)</a:t>
            </a:r>
          </a:p>
        </p:txBody>
      </p:sp>
      <p:sp>
        <p:nvSpPr>
          <p:cNvPr id="17" name="TextBox 16"/>
          <p:cNvSpPr txBox="1"/>
          <p:nvPr/>
        </p:nvSpPr>
        <p:spPr>
          <a:xfrm>
            <a:off x="914400" y="5029200"/>
            <a:ext cx="2286000" cy="365760"/>
          </a:xfrm>
          <a:prstGeom prst="rect">
            <a:avLst/>
          </a:prstGeom>
          <a:noFill/>
        </p:spPr>
        <p:txBody>
          <a:bodyPr wrap="square">
            <a:spAutoFit/>
          </a:bodyPr>
          <a:lstStyle/>
          <a:p>
            <a:pPr algn="l">
              <a:defRPr sz="1400" b="1">
                <a:solidFill>
                  <a:srgbClr val="007ACC"/>
                </a:solidFill>
                <a:latin typeface="Calibri"/>
              </a:defRPr>
            </a:pPr>
            <a:r>
              <a:t>OpenAI (new)</a:t>
            </a:r>
          </a:p>
        </p:txBody>
      </p:sp>
      <p:sp>
        <p:nvSpPr>
          <p:cNvPr id="18" name="TextBox 17"/>
          <p:cNvSpPr txBox="1"/>
          <p:nvPr/>
        </p:nvSpPr>
        <p:spPr>
          <a:xfrm>
            <a:off x="3291840" y="5029200"/>
            <a:ext cx="7772400" cy="365760"/>
          </a:xfrm>
          <a:prstGeom prst="rect">
            <a:avLst/>
          </a:prstGeom>
          <a:noFill/>
        </p:spPr>
        <p:txBody>
          <a:bodyPr wrap="square">
            <a:spAutoFit/>
          </a:bodyPr>
          <a:lstStyle/>
          <a:p>
            <a:pPr algn="l">
              <a:defRPr sz="1400" b="0">
                <a:solidFill>
                  <a:srgbClr val="1A1A2E"/>
                </a:solidFill>
                <a:latin typeface="Calibri"/>
              </a:defRPr>
            </a:pPr>
            <a:r>
              <a:t>$10B contract + $1B advance loan — future revenue driver</a:t>
            </a:r>
          </a:p>
        </p:txBody>
      </p:sp>
      <p:sp>
        <p:nvSpPr>
          <p:cNvPr id="19" name="TextBox 18"/>
          <p:cNvSpPr txBox="1"/>
          <p:nvPr/>
        </p:nvSpPr>
        <p:spPr>
          <a:xfrm>
            <a:off x="914400" y="5486400"/>
            <a:ext cx="2286000" cy="365760"/>
          </a:xfrm>
          <a:prstGeom prst="rect">
            <a:avLst/>
          </a:prstGeom>
          <a:noFill/>
        </p:spPr>
        <p:txBody>
          <a:bodyPr wrap="square">
            <a:spAutoFit/>
          </a:bodyPr>
          <a:lstStyle/>
          <a:p>
            <a:pPr algn="l">
              <a:defRPr sz="1400" b="1">
                <a:solidFill>
                  <a:srgbClr val="007ACC"/>
                </a:solidFill>
                <a:latin typeface="Calibri"/>
              </a:defRPr>
            </a:pPr>
            <a:r>
              <a:t>Geographic Mix</a:t>
            </a:r>
          </a:p>
        </p:txBody>
      </p:sp>
      <p:sp>
        <p:nvSpPr>
          <p:cNvPr id="20" name="TextBox 19"/>
          <p:cNvSpPr txBox="1"/>
          <p:nvPr/>
        </p:nvSpPr>
        <p:spPr>
          <a:xfrm>
            <a:off x="3291840" y="5486400"/>
            <a:ext cx="7772400" cy="365760"/>
          </a:xfrm>
          <a:prstGeom prst="rect">
            <a:avLst/>
          </a:prstGeom>
          <a:noFill/>
        </p:spPr>
        <p:txBody>
          <a:bodyPr wrap="square">
            <a:spAutoFit/>
          </a:bodyPr>
          <a:lstStyle/>
          <a:p>
            <a:pPr algn="l">
              <a:defRPr sz="1400" b="0">
                <a:solidFill>
                  <a:srgbClr val="1A1A2E"/>
                </a:solidFill>
                <a:latin typeface="Calibri"/>
              </a:defRPr>
            </a:pPr>
            <a:r>
              <a:t>Customers on 4 continents, but UAE dominates near-term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FFFFFF"/>
                </a:solidFill>
                <a:latin typeface="Calibri"/>
              </a:defRPr>
            </a:pPr>
            <a:r>
              <a:t>OpenAI Partnership — Transformational Deal</a:t>
            </a:r>
          </a:p>
        </p:txBody>
      </p:sp>
      <p:sp>
        <p:nvSpPr>
          <p:cNvPr id="4" name="Rounded Rectangle 3"/>
          <p:cNvSpPr/>
          <p:nvPr/>
        </p:nvSpPr>
        <p:spPr>
          <a:xfrm>
            <a:off x="731520" y="146304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Contract Value</a:t>
            </a:r>
          </a:p>
          <a:p>
            <a:pPr algn="ctr">
              <a:spcBef>
                <a:spcPts val="400"/>
              </a:spcBef>
              <a:defRPr sz="2800" b="1">
                <a:solidFill>
                  <a:srgbClr val="00A86B"/>
                </a:solidFill>
                <a:latin typeface="Calibri"/>
              </a:defRPr>
            </a:pPr>
            <a:r>
              <a:t>$10B+</a:t>
            </a:r>
          </a:p>
          <a:p>
            <a:pPr algn="ctr">
              <a:spcBef>
                <a:spcPts val="200"/>
              </a:spcBef>
              <a:defRPr sz="1000">
                <a:solidFill>
                  <a:srgbClr val="666666"/>
                </a:solidFill>
                <a:latin typeface="Calibri"/>
              </a:defRPr>
            </a:pPr>
            <a:r>
              <a:t>Multi-year compute supply agreement</a:t>
            </a:r>
          </a:p>
        </p:txBody>
      </p:sp>
      <p:sp>
        <p:nvSpPr>
          <p:cNvPr id="5" name="Rounded Rectangle 4"/>
          <p:cNvSpPr/>
          <p:nvPr/>
        </p:nvSpPr>
        <p:spPr>
          <a:xfrm>
            <a:off x="4297680" y="146304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Compute Commitment</a:t>
            </a:r>
          </a:p>
          <a:p>
            <a:pPr algn="ctr">
              <a:spcBef>
                <a:spcPts val="400"/>
              </a:spcBef>
              <a:defRPr sz="2800" b="1">
                <a:solidFill>
                  <a:srgbClr val="00A86B"/>
                </a:solidFill>
                <a:latin typeface="Calibri"/>
              </a:defRPr>
            </a:pPr>
            <a:r>
              <a:t>750 MW</a:t>
            </a:r>
          </a:p>
          <a:p>
            <a:pPr algn="ctr">
              <a:spcBef>
                <a:spcPts val="200"/>
              </a:spcBef>
              <a:defRPr sz="1000">
                <a:solidFill>
                  <a:srgbClr val="666666"/>
                </a:solidFill>
                <a:latin typeface="Calibri"/>
              </a:defRPr>
            </a:pPr>
            <a:r>
              <a:t>AI compute capacity through 2028</a:t>
            </a:r>
          </a:p>
        </p:txBody>
      </p:sp>
      <p:sp>
        <p:nvSpPr>
          <p:cNvPr id="6" name="Rounded Rectangle 5"/>
          <p:cNvSpPr/>
          <p:nvPr/>
        </p:nvSpPr>
        <p:spPr>
          <a:xfrm>
            <a:off x="7863840" y="146304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Expansion Option</a:t>
            </a:r>
          </a:p>
          <a:p>
            <a:pPr algn="ctr">
              <a:spcBef>
                <a:spcPts val="400"/>
              </a:spcBef>
              <a:defRPr sz="2800" b="1">
                <a:solidFill>
                  <a:srgbClr val="00A86B"/>
                </a:solidFill>
                <a:latin typeface="Calibri"/>
              </a:defRPr>
            </a:pPr>
            <a:r>
              <a:t>~3 GW</a:t>
            </a:r>
          </a:p>
          <a:p>
            <a:pPr algn="ctr">
              <a:spcBef>
                <a:spcPts val="200"/>
              </a:spcBef>
              <a:defRPr sz="1000">
                <a:solidFill>
                  <a:srgbClr val="666666"/>
                </a:solidFill>
                <a:latin typeface="Calibri"/>
              </a:defRPr>
            </a:pPr>
            <a:r>
              <a:t>Additional capacity by 2030</a:t>
            </a:r>
          </a:p>
        </p:txBody>
      </p:sp>
      <p:sp>
        <p:nvSpPr>
          <p:cNvPr id="7" name="Rounded Rectangle 6"/>
          <p:cNvSpPr/>
          <p:nvPr/>
        </p:nvSpPr>
        <p:spPr>
          <a:xfrm>
            <a:off x="73152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Advance Loan</a:t>
            </a:r>
          </a:p>
          <a:p>
            <a:pPr algn="ctr">
              <a:spcBef>
                <a:spcPts val="400"/>
              </a:spcBef>
              <a:defRPr sz="2800" b="1">
                <a:solidFill>
                  <a:srgbClr val="00A86B"/>
                </a:solidFill>
                <a:latin typeface="Calibri"/>
              </a:defRPr>
            </a:pPr>
            <a:r>
              <a:t>$1.0B</a:t>
            </a:r>
          </a:p>
          <a:p>
            <a:pPr algn="ctr">
              <a:spcBef>
                <a:spcPts val="200"/>
              </a:spcBef>
              <a:defRPr sz="1000">
                <a:solidFill>
                  <a:srgbClr val="666666"/>
                </a:solidFill>
                <a:latin typeface="Calibri"/>
              </a:defRPr>
            </a:pPr>
            <a:r>
              <a:t>To fund data center buildout</a:t>
            </a:r>
          </a:p>
        </p:txBody>
      </p:sp>
      <p:sp>
        <p:nvSpPr>
          <p:cNvPr id="8" name="Rounded Rectangle 7"/>
          <p:cNvSpPr/>
          <p:nvPr/>
        </p:nvSpPr>
        <p:spPr>
          <a:xfrm>
            <a:off x="429768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Equity Warrants</a:t>
            </a:r>
          </a:p>
          <a:p>
            <a:pPr algn="ctr">
              <a:spcBef>
                <a:spcPts val="400"/>
              </a:spcBef>
              <a:defRPr sz="2800" b="1">
                <a:solidFill>
                  <a:srgbClr val="00A86B"/>
                </a:solidFill>
                <a:latin typeface="Calibri"/>
              </a:defRPr>
            </a:pPr>
            <a:r>
              <a:t>33M shares</a:t>
            </a:r>
          </a:p>
          <a:p>
            <a:pPr algn="ctr">
              <a:spcBef>
                <a:spcPts val="200"/>
              </a:spcBef>
              <a:defRPr sz="1000">
                <a:solidFill>
                  <a:srgbClr val="666666"/>
                </a:solidFill>
                <a:latin typeface="Calibri"/>
              </a:defRPr>
            </a:pPr>
            <a:r>
              <a:t>Near-free shares issued to OpenAI</a:t>
            </a:r>
          </a:p>
        </p:txBody>
      </p:sp>
      <p:sp>
        <p:nvSpPr>
          <p:cNvPr id="9" name="Rounded Rectangle 8"/>
          <p:cNvSpPr/>
          <p:nvPr/>
        </p:nvSpPr>
        <p:spPr>
          <a:xfrm>
            <a:off x="786384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Backlog Impact</a:t>
            </a:r>
          </a:p>
          <a:p>
            <a:pPr algn="ctr">
              <a:spcBef>
                <a:spcPts val="400"/>
              </a:spcBef>
              <a:defRPr sz="2800" b="1">
                <a:solidFill>
                  <a:srgbClr val="00A86B"/>
                </a:solidFill>
                <a:latin typeface="Calibri"/>
              </a:defRPr>
            </a:pPr>
            <a:r>
              <a:t>$24.6B</a:t>
            </a:r>
          </a:p>
          <a:p>
            <a:pPr algn="ctr">
              <a:spcBef>
                <a:spcPts val="200"/>
              </a:spcBef>
              <a:defRPr sz="1000">
                <a:solidFill>
                  <a:srgbClr val="666666"/>
                </a:solidFill>
                <a:latin typeface="Calibri"/>
              </a:defRPr>
            </a:pPr>
            <a:r>
              <a:t>Majority driven by this single deal</a:t>
            </a:r>
          </a:p>
        </p:txBody>
      </p:sp>
      <p:sp>
        <p:nvSpPr>
          <p:cNvPr id="10" name="TextBox 9"/>
          <p:cNvSpPr txBox="1"/>
          <p:nvPr/>
        </p:nvSpPr>
        <p:spPr>
          <a:xfrm>
            <a:off x="731520" y="4846320"/>
            <a:ext cx="10058400" cy="1371600"/>
          </a:xfrm>
          <a:prstGeom prst="rect">
            <a:avLst/>
          </a:prstGeom>
          <a:noFill/>
        </p:spPr>
        <p:txBody>
          <a:bodyPr wrap="square">
            <a:spAutoFit/>
          </a:bodyPr>
          <a:lstStyle/>
          <a:p>
            <a:pPr algn="l">
              <a:defRPr sz="1300" b="0">
                <a:solidFill>
                  <a:srgbClr val="BBCCDD"/>
                </a:solidFill>
                <a:latin typeface="Calibri"/>
              </a:defRPr>
            </a:pPr>
            <a:r>
              <a:t>This deal fundamentally repositions Cerebras from a chip vendor to an AI compute infrastructure provider. OpenAI's commitment validates the WSE-3 architecture for large-scale inference and training workloads, and provides Cerebras with the capital and demand certainty to scale its data center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Key Risk Factors</a:t>
            </a:r>
          </a:p>
        </p:txBody>
      </p:sp>
      <p:sp>
        <p:nvSpPr>
          <p:cNvPr id="4" name="Rectangle 3"/>
          <p:cNvSpPr/>
          <p:nvPr/>
        </p:nvSpPr>
        <p:spPr>
          <a:xfrm>
            <a:off x="914400" y="128016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80160"/>
            <a:ext cx="2743200" cy="365760"/>
          </a:xfrm>
          <a:prstGeom prst="rect">
            <a:avLst/>
          </a:prstGeom>
          <a:noFill/>
        </p:spPr>
        <p:txBody>
          <a:bodyPr wrap="square">
            <a:spAutoFit/>
          </a:bodyPr>
          <a:lstStyle/>
          <a:p>
            <a:pPr algn="l">
              <a:defRPr sz="1400" b="1">
                <a:solidFill>
                  <a:srgbClr val="E83E3E"/>
                </a:solidFill>
                <a:latin typeface="Calibri"/>
              </a:defRPr>
            </a:pPr>
            <a:r>
              <a:t>Customer Concentration</a:t>
            </a:r>
          </a:p>
        </p:txBody>
      </p:sp>
      <p:sp>
        <p:nvSpPr>
          <p:cNvPr id="6" name="TextBox 5"/>
          <p:cNvSpPr txBox="1"/>
          <p:nvPr/>
        </p:nvSpPr>
        <p:spPr>
          <a:xfrm>
            <a:off x="1097280" y="1600200"/>
            <a:ext cx="10058400" cy="502920"/>
          </a:xfrm>
          <a:prstGeom prst="rect">
            <a:avLst/>
          </a:prstGeom>
          <a:noFill/>
        </p:spPr>
        <p:txBody>
          <a:bodyPr wrap="square">
            <a:spAutoFit/>
          </a:bodyPr>
          <a:lstStyle/>
          <a:p>
            <a:pPr algn="l">
              <a:defRPr sz="1200" b="0">
                <a:solidFill>
                  <a:srgbClr val="1A1A2E"/>
                </a:solidFill>
                <a:latin typeface="Calibri"/>
              </a:defRPr>
            </a:pPr>
            <a:r>
              <a:t>86% of FY25 revenue from two UAE customers (MBZUAI &amp; G42). Loss of either would materially impact financials. OpenAI contract mitigates long-term but adds single-customer execution risk.</a:t>
            </a:r>
          </a:p>
        </p:txBody>
      </p:sp>
      <p:sp>
        <p:nvSpPr>
          <p:cNvPr id="7" name="Rectangle 6"/>
          <p:cNvSpPr/>
          <p:nvPr/>
        </p:nvSpPr>
        <p:spPr>
          <a:xfrm>
            <a:off x="914400" y="214884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48840"/>
            <a:ext cx="2743200" cy="365760"/>
          </a:xfrm>
          <a:prstGeom prst="rect">
            <a:avLst/>
          </a:prstGeom>
          <a:noFill/>
        </p:spPr>
        <p:txBody>
          <a:bodyPr wrap="square">
            <a:spAutoFit/>
          </a:bodyPr>
          <a:lstStyle/>
          <a:p>
            <a:pPr algn="l">
              <a:defRPr sz="1400" b="1">
                <a:solidFill>
                  <a:srgbClr val="E83E3E"/>
                </a:solidFill>
                <a:latin typeface="Calibri"/>
              </a:defRPr>
            </a:pPr>
            <a:r>
              <a:t>Geopolitical / Regulatory</a:t>
            </a:r>
          </a:p>
        </p:txBody>
      </p:sp>
      <p:sp>
        <p:nvSpPr>
          <p:cNvPr id="9" name="TextBox 8"/>
          <p:cNvSpPr txBox="1"/>
          <p:nvPr/>
        </p:nvSpPr>
        <p:spPr>
          <a:xfrm>
            <a:off x="1097280" y="2468880"/>
            <a:ext cx="10058400" cy="502920"/>
          </a:xfrm>
          <a:prstGeom prst="rect">
            <a:avLst/>
          </a:prstGeom>
          <a:noFill/>
        </p:spPr>
        <p:txBody>
          <a:bodyPr wrap="square">
            <a:spAutoFit/>
          </a:bodyPr>
          <a:lstStyle/>
          <a:p>
            <a:pPr algn="l">
              <a:defRPr sz="1200" b="0">
                <a:solidFill>
                  <a:srgbClr val="1A1A2E"/>
                </a:solidFill>
                <a:latin typeface="Calibri"/>
              </a:defRPr>
            </a:pPr>
            <a:r>
              <a:t>CFIUS review of G42 stake delayed the original 2024 IPO. Export controls and national security scrutiny on UAE/China tech transfers remain an ongoing risk.</a:t>
            </a:r>
          </a:p>
        </p:txBody>
      </p:sp>
      <p:sp>
        <p:nvSpPr>
          <p:cNvPr id="10" name="Rectangle 9"/>
          <p:cNvSpPr/>
          <p:nvPr/>
        </p:nvSpPr>
        <p:spPr>
          <a:xfrm>
            <a:off x="914400" y="301752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17520"/>
            <a:ext cx="2743200" cy="365760"/>
          </a:xfrm>
          <a:prstGeom prst="rect">
            <a:avLst/>
          </a:prstGeom>
          <a:noFill/>
        </p:spPr>
        <p:txBody>
          <a:bodyPr wrap="square">
            <a:spAutoFit/>
          </a:bodyPr>
          <a:lstStyle/>
          <a:p>
            <a:pPr algn="l">
              <a:defRPr sz="1400" b="1">
                <a:solidFill>
                  <a:srgbClr val="E83E3E"/>
                </a:solidFill>
                <a:latin typeface="Calibri"/>
              </a:defRPr>
            </a:pPr>
            <a:r>
              <a:t>Profitability Gap</a:t>
            </a:r>
          </a:p>
        </p:txBody>
      </p:sp>
      <p:sp>
        <p:nvSpPr>
          <p:cNvPr id="12" name="TextBox 11"/>
          <p:cNvSpPr txBox="1"/>
          <p:nvPr/>
        </p:nvSpPr>
        <p:spPr>
          <a:xfrm>
            <a:off x="1097280" y="3337560"/>
            <a:ext cx="10058400" cy="502920"/>
          </a:xfrm>
          <a:prstGeom prst="rect">
            <a:avLst/>
          </a:prstGeom>
          <a:noFill/>
        </p:spPr>
        <p:txBody>
          <a:bodyPr wrap="square">
            <a:spAutoFit/>
          </a:bodyPr>
          <a:lstStyle/>
          <a:p>
            <a:pPr algn="l">
              <a:defRPr sz="1200" b="0">
                <a:solidFill>
                  <a:srgbClr val="1A1A2E"/>
                </a:solidFill>
                <a:latin typeface="Calibri"/>
              </a:defRPr>
            </a:pPr>
            <a:r>
              <a:t>Operating losses widened to $75.7M in FY25. GAAP profitability relied on a $363M non-cash gain from G42 restructuring — not sustainable operations.</a:t>
            </a:r>
          </a:p>
        </p:txBody>
      </p:sp>
      <p:sp>
        <p:nvSpPr>
          <p:cNvPr id="13" name="Rectangle 12"/>
          <p:cNvSpPr/>
          <p:nvPr/>
        </p:nvSpPr>
        <p:spPr>
          <a:xfrm>
            <a:off x="914400" y="388620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886200"/>
            <a:ext cx="2743200" cy="365760"/>
          </a:xfrm>
          <a:prstGeom prst="rect">
            <a:avLst/>
          </a:prstGeom>
          <a:noFill/>
        </p:spPr>
        <p:txBody>
          <a:bodyPr wrap="square">
            <a:spAutoFit/>
          </a:bodyPr>
          <a:lstStyle/>
          <a:p>
            <a:pPr algn="l">
              <a:defRPr sz="1400" b="1">
                <a:solidFill>
                  <a:srgbClr val="E83E3E"/>
                </a:solidFill>
                <a:latin typeface="Calibri"/>
              </a:defRPr>
            </a:pPr>
            <a:r>
              <a:t>TSMC Sole-Source Dependency</a:t>
            </a:r>
          </a:p>
        </p:txBody>
      </p:sp>
      <p:sp>
        <p:nvSpPr>
          <p:cNvPr id="15" name="TextBox 14"/>
          <p:cNvSpPr txBox="1"/>
          <p:nvPr/>
        </p:nvSpPr>
        <p:spPr>
          <a:xfrm>
            <a:off x="1097280" y="4206240"/>
            <a:ext cx="10058400" cy="502920"/>
          </a:xfrm>
          <a:prstGeom prst="rect">
            <a:avLst/>
          </a:prstGeom>
          <a:noFill/>
        </p:spPr>
        <p:txBody>
          <a:bodyPr wrap="square">
            <a:spAutoFit/>
          </a:bodyPr>
          <a:lstStyle/>
          <a:p>
            <a:pPr algn="l">
              <a:defRPr sz="1200" b="0">
                <a:solidFill>
                  <a:srgbClr val="1A1A2E"/>
                </a:solidFill>
                <a:latin typeface="Calibri"/>
              </a:defRPr>
            </a:pPr>
            <a:r>
              <a:t>WSE-3 fabricated exclusively by TSMC on 5 nm. Any supply disruption, geopolitical event, or capacity allocation change directly impacts production.</a:t>
            </a:r>
          </a:p>
        </p:txBody>
      </p:sp>
      <p:sp>
        <p:nvSpPr>
          <p:cNvPr id="16" name="Rectangle 15"/>
          <p:cNvSpPr/>
          <p:nvPr/>
        </p:nvSpPr>
        <p:spPr>
          <a:xfrm>
            <a:off x="914400" y="475488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754880"/>
            <a:ext cx="2743200" cy="365760"/>
          </a:xfrm>
          <a:prstGeom prst="rect">
            <a:avLst/>
          </a:prstGeom>
          <a:noFill/>
        </p:spPr>
        <p:txBody>
          <a:bodyPr wrap="square">
            <a:spAutoFit/>
          </a:bodyPr>
          <a:lstStyle/>
          <a:p>
            <a:pPr algn="l">
              <a:defRPr sz="1400" b="1">
                <a:solidFill>
                  <a:srgbClr val="E83E3E"/>
                </a:solidFill>
                <a:latin typeface="Calibri"/>
              </a:defRPr>
            </a:pPr>
            <a:r>
              <a:t>Competitive Pressure</a:t>
            </a:r>
          </a:p>
        </p:txBody>
      </p:sp>
      <p:sp>
        <p:nvSpPr>
          <p:cNvPr id="18" name="TextBox 17"/>
          <p:cNvSpPr txBox="1"/>
          <p:nvPr/>
        </p:nvSpPr>
        <p:spPr>
          <a:xfrm>
            <a:off x="1097280" y="5074920"/>
            <a:ext cx="10058400" cy="502920"/>
          </a:xfrm>
          <a:prstGeom prst="rect">
            <a:avLst/>
          </a:prstGeom>
          <a:noFill/>
        </p:spPr>
        <p:txBody>
          <a:bodyPr wrap="square">
            <a:spAutoFit/>
          </a:bodyPr>
          <a:lstStyle/>
          <a:p>
            <a:pPr algn="l">
              <a:defRPr sz="1200" b="0">
                <a:solidFill>
                  <a:srgbClr val="1A1A2E"/>
                </a:solidFill>
                <a:latin typeface="Calibri"/>
              </a:defRPr>
            </a:pPr>
            <a:r>
              <a:t>NVIDIA dominates AI accelerator market with entrenched ecosystem (CUDA). Cerebras must prove WSE-3 superiority at scale against B200/Blackwell and custom silicon from hyperscalers (Google TPU, Amazon Trainium, etc.).</a:t>
            </a:r>
          </a:p>
        </p:txBody>
      </p:sp>
      <p:sp>
        <p:nvSpPr>
          <p:cNvPr id="19" name="Rectangle 18"/>
          <p:cNvSpPr/>
          <p:nvPr/>
        </p:nvSpPr>
        <p:spPr>
          <a:xfrm>
            <a:off x="914400" y="5623560"/>
            <a:ext cx="54864" cy="7315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623560"/>
            <a:ext cx="2743200" cy="365760"/>
          </a:xfrm>
          <a:prstGeom prst="rect">
            <a:avLst/>
          </a:prstGeom>
          <a:noFill/>
        </p:spPr>
        <p:txBody>
          <a:bodyPr wrap="square">
            <a:spAutoFit/>
          </a:bodyPr>
          <a:lstStyle/>
          <a:p>
            <a:pPr algn="l">
              <a:defRPr sz="1400" b="1">
                <a:solidFill>
                  <a:srgbClr val="E83E3E"/>
                </a:solidFill>
                <a:latin typeface="Calibri"/>
              </a:defRPr>
            </a:pPr>
            <a:r>
              <a:t>Capital Intensity</a:t>
            </a:r>
          </a:p>
        </p:txBody>
      </p:sp>
      <p:sp>
        <p:nvSpPr>
          <p:cNvPr id="21" name="TextBox 20"/>
          <p:cNvSpPr txBox="1"/>
          <p:nvPr/>
        </p:nvSpPr>
        <p:spPr>
          <a:xfrm>
            <a:off x="1097280" y="5943600"/>
            <a:ext cx="10058400" cy="502920"/>
          </a:xfrm>
          <a:prstGeom prst="rect">
            <a:avLst/>
          </a:prstGeom>
          <a:noFill/>
        </p:spPr>
        <p:txBody>
          <a:bodyPr wrap="square">
            <a:spAutoFit/>
          </a:bodyPr>
          <a:lstStyle/>
          <a:p>
            <a:pPr algn="l">
              <a:defRPr sz="1200" b="0">
                <a:solidFill>
                  <a:srgbClr val="1A1A2E"/>
                </a:solidFill>
                <a:latin typeface="Calibri"/>
              </a:defRPr>
            </a:pPr>
            <a:r>
              <a:t>Transition to data-center operator requires massive capex. $1B OpenAI loan creates financial obligations. Executing on $24.6B backlog demands flawless infrastructure buildout.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Investment Thesis: Bull vs. Bear</a:t>
            </a:r>
          </a:p>
        </p:txBody>
      </p:sp>
      <p:sp>
        <p:nvSpPr>
          <p:cNvPr id="4" name="Rounded Rectangle 3"/>
          <p:cNvSpPr/>
          <p:nvPr/>
        </p:nvSpPr>
        <p:spPr>
          <a:xfrm>
            <a:off x="731520" y="1371600"/>
            <a:ext cx="5029200" cy="4572000"/>
          </a:xfrm>
          <a:prstGeom prst="roundRect">
            <a:avLst/>
          </a:prstGeom>
          <a:solidFill>
            <a:srgbClr val="E8F5E9"/>
          </a:solidFill>
          <a:ln w="25400">
            <a:solidFill>
              <a:srgbClr val="00A8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4572000" cy="365760"/>
          </a:xfrm>
          <a:prstGeom prst="rect">
            <a:avLst/>
          </a:prstGeom>
          <a:noFill/>
        </p:spPr>
        <p:txBody>
          <a:bodyPr wrap="square">
            <a:spAutoFit/>
          </a:bodyPr>
          <a:lstStyle/>
          <a:p>
            <a:pPr algn="ctr">
              <a:defRPr sz="2000" b="1">
                <a:solidFill>
                  <a:srgbClr val="00A86B"/>
                </a:solidFill>
                <a:latin typeface="Calibri"/>
              </a:defRPr>
            </a:pPr>
            <a:r>
              <a:t>BULL CASE</a:t>
            </a:r>
          </a:p>
        </p:txBody>
      </p:sp>
      <p:sp>
        <p:nvSpPr>
          <p:cNvPr id="6" name="TextBox 5"/>
          <p:cNvSpPr txBox="1"/>
          <p:nvPr/>
        </p:nvSpPr>
        <p:spPr>
          <a:xfrm>
            <a:off x="1097280" y="2103120"/>
            <a:ext cx="4572000" cy="3200400"/>
          </a:xfrm>
          <a:prstGeom prst="rect">
            <a:avLst/>
          </a:prstGeom>
          <a:noFill/>
        </p:spPr>
        <p:txBody>
          <a:bodyPr wrap="square">
            <a:spAutoFit/>
          </a:bodyPr>
          <a:lstStyle/>
          <a:p>
            <a:pPr algn="l">
              <a:defRPr sz="1300" b="0">
                <a:solidFill>
                  <a:srgbClr val="00A86B"/>
                </a:solidFill>
                <a:latin typeface="Calibri"/>
              </a:defRPr>
            </a:pPr>
          </a:p>
          <a:p>
            <a:pPr algn="l">
              <a:spcBef>
                <a:spcPts val="1000"/>
              </a:spcBef>
              <a:defRPr sz="1300" b="0">
                <a:solidFill>
                  <a:srgbClr val="2E7D32"/>
                </a:solidFill>
                <a:latin typeface="Calibri"/>
              </a:defRPr>
            </a:pPr>
            <a:r>
              <a:t>✓  $24.6B backlog = exceptional revenue visibility</a:t>
            </a:r>
          </a:p>
          <a:p>
            <a:pPr algn="l">
              <a:spcBef>
                <a:spcPts val="1000"/>
              </a:spcBef>
              <a:defRPr sz="1300" b="0">
                <a:solidFill>
                  <a:srgbClr val="2E7D32"/>
                </a:solidFill>
                <a:latin typeface="Calibri"/>
              </a:defRPr>
            </a:pPr>
            <a:r>
              <a:t>✓  OpenAI validation of WSE-3 architecture</a:t>
            </a:r>
          </a:p>
          <a:p>
            <a:pPr algn="l">
              <a:spcBef>
                <a:spcPts val="1000"/>
              </a:spcBef>
              <a:defRPr sz="1300" b="0">
                <a:solidFill>
                  <a:srgbClr val="2E7D32"/>
                </a:solidFill>
                <a:latin typeface="Calibri"/>
              </a:defRPr>
            </a:pPr>
            <a:r>
              <a:t>✓  15× inference speed advantage vs. GPUs</a:t>
            </a:r>
          </a:p>
          <a:p>
            <a:pPr algn="l">
              <a:spcBef>
                <a:spcPts val="1000"/>
              </a:spcBef>
              <a:defRPr sz="1300" b="0">
                <a:solidFill>
                  <a:srgbClr val="2E7D32"/>
                </a:solidFill>
                <a:latin typeface="Calibri"/>
              </a:defRPr>
            </a:pPr>
            <a:r>
              <a:t>✓  Chip-to-cloud model captures full value chain</a:t>
            </a:r>
          </a:p>
          <a:p>
            <a:pPr algn="l">
              <a:spcBef>
                <a:spcPts val="1000"/>
              </a:spcBef>
              <a:defRPr sz="1300" b="0">
                <a:solidFill>
                  <a:srgbClr val="2E7D32"/>
                </a:solidFill>
                <a:latin typeface="Calibri"/>
              </a:defRPr>
            </a:pPr>
            <a:r>
              <a:t>✓  76% revenue growth with potential to accelerate</a:t>
            </a:r>
          </a:p>
          <a:p>
            <a:pPr algn="l">
              <a:spcBef>
                <a:spcPts val="1000"/>
              </a:spcBef>
              <a:defRPr sz="1300" b="0">
                <a:solidFill>
                  <a:srgbClr val="2E7D32"/>
                </a:solidFill>
                <a:latin typeface="Calibri"/>
              </a:defRPr>
            </a:pPr>
            <a:r>
              <a:t>✓  AI compute TAM expanding rapidly ($100B+ market)</a:t>
            </a:r>
          </a:p>
        </p:txBody>
      </p:sp>
      <p:sp>
        <p:nvSpPr>
          <p:cNvPr id="7" name="Rounded Rectangle 6"/>
          <p:cNvSpPr/>
          <p:nvPr/>
        </p:nvSpPr>
        <p:spPr>
          <a:xfrm>
            <a:off x="6400800" y="1371600"/>
            <a:ext cx="5029200" cy="4572000"/>
          </a:xfrm>
          <a:prstGeom prst="roundRect">
            <a:avLst/>
          </a:prstGeom>
          <a:solidFill>
            <a:srgbClr val="FDE8E8"/>
          </a:solidFill>
          <a:ln w="25400">
            <a:solidFill>
              <a:srgbClr val="E8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554480"/>
            <a:ext cx="4572000" cy="365760"/>
          </a:xfrm>
          <a:prstGeom prst="rect">
            <a:avLst/>
          </a:prstGeom>
          <a:noFill/>
        </p:spPr>
        <p:txBody>
          <a:bodyPr wrap="square">
            <a:spAutoFit/>
          </a:bodyPr>
          <a:lstStyle/>
          <a:p>
            <a:pPr algn="ctr">
              <a:defRPr sz="2000" b="1">
                <a:solidFill>
                  <a:srgbClr val="E83E3E"/>
                </a:solidFill>
                <a:latin typeface="Calibri"/>
              </a:defRPr>
            </a:pPr>
            <a:r>
              <a:t>BEAR CASE</a:t>
            </a:r>
          </a:p>
        </p:txBody>
      </p:sp>
      <p:sp>
        <p:nvSpPr>
          <p:cNvPr id="9" name="TextBox 8"/>
          <p:cNvSpPr txBox="1"/>
          <p:nvPr/>
        </p:nvSpPr>
        <p:spPr>
          <a:xfrm>
            <a:off x="6766560" y="2103120"/>
            <a:ext cx="4572000" cy="3200400"/>
          </a:xfrm>
          <a:prstGeom prst="rect">
            <a:avLst/>
          </a:prstGeom>
          <a:noFill/>
        </p:spPr>
        <p:txBody>
          <a:bodyPr wrap="square">
            <a:spAutoFit/>
          </a:bodyPr>
          <a:lstStyle/>
          <a:p>
            <a:pPr algn="l">
              <a:defRPr sz="1300" b="0">
                <a:solidFill>
                  <a:srgbClr val="E83E3E"/>
                </a:solidFill>
                <a:latin typeface="Calibri"/>
              </a:defRPr>
            </a:pPr>
          </a:p>
          <a:p>
            <a:pPr algn="l">
              <a:spcBef>
                <a:spcPts val="1000"/>
              </a:spcBef>
              <a:defRPr sz="1300" b="0">
                <a:solidFill>
                  <a:srgbClr val="C62828"/>
                </a:solidFill>
                <a:latin typeface="Calibri"/>
              </a:defRPr>
            </a:pPr>
            <a:r>
              <a:t>✗  Extreme customer concentration (86% UAE)</a:t>
            </a:r>
          </a:p>
          <a:p>
            <a:pPr algn="l">
              <a:spcBef>
                <a:spcPts val="1000"/>
              </a:spcBef>
              <a:defRPr sz="1300" b="0">
                <a:solidFill>
                  <a:srgbClr val="C62828"/>
                </a:solidFill>
                <a:latin typeface="Calibri"/>
              </a:defRPr>
            </a:pPr>
            <a:r>
              <a:t>✗  Operating losses widening, not narrowing</a:t>
            </a:r>
          </a:p>
          <a:p>
            <a:pPr algn="l">
              <a:spcBef>
                <a:spcPts val="1000"/>
              </a:spcBef>
              <a:defRPr sz="1300" b="0">
                <a:solidFill>
                  <a:srgbClr val="C62828"/>
                </a:solidFill>
                <a:latin typeface="Calibri"/>
              </a:defRPr>
            </a:pPr>
            <a:r>
              <a:t>✗  GAAP profit entirely from one-time paper gain</a:t>
            </a:r>
          </a:p>
          <a:p>
            <a:pPr algn="l">
              <a:spcBef>
                <a:spcPts val="1000"/>
              </a:spcBef>
              <a:defRPr sz="1300" b="0">
                <a:solidFill>
                  <a:srgbClr val="C62828"/>
                </a:solidFill>
                <a:latin typeface="Calibri"/>
              </a:defRPr>
            </a:pPr>
            <a:r>
              <a:t>✗  NVIDIA ecosystem moat (CUDA) remains deep</a:t>
            </a:r>
          </a:p>
          <a:p>
            <a:pPr algn="l">
              <a:spcBef>
                <a:spcPts val="1000"/>
              </a:spcBef>
              <a:defRPr sz="1300" b="0">
                <a:solidFill>
                  <a:srgbClr val="C62828"/>
                </a:solidFill>
                <a:latin typeface="Calibri"/>
              </a:defRPr>
            </a:pPr>
            <a:r>
              <a:t>✗  TSMC single-source fab risk</a:t>
            </a:r>
          </a:p>
          <a:p>
            <a:pPr algn="l">
              <a:spcBef>
                <a:spcPts val="1000"/>
              </a:spcBef>
              <a:defRPr sz="1300" b="0">
                <a:solidFill>
                  <a:srgbClr val="C62828"/>
                </a:solidFill>
                <a:latin typeface="Calibri"/>
              </a:defRPr>
            </a:pPr>
            <a:r>
              <a:t>✗  CFIUS / export control regulatory overhang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1A1A2E"/>
                </a:solidFill>
                <a:latin typeface="Calibri"/>
              </a:defRPr>
            </a:pPr>
            <a:r>
              <a:t>IPO Structure &amp; Terms</a:t>
            </a:r>
          </a:p>
        </p:txBody>
      </p:sp>
      <p:sp>
        <p:nvSpPr>
          <p:cNvPr id="4" name="Rounded Rectangle 3"/>
          <p:cNvSpPr/>
          <p:nvPr/>
        </p:nvSpPr>
        <p:spPr>
          <a:xfrm>
            <a:off x="731520" y="13716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Exchange</a:t>
            </a:r>
          </a:p>
          <a:p>
            <a:pPr algn="ctr">
              <a:spcBef>
                <a:spcPts val="400"/>
              </a:spcBef>
              <a:defRPr sz="2800" b="1">
                <a:solidFill>
                  <a:srgbClr val="007ACC"/>
                </a:solidFill>
                <a:latin typeface="Calibri"/>
              </a:defRPr>
            </a:pPr>
            <a:r>
              <a:t>Nasdaq</a:t>
            </a:r>
          </a:p>
          <a:p>
            <a:pPr algn="ctr">
              <a:spcBef>
                <a:spcPts val="200"/>
              </a:spcBef>
              <a:defRPr sz="1000">
                <a:solidFill>
                  <a:srgbClr val="666666"/>
                </a:solidFill>
                <a:latin typeface="Calibri"/>
              </a:defRPr>
            </a:pPr>
            <a:r>
              <a:t>Global Market</a:t>
            </a:r>
          </a:p>
        </p:txBody>
      </p:sp>
      <p:sp>
        <p:nvSpPr>
          <p:cNvPr id="5" name="Rounded Rectangle 4"/>
          <p:cNvSpPr/>
          <p:nvPr/>
        </p:nvSpPr>
        <p:spPr>
          <a:xfrm>
            <a:off x="4389120" y="13716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Ticker</a:t>
            </a:r>
          </a:p>
          <a:p>
            <a:pPr algn="ctr">
              <a:spcBef>
                <a:spcPts val="400"/>
              </a:spcBef>
              <a:defRPr sz="2800" b="1">
                <a:solidFill>
                  <a:srgbClr val="007ACC"/>
                </a:solidFill>
                <a:latin typeface="Calibri"/>
              </a:defRPr>
            </a:pPr>
            <a:r>
              <a:t>CBRS</a:t>
            </a:r>
          </a:p>
          <a:p>
            <a:pPr algn="ctr">
              <a:spcBef>
                <a:spcPts val="200"/>
              </a:spcBef>
              <a:defRPr sz="1000">
                <a:solidFill>
                  <a:srgbClr val="666666"/>
                </a:solidFill>
                <a:latin typeface="Calibri"/>
              </a:defRPr>
            </a:pPr>
            <a:r>
              <a:t>Class A Common Stock</a:t>
            </a:r>
          </a:p>
        </p:txBody>
      </p:sp>
      <p:sp>
        <p:nvSpPr>
          <p:cNvPr id="6" name="Rounded Rectangle 5"/>
          <p:cNvSpPr/>
          <p:nvPr/>
        </p:nvSpPr>
        <p:spPr>
          <a:xfrm>
            <a:off x="8046720" y="13716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Price Range</a:t>
            </a:r>
          </a:p>
          <a:p>
            <a:pPr algn="ctr">
              <a:spcBef>
                <a:spcPts val="400"/>
              </a:spcBef>
              <a:defRPr sz="2800" b="1">
                <a:solidFill>
                  <a:srgbClr val="007ACC"/>
                </a:solidFill>
                <a:latin typeface="Calibri"/>
              </a:defRPr>
            </a:pPr>
            <a:r>
              <a:t>$115 – $125</a:t>
            </a:r>
          </a:p>
          <a:p>
            <a:pPr algn="ctr">
              <a:spcBef>
                <a:spcPts val="200"/>
              </a:spcBef>
              <a:defRPr sz="1000">
                <a:solidFill>
                  <a:srgbClr val="666666"/>
                </a:solidFill>
                <a:latin typeface="Calibri"/>
              </a:defRPr>
            </a:pPr>
            <a:r>
              <a:t>Per share</a:t>
            </a:r>
          </a:p>
        </p:txBody>
      </p:sp>
      <p:sp>
        <p:nvSpPr>
          <p:cNvPr id="7" name="Rounded Rectangle 6"/>
          <p:cNvSpPr/>
          <p:nvPr/>
        </p:nvSpPr>
        <p:spPr>
          <a:xfrm>
            <a:off x="73152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Shares Offered</a:t>
            </a:r>
          </a:p>
          <a:p>
            <a:pPr algn="ctr">
              <a:spcBef>
                <a:spcPts val="400"/>
              </a:spcBef>
              <a:defRPr sz="2800" b="1">
                <a:solidFill>
                  <a:srgbClr val="007ACC"/>
                </a:solidFill>
                <a:latin typeface="Calibri"/>
              </a:defRPr>
            </a:pPr>
            <a:r>
              <a:t>28M</a:t>
            </a:r>
          </a:p>
          <a:p>
            <a:pPr algn="ctr">
              <a:spcBef>
                <a:spcPts val="200"/>
              </a:spcBef>
              <a:defRPr sz="1000">
                <a:solidFill>
                  <a:srgbClr val="666666"/>
                </a:solidFill>
                <a:latin typeface="Calibri"/>
              </a:defRPr>
            </a:pPr>
            <a:r>
              <a:t>+4.2M overallotment</a:t>
            </a:r>
          </a:p>
        </p:txBody>
      </p:sp>
      <p:sp>
        <p:nvSpPr>
          <p:cNvPr id="8" name="Rounded Rectangle 7"/>
          <p:cNvSpPr/>
          <p:nvPr/>
        </p:nvSpPr>
        <p:spPr>
          <a:xfrm>
            <a:off x="438912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Target Raise</a:t>
            </a:r>
          </a:p>
          <a:p>
            <a:pPr algn="ctr">
              <a:spcBef>
                <a:spcPts val="400"/>
              </a:spcBef>
              <a:defRPr sz="2800" b="1">
                <a:solidFill>
                  <a:srgbClr val="007ACC"/>
                </a:solidFill>
                <a:latin typeface="Calibri"/>
              </a:defRPr>
            </a:pPr>
            <a:r>
              <a:t>~$2B</a:t>
            </a:r>
          </a:p>
          <a:p>
            <a:pPr algn="ctr">
              <a:spcBef>
                <a:spcPts val="200"/>
              </a:spcBef>
              <a:defRPr sz="1000">
                <a:solidFill>
                  <a:srgbClr val="666666"/>
                </a:solidFill>
                <a:latin typeface="Calibri"/>
              </a:defRPr>
            </a:pPr>
            <a:r>
              <a:t>Gross proceeds</a:t>
            </a:r>
          </a:p>
        </p:txBody>
      </p:sp>
      <p:sp>
        <p:nvSpPr>
          <p:cNvPr id="9" name="Rounded Rectangle 8"/>
          <p:cNvSpPr/>
          <p:nvPr/>
        </p:nvSpPr>
        <p:spPr>
          <a:xfrm>
            <a:off x="8046720" y="3200400"/>
            <a:ext cx="3200400" cy="13716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666666"/>
                </a:solidFill>
                <a:latin typeface="Calibri"/>
              </a:defRPr>
            </a:pPr>
            <a:r>
              <a:t>Implied Valuation</a:t>
            </a:r>
          </a:p>
          <a:p>
            <a:pPr algn="ctr">
              <a:spcBef>
                <a:spcPts val="400"/>
              </a:spcBef>
              <a:defRPr sz="2800" b="1">
                <a:solidFill>
                  <a:srgbClr val="007ACC"/>
                </a:solidFill>
                <a:latin typeface="Calibri"/>
              </a:defRPr>
            </a:pPr>
            <a:r>
              <a:t>$22 – $25B</a:t>
            </a:r>
          </a:p>
          <a:p>
            <a:pPr algn="ctr">
              <a:spcBef>
                <a:spcPts val="200"/>
              </a:spcBef>
              <a:defRPr sz="1000">
                <a:solidFill>
                  <a:srgbClr val="666666"/>
                </a:solidFill>
                <a:latin typeface="Calibri"/>
              </a:defRPr>
            </a:pPr>
            <a:r>
              <a:t>Fully diluted</a:t>
            </a:r>
          </a:p>
        </p:txBody>
      </p:sp>
      <p:sp>
        <p:nvSpPr>
          <p:cNvPr id="10" name="TextBox 9"/>
          <p:cNvSpPr txBox="1"/>
          <p:nvPr/>
        </p:nvSpPr>
        <p:spPr>
          <a:xfrm>
            <a:off x="731520" y="4389120"/>
            <a:ext cx="10058400" cy="365760"/>
          </a:xfrm>
          <a:prstGeom prst="rect">
            <a:avLst/>
          </a:prstGeom>
          <a:noFill/>
        </p:spPr>
        <p:txBody>
          <a:bodyPr wrap="square">
            <a:spAutoFit/>
          </a:bodyPr>
          <a:lstStyle/>
          <a:p>
            <a:pPr algn="l">
              <a:defRPr sz="1300" b="0">
                <a:solidFill>
                  <a:srgbClr val="666666"/>
                </a:solidFill>
                <a:latin typeface="Calibri"/>
              </a:defRPr>
            </a:pPr>
            <a:r>
              <a:t>Dual-class share structure: Class A (1 vote/share) offered to public; Class B (10 votes/share) retained by insiders</a:t>
            </a:r>
          </a:p>
        </p:txBody>
      </p:sp>
      <p:sp>
        <p:nvSpPr>
          <p:cNvPr id="11" name="TextBox 10"/>
          <p:cNvSpPr txBox="1"/>
          <p:nvPr/>
        </p:nvSpPr>
        <p:spPr>
          <a:xfrm>
            <a:off x="731520" y="4846320"/>
            <a:ext cx="10058400" cy="365760"/>
          </a:xfrm>
          <a:prstGeom prst="rect">
            <a:avLst/>
          </a:prstGeom>
          <a:noFill/>
        </p:spPr>
        <p:txBody>
          <a:bodyPr wrap="square">
            <a:spAutoFit/>
          </a:bodyPr>
          <a:lstStyle/>
          <a:p>
            <a:pPr algn="l">
              <a:defRPr sz="1300" b="0">
                <a:solidFill>
                  <a:srgbClr val="666666"/>
                </a:solidFill>
                <a:latin typeface="Calibri"/>
              </a:defRPr>
            </a:pPr>
            <a:r>
              <a:t>Lead Book-Runners: Citi, Barclays  |  Book-Runners: UBS Investment Bank, Wells Fargo Securities, Mizuho, TD Cowen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731520" y="457200"/>
            <a:ext cx="64008"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200" b="1">
                <a:solidFill>
                  <a:srgbClr val="FFFFFF"/>
                </a:solidFill>
                <a:latin typeface="Calibri"/>
              </a:defRPr>
            </a:pPr>
            <a:r>
              <a:t>Key Takeaways</a:t>
            </a:r>
          </a:p>
        </p:txBody>
      </p:sp>
      <p:sp>
        <p:nvSpPr>
          <p:cNvPr id="4" name="Rectangle 3"/>
          <p:cNvSpPr/>
          <p:nvPr/>
        </p:nvSpPr>
        <p:spPr>
          <a:xfrm>
            <a:off x="914400" y="1280160"/>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80160"/>
            <a:ext cx="365760" cy="365760"/>
          </a:xfrm>
          <a:prstGeom prst="rect">
            <a:avLst/>
          </a:prstGeom>
          <a:noFill/>
        </p:spPr>
        <p:txBody>
          <a:bodyPr wrap="square">
            <a:spAutoFit/>
          </a:bodyPr>
          <a:lstStyle/>
          <a:p>
            <a:pPr algn="l">
              <a:defRPr sz="1600" b="1">
                <a:solidFill>
                  <a:srgbClr val="007ACC"/>
                </a:solidFill>
                <a:latin typeface="Calibri"/>
              </a:defRPr>
            </a:pPr>
            <a:r>
              <a:t>1</a:t>
            </a:r>
          </a:p>
        </p:txBody>
      </p:sp>
      <p:sp>
        <p:nvSpPr>
          <p:cNvPr id="6" name="TextBox 5"/>
          <p:cNvSpPr txBox="1"/>
          <p:nvPr/>
        </p:nvSpPr>
        <p:spPr>
          <a:xfrm>
            <a:off x="1463040" y="1280160"/>
            <a:ext cx="9601200" cy="731520"/>
          </a:xfrm>
          <a:prstGeom prst="rect">
            <a:avLst/>
          </a:prstGeom>
          <a:noFill/>
        </p:spPr>
        <p:txBody>
          <a:bodyPr wrap="square">
            <a:spAutoFit/>
          </a:bodyPr>
          <a:lstStyle/>
          <a:p>
            <a:pPr algn="l">
              <a:defRPr sz="1300" b="0">
                <a:solidFill>
                  <a:srgbClr val="DDDDDD"/>
                </a:solidFill>
                <a:latin typeface="Calibri"/>
              </a:defRPr>
            </a:pPr>
            <a:r>
              <a:t>Cerebras is the first credible challenger to NVIDIA's AI accelerator dominance, with a fundamentally differentiated wafer-scale architecture (WSE-3).</a:t>
            </a:r>
          </a:p>
        </p:txBody>
      </p:sp>
      <p:sp>
        <p:nvSpPr>
          <p:cNvPr id="7" name="Rectangle 6"/>
          <p:cNvSpPr/>
          <p:nvPr/>
        </p:nvSpPr>
        <p:spPr>
          <a:xfrm>
            <a:off x="914400" y="2084832"/>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84832"/>
            <a:ext cx="365760" cy="365760"/>
          </a:xfrm>
          <a:prstGeom prst="rect">
            <a:avLst/>
          </a:prstGeom>
          <a:noFill/>
        </p:spPr>
        <p:txBody>
          <a:bodyPr wrap="square">
            <a:spAutoFit/>
          </a:bodyPr>
          <a:lstStyle/>
          <a:p>
            <a:pPr algn="l">
              <a:defRPr sz="1600" b="1">
                <a:solidFill>
                  <a:srgbClr val="007ACC"/>
                </a:solidFill>
                <a:latin typeface="Calibri"/>
              </a:defRPr>
            </a:pPr>
            <a:r>
              <a:t>2</a:t>
            </a:r>
          </a:p>
        </p:txBody>
      </p:sp>
      <p:sp>
        <p:nvSpPr>
          <p:cNvPr id="9" name="TextBox 8"/>
          <p:cNvSpPr txBox="1"/>
          <p:nvPr/>
        </p:nvSpPr>
        <p:spPr>
          <a:xfrm>
            <a:off x="1463040" y="2084832"/>
            <a:ext cx="9601200" cy="731520"/>
          </a:xfrm>
          <a:prstGeom prst="rect">
            <a:avLst/>
          </a:prstGeom>
          <a:noFill/>
        </p:spPr>
        <p:txBody>
          <a:bodyPr wrap="square">
            <a:spAutoFit/>
          </a:bodyPr>
          <a:lstStyle/>
          <a:p>
            <a:pPr algn="l">
              <a:defRPr sz="1300" b="0">
                <a:solidFill>
                  <a:srgbClr val="DDDDDD"/>
                </a:solidFill>
                <a:latin typeface="Calibri"/>
              </a:defRPr>
            </a:pPr>
            <a:r>
              <a:t>Revenue is scaling rapidly ($510M, +76% YoY), but the company is not yet operationally profitable — operating losses widened to $75.7M in FY25.</a:t>
            </a:r>
          </a:p>
        </p:txBody>
      </p:sp>
      <p:sp>
        <p:nvSpPr>
          <p:cNvPr id="10" name="Rectangle 9"/>
          <p:cNvSpPr/>
          <p:nvPr/>
        </p:nvSpPr>
        <p:spPr>
          <a:xfrm>
            <a:off x="914400" y="2889504"/>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9504"/>
            <a:ext cx="365760" cy="365760"/>
          </a:xfrm>
          <a:prstGeom prst="rect">
            <a:avLst/>
          </a:prstGeom>
          <a:noFill/>
        </p:spPr>
        <p:txBody>
          <a:bodyPr wrap="square">
            <a:spAutoFit/>
          </a:bodyPr>
          <a:lstStyle/>
          <a:p>
            <a:pPr algn="l">
              <a:defRPr sz="1600" b="1">
                <a:solidFill>
                  <a:srgbClr val="007ACC"/>
                </a:solidFill>
                <a:latin typeface="Calibri"/>
              </a:defRPr>
            </a:pPr>
            <a:r>
              <a:t>3</a:t>
            </a:r>
          </a:p>
        </p:txBody>
      </p:sp>
      <p:sp>
        <p:nvSpPr>
          <p:cNvPr id="12" name="TextBox 11"/>
          <p:cNvSpPr txBox="1"/>
          <p:nvPr/>
        </p:nvSpPr>
        <p:spPr>
          <a:xfrm>
            <a:off x="1463040" y="2889504"/>
            <a:ext cx="9601200" cy="731520"/>
          </a:xfrm>
          <a:prstGeom prst="rect">
            <a:avLst/>
          </a:prstGeom>
          <a:noFill/>
        </p:spPr>
        <p:txBody>
          <a:bodyPr wrap="square">
            <a:spAutoFit/>
          </a:bodyPr>
          <a:lstStyle/>
          <a:p>
            <a:pPr algn="l">
              <a:defRPr sz="1300" b="0">
                <a:solidFill>
                  <a:srgbClr val="DDDDDD"/>
                </a:solidFill>
                <a:latin typeface="Calibri"/>
              </a:defRPr>
            </a:pPr>
            <a:r>
              <a:t>The $10B+ OpenAI partnership is transformational: it validates the technology, provides demand certainty ($24.6B backlog), and funds the transition to a compute-as-a-service model.</a:t>
            </a:r>
          </a:p>
        </p:txBody>
      </p:sp>
      <p:sp>
        <p:nvSpPr>
          <p:cNvPr id="13" name="Rectangle 12"/>
          <p:cNvSpPr/>
          <p:nvPr/>
        </p:nvSpPr>
        <p:spPr>
          <a:xfrm>
            <a:off x="914400" y="3694176"/>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694176"/>
            <a:ext cx="365760" cy="365760"/>
          </a:xfrm>
          <a:prstGeom prst="rect">
            <a:avLst/>
          </a:prstGeom>
          <a:noFill/>
        </p:spPr>
        <p:txBody>
          <a:bodyPr wrap="square">
            <a:spAutoFit/>
          </a:bodyPr>
          <a:lstStyle/>
          <a:p>
            <a:pPr algn="l">
              <a:defRPr sz="1600" b="1">
                <a:solidFill>
                  <a:srgbClr val="007ACC"/>
                </a:solidFill>
                <a:latin typeface="Calibri"/>
              </a:defRPr>
            </a:pPr>
            <a:r>
              <a:t>4</a:t>
            </a:r>
          </a:p>
        </p:txBody>
      </p:sp>
      <p:sp>
        <p:nvSpPr>
          <p:cNvPr id="15" name="TextBox 14"/>
          <p:cNvSpPr txBox="1"/>
          <p:nvPr/>
        </p:nvSpPr>
        <p:spPr>
          <a:xfrm>
            <a:off x="1463040" y="3694176"/>
            <a:ext cx="9601200" cy="731520"/>
          </a:xfrm>
          <a:prstGeom prst="rect">
            <a:avLst/>
          </a:prstGeom>
          <a:noFill/>
        </p:spPr>
        <p:txBody>
          <a:bodyPr wrap="square">
            <a:spAutoFit/>
          </a:bodyPr>
          <a:lstStyle/>
          <a:p>
            <a:pPr algn="l">
              <a:defRPr sz="1300" b="0">
                <a:solidFill>
                  <a:srgbClr val="DDDDDD"/>
                </a:solidFill>
                <a:latin typeface="Calibri"/>
              </a:defRPr>
            </a:pPr>
            <a:r>
              <a:t>Customer concentration is the single biggest near-term risk — 86% of revenue from UAE entities; US revenue actually declined 34% YoY.</a:t>
            </a:r>
          </a:p>
        </p:txBody>
      </p:sp>
      <p:sp>
        <p:nvSpPr>
          <p:cNvPr id="16" name="Rectangle 15"/>
          <p:cNvSpPr/>
          <p:nvPr/>
        </p:nvSpPr>
        <p:spPr>
          <a:xfrm>
            <a:off x="914400" y="4498848"/>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98848"/>
            <a:ext cx="365760" cy="365760"/>
          </a:xfrm>
          <a:prstGeom prst="rect">
            <a:avLst/>
          </a:prstGeom>
          <a:noFill/>
        </p:spPr>
        <p:txBody>
          <a:bodyPr wrap="square">
            <a:spAutoFit/>
          </a:bodyPr>
          <a:lstStyle/>
          <a:p>
            <a:pPr algn="l">
              <a:defRPr sz="1600" b="1">
                <a:solidFill>
                  <a:srgbClr val="007ACC"/>
                </a:solidFill>
                <a:latin typeface="Calibri"/>
              </a:defRPr>
            </a:pPr>
            <a:r>
              <a:t>5</a:t>
            </a:r>
          </a:p>
        </p:txBody>
      </p:sp>
      <p:sp>
        <p:nvSpPr>
          <p:cNvPr id="18" name="TextBox 17"/>
          <p:cNvSpPr txBox="1"/>
          <p:nvPr/>
        </p:nvSpPr>
        <p:spPr>
          <a:xfrm>
            <a:off x="1463040" y="4498848"/>
            <a:ext cx="9601200" cy="731520"/>
          </a:xfrm>
          <a:prstGeom prst="rect">
            <a:avLst/>
          </a:prstGeom>
          <a:noFill/>
        </p:spPr>
        <p:txBody>
          <a:bodyPr wrap="square">
            <a:spAutoFit/>
          </a:bodyPr>
          <a:lstStyle/>
          <a:p>
            <a:pPr algn="l">
              <a:defRPr sz="1300" b="0">
                <a:solidFill>
                  <a:srgbClr val="DDDDDD"/>
                </a:solidFill>
                <a:latin typeface="Calibri"/>
              </a:defRPr>
            </a:pPr>
            <a:r>
              <a:t>At $22–25B valuation (~45–50× FY25 revenue), the market is pricing in successful execution of the OpenAI deal and broader customer diversification.</a:t>
            </a:r>
          </a:p>
        </p:txBody>
      </p:sp>
      <p:sp>
        <p:nvSpPr>
          <p:cNvPr id="19" name="Rectangle 18"/>
          <p:cNvSpPr/>
          <p:nvPr/>
        </p:nvSpPr>
        <p:spPr>
          <a:xfrm>
            <a:off x="914400" y="5303520"/>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303520"/>
            <a:ext cx="365760" cy="365760"/>
          </a:xfrm>
          <a:prstGeom prst="rect">
            <a:avLst/>
          </a:prstGeom>
          <a:noFill/>
        </p:spPr>
        <p:txBody>
          <a:bodyPr wrap="square">
            <a:spAutoFit/>
          </a:bodyPr>
          <a:lstStyle/>
          <a:p>
            <a:pPr algn="l">
              <a:defRPr sz="1600" b="1">
                <a:solidFill>
                  <a:srgbClr val="007ACC"/>
                </a:solidFill>
                <a:latin typeface="Calibri"/>
              </a:defRPr>
            </a:pPr>
            <a:r>
              <a:t>6</a:t>
            </a:r>
          </a:p>
        </p:txBody>
      </p:sp>
      <p:sp>
        <p:nvSpPr>
          <p:cNvPr id="21" name="TextBox 20"/>
          <p:cNvSpPr txBox="1"/>
          <p:nvPr/>
        </p:nvSpPr>
        <p:spPr>
          <a:xfrm>
            <a:off x="1463040" y="5303520"/>
            <a:ext cx="9601200" cy="731520"/>
          </a:xfrm>
          <a:prstGeom prst="rect">
            <a:avLst/>
          </a:prstGeom>
          <a:noFill/>
        </p:spPr>
        <p:txBody>
          <a:bodyPr wrap="square">
            <a:spAutoFit/>
          </a:bodyPr>
          <a:lstStyle/>
          <a:p>
            <a:pPr algn="l">
              <a:defRPr sz="1300" b="0">
                <a:solidFill>
                  <a:srgbClr val="DDDDDD"/>
                </a:solidFill>
                <a:latin typeface="Calibri"/>
              </a:defRPr>
            </a:pPr>
            <a:r>
              <a:t>Investors should monitor: (1) OpenAI contract execution milestones, (2) US customer growth, (3) path to operating profitability, (4) CFIUS / export control developments.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914400" y="2286000"/>
            <a:ext cx="10058400" cy="457200"/>
          </a:xfrm>
          <a:prstGeom prst="rect">
            <a:avLst/>
          </a:prstGeom>
          <a:noFill/>
        </p:spPr>
        <p:txBody>
          <a:bodyPr wrap="square">
            <a:spAutoFit/>
          </a:bodyPr>
          <a:lstStyle/>
          <a:p>
            <a:pPr algn="ctr">
              <a:defRPr sz="2800" b="1">
                <a:solidFill>
                  <a:srgbClr val="1A1A2E"/>
                </a:solidFill>
                <a:latin typeface="Calibri"/>
              </a:defRPr>
            </a:pPr>
            <a:r>
              <a:t>Disclaimer</a:t>
            </a:r>
          </a:p>
        </p:txBody>
      </p:sp>
      <p:sp>
        <p:nvSpPr>
          <p:cNvPr id="3" name="TextBox 2"/>
          <p:cNvSpPr txBox="1"/>
          <p:nvPr/>
        </p:nvSpPr>
        <p:spPr>
          <a:xfrm>
            <a:off x="1371600" y="3017520"/>
            <a:ext cx="9144000" cy="2286000"/>
          </a:xfrm>
          <a:prstGeom prst="rect">
            <a:avLst/>
          </a:prstGeom>
          <a:noFill/>
        </p:spPr>
        <p:txBody>
          <a:bodyPr wrap="square">
            <a:spAutoFit/>
          </a:bodyPr>
          <a:lstStyle/>
          <a:p>
            <a:pPr algn="ctr">
              <a:defRPr sz="1400" b="0">
                <a:solidFill>
                  <a:srgbClr val="666666"/>
                </a:solidFill>
                <a:latin typeface="Calibri"/>
              </a:defRPr>
            </a:pPr>
            <a:r>
              <a:t>This presentation is for informational purposes only and does not constitute investment advice, a recommendation, or an offer to buy or sell securities. All data is sourced from Cerebras Systems' S-1 registration statement filed with the SEC on April 17, 2026, and publicly available analyses. Financial figures are subject to change and should be verified against the official filing. Past performance is not indicative of future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
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858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8C1A"/>
                </a:solidFill>
                <a:latin typeface="Consolas"/>
              </a:rPr>
              <a:t>&lt;HELP&gt; ALPHA &lt;GO&gt;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600" b="1">
                <a:solidFill>
                  <a:srgbClr val="F2F4F7"/>
                </a:solidFill>
                <a:latin typeface="Calibri"/>
              </a:rPr>
              <a:t>Sources of Alpha in the Market</a:t>
            </a:r>
          </a:p>
          <a:p>
            <a:pPr>
              <a:spcBef>
                <a:spcPts val="800"/>
              </a:spcBef>
            </a:pPr>
            <a:r>
              <a:rPr sz="2600" b="1">
                <a:solidFill>
                  <a:srgbClr val="FF8C1A"/>
                </a:solidFill>
                <a:latin typeface="Calibri"/>
              </a:rPr>
              <a:t>— and how to discover them with the Bloomberg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06908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A8B2BF"/>
                </a:solidFill>
                <a:latin typeface="Calibri"/>
              </a:rPr>
              <a:t>A practitioner's map of where excess returns come from — factors, fundamentals, events, macro, carry, flows, sentiment and statistical arbitrage — with the terminal workflow to find, validate and monitor each 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06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67180"/>
                </a:solidFill>
                <a:latin typeface="Calibri"/>
              </a:rPr>
              <a:t>Investment Research  ·  Equities | Macro | Cross-Asset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Alpha 101: What We Are Actually Hunting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Alpha is the slice of return NOT explained by market exposure — beta is cheap and abundant, alpha is scarce and roughly zero-sum after fees and costs.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Jensen's alpha:  α = Rp − [ Rf + βp × (Rm − Rf) ]  — always risk-adjust before claiming skill.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Much “alpha” is hidden beta: static factor tilts, leverage, or illiquidity dressed up as stock-picking.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Durable alpha requires a repeatable edge — informational, analytical, behavioral, or structural (next slide).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PORT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attribution decomposes returns into benchmark, factor tilts and true idiosyncratic selection.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BETA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and </a:t>
            </a:r>
            <a:r>
              <a:rPr sz="1400" b="1">
                <a:solidFill>
                  <a:srgbClr val="FF8C1A"/>
                </a:solidFill>
                <a:latin typeface="Consolas"/>
              </a:rPr>
              <a:t>HRA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regress any security or portfolio series against a benchmark to isolate α and β.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Foundations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Four Edges, Eight Hunting Grounds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0">
                <a:solidFill>
                  <a:srgbClr val="A8B2BF"/>
                </a:solidFill>
                <a:latin typeface="Calibri"/>
              </a:rPr>
              <a:t>Every persistent alpha source maps to an edge:  </a:t>
            </a:r>
            <a:r>
              <a:rPr sz="1350" b="1">
                <a:solidFill>
                  <a:srgbClr val="4FC3F7"/>
                </a:solidFill>
                <a:latin typeface="Consolas"/>
              </a:rPr>
              <a:t>Informational</a:t>
            </a:r>
            <a:r>
              <a:rPr sz="1350" b="0">
                <a:solidFill>
                  <a:srgbClr val="A8B2BF"/>
                </a:solidFill>
                <a:latin typeface="Calibri"/>
              </a:rPr>
              <a:t> (know it first)  ·  </a:t>
            </a:r>
            <a:r>
              <a:rPr sz="1350" b="1">
                <a:solidFill>
                  <a:srgbClr val="4FC3F7"/>
                </a:solidFill>
                <a:latin typeface="Consolas"/>
              </a:rPr>
              <a:t>Analytical</a:t>
            </a:r>
            <a:r>
              <a:rPr sz="1350" b="0">
                <a:solidFill>
                  <a:srgbClr val="A8B2BF"/>
                </a:solidFill>
                <a:latin typeface="Calibri"/>
              </a:rPr>
              <a:t> (process it better)  ·  </a:t>
            </a:r>
            <a:r>
              <a:rPr sz="1350" b="1">
                <a:solidFill>
                  <a:srgbClr val="4FC3F7"/>
                </a:solidFill>
                <a:latin typeface="Consolas"/>
              </a:rPr>
              <a:t>Behavioral</a:t>
            </a:r>
            <a:r>
              <a:rPr sz="1350" b="0">
                <a:solidFill>
                  <a:srgbClr val="A8B2BF"/>
                </a:solidFill>
                <a:latin typeface="Calibri"/>
              </a:rPr>
              <a:t> (exploit biases)  ·  </a:t>
            </a:r>
            <a:r>
              <a:rPr sz="1350" b="1">
                <a:solidFill>
                  <a:srgbClr val="4FC3F7"/>
                </a:solidFill>
                <a:latin typeface="Consolas"/>
              </a:rPr>
              <a:t>Structural</a:t>
            </a:r>
            <a:r>
              <a:rPr sz="1350" b="0">
                <a:solidFill>
                  <a:srgbClr val="A8B2BF"/>
                </a:solidFill>
                <a:latin typeface="Calibri"/>
              </a:rPr>
              <a:t> (harvest others' constraints).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1 · Factor &amp; Style Premia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Value, momentum, quality, low-vol, size — systematic and harvestable.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8" y="2240280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2 · Fundamental Selection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Variant perception on earnings power vs. what consensus has priced.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45936" y="2240280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3 · Events &amp; Special Situations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M&amp;A arbitrage, spin-offs, index adds/deletes, buybacks, restructurings.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44584" y="2240280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4 · Macro &amp; Cross-Asset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Rates, inflation, FX and growth surprises vs. what markets have discounted.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133088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5 · Carry &amp; Term Structure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FX carry, commodity roll yield, bond rolldown, volatility risk premium.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4133088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6 · Flow &amp; Positioning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Crowding, short squeezes, forced sellers, ownership concentration.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4133088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7 · Sentiment &amp; Alt Data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News momentum, social velocity, supply chains, web &amp; transaction exhaust.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44584" y="4133088"/>
            <a:ext cx="2788920" cy="1783080"/>
          </a:xfrm>
          <a:prstGeom prst="roundRect">
            <a:avLst>
              <a:gd name="adj" fmla="val 55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8016" rIns="128016" tIns="91440" bIns="73152"/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FF8C1A"/>
                </a:solidFill>
                <a:latin typeface="Calibri"/>
              </a:rPr>
              <a:t>8 · Statistical Arbitrage</a:t>
            </a:r>
          </a:p>
          <a:p>
            <a:pPr algn="l"/>
            <a:r>
              <a:rPr sz="1150" b="0">
                <a:solidFill>
                  <a:srgbClr val="A8B2BF"/>
                </a:solidFill>
                <a:latin typeface="Calibri"/>
              </a:rPr>
              <a:t>Mean reversion, pairs, cross-sectional signals — breadth over conviction.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Factor &amp; Style Premia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The classics: Value (cheapness), Momentum (winners persist), Quality (profitability, low accruals), Low Volatility, Size.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Why they pay: part compensation for real risk, part persistent behavioral bias (over-extrapolation, lottery-seeking, anchoring).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The catch: factors are cyclical and get crowded — the entry valuation of the factor itself matters.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EQS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build multi-factor screens (e.g. cheap + high ROIC + positive 12-1M momentum) across any universe.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EQBT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backtest an </a:t>
            </a:r>
            <a:r>
              <a:rPr sz="1400" b="1">
                <a:solidFill>
                  <a:srgbClr val="FF8C1A"/>
                </a:solidFill>
                <a:latin typeface="Consolas"/>
              </a:rPr>
              <a:t>EQS</a:t>
            </a:r>
            <a:r>
              <a:rPr sz="1400" b="0">
                <a:solidFill>
                  <a:srgbClr val="A8B2BF"/>
                </a:solidFill>
                <a:latin typeface="Calibri"/>
              </a:rPr>
              <a:t> screen historically: hit rate, turnover, factor decay.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PORT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measure your live factor exposures and how much return each tilt actually contributed.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FTW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Factors To Watch: which styles are working, by region and sector, right now.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Factor &amp; Style Premia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Fundamental Stock Selection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>
                <a:solidFill>
                  <a:srgbClr val="FF8C1A"/>
                </a:solidFill>
                <a:latin typeface="Calibri"/>
              </a:rPr>
              <a:t>▪  </a:t>
            </a:r>
            <a:r>
              <a:rPr sz="1450" b="0">
                <a:solidFill>
                  <a:srgbClr val="F2F4F7"/>
                </a:solidFill>
                <a:latin typeface="Calibri"/>
              </a:rPr>
              <a:t>The alpha is the gap between your model and consensus — a variant perception on revenue, margins, capital allocation or duration of competitive advantage.</a:t>
            </a:r>
          </a:p>
          <a:p>
            <a:pPr>
              <a:spcAft>
                <a:spcPts val="700"/>
              </a:spcAft>
            </a:pPr>
            <a:r>
              <a:rPr sz="1450">
                <a:solidFill>
                  <a:srgbClr val="FF8C1A"/>
                </a:solidFill>
                <a:latin typeface="Calibri"/>
              </a:rPr>
              <a:t>▪  </a:t>
            </a:r>
            <a:r>
              <a:rPr sz="1450" b="0">
                <a:solidFill>
                  <a:srgbClr val="F2F4F7"/>
                </a:solidFill>
                <a:latin typeface="Calibri"/>
              </a:rPr>
              <a:t>Edge is analytical: same public data, better interpretation — unit economics, cohort math, channel checks, management quality.</a:t>
            </a:r>
          </a:p>
          <a:p>
            <a:pPr>
              <a:spcBef>
                <a:spcPts val="600"/>
              </a:spcBef>
              <a:spcAft>
                <a:spcPts val="700"/>
              </a:spcAft>
            </a:pPr>
            <a:r>
              <a:rPr sz="11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MODL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consensus line-item estimates: see exactly what the street models, then attack the weakest assumption.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FA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two decades of financials: margin bridges, segment data, cash conversion, capital returns.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EE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/ </a:t>
            </a:r>
            <a:r>
              <a:rPr sz="1300" b="1">
                <a:solidFill>
                  <a:srgbClr val="FF8C1A"/>
                </a:solidFill>
                <a:latin typeface="Consolas"/>
              </a:rPr>
              <a:t>SURP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estimate revision trends and earnings surprise history: revisions drift, surprises cluster.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ANR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analyst recs and price targets: measure how contrarian your view really is.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RV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relative valuation vs. custom peer sets, through time, not just spot.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A8B2BF"/>
                </a:solidFill>
                <a:latin typeface="Calibri"/>
              </a:rPr>
              <a:t>      –  </a:t>
            </a:r>
            <a:r>
              <a:rPr sz="1300" b="1">
                <a:solidFill>
                  <a:srgbClr val="FF8C1A"/>
                </a:solidFill>
                <a:latin typeface="Consolas"/>
              </a:rPr>
              <a:t>BI &lt;GO&gt;</a:t>
            </a:r>
            <a:r>
              <a:rPr sz="1300" b="0">
                <a:solidFill>
                  <a:srgbClr val="A8B2BF"/>
                </a:solidFill>
                <a:latin typeface="Calibri"/>
              </a:rPr>
              <a:t> — Bloomberg Intelligence primers to get to industry fluency fast.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Fundamental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Event-Driven &amp; Special Situations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Merger arbitrage: earn the spread between market price and deal terms; alpha = better handicapping of regulatory and financing risk.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Index rebalances, spin-offs, forced conversions: uneconomic, predictable flows from constrained investors create the mispricing.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Earnings events: positioning + implied move vs. your estimate of the distribution.</a:t>
            </a:r>
          </a:p>
          <a:p>
            <a:pPr>
              <a:spcBef>
                <a:spcPts val="600"/>
              </a:spcBef>
              <a:spcAft>
                <a:spcPts val="800"/>
              </a:spcAft>
            </a:pPr>
            <a:r>
              <a:rPr sz="120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A8B2BF"/>
                </a:solidFill>
                <a:latin typeface="Calibri"/>
              </a:rPr>
              <a:t>      –  </a:t>
            </a:r>
            <a:r>
              <a:rPr sz="1350" b="1">
                <a:solidFill>
                  <a:srgbClr val="FF8C1A"/>
                </a:solidFill>
                <a:latin typeface="Consolas"/>
              </a:rPr>
              <a:t>MA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searchable deal database; </a:t>
            </a:r>
            <a:r>
              <a:rPr sz="1350" b="1">
                <a:solidFill>
                  <a:srgbClr val="FF8C1A"/>
                </a:solidFill>
                <a:latin typeface="Consolas"/>
              </a:rPr>
              <a:t>MARB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live merger-arb spreads, annualized returns, deal timelines.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A8B2BF"/>
                </a:solidFill>
                <a:latin typeface="Calibri"/>
              </a:rPr>
              <a:t>      –  </a:t>
            </a:r>
            <a:r>
              <a:rPr sz="1350" b="1">
                <a:solidFill>
                  <a:srgbClr val="FF8C1A"/>
                </a:solidFill>
                <a:latin typeface="Consolas"/>
              </a:rPr>
              <a:t>EVTS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/ </a:t>
            </a:r>
            <a:r>
              <a:rPr sz="1350" b="1">
                <a:solidFill>
                  <a:srgbClr val="FF8C1A"/>
                </a:solidFill>
                <a:latin typeface="Consolas"/>
              </a:rPr>
              <a:t>CACS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company event calendars and corporate actions (splits, tenders, spin-offs).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A8B2BF"/>
                </a:solidFill>
                <a:latin typeface="Calibri"/>
              </a:rPr>
              <a:t>      –  </a:t>
            </a:r>
            <a:r>
              <a:rPr sz="1350" b="1">
                <a:solidFill>
                  <a:srgbClr val="FF8C1A"/>
                </a:solidFill>
                <a:latin typeface="Consolas"/>
              </a:rPr>
              <a:t>MEMB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index membership; anticipate adds/deletes and the passive flow they force.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A8B2BF"/>
                </a:solidFill>
                <a:latin typeface="Calibri"/>
              </a:rPr>
              <a:t>      –  </a:t>
            </a:r>
            <a:r>
              <a:rPr sz="1350" b="1">
                <a:solidFill>
                  <a:srgbClr val="FF8C1A"/>
                </a:solidFill>
                <a:latin typeface="Consolas"/>
              </a:rPr>
              <a:t>ECDR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IPO/secondary calendar; </a:t>
            </a:r>
            <a:r>
              <a:rPr sz="1350" b="1">
                <a:solidFill>
                  <a:srgbClr val="FF8C1A"/>
                </a:solidFill>
                <a:latin typeface="Consolas"/>
              </a:rPr>
              <a:t>DVD &lt;GO&gt;</a:t>
            </a:r>
            <a:r>
              <a:rPr sz="1350" b="0">
                <a:solidFill>
                  <a:srgbClr val="A8B2BF"/>
                </a:solidFill>
                <a:latin typeface="Calibri"/>
              </a:rPr>
              <a:t> — dividend projections vs. announced.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Event-Driven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Macro &amp; Cross-Asset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Alpha is forecasting the surprise, not the level: growth, inflation, and policy vs. what is already priced in.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Express views where they are cheapest — rates, FX, equity indices, or vol — cross-asset choice is itself a source of edge.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ECO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economic calendar with consensus, actual, and surprise history; build a surprise-reaction playbook.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WIRP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/ </a:t>
            </a:r>
            <a:r>
              <a:rPr sz="1400" b="1">
                <a:solidFill>
                  <a:srgbClr val="FF8C1A"/>
                </a:solidFill>
                <a:latin typeface="Consolas"/>
              </a:rPr>
              <a:t>MIPR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market-implied central-bank paths: the hurdle your macro view must beat.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ECFC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economist forecasts by country and quarter; find where consensus is stale.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FXFC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FX forecasts vs. forwards; </a:t>
            </a:r>
            <a:r>
              <a:rPr sz="1400" b="1">
                <a:solidFill>
                  <a:srgbClr val="FF8C1A"/>
                </a:solidFill>
                <a:latin typeface="Consolas"/>
              </a:rPr>
              <a:t>GP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/ </a:t>
            </a:r>
            <a:r>
              <a:rPr sz="1400" b="1">
                <a:solidFill>
                  <a:srgbClr val="FF8C1A"/>
                </a:solidFill>
                <a:latin typeface="Consolas"/>
              </a:rPr>
              <a:t>GC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chart any curve or cross-asset relationship.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ECST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deep historical macro statistics for building regime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Macro &amp; Cross-Asset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Carry &amp; Term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Carry: get paid for holding — FX interest differentials, bond coupon + rolldown, commodity backwardation, selling richly-priced implied volatility.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Why it persists: it is compensation for tail risk and for providing liquidity/insurance that others must buy.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The discipline: carry strategies earn steadily and drawdown violently — sizing and diversification are the real edge.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CCRV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commodity futures curves: spot backwardation/contango and roll yield by contract.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FWCV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projected forward rate curves; measure rolldown along any sovereign curve.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FXFA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FX forwards vs. spot: the carry you capture, hedged or unhedged.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GV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/ </a:t>
            </a:r>
            <a:r>
              <a:rPr sz="1400" b="1">
                <a:solidFill>
                  <a:srgbClr val="FF8C1A"/>
                </a:solidFill>
                <a:latin typeface="Consolas"/>
              </a:rPr>
              <a:t>SKEW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implied vs. realized volatility and skew richness for vol-premium harvesting.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Carry &amp; Term Structure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Flow, Positioning &amp; Ownership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Prices move when constrained investors must trade — anticipate the flow, or at least never be its exit liquidity.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Signals: crowded longs (fragility), high short interest + catalyst (squeeze), fund-flow momentum, dealer hedging pressure.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HDS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/ </a:t>
            </a:r>
            <a:r>
              <a:rPr sz="1400" b="1">
                <a:solidFill>
                  <a:srgbClr val="FF8C1A"/>
                </a:solidFill>
                <a:latin typeface="Consolas"/>
              </a:rPr>
              <a:t>OWN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who holds it, concentration, and recent accumulation or distribution by holder type.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SI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short interest, days-to-cover, borrow trends: squeeze fuel and sentiment in one screen.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OMON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options chain: open interest and skew reveal how the market is positioned around strikes and events.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CFTC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Commitments of Traders: speculative positioning extremes in futures markets.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FLNG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13F/13D filings aggregated: follow (or fade) hedge-fund clustering.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Flow &amp;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Sentiment, News &amp; Alternative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Informational edge today is mostly speed + coverage: machine-readable news, social velocity, supply-chain links, web and transaction exhaust.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Sentiment works both ways: news momentum short-term, contrarian fading at extremes — define your horizon first.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NSE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advanced news search: filter by topic, source and sentiment tags across millions of stories.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TREN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news &amp; social trend velocity: unusual chatter before it hits the tape.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SPLC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supply-chain map: trade a company's guidance through its suppliers and customers first.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BI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analyst-curated industry data libraries (e.g. unit shipments, pricing trackers) updated continuously.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0">
                <a:solidFill>
                  <a:srgbClr val="A8B2BF"/>
                </a:solidFill>
                <a:latin typeface="Calibri"/>
              </a:rPr>
              <a:t>Enterprise: Bloomberg Data License + event-driven feeds pipe point-in-time news sentiment into your own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Sentiment &amp; Alt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ALPHA SOURCE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Statistical Arbitrage &amp; Quant Research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Edge = breadth: many small, diversified, risk-controlled bets — pairs mean-reversion, cross-sectional signal ranking, ML on fundamentals + alt data.</a:t>
            </a:r>
          </a:p>
          <a:p>
            <a:pPr>
              <a:spcAft>
                <a:spcPts val="900"/>
              </a:spcAft>
            </a:pPr>
            <a:r>
              <a:rPr sz="1550">
                <a:solidFill>
                  <a:srgbClr val="FF8C1A"/>
                </a:solidFill>
                <a:latin typeface="Calibri"/>
              </a:rPr>
              <a:t>▪  </a:t>
            </a:r>
            <a:r>
              <a:rPr sz="1550" b="0">
                <a:solidFill>
                  <a:srgbClr val="F2F4F7"/>
                </a:solidFill>
                <a:latin typeface="Calibri"/>
              </a:rPr>
              <a:t>The law of active management: IR ≈ IC × √breadth — a tiny, repeatable signal beats a big, rare one.</a:t>
            </a:r>
          </a:p>
          <a:p>
            <a:pPr>
              <a:spcBef>
                <a:spcPts val="600"/>
              </a:spcBef>
              <a:spcAft>
                <a:spcPts val="900"/>
              </a:spcAft>
            </a:pPr>
            <a:r>
              <a:rPr sz="1250" b="1">
                <a:solidFill>
                  <a:srgbClr val="FF8C1A"/>
                </a:solidFill>
                <a:latin typeface="Calibri"/>
              </a:rPr>
              <a:t>DISCOVER IT ON THE TERMINAL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HRA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/ </a:t>
            </a:r>
            <a:r>
              <a:rPr sz="1400" b="1">
                <a:solidFill>
                  <a:srgbClr val="FF8C1A"/>
                </a:solidFill>
                <a:latin typeface="Consolas"/>
              </a:rPr>
              <a:t>CORR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regressions and correlation matrices for pair discovery and hedge ratios.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BQNT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BQuant: hosted Python notebooks with full data access for signal research and backtesting.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BQL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Bloomberg Query Language: screen, aggregate and compute point-in-time factors server-side.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1">
                <a:solidFill>
                  <a:srgbClr val="FF8C1A"/>
                </a:solidFill>
                <a:latin typeface="Consolas"/>
              </a:rPr>
              <a:t>FLDS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— discover the 30,000+ data fields available for any security — raw material for features.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A8B2BF"/>
                </a:solidFill>
                <a:latin typeface="Calibri"/>
              </a:rPr>
              <a:t>      –  </a:t>
            </a:r>
            <a:r>
              <a:rPr sz="1400" b="0">
                <a:solidFill>
                  <a:srgbClr val="A8B2BF"/>
                </a:solidFill>
                <a:latin typeface="Calibri"/>
              </a:rPr>
              <a:t>Excel </a:t>
            </a:r>
            <a:r>
              <a:rPr sz="1400" b="1">
                <a:solidFill>
                  <a:srgbClr val="FF8C1A"/>
                </a:solidFill>
                <a:latin typeface="Consolas"/>
              </a:rPr>
              <a:t>BDH/BDP/BDS</a:t>
            </a:r>
            <a:r>
              <a:rPr sz="1400" b="0">
                <a:solidFill>
                  <a:srgbClr val="A8B2BF"/>
                </a:solidFill>
                <a:latin typeface="Calibri"/>
              </a:rPr>
              <a:t> + </a:t>
            </a:r>
            <a:r>
              <a:rPr sz="1400" b="1">
                <a:solidFill>
                  <a:srgbClr val="FF8C1A"/>
                </a:solidFill>
                <a:latin typeface="Consolas"/>
              </a:rPr>
              <a:t>XLTP &lt;GO&gt;</a:t>
            </a:r>
            <a:r>
              <a:rPr sz="1400" b="0">
                <a:solidFill>
                  <a:srgbClr val="A8B2BF"/>
                </a:solidFill>
                <a:latin typeface="Calibri"/>
              </a:rPr>
              <a:t> templates for rapid prototyping before you productionize.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Stat Arb &amp; Quant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From Idea to Alpha: The Terminal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1  DISCOVER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Idea generation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BI</a:t>
            </a:r>
            <a:r>
              <a:rPr sz="1100" b="0">
                <a:solidFill>
                  <a:srgbClr val="A8B2BF"/>
                </a:solidFill>
                <a:latin typeface="Calibri"/>
              </a:rPr>
              <a:t> primers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NSE</a:t>
            </a:r>
            <a:r>
              <a:rPr sz="1100" b="0">
                <a:solidFill>
                  <a:srgbClr val="A8B2BF"/>
                </a:solidFill>
                <a:latin typeface="Calibri"/>
              </a:rPr>
              <a:t> news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FTW</a:t>
            </a:r>
            <a:r>
              <a:rPr sz="1100" b="0">
                <a:solidFill>
                  <a:srgbClr val="A8B2BF"/>
                </a:solidFill>
                <a:latin typeface="Calibri"/>
              </a:rPr>
              <a:t> factors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TREN</a:t>
            </a:r>
            <a:r>
              <a:rPr sz="1100" b="0">
                <a:solidFill>
                  <a:srgbClr val="A8B2BF"/>
                </a:solidFill>
                <a:latin typeface="Calibri"/>
              </a:rPr>
              <a:t> chatter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600200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2  SCREEN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Narrow the universe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EQS</a:t>
            </a:r>
            <a:r>
              <a:rPr sz="1100" b="0">
                <a:solidFill>
                  <a:srgbClr val="A8B2BF"/>
                </a:solidFill>
                <a:latin typeface="Calibri"/>
              </a:rPr>
              <a:t> multi-factor screens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MA</a:t>
            </a:r>
            <a:r>
              <a:rPr sz="1100" b="0">
                <a:solidFill>
                  <a:srgbClr val="A8B2BF"/>
                </a:solidFill>
                <a:latin typeface="Calibri"/>
              </a:rPr>
              <a:t> deals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ECO</a:t>
            </a:r>
            <a:r>
              <a:rPr sz="1100" b="0">
                <a:solidFill>
                  <a:srgbClr val="A8B2BF"/>
                </a:solidFill>
                <a:latin typeface="Calibri"/>
              </a:rPr>
              <a:t> surprises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11312" y="1600200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3  ANALYZE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Build the variant view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FA</a:t>
            </a:r>
            <a:r>
              <a:rPr sz="1100" b="0">
                <a:solidFill>
                  <a:srgbClr val="A8B2BF"/>
                </a:solidFill>
                <a:latin typeface="Calibri"/>
              </a:rPr>
              <a:t> financials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MODL</a:t>
            </a:r>
            <a:r>
              <a:rPr sz="1100" b="0">
                <a:solidFill>
                  <a:srgbClr val="A8B2BF"/>
                </a:solidFill>
                <a:latin typeface="Calibri"/>
              </a:rPr>
              <a:t> consensus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RV</a:t>
            </a:r>
            <a:r>
              <a:rPr sz="1100" b="0">
                <a:solidFill>
                  <a:srgbClr val="A8B2BF"/>
                </a:solidFill>
                <a:latin typeface="Calibri"/>
              </a:rPr>
              <a:t> valuation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SPLC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27832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4  VALIDATE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Prove it historically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EQBT</a:t>
            </a:r>
            <a:r>
              <a:rPr sz="1100" b="0">
                <a:solidFill>
                  <a:srgbClr val="A8B2BF"/>
                </a:solidFill>
                <a:latin typeface="Calibri"/>
              </a:rPr>
              <a:t> backtests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HRA</a:t>
            </a:r>
            <a:r>
              <a:rPr sz="1100" b="0">
                <a:solidFill>
                  <a:srgbClr val="A8B2BF"/>
                </a:solidFill>
                <a:latin typeface="Calibri"/>
              </a:rPr>
              <a:t> regressions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BQNT</a:t>
            </a:r>
            <a:r>
              <a:rPr sz="1100" b="0">
                <a:solidFill>
                  <a:srgbClr val="A8B2BF"/>
                </a:solidFill>
                <a:latin typeface="Calibri"/>
              </a:rPr>
              <a:t> research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227832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5  CONSTRUCT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Size and hedge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PORT</a:t>
            </a:r>
            <a:r>
              <a:rPr sz="1100" b="0">
                <a:solidFill>
                  <a:srgbClr val="A8B2BF"/>
                </a:solidFill>
                <a:latin typeface="Calibri"/>
              </a:rPr>
              <a:t> optimizer · factor-neutral weights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BTCA</a:t>
            </a:r>
            <a:r>
              <a:rPr sz="1100" b="0">
                <a:solidFill>
                  <a:srgbClr val="A8B2BF"/>
                </a:solidFill>
                <a:latin typeface="Calibri"/>
              </a:rPr>
              <a:t> cost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11312" y="3227832"/>
            <a:ext cx="3703320" cy="1481328"/>
          </a:xfrm>
          <a:prstGeom prst="roundRect">
            <a:avLst>
              <a:gd name="adj" fmla="val 7000"/>
            </a:avLst>
          </a:prstGeom>
          <a:solidFill>
            <a:srgbClr val="161D27"/>
          </a:solidFill>
          <a:ln w="12700">
            <a:solidFill>
              <a:srgbClr val="2A35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FF8C1A"/>
                </a:solidFill>
                <a:latin typeface="Calibri"/>
              </a:rPr>
              <a:t>6  MONITOR</a:t>
            </a: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F2F4F7"/>
                </a:solidFill>
                <a:latin typeface="Calibri"/>
              </a:rPr>
              <a:t>Defend the alpha</a:t>
            </a:r>
          </a:p>
          <a:p>
            <a:pPr algn="l"/>
            <a:r>
              <a:rPr sz="1100" b="1">
                <a:solidFill>
                  <a:srgbClr val="4FC3F7"/>
                </a:solidFill>
                <a:latin typeface="Consolas"/>
              </a:rPr>
              <a:t>ALRT</a:t>
            </a:r>
            <a:r>
              <a:rPr sz="1100" b="0">
                <a:solidFill>
                  <a:srgbClr val="A8B2BF"/>
                </a:solidFill>
                <a:latin typeface="Calibri"/>
              </a:rPr>
              <a:t> alerts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PORT</a:t>
            </a:r>
            <a:r>
              <a:rPr sz="1100" b="0">
                <a:solidFill>
                  <a:srgbClr val="A8B2BF"/>
                </a:solidFill>
                <a:latin typeface="Calibri"/>
              </a:rPr>
              <a:t> attribution · </a:t>
            </a:r>
            <a:r>
              <a:rPr sz="1100" b="1">
                <a:solidFill>
                  <a:srgbClr val="4FC3F7"/>
                </a:solidFill>
                <a:latin typeface="Consolas"/>
              </a:rPr>
              <a:t>HDS</a:t>
            </a:r>
            <a:r>
              <a:rPr sz="1100" b="0">
                <a:solidFill>
                  <a:srgbClr val="A8B2BF"/>
                </a:solidFill>
                <a:latin typeface="Calibri"/>
              </a:rPr>
              <a:t>/</a:t>
            </a:r>
            <a:r>
              <a:rPr sz="1100" b="1">
                <a:solidFill>
                  <a:srgbClr val="4FC3F7"/>
                </a:solidFill>
                <a:latin typeface="Consolas"/>
              </a:rPr>
              <a:t>SI</a:t>
            </a:r>
            <a:r>
              <a:rPr sz="1100" b="0">
                <a:solidFill>
                  <a:srgbClr val="A8B2BF"/>
                </a:solidFill>
                <a:latin typeface="Calibri"/>
              </a:rPr>
              <a:t> crowding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7492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A8B2BF"/>
                </a:solidFill>
                <a:latin typeface="Calibri"/>
              </a:rPr>
              <a:t>The loop matters more than any single step: alpha that is not re-validated and monitored for crowding is alpha you used to have.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Workflow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Bloomberg Function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64240" cy="466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51760"/>
                <a:gridCol w="3931920"/>
                <a:gridCol w="4480560"/>
              </a:tblGrid>
              <a:tr h="38862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8C1A"/>
                          </a:solidFill>
                          <a:latin typeface="Calibri"/>
                        </a:rPr>
                        <a:t>Function</a:t>
                      </a:r>
                    </a:p>
                  </a:txBody>
                  <a:tcPr marL="73152" marR="54864" marT="18288" marB="18288">
                    <a:solidFill>
                      <a:srgbClr val="251C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8C1A"/>
                          </a:solidFill>
                          <a:latin typeface="Calibri"/>
                        </a:rPr>
                        <a:t>What it shows</a:t>
                      </a:r>
                    </a:p>
                  </a:txBody>
                  <a:tcPr marL="73152" marR="54864" marT="18288" marB="18288">
                    <a:solidFill>
                      <a:srgbClr val="251C0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8C1A"/>
                          </a:solidFill>
                          <a:latin typeface="Calibri"/>
                        </a:rPr>
                        <a:t>Alpha use</a:t>
                      </a:r>
                    </a:p>
                  </a:txBody>
                  <a:tcPr marL="73152" marR="54864" marT="18288" marB="18288">
                    <a:solidFill>
                      <a:srgbClr val="251C0E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EQS / EQBT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Equity screening + historical backtest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Factor &amp; fundamental idea generation, validation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PORT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Portfolio analytics, risk, attribution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Separate real alpha from hidden factor beta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FA / MODL / EE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Financials, consensus models, estimates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Find the street's weakest assumption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SURP / ANR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Earnings surprises, analyst recs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Revision drift; measure your contrarianism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MA / MARB / CACS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Deals, merger-arb spreads, corp actions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Event-driven and special situations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ECO / WIRP / ECFC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Macro calendar, implied policy, forecasts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Trade the surprise, not the level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CCRV / FWCV / FXFA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Commodity, rates and FX curves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Carry, roll yield and rolldown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HDS / SI / OMON / CFTC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Holders, shorts, options, COT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Crowding, squeezes, positioning extremes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NSE / TREN / SPLC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News search, trends, supply chains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Sentiment and information-chain alpha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HRA / CORR / BQNT / BQL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Regression, correlation, Python research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Stat-arb signals and systematic backtests</a:t>
                      </a:r>
                    </a:p>
                  </a:txBody>
                  <a:tcPr marL="73152" marR="54864" marT="18288" marB="18288">
                    <a:solidFill>
                      <a:srgbClr val="0D1117"/>
                    </a:solidFill>
                  </a:tcPr>
                </a:tc>
              </a:tr>
              <a:tr h="38862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8C1A"/>
                          </a:solidFill>
                          <a:latin typeface="Consolas"/>
                        </a:rPr>
                        <a:t>ALRT / BTCA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F2F4F7"/>
                          </a:solidFill>
                          <a:latin typeface="Calibri"/>
                        </a:rPr>
                        <a:t>Alerts, transaction cost analysis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A8B2BF"/>
                          </a:solidFill>
                          <a:latin typeface="Calibri"/>
                        </a:rPr>
                        <a:t>Monitor theses; keep paper alpha net of costs</a:t>
                      </a:r>
                    </a:p>
                  </a:txBody>
                  <a:tcPr marL="73152" marR="54864" marT="18288" marB="18288">
                    <a:solidFill>
                      <a:srgbClr val="161D2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Cheat Sheet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RISK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Why Alpha Dies — and How to Keep Yours Alive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Overfitting: with enough parameters any backtest “works” — demand an economic reason the edge exists, out-of-sample proof, and point-in-time data.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Crowding: published anomalies decay ~50%+ post-publication; monitor ownership (</a:t>
            </a:r>
            <a:r>
              <a:rPr sz="1500" b="1">
                <a:solidFill>
                  <a:srgbClr val="FF8C1A"/>
                </a:solidFill>
                <a:latin typeface="Consolas"/>
              </a:rPr>
              <a:t>HDS</a:t>
            </a:r>
            <a:r>
              <a:rPr sz="1500" b="0">
                <a:solidFill>
                  <a:srgbClr val="F2F4F7"/>
                </a:solidFill>
                <a:latin typeface="Calibri"/>
              </a:rPr>
              <a:t>), shorts (</a:t>
            </a:r>
            <a:r>
              <a:rPr sz="1500" b="1">
                <a:solidFill>
                  <a:srgbClr val="FF8C1A"/>
                </a:solidFill>
                <a:latin typeface="Consolas"/>
              </a:rPr>
              <a:t>SI</a:t>
            </a:r>
            <a:r>
              <a:rPr sz="1500" b="0">
                <a:solidFill>
                  <a:srgbClr val="F2F4F7"/>
                </a:solidFill>
                <a:latin typeface="Calibri"/>
              </a:rPr>
              <a:t>) and factor valuations before entry.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Costs: turnover, borrow fees and market impact convert paper alpha into real losses — model them with </a:t>
            </a:r>
            <a:r>
              <a:rPr sz="1500" b="1">
                <a:solidFill>
                  <a:srgbClr val="FF8C1A"/>
                </a:solidFill>
                <a:latin typeface="Consolas"/>
              </a:rPr>
              <a:t>BTCA &lt;GO&gt;</a:t>
            </a:r>
            <a:r>
              <a:rPr sz="1500" b="0">
                <a:solidFill>
                  <a:srgbClr val="F2F4F7"/>
                </a:solidFill>
                <a:latin typeface="Calibri"/>
              </a:rPr>
              <a:t> before scaling.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Hidden beta: re-run </a:t>
            </a:r>
            <a:r>
              <a:rPr sz="1500" b="1">
                <a:solidFill>
                  <a:srgbClr val="FF8C1A"/>
                </a:solidFill>
                <a:latin typeface="Consolas"/>
              </a:rPr>
              <a:t>PORT</a:t>
            </a:r>
            <a:r>
              <a:rPr sz="1500" b="0">
                <a:solidFill>
                  <a:srgbClr val="F2F4F7"/>
                </a:solidFill>
                <a:latin typeface="Calibri"/>
              </a:rPr>
              <a:t> attribution regularly; if the “alpha” is a static value tilt, own it deliberately and cheaply instead.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Regime change: carry and mean-reversion invert in stress — pre-define the kill-switch, size for the drawdown you haven't seen.</a:t>
            </a:r>
          </a:p>
          <a:p>
            <a:pPr>
              <a:spcAft>
                <a:spcPts val="1100"/>
              </a:spcAft>
            </a:pPr>
            <a:r>
              <a:rPr sz="1500">
                <a:solidFill>
                  <a:srgbClr val="FF8C1A"/>
                </a:solidFill>
                <a:latin typeface="Calibri"/>
              </a:rPr>
              <a:t>▪  </a:t>
            </a:r>
            <a:r>
              <a:rPr sz="1500" b="0">
                <a:solidFill>
                  <a:srgbClr val="F2F4F7"/>
                </a:solidFill>
                <a:latin typeface="Calibri"/>
              </a:rPr>
              <a:t>Survivorship &amp; look-ahead bias: backtest on the universe as it existed then — </a:t>
            </a:r>
            <a:r>
              <a:rPr sz="1500" b="1">
                <a:solidFill>
                  <a:srgbClr val="FF8C1A"/>
                </a:solidFill>
                <a:latin typeface="Consolas"/>
              </a:rPr>
              <a:t>EQBT</a:t>
            </a:r>
            <a:r>
              <a:rPr sz="1500" b="0">
                <a:solidFill>
                  <a:srgbClr val="F2F4F7"/>
                </a:solidFill>
                <a:latin typeface="Calibri"/>
              </a:rPr>
              <a:t> and </a:t>
            </a:r>
            <a:r>
              <a:rPr sz="1500" b="1">
                <a:solidFill>
                  <a:srgbClr val="FF8C1A"/>
                </a:solidFill>
                <a:latin typeface="Consolas"/>
              </a:rPr>
              <a:t>BQNT</a:t>
            </a:r>
            <a:r>
              <a:rPr sz="1500" b="0">
                <a:solidFill>
                  <a:srgbClr val="F2F4F7"/>
                </a:solidFill>
                <a:latin typeface="Calibri"/>
              </a:rPr>
              <a:t> support point-in-time universes.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Risk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FF8C1A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2F4F7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777240" cy="40640"/>
          </a:xfrm>
          <a:prstGeom prst="rect">
            <a:avLst/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FF8C1A"/>
                </a:solidFill>
                <a:latin typeface="Calibri"/>
              </a:rPr>
              <a:t>▪  </a:t>
            </a:r>
            <a:r>
              <a:rPr sz="1700" b="0">
                <a:solidFill>
                  <a:srgbClr val="F2F4F7"/>
                </a:solidFill>
                <a:latin typeface="Calibri"/>
              </a:rPr>
              <a:t>Alpha is scarce, risk-adjusted, and zero-sum — classify every idea by WHY the edge exists: informational, analytical, behavioral or structural.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8C1A"/>
                </a:solidFill>
                <a:latin typeface="Calibri"/>
              </a:rPr>
              <a:t>▪  </a:t>
            </a:r>
            <a:r>
              <a:rPr sz="1700" b="0">
                <a:solidFill>
                  <a:srgbClr val="F2F4F7"/>
                </a:solidFill>
                <a:latin typeface="Calibri"/>
              </a:rPr>
              <a:t>Eight durable hunting grounds: factors, fundamentals, events, macro, carry, flows, sentiment/alt-data, and statistical arbitrage.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8C1A"/>
                </a:solidFill>
                <a:latin typeface="Calibri"/>
              </a:rPr>
              <a:t>▪  </a:t>
            </a:r>
            <a:r>
              <a:rPr sz="1700" b="0">
                <a:solidFill>
                  <a:srgbClr val="F2F4F7"/>
                </a:solidFill>
                <a:latin typeface="Calibri"/>
              </a:rPr>
              <a:t>The Terminal is an alpha pipeline, not a quote screen: </a:t>
            </a:r>
            <a:r>
              <a:rPr sz="1700" b="1">
                <a:solidFill>
                  <a:srgbClr val="FF8C1A"/>
                </a:solidFill>
                <a:latin typeface="Consolas"/>
              </a:rPr>
              <a:t>discover → screen → analyze → validate → construct → monitor</a:t>
            </a:r>
            <a:r>
              <a:rPr sz="1700" b="0">
                <a:solidFill>
                  <a:srgbClr val="F2F4F7"/>
                </a:solidFill>
                <a:latin typeface="Calibri"/>
              </a:rPr>
              <a:t>, each step has a function.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FF8C1A"/>
                </a:solidFill>
                <a:latin typeface="Calibri"/>
              </a:rPr>
              <a:t>▪  </a:t>
            </a:r>
            <a:r>
              <a:rPr sz="1700" b="0">
                <a:solidFill>
                  <a:srgbClr val="F2F4F7"/>
                </a:solidFill>
                <a:latin typeface="Calibri"/>
              </a:rPr>
              <a:t>Defend what you find: measure crowding, model costs, re-attribute returns — assume every edge is decaying and re-earn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FF8C1A"/>
                </a:solidFill>
                <a:latin typeface="Calibri"/>
              </a:rPr>
              <a:t>“The terminal doesn't hand you alpha — it compresses the time from hypothesis to evidence.”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1908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67180"/>
                </a:solidFill>
                <a:latin typeface="Calibri"/>
              </a:rPr>
              <a:t>Sources of Alpha  | 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19088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718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
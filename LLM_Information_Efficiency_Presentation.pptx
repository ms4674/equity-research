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LLMs: A More Efficient Way of Gathering 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Optimizing Context, Cost &amp; Performance</a:t>
            </a:r>
          </a:p>
          <a:p>
            <a:r>
              <a:t>Based on research by Nicolas Bustamante &amp; recent LLM efficiency studies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Information Efficiency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Traditional search: Multiple queries, scattered results, manual synthesis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Every token sent to an LLM costs money, adds latency, and can degrade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Context rot: Agents become confused by accumulated noise in long conversations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The goal: Get more value from fewer tokens—smarter, not harder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LLM Context Tax: Triple Penalty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Higher costs — Cached tokens cost 10x less than uncached (Claude Opus 4.6)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Increased latency — More tokens = slower response times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Degraded performance — Models show significant confusion past 32K tokens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The difference between $0.50 and $5.00 per query often comes down to context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Strategies for Information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Stable prefixes for KV cache hits — Keep system prompts identical; move dynamic content to the end (up to 10x cost reduction)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Design precise tools — Smart tool design can reduce token consumption by 10x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Parallel tool calls — Fewer round trips = less context accumulation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Store outputs externally — Avoid context bloat by keeping tool outputs in filesystem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Application-level response caching — The cheapest token is one you never send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LLMs vs. Traditional Search: Efficiency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D3D5C"/>
                </a:solidFill>
              </a:defRPr>
            </a:pPr>
            <a:r>
              <a:t>• Reduce search space by up to 99.1% with guided strategies</a:t>
            </a:r>
          </a:p>
          <a:p>
            <a:pPr>
              <a:spcAft>
                <a:spcPts val="800"/>
              </a:spcAft>
              <a:defRPr sz="1600">
                <a:solidFill>
                  <a:srgbClr val="3D3D5C"/>
                </a:solidFill>
              </a:defRPr>
            </a:pPr>
            <a:r>
              <a:t>• Synthesize information across sources in one interaction</a:t>
            </a:r>
          </a:p>
          <a:p>
            <a:pPr>
              <a:spcAft>
                <a:spcPts val="800"/>
              </a:spcAft>
              <a:defRPr sz="1600">
                <a:solidFill>
                  <a:srgbClr val="3D3D5C"/>
                </a:solidFill>
              </a:defRPr>
            </a:pPr>
            <a:r>
              <a:t>• Speed up explorations and decisions on broad topics</a:t>
            </a:r>
          </a:p>
          <a:p>
            <a:pPr>
              <a:spcAft>
                <a:spcPts val="800"/>
              </a:spcAft>
              <a:defRPr sz="1600">
                <a:solidFill>
                  <a:srgbClr val="3D3D5C"/>
                </a:solidFill>
              </a:defRPr>
            </a:pPr>
            <a:r>
              <a:t>• Combine reasoning with retrieval for comprehensive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D3D5C"/>
                </a:solidFill>
              </a:defRPr>
            </a:pPr>
            <a:r>
              <a:t>• Traditional search: Many queries, manual filtering</a:t>
            </a:r>
          </a:p>
          <a:p>
            <a:pPr>
              <a:spcAft>
                <a:spcPts val="800"/>
              </a:spcAft>
              <a:defRPr sz="1600">
                <a:solidFill>
                  <a:srgbClr val="3D3D5C"/>
                </a:solidFill>
              </a:defRPr>
            </a:pPr>
            <a:r>
              <a:t>• LLMs: Single conversational query, integrated synthesis</a:t>
            </a:r>
          </a:p>
          <a:p>
            <a:pPr>
              <a:spcAft>
                <a:spcPts val="800"/>
              </a:spcAft>
              <a:defRPr sz="1600">
                <a:solidFill>
                  <a:srgbClr val="3D3D5C"/>
                </a:solidFill>
              </a:defRPr>
            </a:pPr>
            <a:r>
              <a:t>• Best approach: LLMs augmented with search (FreshPrompt method)</a:t>
            </a:r>
          </a:p>
          <a:p>
            <a:pPr>
              <a:spcAft>
                <a:spcPts val="800"/>
              </a:spcAft>
              <a:defRPr sz="1600">
                <a:solidFill>
                  <a:srgbClr val="3D3D5C"/>
                </a:solidFill>
              </a:defRPr>
            </a:pPr>
            <a:r>
              <a:t>• Dense retrievers outperform BM25 by 24.8% on scientific literature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166F97"/>
                </a:solidFill>
              </a:defRPr>
            </a:pPr>
            <a:r>
              <a:t>"The most important optimization for production agents: maintaining stable prefixes for KV cache hits—offering up to 10x cost reduction"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D3D5C"/>
                </a:solidFill>
              </a:defRPr>
            </a:pPr>
            <a:r>
              <a:t>— Nicolas Bustamante, The LLM Context Tax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Token Budgeting: The Hidden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Output tokens cost 5x more than uncached input tokens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The most expensive tokens are those you generate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Budget outputs carefully — request concise responses when possible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Delegate token-heavy operations to cheaper subagents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Reusable templates — stop regenerating the same code repeatedly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Efficient Information Gathering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Use LLMs for synthesis; augment with search for specific/niche knowledge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Optimize prompt structure: static content first, dynamic content last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Measure accuracy-efficiency trade-offs—tokens are not free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Adaptive compression: shorter responses for easier questions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Treat efficiency as a first-class evaluation metric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LLMs offer a more efficient information gathering paradigm when optimized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Context management is the difference between 10x cost variations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Strategic design—cache hits, tool precision, parallel calls—drives efficiency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The future: LLMs + search integration for comprehensive, cost-effective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Nicolas Bustamante — The LLM Context Tax: Best Tips for Tax Avoidance (nicolasbustamante.com)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How Well do LLMs Compress Their Own Chain-of-Thought? — Token Complexity Approach (arXiv 2503.01141)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OckBench: Measuring the Efficiency of LLM Reasoning (arXiv 2511.05722)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How Far are LLMs from Real Search? — Efficiency, Completeness Study (arXiv 2502.18387)</a:t>
            </a:r>
          </a:p>
          <a:p>
            <a:pPr>
              <a:spcAft>
                <a:spcPts val="1200"/>
              </a:spcAft>
              <a:defRPr sz="1800">
                <a:solidFill>
                  <a:srgbClr val="3D3D5C"/>
                </a:solidFill>
              </a:defRPr>
            </a:pPr>
            <a:r>
              <a:t>FreshLLMs: Search Engine Augmentation for LLMs (ACL 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
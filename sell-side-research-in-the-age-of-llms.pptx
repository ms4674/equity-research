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9A227"/>
                </a:solidFill>
                <a:latin typeface="Calibri"/>
              </a:rPr>
              <a:t>INDUSTRY PERSPECTIVE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6596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Sell-Side Research in the Age of LLMs</a:t>
            </a:r>
          </a:p>
          <a:p>
            <a:pPr algn="l"/>
            <a:r>
              <a:rPr sz="2000" b="0" i="0">
                <a:solidFill>
                  <a:srgbClr val="C9D6E3"/>
                </a:solidFill>
                <a:latin typeface="Calibri"/>
              </a:rPr>
              <a:t>The value proposition, what large language models commoditize, and how the business must adapt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77639"/>
            <a:ext cx="219456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C9D6E3"/>
                </a:solidFill>
                <a:latin typeface="Calibri"/>
              </a:rPr>
              <a:t>Strategy discussion document</a:t>
            </a:r>
          </a:p>
          <a:p>
            <a:pPr algn="l"/>
            <a:r>
              <a:rPr sz="1100" b="0" i="0">
                <a:solidFill>
                  <a:srgbClr val="8FA3B8"/>
                </a:solidFill>
                <a:latin typeface="Calibri"/>
              </a:rPr>
              <a:t>August 2026  •  Figures cited are directional industry estimates for discussion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239"/>
                </a:solidFill>
                <a:latin typeface="Calibri"/>
              </a:rPr>
              <a:t>The report is dying; the analyst is not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4415" cy="127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4"/>
                </a:solidFill>
                <a:latin typeface="Calibri"/>
              </a:rPr>
              <a:t>Sell-Side Research in the Age of LLMs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4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36192"/>
            <a:ext cx="475488" cy="786384"/>
          </a:xfrm>
          <a:prstGeom prst="roundRect">
            <a:avLst>
              <a:gd name="adj" fmla="val 45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475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9A227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554480"/>
            <a:ext cx="10378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B2239"/>
                </a:solidFill>
                <a:latin typeface="Calibri"/>
              </a:rPr>
              <a:t>Research was structurally challenged before LLMs arrived.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4525E"/>
                </a:solidFill>
                <a:latin typeface="Calibri"/>
              </a:rPr>
              <a:t>MiFID II unbundling, shrinking commission wallets, the passive shift and falling readership had already compressed economics and headcount for a decade.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478024"/>
            <a:ext cx="475488" cy="786384"/>
          </a:xfrm>
          <a:prstGeom prst="roundRect">
            <a:avLst>
              <a:gd name="adj" fmla="val 45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33472"/>
            <a:ext cx="475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9A227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96312"/>
            <a:ext cx="10378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B2239"/>
                </a:solidFill>
                <a:latin typeface="Calibri"/>
              </a:rPr>
              <a:t>LLMs commoditize the written report.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4525E"/>
                </a:solidFill>
                <a:latin typeface="Calibri"/>
              </a:rPr>
              <a:t>Summaries, recaps, primers and maintenance notes — anything derived from public information — can now be produced by a client's own tools at near-zero marginal cost, on demand.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419856"/>
            <a:ext cx="475488" cy="786384"/>
          </a:xfrm>
          <a:prstGeom prst="roundRect">
            <a:avLst>
              <a:gd name="adj" fmla="val 45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575304"/>
            <a:ext cx="475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9A227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3438144"/>
            <a:ext cx="10378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B2239"/>
                </a:solidFill>
                <a:latin typeface="Calibri"/>
              </a:rPr>
              <a:t>The durable value was never the PDF.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4525E"/>
                </a:solidFill>
                <a:latin typeface="Calibri"/>
              </a:rPr>
              <a:t>Proprietary data and primary research, non-consensus judgment with named accountability, corporate access and trusted relationships stay scarce — and become relatively more valuable.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61688"/>
            <a:ext cx="475488" cy="786384"/>
          </a:xfrm>
          <a:prstGeom prst="roundRect">
            <a:avLst>
              <a:gd name="adj" fmla="val 45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17136"/>
            <a:ext cx="475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9A227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379976"/>
            <a:ext cx="10378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B2239"/>
                </a:solidFill>
                <a:latin typeface="Calibri"/>
              </a:rPr>
              <a:t>The product must be rebuilt, not just accelerated.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4525E"/>
                </a:solidFill>
                <a:latin typeface="Calibri"/>
              </a:rPr>
              <a:t>Machine-readable, queryable, agent-accessible research; analysts redeployed from maintenance output to differentiated insight and primary information gathering.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303520"/>
            <a:ext cx="475488" cy="786384"/>
          </a:xfrm>
          <a:prstGeom prst="roundRect">
            <a:avLst>
              <a:gd name="adj" fmla="val 45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458968"/>
            <a:ext cx="475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9A227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321808"/>
            <a:ext cx="103784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0B2239"/>
                </a:solidFill>
                <a:latin typeface="Calibri"/>
              </a:rPr>
              <a:t>The business model must follow.</a:t>
            </a:r>
          </a:p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44525E"/>
                </a:solidFill>
                <a:latin typeface="Calibri"/>
              </a:rPr>
              <a:t>From bundled content toward data and IP licensing, priced analyst access and smaller, more senior teams — while deliberately solving the apprenticeship problem automation creates.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239"/>
                </a:solidFill>
                <a:latin typeface="Calibri"/>
              </a:rPr>
              <a:t>A business already under structural pressure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784"/>
                </a:solidFill>
                <a:latin typeface="Calibri"/>
              </a:rPr>
              <a:t>LLMs land on an industry whose economics were repriced well before generative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17904"/>
            <a:ext cx="1109441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4415" cy="127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4"/>
                </a:solidFill>
                <a:latin typeface="Calibri"/>
              </a:rPr>
              <a:t>Sell-Side Research in the Age of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4"/>
                </a:solidFill>
                <a:latin typeface="Calibri"/>
              </a:rP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28800"/>
            <a:ext cx="2633472" cy="13716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956816"/>
            <a:ext cx="24140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0B2239"/>
                </a:solidFill>
                <a:latin typeface="Calibri"/>
              </a:rPr>
              <a:t>~50%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2542032"/>
            <a:ext cx="2377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4525E"/>
                </a:solidFill>
                <a:latin typeface="Calibri"/>
              </a:rPr>
              <a:t>Decline in global equity research spend since pre-MiFID II peaks (industry estimates)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4992" y="1828800"/>
            <a:ext cx="2633472" cy="13716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956816"/>
            <a:ext cx="24140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0B2239"/>
                </a:solidFill>
                <a:latin typeface="Calibri"/>
              </a:rPr>
              <a:t>&lt;5%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2542032"/>
            <a:ext cx="2377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4525E"/>
                </a:solidFill>
                <a:latin typeface="Calibri"/>
              </a:rPr>
              <a:t>Share of published notes meaningfully read by intended clients (industry estimates)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1828800"/>
            <a:ext cx="2633472" cy="13716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91072" y="1956816"/>
            <a:ext cx="24140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0B2239"/>
                </a:solidFill>
                <a:latin typeface="Calibri"/>
              </a:rPr>
              <a:t>-30%+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542032"/>
            <a:ext cx="2377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4525E"/>
                </a:solidFill>
                <a:latin typeface="Calibri"/>
              </a:rPr>
              <a:t>Reduction in senior analyst headcount at major banks over the past decade (est.)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828800"/>
            <a:ext cx="2633472" cy="13716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07424" y="1956816"/>
            <a:ext cx="2414016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700" b="1" i="0">
                <a:solidFill>
                  <a:srgbClr val="0B2239"/>
                </a:solidFill>
                <a:latin typeface="Calibri"/>
              </a:rPr>
              <a:t>~90%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2542032"/>
            <a:ext cx="237744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 i="0">
                <a:solidFill>
                  <a:srgbClr val="44525E"/>
                </a:solidFill>
                <a:latin typeface="Calibri"/>
              </a:rPr>
              <a:t>Share of research output that is maintenance coverage: recaps, updates, previews (est.)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429000"/>
            <a:ext cx="1109441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Unbundling repriced the product.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MiFID II (2018) forced explicit payment for research; budgets fell sharply and never recovered, and US practice converged toward the same discipline.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Consumption shifted away from documents.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Clients triage torrents of notes via aggregators and internal platforms; the marginal PDF competes with every other PDF for seconds of attention.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Cross-subsidy sustains the economics.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Research is rarely profitable standalone; it is carried by trading relationships and the investment-banking franchise it supports.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Coverage concentrates where the wallet is.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Large caps are over-covered; small and mid caps increasingly orphaned — a gap both a risk and an opening for AI-scaled coverage.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VALUE 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239"/>
                </a:solidFill>
                <a:latin typeface="Calibri"/>
              </a:rPr>
              <a:t>What clients actually buy — five pillars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784"/>
                </a:solidFill>
                <a:latin typeface="Calibri"/>
              </a:rPr>
              <a:t>The written report is the container for several distinct services; LLMs affect each pillar very differently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17904"/>
            <a:ext cx="1109441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4415" cy="127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4"/>
                </a:solidFill>
                <a:latin typeface="Calibri"/>
              </a:rPr>
              <a:t>Sell-Side Research in the Age of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4"/>
                </a:solidFill>
                <a:latin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47088"/>
            <a:ext cx="3584448" cy="1810512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47088"/>
            <a:ext cx="3584448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97510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Calibri"/>
              </a:rPr>
              <a:t>1. Information &amp; synthesis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359152"/>
            <a:ext cx="325526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4525E"/>
                </a:solidFill>
                <a:latin typeface="Calibri"/>
              </a:rPr>
              <a:t>Collecting, cleaning and contextualizing public and industry information at speed — filings, transcripts, data, news — especially around earnings and events.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847088"/>
            <a:ext cx="3584448" cy="1810512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847088"/>
            <a:ext cx="3584448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97510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Calibri"/>
              </a:rPr>
              <a:t>2. Analysis &amp; forecasting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359152"/>
            <a:ext cx="325526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4525E"/>
                </a:solidFill>
                <a:latin typeface="Calibri"/>
              </a:rPr>
              <a:t>Maintained financial models and estimates that anchor consensus; scenario and valuation work clients benchmark against.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847088"/>
            <a:ext cx="3584448" cy="1810512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847088"/>
            <a:ext cx="3584448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97510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Calibri"/>
              </a:rPr>
              <a:t>3. Judgment &amp; “the call”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359152"/>
            <a:ext cx="325526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4525E"/>
                </a:solidFill>
                <a:latin typeface="Calibri"/>
              </a:rPr>
              <a:t>Ratings and non-consensus views from named analysts with public track records; pattern recognition built across cycles.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59" y="3858768"/>
            <a:ext cx="3584448" cy="1810512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59" y="3858768"/>
            <a:ext cx="3584448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87751" y="398678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Calibri"/>
              </a:rPr>
              <a:t>4. Corporate access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87751" y="4370832"/>
            <a:ext cx="325526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4525E"/>
                </a:solidFill>
                <a:latin typeface="Calibri"/>
              </a:rPr>
              <a:t>Management meetings, non-deal roadshows, conferences and expert networks — physical-world scarcity that content cannot replicate.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199" y="3858768"/>
            <a:ext cx="3584448" cy="1810512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199" y="3858768"/>
            <a:ext cx="3584448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1" y="398678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Calibri"/>
              </a:rPr>
              <a:t>5. Service &amp; relationships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1" y="4370832"/>
            <a:ext cx="3255264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4525E"/>
                </a:solidFill>
                <a:latin typeface="Calibri"/>
              </a:rPr>
              <a:t>Bespoke analysis on request, market color and positioning, being the first call — trust reinforced by accountability (e.g., Reg AC).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989320"/>
            <a:ext cx="1109441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1">
                <a:solidFill>
                  <a:srgbClr val="0B2239"/>
                </a:solidFill>
                <a:latin typeface="Calibri"/>
              </a:rPr>
              <a:t>Pillars 1–2 are content businesses exposed to automation; pillars 3–5 are people-and-trust businesses that are far harder to replicate.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239"/>
                </a:solidFill>
                <a:latin typeface="Calibri"/>
              </a:rPr>
              <a:t>Clients pay for the analyst, not the PDF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784"/>
                </a:solidFill>
                <a:latin typeface="Calibri"/>
              </a:rPr>
              <a:t>Understanding the payment mechanics reframes the LLM threat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17904"/>
            <a:ext cx="1109441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4415" cy="127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4"/>
                </a:solidFill>
                <a:latin typeface="Calibri"/>
              </a:rPr>
              <a:t>Sell-Side Research in the Age of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4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47088"/>
            <a:ext cx="66751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Broker vote.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Buy-side firms allocate research payments via periodic votes that reward service, responsiveness and access at least as much as written output.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Explicit research payments (CSA / RPA / hard dollar).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Post-unbundling budgets are negotiated, scrutinized and benchmarked — every line item must justify itself annually.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Execution alignment.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Research strengthens trading relationships and market share; the report is marketing for the platform as much as a product in itself.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Banking halo.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Coverage supports ECM/IPO franchises within strict independence rules; issuers value credible, visible analysts.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Corporate access allocations.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A large share of the vote in many accounts is effectively payment for access, not documents.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1847088"/>
            <a:ext cx="4050791" cy="4114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1847088"/>
            <a:ext cx="4050791" cy="4064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54112" y="1975104"/>
            <a:ext cx="372160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Calibri"/>
              </a:rPr>
              <a:t>Why this matters for LLMs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4112" y="2359152"/>
            <a:ext cx="3721607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250" b="0" i="0">
                <a:solidFill>
                  <a:srgbClr val="44525E"/>
                </a:solidFill>
                <a:latin typeface="Calibri"/>
              </a:rPr>
              <a:t>Because payment already attaches to relationships, judgment and access rather than documents, LLMs do not destroy the whole franchise — they hollow out the container.</a:t>
            </a:r>
          </a:p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44525E"/>
                </a:solidFill>
                <a:latin typeface="Calibri"/>
              </a:rPr>
              <a:t>But the container is what justified headcount, coverage breadth and much of the visible activity the vote rewards. When machines write the notes, firms must re-anchor the vote to what machines cannot 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THE TECHNOLOGY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239"/>
                </a:solidFill>
                <a:latin typeface="Calibri"/>
              </a:rPr>
              <a:t>What LLMs already do well in the research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784"/>
                </a:solidFill>
                <a:latin typeface="Calibri"/>
              </a:rPr>
              <a:t>Frontier models plus agentic workflows now chain these tasks end-to-end with limited supervision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17904"/>
            <a:ext cx="1109441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4415" cy="127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4"/>
                </a:solidFill>
                <a:latin typeface="Calibri"/>
              </a:rPr>
              <a:t>Sell-Side Research in the Age of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4"/>
                </a:solidFill>
                <a:latin typeface="Calibri"/>
              </a:rPr>
              <a:t>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47088"/>
            <a:ext cx="5440680" cy="1243584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47088"/>
            <a:ext cx="54406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975104"/>
            <a:ext cx="5111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Ingest &amp; summarize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359152"/>
            <a:ext cx="51114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4525E"/>
                </a:solidFill>
                <a:latin typeface="Calibri"/>
              </a:rPr>
              <a:t>Filings, transcripts, news and prior research digested in seconds; instant earnings first-takes and 10-K/10-Q change detection.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847088"/>
            <a:ext cx="5440680" cy="1243584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847088"/>
            <a:ext cx="54406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975104"/>
            <a:ext cx="5111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Extract &amp;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359152"/>
            <a:ext cx="51114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4525E"/>
                </a:solidFill>
                <a:latin typeface="Calibri"/>
              </a:rPr>
              <a:t>KPIs, guidance and segment data lifted from PDFs and calls into clean, comparable tables across a full coverage universe.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55264"/>
            <a:ext cx="5440680" cy="1243584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55264"/>
            <a:ext cx="54406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383280"/>
            <a:ext cx="5111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Draft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767328"/>
            <a:ext cx="51114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4525E"/>
                </a:solidFill>
                <a:latin typeface="Calibri"/>
              </a:rPr>
              <a:t>First-pass maintenance notes, previews and recaps in the analyst's voice, ready for editing and compliance review.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3255264"/>
            <a:ext cx="5440680" cy="1243584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8776" y="3255264"/>
            <a:ext cx="54406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3383280"/>
            <a:ext cx="5111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Screen &amp; answer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767328"/>
            <a:ext cx="51114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4525E"/>
                </a:solidFill>
                <a:latin typeface="Calibri"/>
              </a:rPr>
              <a:t>Natural-language queries across corpora: thematic exposure screens, cross-company comparisons, “who said what, when” retrieval.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63440"/>
            <a:ext cx="5440680" cy="1243584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663440"/>
            <a:ext cx="54406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791456"/>
            <a:ext cx="5111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Model &amp; 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175504"/>
            <a:ext cx="51114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4525E"/>
                </a:solidFill>
                <a:latin typeface="Calibri"/>
              </a:rPr>
              <a:t>Agents populate and refresh models after prints, run flux analysis and flag estimate divergence versus consensus.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4663440"/>
            <a:ext cx="5440680" cy="1243584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8776" y="4663440"/>
            <a:ext cx="5440680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4791456"/>
            <a:ext cx="5111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Translate &amp; distribute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5175504"/>
            <a:ext cx="51114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4525E"/>
                </a:solidFill>
                <a:latin typeface="Calibri"/>
              </a:rPr>
              <a:t>Global-language versions, client-specific summaries and format conversion at effectively zero marginal cost.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EXPOSURE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239"/>
                </a:solidFill>
                <a:latin typeface="Calibri"/>
              </a:rPr>
              <a:t>The commoditization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784"/>
                </a:solidFill>
                <a:latin typeface="Calibri"/>
              </a:rPr>
              <a:t>Substitutability today, by research output — public-information synthesis is most exposed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17904"/>
            <a:ext cx="1109441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4415" cy="127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4"/>
                </a:solidFill>
                <a:latin typeface="Calibri"/>
              </a:rPr>
              <a:t>Sell-Side Research in the Age of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4"/>
                </a:solidFill>
                <a:latin typeface="Calibri"/>
              </a:rPr>
              <a:t>6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1828800"/>
          <a:ext cx="11091671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7639"/>
                <a:gridCol w="1417320"/>
                <a:gridCol w="5696712"/>
              </a:tblGrid>
              <a:tr h="46228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Research output</a:t>
                      </a:r>
                    </a:p>
                  </a:txBody>
                  <a:tcPr marT="38100" marB="38100"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LLM substitutability</a:t>
                      </a:r>
                    </a:p>
                  </a:txBody>
                  <a:tcPr marT="38100" marB="38100">
                    <a:solidFill>
                      <a:srgbClr val="0B22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Implication</a:t>
                      </a:r>
                    </a:p>
                  </a:txBody>
                  <a:tcPr marT="38100" marB="38100">
                    <a:solidFill>
                      <a:srgbClr val="0B2239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2239"/>
                          </a:solidFill>
                          <a:latin typeface="Calibri"/>
                        </a:rPr>
                        <a:t>Earnings recaps / first takes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83A2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T="25400" marB="25400" anchor="ctr">
                    <a:solidFill>
                      <a:srgbClr val="F7E4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525E"/>
                          </a:solidFill>
                          <a:latin typeface="Calibri"/>
                        </a:rPr>
                        <a:t>Clients' own agents produce these from the transcript in minutes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2239"/>
                          </a:solidFill>
                          <a:latin typeface="Calibri"/>
                        </a:rPr>
                        <a:t>Maintenance notes &amp; estimate changes</a:t>
                      </a:r>
                    </a:p>
                  </a:txBody>
                  <a:tcPr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83A2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T="25400" marB="25400" anchor="ctr">
                    <a:solidFill>
                      <a:srgbClr val="F7E4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525E"/>
                          </a:solidFill>
                          <a:latin typeface="Calibri"/>
                        </a:rPr>
                        <a:t>Largest share of output volume; automate or abandon</a:t>
                      </a:r>
                    </a:p>
                  </a:txBody>
                  <a:tcPr marT="25400" marB="25400" anchor="ctr">
                    <a:solidFill>
                      <a:srgbClr val="F4F6F8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2239"/>
                          </a:solidFill>
                          <a:latin typeface="Calibri"/>
                        </a:rPr>
                        <a:t>Industry primers &amp; initiation background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83A2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T="25400" marB="25400" anchor="ctr">
                    <a:solidFill>
                      <a:srgbClr val="F7E4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525E"/>
                          </a:solidFill>
                          <a:latin typeface="Calibri"/>
                        </a:rPr>
                        <a:t>One-off reference content is exactly what LLMs synthesize best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2239"/>
                          </a:solidFill>
                          <a:latin typeface="Calibri"/>
                        </a:rPr>
                        <a:t>Comp sheets &amp; consensus aggregation</a:t>
                      </a:r>
                    </a:p>
                  </a:txBody>
                  <a:tcPr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A83A2E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T="25400" marB="25400" anchor="ctr">
                    <a:solidFill>
                      <a:srgbClr val="F7E4E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525E"/>
                          </a:solidFill>
                          <a:latin typeface="Calibri"/>
                        </a:rPr>
                        <a:t>Structured-data problem; already ceded to platforms and agents</a:t>
                      </a:r>
                    </a:p>
                  </a:txBody>
                  <a:tcPr marT="25400" marB="25400" anchor="ctr">
                    <a:solidFill>
                      <a:srgbClr val="F4F6F8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2239"/>
                          </a:solidFill>
                          <a:latin typeface="Calibri"/>
                        </a:rPr>
                        <a:t>Maintained models &amp; scenario tools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B0770A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T="25400" marB="25400" anchor="ctr">
                    <a:solidFill>
                      <a:srgbClr val="FBF0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525E"/>
                          </a:solidFill>
                          <a:latin typeface="Calibri"/>
                        </a:rPr>
                        <a:t>Mechanics automate; assumption-setting and credibility do not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2239"/>
                          </a:solidFill>
                          <a:latin typeface="Calibri"/>
                        </a:rPr>
                        <a:t>Proprietary surveys &amp; channel checks</a:t>
                      </a:r>
                    </a:p>
                  </a:txBody>
                  <a:tcPr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5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T="25400" marB="25400" anchor="ctr">
                    <a:solidFill>
                      <a:srgbClr val="E3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525E"/>
                          </a:solidFill>
                          <a:latin typeface="Calibri"/>
                        </a:rPr>
                        <a:t>Primary information LLMs cannot scrape; value rises</a:t>
                      </a:r>
                    </a:p>
                  </a:txBody>
                  <a:tcPr marT="25400" marB="25400" anchor="ctr">
                    <a:solidFill>
                      <a:srgbClr val="F4F6F8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2239"/>
                          </a:solidFill>
                          <a:latin typeface="Calibri"/>
                        </a:rPr>
                        <a:t>Non-consensus stock calls &amp; track record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5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T="25400" marB="25400" anchor="ctr">
                    <a:solidFill>
                      <a:srgbClr val="E3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525E"/>
                          </a:solidFill>
                          <a:latin typeface="Calibri"/>
                        </a:rPr>
                        <a:t>Judgment plus named accountability remains the franchise core</a:t>
                      </a:r>
                    </a:p>
                  </a:txBody>
                  <a:tcPr marT="25400" marB="25400" anchor="ctr">
                    <a:solidFill>
                      <a:srgbClr val="FFFFFF"/>
                    </a:solidFill>
                  </a:tcPr>
                </a:tc>
              </a:tr>
              <a:tr h="4622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B2239"/>
                          </a:solidFill>
                          <a:latin typeface="Calibri"/>
                        </a:rPr>
                        <a:t>Corporate access &amp; relationships</a:t>
                      </a:r>
                    </a:p>
                  </a:txBody>
                  <a:tcPr marT="25400" marB="254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2E7D52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T="25400" marB="25400" anchor="ctr">
                    <a:solidFill>
                      <a:srgbClr val="E3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44525E"/>
                          </a:solidFill>
                          <a:latin typeface="Calibri"/>
                        </a:rPr>
                        <a:t>Physical-world scarcity; not a content task at all</a:t>
                      </a:r>
                    </a:p>
                  </a:txBody>
                  <a:tcPr marT="25400" marB="25400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DEMAND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239"/>
                </a:solidFill>
                <a:latin typeface="Calibri"/>
              </a:rPr>
              <a:t>The buy side is building its own synthesis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784"/>
                </a:solidFill>
                <a:latin typeface="Calibri"/>
              </a:rPr>
              <a:t>The client's agent now sits between the analyst's PDF and the portfolio 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17904"/>
            <a:ext cx="1109441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4415" cy="127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4"/>
                </a:solidFill>
                <a:latin typeface="Calibri"/>
              </a:rPr>
              <a:t>Sell-Side Research in the Age of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4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47088"/>
            <a:ext cx="676656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Clients read primary sources directly.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Internal copilots ingest filings, transcripts and alternative data the moment they publish — ahead of, and instead of, the sell-side note.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Research is consumed by machines.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Notes are parsed into internal knowledge bases; the analyst's carefully crafted document becomes one retrieval source among many, stripped of format and branding.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Attribution weakens, so the vote weakens.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When insight arrives via an internal agent, clients struggle to know — or care — whose research contributed, eroding vote-based monetization.</a:t>
            </a:r>
          </a:p>
          <a:p>
            <a:pPr algn="l">
              <a:lnSpc>
                <a:spcPct val="108000"/>
              </a:lnSpc>
              <a:spcAft>
                <a:spcPts val="13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The competitive set widens.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Alt-data vendors, expert networks, aggregators and AI-native research startups all compete for the same shrinking, better-scrutinized wallet.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2011680"/>
            <a:ext cx="3959352" cy="3200400"/>
          </a:xfrm>
          <a:prstGeom prst="roundRect">
            <a:avLst>
              <a:gd name="adj" fmla="val 45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2304288"/>
            <a:ext cx="3502152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 i="0">
                <a:solidFill>
                  <a:srgbClr val="C9A227"/>
                </a:solidFill>
                <a:latin typeface="Calibri"/>
              </a:rPr>
              <a:t>The uncomfortable test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500" b="0" i="1">
                <a:solidFill>
                  <a:srgbClr val="FFFFFF"/>
                </a:solidFill>
                <a:latin typeface="Calibri"/>
              </a:rPr>
              <a:t>“If the client's agent has already read the 10-K, what is the analyst's summary of the 10-K worth?”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C9D6E3"/>
                </a:solidFill>
                <a:latin typeface="Calibri"/>
              </a:rPr>
              <a:t>Every research product should be re-underwritten against this question.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DURABLE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239"/>
                </a:solidFill>
                <a:latin typeface="Calibri"/>
              </a:rPr>
              <a:t>What remains scarce when content is free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784"/>
                </a:solidFill>
                <a:latin typeface="Calibri"/>
              </a:rPr>
              <a:t>Five assets LLMs strengthen rather than erode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17904"/>
            <a:ext cx="1109441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4415" cy="127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4"/>
                </a:solidFill>
                <a:latin typeface="Calibri"/>
              </a:rPr>
              <a:t>Sell-Side Research in the Age of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4"/>
                </a:solidFill>
                <a:latin typeface="Calibri"/>
              </a:rPr>
              <a:t>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47088"/>
            <a:ext cx="3584448" cy="196596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47088"/>
            <a:ext cx="3584448" cy="40640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97510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Calibri"/>
              </a:rPr>
              <a:t>Primary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359152"/>
            <a:ext cx="325526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4525E"/>
                </a:solidFill>
                <a:latin typeface="Calibri"/>
              </a:rPr>
              <a:t>Proprietary surveys, channel checks, expert relationships and datasets that do not exist on the public internet — the raw material client models cannot scrape.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847088"/>
            <a:ext cx="3584448" cy="196596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847088"/>
            <a:ext cx="3584448" cy="40640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97510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Calibri"/>
              </a:rPr>
              <a:t>Judgment &amp; accountability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359152"/>
            <a:ext cx="325526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4525E"/>
                </a:solidFill>
                <a:latin typeface="Calibri"/>
              </a:rPr>
              <a:t>A named analyst with a public track record, willing to be non-consensus and wrong in public. Regulatory attestation (Reg AC) means someone stands behind the view.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847088"/>
            <a:ext cx="3584448" cy="196596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847088"/>
            <a:ext cx="3584448" cy="40640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97510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Calibri"/>
              </a:rPr>
              <a:t>Corporate access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359152"/>
            <a:ext cx="325526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4525E"/>
                </a:solidFill>
                <a:latin typeface="Calibri"/>
              </a:rPr>
              <a:t>Management trust, non-deal roadshows and conferences. Scarcity is physical and relational; AI increases the premium on genuine face-to-face access.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23159" y="4014216"/>
            <a:ext cx="3584448" cy="196596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59" y="4014216"/>
            <a:ext cx="3584448" cy="40640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87751" y="4142232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Calibri"/>
              </a:rPr>
              <a:t>Trusted, liable synthesis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87751" y="4526280"/>
            <a:ext cx="325526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4525E"/>
                </a:solidFill>
                <a:latin typeface="Calibri"/>
              </a:rPr>
              <a:t>Compliance-reviewed, source-verified, auditable content that a fiduciary can rely on and cite — provenance becomes a product feature, not a footnote.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199" y="4014216"/>
            <a:ext cx="3584448" cy="196596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199" y="4014216"/>
            <a:ext cx="3584448" cy="40640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1" y="4142232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Calibri"/>
              </a:rPr>
              <a:t>Flows &amp; market color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1" y="4526280"/>
            <a:ext cx="3255264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44525E"/>
                </a:solidFill>
                <a:latin typeface="Calibri"/>
              </a:rPr>
              <a:t>Positioning, liquidity and sentiment read from the trading floor in real time — information that exists only inside the franchise.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THE VALUE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239"/>
                </a:solidFill>
                <a:latin typeface="Calibri"/>
              </a:rPr>
              <a:t>The report was the container, not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784"/>
                </a:solidFill>
                <a:latin typeface="Calibri"/>
              </a:rPr>
              <a:t>LLMs collapse the value of the document — and raise the premium on what feeds it and what sits above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17904"/>
            <a:ext cx="1109441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4415" cy="127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4"/>
                </a:solidFill>
                <a:latin typeface="Calibri"/>
              </a:rPr>
              <a:t>Sell-Side Research in the Age of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4"/>
                </a:solidFill>
                <a:latin typeface="Calibri"/>
              </a:rP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20"/>
            <a:ext cx="5394960" cy="32918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74520"/>
            <a:ext cx="5394960" cy="40640"/>
          </a:xfrm>
          <a:prstGeom prst="rect">
            <a:avLst/>
          </a:prstGeom>
          <a:solidFill>
            <a:srgbClr val="A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002536"/>
            <a:ext cx="5065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Calibri"/>
              </a:rPr>
              <a:t>What clients stop paying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386584"/>
            <a:ext cx="506577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44525E"/>
                </a:solidFill>
                <a:latin typeface="Calibri"/>
              </a:rPr>
              <a:t>Summaries and recaps of public information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44525E"/>
                </a:solidFill>
                <a:latin typeface="Calibri"/>
              </a:rPr>
              <a:t>Maintenance notes and mechanical estimate updates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44525E"/>
                </a:solidFill>
                <a:latin typeface="Calibri"/>
              </a:rPr>
              <a:t>Background primers, initiations-as-reference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44525E"/>
                </a:solidFill>
                <a:latin typeface="Calibri"/>
              </a:rPr>
              <a:t>Aggregation: comp sheets, consensus tables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44525E"/>
                </a:solidFill>
                <a:latin typeface="Calibri"/>
              </a:rPr>
              <a:t>Volume and speed as differentiators in themselves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874520"/>
            <a:ext cx="5394960" cy="32918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45352" y="1874520"/>
            <a:ext cx="5394960" cy="40640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002536"/>
            <a:ext cx="506577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Calibri"/>
              </a:rPr>
              <a:t>What clients pay more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386584"/>
            <a:ext cx="5065776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44525E"/>
                </a:solidFill>
                <a:latin typeface="Calibri"/>
              </a:rPr>
              <a:t>Proprietary data and primary research inputs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44525E"/>
                </a:solidFill>
                <a:latin typeface="Calibri"/>
              </a:rPr>
              <a:t>Differentiated, accountable, non-consensus judgment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44525E"/>
                </a:solidFill>
                <a:latin typeface="Calibri"/>
              </a:rPr>
              <a:t>Corporate access and trusted relationships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44525E"/>
                </a:solidFill>
                <a:latin typeface="Calibri"/>
              </a:rPr>
              <a:t>Verified, auditable, citable synthesis (provenance)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2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44525E"/>
                </a:solidFill>
                <a:latin typeface="Calibri"/>
              </a:rPr>
              <a:t>Direct access to the analyst — the scarce human hour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394960"/>
            <a:ext cx="11094415" cy="685800"/>
          </a:xfrm>
          <a:prstGeom prst="roundRect">
            <a:avLst>
              <a:gd name="adj" fmla="val 45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532120"/>
            <a:ext cx="105457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Calibri"/>
              </a:rPr>
              <a:t>Value migrates along the chain: from content → to data, access and judgment. Firms that own the inputs and the trust win; firms that own only the document do not.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ADAPTATION — HORIZON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239"/>
                </a:solidFill>
                <a:latin typeface="Calibri"/>
              </a:rPr>
              <a:t>Automate the commoditized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784"/>
                </a:solidFill>
                <a:latin typeface="Calibri"/>
              </a:rPr>
              <a:t>Efficiency is the entry ticket, not the strategy — but it funds everything else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17904"/>
            <a:ext cx="1109441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4415" cy="127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4"/>
                </a:solidFill>
                <a:latin typeface="Calibri"/>
              </a:rPr>
              <a:t>Sell-Side Research in the Age of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4"/>
                </a:solidFill>
                <a:latin typeface="Calibri"/>
              </a:rPr>
              <a:t>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47088"/>
            <a:ext cx="72237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Deploy analyst copilots across coverage.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Summarization, extraction, drafting and model maintenance embedded in the research workflow, tuned to each franchise's voice and templates.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Automate the first take — with sign-off.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Machine-drafted earnings notes published minutes after the print, reviewed and signed by the named analyst; speed with accountability.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Industrialize model maintenance.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Agents refresh models, run flux analysis and flag anomalies; analysts adjudicate assumptions rather than re-key data.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Build compliance into the pipeline.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Draft → automated checks (sourcing, disclosures, restricted lists) → human review → publish; auditable end to end.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Redeploy the time saved.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The point is not fewer analysts producing the same notes — it is the same analysts producing primary research, calls and client engagement instead.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847088"/>
            <a:ext cx="3593592" cy="3977639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847088"/>
            <a:ext cx="3593592" cy="406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1" y="1975104"/>
            <a:ext cx="3264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Calibri"/>
              </a:rPr>
              <a:t>Metrics that matter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1" y="2359152"/>
            <a:ext cx="3264408" cy="3337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Time-to-publish at earnings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Coverage breadth at constant cost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Share of analyst time on primary work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Client interactions per analyst</a:t>
            </a:r>
          </a:p>
          <a:p>
            <a:pPr algn="l">
              <a:lnSpc>
                <a:spcPct val="108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Error and correction rates vs. baseline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ADAPTATION — HORIZON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239"/>
                </a:solidFill>
                <a:latin typeface="Calibri"/>
              </a:rPr>
              <a:t>Publish for two readers: humans and machines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784"/>
                </a:solidFill>
                <a:latin typeface="Calibri"/>
              </a:rPr>
              <a:t>If clients' agents are the new readership, the product must be designed for them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17904"/>
            <a:ext cx="1109441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4415" cy="127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4"/>
                </a:solidFill>
                <a:latin typeface="Calibri"/>
              </a:rPr>
              <a:t>Sell-Side Research in the Age of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4"/>
                </a:solidFill>
                <a:latin typeface="Calibri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47088"/>
            <a:ext cx="5440680" cy="1243584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47088"/>
            <a:ext cx="544068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975104"/>
            <a:ext cx="5111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Research as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359152"/>
            <a:ext cx="51114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4525E"/>
                </a:solidFill>
                <a:latin typeface="Calibri"/>
              </a:rPr>
              <a:t>Structured estimates, ratings, theses and model outputs delivered as entitled data feeds — not locked inside PDFs.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847088"/>
            <a:ext cx="5440680" cy="1243584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08776" y="1847088"/>
            <a:ext cx="544068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1975104"/>
            <a:ext cx="5111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Licensed knowledge 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2359152"/>
            <a:ext cx="51114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4525E"/>
                </a:solidFill>
                <a:latin typeface="Calibri"/>
              </a:rPr>
              <a:t>The research corpus made available, with entitlements and usage tracking, for retrieval inside clients' own LLM stacks.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255264"/>
            <a:ext cx="5440680" cy="1243584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255264"/>
            <a:ext cx="544068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383280"/>
            <a:ext cx="5111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Interactive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767328"/>
            <a:ext cx="51114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4525E"/>
                </a:solidFill>
                <a:latin typeface="Calibri"/>
              </a:rPr>
              <a:t>Live scenario tools replacing static exhibits: clients stress the analyst's assumptions instead of reading about them.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3255264"/>
            <a:ext cx="5440680" cy="1243584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8776" y="3255264"/>
            <a:ext cx="544068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3383280"/>
            <a:ext cx="5111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“Ask the franchise”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3767328"/>
            <a:ext cx="51114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4525E"/>
                </a:solidFill>
                <a:latin typeface="Calibri"/>
              </a:rPr>
              <a:t>A conversational interface over the analyst's models and notes, answering instantly and escalating to the human when it matters.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663440"/>
            <a:ext cx="5440680" cy="1243584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663440"/>
            <a:ext cx="544068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791456"/>
            <a:ext cx="5111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Provenance as a feature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175504"/>
            <a:ext cx="51114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4525E"/>
                </a:solidFill>
                <a:latin typeface="Calibri"/>
              </a:rPr>
              <a:t>Every claim linked to its source; citation metadata and audit trails that clients' compliance functions can verify.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4663440"/>
            <a:ext cx="5440680" cy="1243584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08776" y="4663440"/>
            <a:ext cx="5440680" cy="406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4791456"/>
            <a:ext cx="5111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Attribution telemetry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5175504"/>
            <a:ext cx="511149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44525E"/>
                </a:solidFill>
                <a:latin typeface="Calibri"/>
              </a:rPr>
              <a:t>Usage signals from machine consumption feeding the vote — proving value even when no human opens the note.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ADAPTATION — HORIZON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239"/>
                </a:solidFill>
                <a:latin typeface="Calibri"/>
              </a:rPr>
              <a:t>Reprice around scarcity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784"/>
                </a:solidFill>
                <a:latin typeface="Calibri"/>
              </a:rPr>
              <a:t>The revenue model follows the value: data, access and judgment — not documents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17904"/>
            <a:ext cx="1109441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4415" cy="127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4"/>
                </a:solidFill>
                <a:latin typeface="Calibri"/>
              </a:rPr>
              <a:t>Sell-Side Research in the Age of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4"/>
                </a:solidFill>
                <a:latin typeface="Calibri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47088"/>
            <a:ext cx="72237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From subscriptions to data &amp; IP licensing.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Structured research content, estimates and proprietary datasets licensed for machine consumption, with usage-based and query-based pricing.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Tier the human.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Analyst time becomes the explicit premium product — priced calls, bespoke work and advisory retainers — while the machine-served layer scales cheaply underneath.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Price corporate access properly.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A compliant, transparent access product rather than an implicit subsidy buried in the vote.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Fewer, more senior, more leveraged teams.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Each franchise supported by agents and shared data infrastructure; coverage breadth via automation, differentiation via people.</a:t>
            </a:r>
          </a:p>
          <a:p>
            <a:pPr algn="l">
              <a:lnSpc>
                <a:spcPct val="108000"/>
              </a:lnSpc>
              <a:spcAft>
                <a:spcPts val="1200"/>
              </a:spcAft>
            </a:pPr>
            <a:r>
              <a:rPr sz="130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00" b="1" i="0">
                <a:solidFill>
                  <a:srgbClr val="0B2239"/>
                </a:solidFill>
                <a:latin typeface="Calibri"/>
              </a:rPr>
              <a:t>Decide the platform question deliberately.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Build proprietary AI infrastructure, partner with LLM and data platforms, or license out the corpus — each path has different margin and control trade-offs.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847088"/>
            <a:ext cx="3593592" cy="3977639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19" y="1847088"/>
            <a:ext cx="3593592" cy="4064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1" y="1975104"/>
            <a:ext cx="3264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B2239"/>
                </a:solidFill>
                <a:latin typeface="Calibri"/>
              </a:rPr>
              <a:t>The moat, restated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1" y="2359152"/>
            <a:ext cx="3264408" cy="33375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200" b="0" i="0">
                <a:solidFill>
                  <a:srgbClr val="44525E"/>
                </a:solidFill>
                <a:latin typeface="Calibri"/>
              </a:rPr>
              <a:t>The defensible asset is the franchise: named analysts, proprietary inputs and institutional trust.</a:t>
            </a:r>
          </a:p>
          <a:p>
            <a:pPr algn="l">
              <a:lnSpc>
                <a:spcPct val="118000"/>
              </a:lnSpc>
            </a:pPr>
            <a:r>
              <a:rPr sz="1200" b="0" i="0">
                <a:solidFill>
                  <a:srgbClr val="44525E"/>
                </a:solidFill>
                <a:latin typeface="Calibri"/>
              </a:rPr>
              <a:t>LLMs are distribution and leverage for that franchise — they are only a threat to firms whose product was the document itself.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PEOPLE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239"/>
                </a:solidFill>
                <a:latin typeface="Calibri"/>
              </a:rPr>
              <a:t>The apprenticeship problem is the hardest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784"/>
                </a:solidFill>
                <a:latin typeface="Calibri"/>
              </a:rPr>
              <a:t>Automation removes the work juniors learned on — the pipeline must be redesigned, not left to atrophy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17904"/>
            <a:ext cx="1109441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4415" cy="127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4"/>
                </a:solidFill>
                <a:latin typeface="Calibri"/>
              </a:rPr>
              <a:t>Sell-Side Research in the Age of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4"/>
                </a:solidFill>
                <a:latin typeface="Calibri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847088"/>
            <a:ext cx="11094415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3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0B2239"/>
                </a:solidFill>
                <a:latin typeface="Calibri"/>
              </a:rPr>
              <a:t>The pyramid inverts. </a:t>
            </a:r>
            <a:r>
              <a:rPr sz="1350" b="0" i="0">
                <a:solidFill>
                  <a:srgbClr val="44525E"/>
                </a:solidFill>
                <a:latin typeface="Calibri"/>
              </a:rPr>
              <a:t>Associates historically learned by doing what LLMs now do: modeling, note drafting, data work. Teams get smaller and more senior — but seniors have to come from somewhere.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3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0B2239"/>
                </a:solidFill>
                <a:latin typeface="Calibri"/>
              </a:rPr>
              <a:t>Design deliberate training. </a:t>
            </a:r>
            <a:r>
              <a:rPr sz="1350" b="0" i="0">
                <a:solidFill>
                  <a:srgbClr val="44525E"/>
                </a:solidFill>
                <a:latin typeface="Calibri"/>
              </a:rPr>
              <a:t>Rotations through primary research, client interaction and live calls; simulation and review-based learning replacing grunt-work osmosis.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3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0B2239"/>
                </a:solidFill>
                <a:latin typeface="Calibri"/>
              </a:rPr>
              <a:t>New roles enter the team. </a:t>
            </a:r>
            <a:r>
              <a:rPr sz="1350" b="0" i="0">
                <a:solidFill>
                  <a:srgbClr val="44525E"/>
                </a:solidFill>
                <a:latin typeface="Calibri"/>
              </a:rPr>
              <a:t>Research engineers, agent and prompt operations, data curators and provenance stewards sit alongside analysts as first-class functions.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3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0B2239"/>
                </a:solidFill>
                <a:latin typeface="Calibri"/>
              </a:rPr>
              <a:t>The analyst skill mix shifts. </a:t>
            </a:r>
            <a:r>
              <a:rPr sz="1350" b="0" i="0">
                <a:solidFill>
                  <a:srgbClr val="44525E"/>
                </a:solidFill>
                <a:latin typeface="Calibri"/>
              </a:rPr>
              <a:t>Sourcing proprietary information, making judgments, communicating and building relationships dominate; production mechanics fade.</a:t>
            </a:r>
          </a:p>
          <a:p>
            <a:pPr algn="l">
              <a:lnSpc>
                <a:spcPct val="108000"/>
              </a:lnSpc>
              <a:spcAft>
                <a:spcPts val="1400"/>
              </a:spcAft>
            </a:pPr>
            <a:r>
              <a:rPr sz="13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350" b="1" i="0">
                <a:solidFill>
                  <a:srgbClr val="0B2239"/>
                </a:solidFill>
                <a:latin typeface="Calibri"/>
              </a:rPr>
              <a:t>Compensation follows scarcity. </a:t>
            </a:r>
            <a:r>
              <a:rPr sz="1350" b="0" i="0">
                <a:solidFill>
                  <a:srgbClr val="44525E"/>
                </a:solidFill>
                <a:latin typeface="Calibri"/>
              </a:rPr>
              <a:t>Franchise analysts and the engineers who leverage them capture more of the pool; undifferentiated production roles compress.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239"/>
                </a:solidFill>
                <a:latin typeface="Calibri"/>
              </a:rPr>
              <a:t>Constraints on the transition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784"/>
                </a:solidFill>
                <a:latin typeface="Calibri"/>
              </a:rPr>
              <a:t>Research is regulated, liable content — adoption must be engineered, not improvised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17904"/>
            <a:ext cx="1109441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4415" cy="127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4"/>
                </a:solidFill>
                <a:latin typeface="Calibri"/>
              </a:rPr>
              <a:t>Sell-Side Research in the Age of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4"/>
                </a:solidFill>
                <a:latin typeface="Calibri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47088"/>
            <a:ext cx="3584448" cy="19202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47088"/>
            <a:ext cx="3584448" cy="40640"/>
          </a:xfrm>
          <a:prstGeom prst="rect">
            <a:avLst/>
          </a:prstGeom>
          <a:solidFill>
            <a:srgbClr val="A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97510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Hallucination &amp; liability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359152"/>
            <a:ext cx="325526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44525E"/>
                </a:solidFill>
                <a:latin typeface="Calibri"/>
              </a:rPr>
              <a:t>Errors in published research carry fiduciary and reputational consequences. Human sign-off, automated fact-checking and source-linking are non-negotiable.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847088"/>
            <a:ext cx="3584448" cy="19202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847088"/>
            <a:ext cx="3584448" cy="40640"/>
          </a:xfrm>
          <a:prstGeom prst="rect">
            <a:avLst/>
          </a:prstGeom>
          <a:solidFill>
            <a:srgbClr val="A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97510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Regulatory perimeter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359152"/>
            <a:ext cx="325526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44525E"/>
                </a:solidFill>
                <a:latin typeface="Calibri"/>
              </a:rPr>
              <a:t>Reg AC attestations, MiFID inducement rules, research independence and fair-distribution obligations all apply to machine-assisted output exactly as to human output.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847088"/>
            <a:ext cx="3584448" cy="19202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847088"/>
            <a:ext cx="3584448" cy="40640"/>
          </a:xfrm>
          <a:prstGeom prst="rect">
            <a:avLst/>
          </a:prstGeom>
          <a:solidFill>
            <a:srgbClr val="A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97510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Information barriers &amp; MNPI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359152"/>
            <a:ext cx="325526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44525E"/>
                </a:solidFill>
                <a:latin typeface="Calibri"/>
              </a:rPr>
              <a:t>Data products and agent pipelines must respect walls; aggregation of client flows or private signals can create MNPI risk at scale.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68496"/>
            <a:ext cx="3584448" cy="19202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68496"/>
            <a:ext cx="3584448" cy="40640"/>
          </a:xfrm>
          <a:prstGeom prst="rect">
            <a:avLst/>
          </a:prstGeom>
          <a:solidFill>
            <a:srgbClr val="A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096512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IP leakage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80560"/>
            <a:ext cx="325526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44525E"/>
                </a:solidFill>
                <a:latin typeface="Calibri"/>
              </a:rPr>
              <a:t>Research used to train or ground external models without entitlement destroys the licensing opportunity; contracts and telemetry must protect the corpus.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80" y="3968496"/>
            <a:ext cx="3584448" cy="19202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80" y="3968496"/>
            <a:ext cx="3584448" cy="40640"/>
          </a:xfrm>
          <a:prstGeom prst="rect">
            <a:avLst/>
          </a:prstGeom>
          <a:solidFill>
            <a:srgbClr val="A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4096512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Willingness-to-pay compression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4480560"/>
            <a:ext cx="325526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44525E"/>
                </a:solidFill>
                <a:latin typeface="Calibri"/>
              </a:rPr>
              <a:t>Clients' own AI keeps deflating the content layer; cost savings alone cannot outrun a shrinking wallet — new products must land before old revenue erodes.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3968496"/>
            <a:ext cx="3584448" cy="19202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3968496"/>
            <a:ext cx="3584448" cy="40640"/>
          </a:xfrm>
          <a:prstGeom prst="rect">
            <a:avLst/>
          </a:prstGeom>
          <a:solidFill>
            <a:srgbClr val="A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11312" y="4096512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B2239"/>
                </a:solidFill>
                <a:latin typeface="Calibri"/>
              </a:rPr>
              <a:t>Trust asymmetry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1312" y="4480560"/>
            <a:ext cx="3255264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80" b="0" i="0">
                <a:solidFill>
                  <a:srgbClr val="44525E"/>
                </a:solidFill>
                <a:latin typeface="Calibri"/>
              </a:rPr>
              <a:t>One prominent AI-generated error can damage a franchise built over decades; the compliance bar for automation is rightly higher than for humans.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239"/>
                </a:solidFill>
                <a:latin typeface="Calibri"/>
              </a:rPr>
              <a:t>Three futures for sell-side research by 2030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6B7784"/>
                </a:solidFill>
                <a:latin typeface="Calibri"/>
              </a:rPr>
              <a:t>The middle of the industry is most at risk in every scenario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17904"/>
            <a:ext cx="1109441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6473952"/>
            <a:ext cx="11094415" cy="127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4"/>
                </a:solidFill>
                <a:latin typeface="Calibri"/>
              </a:rPr>
              <a:t>Sell-Side Research in the Age of LLMs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4"/>
                </a:solidFill>
                <a:latin typeface="Calibri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47088"/>
            <a:ext cx="3584448" cy="35204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1847088"/>
            <a:ext cx="3584448" cy="40640"/>
          </a:xfrm>
          <a:prstGeom prst="rect">
            <a:avLst/>
          </a:prstGeom>
          <a:solidFill>
            <a:srgbClr val="A8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197510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Calibri"/>
              </a:rPr>
              <a:t>Managed decline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359152"/>
            <a:ext cx="325526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Research shrinks toward a banking-support cost center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Coverage narrows; maintenance output fully automated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Wallet keeps compressing; juniors not replaced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Value migrates to alt-data vendors and AI-native entrants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847088"/>
            <a:ext cx="3584448" cy="35204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847088"/>
            <a:ext cx="3584448" cy="40640"/>
          </a:xfrm>
          <a:prstGeom prst="rect">
            <a:avLst/>
          </a:prstGeom>
          <a:solidFill>
            <a:srgbClr val="B077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197510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Calibri"/>
              </a:rPr>
              <a:t>Barbell (base case)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2359152"/>
            <a:ext cx="325526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Scaled platforms win on proprietary data + distribution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Boutiques win on depth, access and named judgment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The undifferentiated middle exits or consolidates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Vote re-anchors to access, data and analyst time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847088"/>
            <a:ext cx="3584448" cy="352044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847088"/>
            <a:ext cx="3584448" cy="40640"/>
          </a:xfrm>
          <a:prstGeom prst="rect">
            <a:avLst/>
          </a:prstGeom>
          <a:solidFill>
            <a:srgbClr val="2E7D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2" y="1975104"/>
            <a:ext cx="325526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0B2239"/>
                </a:solidFill>
                <a:latin typeface="Calibri"/>
              </a:rPr>
              <a:t>Reinvention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2359152"/>
            <a:ext cx="3255264" cy="2880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Research becomes a data &amp; IP business with API distribution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Machine consumption is measured, attributed and monetized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Margins improve as production cost collapses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150" b="1" i="0">
                <a:solidFill>
                  <a:srgbClr val="C9A227"/>
                </a:solidFill>
                <a:latin typeface="Calibri"/>
              </a:rPr>
              <a:t>▪  </a:t>
            </a:r>
            <a:r>
              <a:rPr sz="1150" b="0" i="0">
                <a:solidFill>
                  <a:srgbClr val="44525E"/>
                </a:solidFill>
                <a:latin typeface="Calibri"/>
              </a:rPr>
              <a:t>Analyst franchises monetized directly — media-like economics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1">
                <a:solidFill>
                  <a:srgbClr val="0B2239"/>
                </a:solidFill>
                <a:latin typeface="Calibri"/>
              </a:rPr>
              <a:t>Which scenario a firm lands in is a choice: the determining variables are proprietary data, franchise analysts and machine-era distribution — all investable today.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C9A227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"/>
            <a:ext cx="1109441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0B2239"/>
                </a:solidFill>
                <a:latin typeface="Calibri"/>
              </a:rPr>
              <a:t>Five strategic imperatives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07008"/>
            <a:ext cx="11094415" cy="279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6473952"/>
            <a:ext cx="11094415" cy="12700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28816"/>
            <a:ext cx="73152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784"/>
                </a:solidFill>
                <a:latin typeface="Calibri"/>
              </a:rPr>
              <a:t>Sell-Side Research in the Age of LLMs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528816"/>
            <a:ext cx="10972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784"/>
                </a:solidFill>
                <a:latin typeface="Calibri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63624"/>
            <a:ext cx="457200" cy="658368"/>
          </a:xfrm>
          <a:prstGeom prst="roundRect">
            <a:avLst>
              <a:gd name="adj" fmla="val 45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73352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0B2239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609344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0B2239"/>
                </a:solidFill>
                <a:latin typeface="Calibri"/>
              </a:rPr>
              <a:t>Automate the commoditized layer ruthlessly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— and reinvest every saved hour in primary research and client engagement, not in more notes.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68296"/>
            <a:ext cx="457200" cy="658368"/>
          </a:xfrm>
          <a:prstGeom prst="roundRect">
            <a:avLst>
              <a:gd name="adj" fmla="val 45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478024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0B2239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414016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0B2239"/>
                </a:solidFill>
                <a:latin typeface="Calibri"/>
              </a:rPr>
              <a:t>Rebuild distribution for machines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— APIs, structured data, licensed corpora and provenance metadata; the client's agent is now a reader.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72968"/>
            <a:ext cx="457200" cy="658368"/>
          </a:xfrm>
          <a:prstGeom prst="roundRect">
            <a:avLst>
              <a:gd name="adj" fmla="val 45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282696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0B2239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218688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0B2239"/>
                </a:solidFill>
                <a:latin typeface="Calibri"/>
              </a:rPr>
              <a:t>Reprice around scarcity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— data, corporate access and analyst judgment carry the P&amp;L; documents do not.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40"/>
            <a:ext cx="457200" cy="658368"/>
          </a:xfrm>
          <a:prstGeom prst="roundRect">
            <a:avLst>
              <a:gd name="adj" fmla="val 45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087368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0B2239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02336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0B2239"/>
                </a:solidFill>
                <a:latin typeface="Calibri"/>
              </a:rPr>
              <a:t>Protect trust as the core asset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— compliance-by-design, verified sourcing and named accountability on everything published.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782312"/>
            <a:ext cx="457200" cy="658368"/>
          </a:xfrm>
          <a:prstGeom prst="roundRect">
            <a:avLst>
              <a:gd name="adj" fmla="val 45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1" i="0">
                <a:solidFill>
                  <a:srgbClr val="0B2239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4828032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0B2239"/>
                </a:solidFill>
                <a:latin typeface="Calibri"/>
              </a:rPr>
              <a:t>Rebuild the talent pipeline deliberately </a:t>
            </a:r>
            <a:r>
              <a:rPr sz="1300" b="0" i="0">
                <a:solidFill>
                  <a:srgbClr val="44525E"/>
                </a:solidFill>
                <a:latin typeface="Calibri"/>
              </a:rPr>
              <a:t>— juniors no longer learn by grinding; apprenticeship must be designed, or the senior bench of 2035 will not exist.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5660136"/>
            <a:ext cx="11094415" cy="713232"/>
          </a:xfrm>
          <a:prstGeom prst="roundRect">
            <a:avLst>
              <a:gd name="adj" fmla="val 4500"/>
            </a:avLst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60136"/>
            <a:ext cx="10545775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The PDF is dying; the analyst is not. Franchises that treat LLMs as leverage and distribution — rather than as a threat to the document — will take share.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
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1F6FE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340</c:v>
                </c:pt>
                <c:pt idx="2">
                  <c:v>1250</c:v>
                </c:pt>
                <c:pt idx="3">
                  <c:v>4300</c:v>
                </c:pt>
                <c:pt idx="4">
                  <c:v>11000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7E0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3347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ln w="31750">
              <a:solidFill>
                <a:srgbClr val="D9A441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62</c:v>
                </c:pt>
                <c:pt idx="2">
                  <c:v>30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7E0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3347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United States</c:v>
                </c:pt>
              </c:strCache>
            </c:strRef>
          </c:tx>
          <c:spPr>
            <a:solidFill>
              <a:srgbClr val="1F6FE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7.8</c:v>
                </c:pt>
                <c:pt idx="2">
                  <c:v>13.5</c:v>
                </c:pt>
                <c:pt idx="3">
                  <c:v>21.0</c:v>
                </c:pt>
                <c:pt idx="4">
                  <c:v>29.0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 of world</c:v>
                </c:pt>
              </c:strCache>
            </c:strRef>
          </c:tx>
          <c:spPr>
            <a:solidFill>
              <a:srgbClr val="7FB3E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2.6</c:v>
                </c:pt>
                <c:pt idx="1">
                  <c:v>4.4</c:v>
                </c:pt>
                <c:pt idx="2">
                  <c:v>7.5</c:v>
                </c:pt>
                <c:pt idx="3">
                  <c:v>12.0</c:v>
                </c:pt>
                <c:pt idx="4">
                  <c:v>17.5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7E0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3347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/ consensus capex</c:v>
                </c:pt>
              </c:strCache>
            </c:strRef>
          </c:tx>
          <c:spPr>
            <a:solidFill>
              <a:srgbClr val="132E5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148</c:v>
                </c:pt>
                <c:pt idx="2">
                  <c:v>230</c:v>
                </c:pt>
                <c:pt idx="3">
                  <c:v>365</c:v>
                </c:pt>
                <c:pt idx="4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 which: AI infrastructure</c:v>
                </c:pt>
              </c:strCache>
            </c:strRef>
          </c:tx>
          <c:spPr>
            <a:solidFill>
              <a:srgbClr val="D9A44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55</c:v>
                </c:pt>
                <c:pt idx="2">
                  <c:v>130</c:v>
                </c:pt>
                <c:pt idx="3">
                  <c:v>250</c:v>
                </c:pt>
                <c:pt idx="4">
                  <c:v>360</c:v>
                </c:pt>
              </c:numCache>
            </c:numRef>
          </c:val>
        </c:ser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7E0EB"/>
              </a:solidFill>
            </a:ln>
          </c:spPr>
        </c:majorGridlines>
        <c:numFmt formatCode="$#,##0" sourceLinked="0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3347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Datacenter power demand (GW)</c:v>
                </c:pt>
              </c:strCache>
            </c:strRef>
          </c:tx>
          <c:spPr>
            <a:solidFill>
              <a:srgbClr val="2CA89A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25</c:v>
                </c:pt>
                <c:pt idx="2">
                  <c:v>34</c:v>
                </c:pt>
                <c:pt idx="3">
                  <c:v>46</c:v>
                </c:pt>
                <c:pt idx="4">
                  <c:v>60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7E0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solidFill>
              <a:srgbClr val="D7E0EB"/>
            </a:solidFill>
          </a:ln>
        </c:spPr>
        <c:txPr>
          <a:bodyPr/>
          <a:lstStyle/>
          <a:p>
            <a:pPr>
              <a:defRPr sz="900">
                <a:solidFill>
                  <a:srgbClr val="6B7A8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3347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Trackers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132E52"/>
              </a:solidFill>
            </c:spPr>
          </c:dPt>
          <c:dPt>
            <c:idx val="2"/>
            <c:spPr>
              <a:solidFill>
                <a:srgbClr val="D9A441"/>
              </a:solidFill>
            </c:spPr>
          </c:dPt>
          <c:dPt>
            <c:idx val="3"/>
            <c:spPr>
              <a:solidFill>
                <a:srgbClr val="2CA89A"/>
              </a:solidFill>
            </c:spPr>
          </c:dPt>
          <c:dPt>
            <c:idx val="4"/>
            <c:spPr>
              <a:solidFill>
                <a:srgbClr val="7FB3E8"/>
              </a:solidFill>
            </c:spPr>
          </c:dPt>
          <c:cat>
            <c:strRef>
              <c:f>Sheet1!$A$2:$A$6</c:f>
              <c:strCache>
                <c:ptCount val="5"/>
                <c:pt idx="0">
                  <c:v>Usage &amp; tokens</c:v>
                </c:pt>
                <c:pt idx="1">
                  <c:v>Capex &amp; capacity</c:v>
                </c:pt>
                <c:pt idx="2">
                  <c:v>Pricing</c:v>
                </c:pt>
                <c:pt idx="3">
                  <c:v>Adoption surveys</c:v>
                </c:pt>
                <c:pt idx="4">
                  <c:v>Supply chain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33475B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0B1F3A"/>
              </a:solidFill>
            </c:spPr>
          </c:dPt>
          <c:dPt>
            <c:idx val="1"/>
            <c:spPr>
              <a:solidFill>
                <a:srgbClr val="1F6FEB"/>
              </a:solidFill>
            </c:spPr>
          </c:dPt>
          <c:dPt>
            <c:idx val="2"/>
            <c:spPr>
              <a:solidFill>
                <a:srgbClr val="D9A441"/>
              </a:solidFill>
            </c:spPr>
          </c:dPt>
          <c:dPt>
            <c:idx val="3"/>
            <c:spPr>
              <a:solidFill>
                <a:srgbClr val="2CA89A"/>
              </a:solidFill>
            </c:spPr>
          </c:dPt>
          <c:dPt>
            <c:idx val="4"/>
            <c:spPr>
              <a:solidFill>
                <a:srgbClr val="7FB3E8"/>
              </a:solidFill>
            </c:spPr>
          </c:dPt>
          <c:dPt>
            <c:idx val="5"/>
            <c:spPr>
              <a:solidFill>
                <a:srgbClr val="6B7A8D"/>
              </a:solidFill>
            </c:spPr>
          </c:dPt>
          <c:cat>
            <c:strRef>
              <c:f>Sheet1!$A$2:$A$7</c:f>
              <c:strCache>
                <c:ptCount val="6"/>
                <c:pt idx="0">
                  <c:v>Company notes</c:v>
                </c:pt>
                <c:pt idx="1">
                  <c:v>Thematic deep dives</c:v>
                </c:pt>
                <c:pt idx="2">
                  <c:v>Data trackers &amp; sheets</c:v>
                </c:pt>
                <c:pt idx="3">
                  <c:v>Financial models</c:v>
                </c:pt>
                <c:pt idx="4">
                  <c:v>Primers &amp; explainers</c:v>
                </c:pt>
                <c:pt idx="5">
                  <c:v>Daily / weekly memos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33475B"/>
          </a:solidFill>
          <a:latin typeface="Calibr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0" y="365760"/>
            <a:ext cx="4754880" cy="457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0" b="1" i="0">
                <a:solidFill>
                  <a:srgbClr val="132E52"/>
                </a:solidFill>
                <a:latin typeface="Calibr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9A441"/>
                </a:solidFill>
                <a:latin typeface="Calibri"/>
              </a:rPr>
              <a:t>GLOBAL TECHNOLOGY EQUITY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Calibri"/>
              </a:rPr>
              <a:t>From Silicon to Software: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Calibri"/>
              </a:rPr>
              <a:t>The Breadth of Our AI Research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9875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7FB3E8"/>
                </a:solidFill>
                <a:latin typeface="Calibri"/>
              </a:rPr>
              <a:t>Coverage, data and analysis across artificial intelligence, large language models and the global datacenter buildout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A8D"/>
                </a:solidFill>
                <a:latin typeface="Calibri"/>
              </a:rPr>
              <a:t>Department Capabilities Review  | 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92040"/>
            <a:ext cx="2606040" cy="1325880"/>
          </a:xfrm>
          <a:prstGeom prst="roundRect">
            <a:avLst>
              <a:gd name="adj" fmla="val 7000"/>
            </a:avLst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04748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D9A441"/>
                </a:solidFill>
                <a:latin typeface="Calibri"/>
              </a:rPr>
              <a:t>160+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577840"/>
            <a:ext cx="2240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FB3E8"/>
                </a:solidFill>
                <a:latin typeface="Calibri"/>
              </a:rPr>
              <a:t>Publications across the AI stack in the last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4892040"/>
            <a:ext cx="2606040" cy="1325880"/>
          </a:xfrm>
          <a:prstGeom prst="roundRect">
            <a:avLst>
              <a:gd name="adj" fmla="val 7000"/>
            </a:avLst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504748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D9A441"/>
                </a:solidFill>
                <a:latin typeface="Calibri"/>
              </a:rPr>
              <a:t>45+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5577840"/>
            <a:ext cx="2240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FB3E8"/>
                </a:solidFill>
                <a:latin typeface="Calibri"/>
              </a:rPr>
              <a:t>Companies covered from silicon to 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892040"/>
            <a:ext cx="2606040" cy="1325880"/>
          </a:xfrm>
          <a:prstGeom prst="roundRect">
            <a:avLst>
              <a:gd name="adj" fmla="val 7000"/>
            </a:avLst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504748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D9A441"/>
                </a:solidFill>
                <a:latin typeface="Calibri"/>
              </a:rP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577840"/>
            <a:ext cx="2240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FB3E8"/>
                </a:solidFill>
                <a:latin typeface="Calibri"/>
              </a:rPr>
              <a:t>Proprietary data trackers maintained and shared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4892040"/>
            <a:ext cx="2606040" cy="1325880"/>
          </a:xfrm>
          <a:prstGeom prst="roundRect">
            <a:avLst>
              <a:gd name="adj" fmla="val 7000"/>
            </a:avLst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5047488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D9A441"/>
                </a:solidFill>
                <a:latin typeface="Calibri"/>
              </a:rPr>
              <a:t>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5577840"/>
            <a:ext cx="2240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FB3E8"/>
                </a:solidFill>
                <a:latin typeface="Calibri"/>
              </a:rPr>
              <a:t>Financial &amp; scenario models built for clients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The AI research franchise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103120" cy="14173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28216"/>
            <a:ext cx="40640" cy="116128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6FEB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04288"/>
            <a:ext cx="1737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Research pillars spanning the full AI value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600200"/>
            <a:ext cx="2103120" cy="14173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7208" y="1728216"/>
            <a:ext cx="40640" cy="116128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172821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6FEB"/>
                </a:solidFill>
                <a:latin typeface="Calibri"/>
              </a:rPr>
              <a:t>160+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2304288"/>
            <a:ext cx="1737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Notes, deep dives, primers and daily memos published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600200"/>
            <a:ext cx="2103120" cy="14173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11496" y="1728216"/>
            <a:ext cx="40640" cy="116128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172821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6FEB"/>
                </a:solidFill>
                <a:latin typeface="Calibri"/>
              </a:rPr>
              <a:t>25+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304288"/>
            <a:ext cx="1737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Proprietary trackers: tokens, capex, capacity, pricing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36976"/>
            <a:ext cx="2103120" cy="14173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364992"/>
            <a:ext cx="40640" cy="116128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364992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6FEB"/>
                </a:solidFill>
                <a:latin typeface="Calibri"/>
              </a:rPr>
              <a:t>30+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941064"/>
            <a:ext cx="1737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Company and scenario models, from S-1s to 3-statements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07208" y="3236976"/>
            <a:ext cx="2103120" cy="14173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07208" y="3364992"/>
            <a:ext cx="40640" cy="116128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8376" y="3364992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6FEB"/>
                </a:solidFill>
                <a:latin typeface="Calibri"/>
              </a:rPr>
              <a:t>45+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08376" y="3941064"/>
            <a:ext cx="1737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Companies covered across semis, infra, cloud &amp; software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1496" y="3236976"/>
            <a:ext cx="2103120" cy="14173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11496" y="3364992"/>
            <a:ext cx="40640" cy="116128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12664" y="3364992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F6FEB"/>
                </a:solidFill>
                <a:latin typeface="Calibri"/>
              </a:rPr>
              <a:t>1,200+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2664" y="3941064"/>
            <a:ext cx="1737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Client interactions on AI themes in the last 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1600200"/>
            <a:ext cx="4099255" cy="3054096"/>
          </a:xfrm>
          <a:prstGeom prst="roundRect">
            <a:avLst>
              <a:gd name="adj" fmla="val 45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810512"/>
            <a:ext cx="3550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D9A441"/>
                </a:solidFill>
                <a:latin typeface="Calibri"/>
              </a:rPr>
              <a:t>HOW WE CONTRIBUTE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176272"/>
            <a:ext cx="35506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A441"/>
                </a:solidFill>
                <a:latin typeface="Calibri"/>
              </a:rPr>
              <a:t>▪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One connected view of the AI trade — from wafer starts and megawatts to tokens and software seats.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017520"/>
            <a:ext cx="35506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A441"/>
                </a:solidFill>
                <a:latin typeface="Calibri"/>
              </a:rPr>
              <a:t>▪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Proprietary data first: we measure the buildout rather than repeat consensus narratives.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858768"/>
            <a:ext cx="35506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A441"/>
                </a:solidFill>
                <a:latin typeface="Calibri"/>
              </a:rPr>
              <a:t>▪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Cross-sector by design: semis, hardware, power, real estate, cloud, internet and software analysts publish together.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37760"/>
            <a:ext cx="11185855" cy="12344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10235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6FEB"/>
                </a:solidFill>
                <a:latin typeface="Calibri"/>
              </a:rPr>
              <a:t>THE MANDATE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394960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475B"/>
                </a:solidFill>
                <a:latin typeface="Calibri"/>
              </a:rPr>
              <a:t>Help investors size, price and risk-manage the largest capital cycle in technology history: an AI infrastructure buildout measured in hundreds of billions of dollars of annual capex, gigawatts of power and quadrillions of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COVERAGE UNIVERSE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One research platform across the full AI value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81328"/>
            <a:ext cx="2880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Semiconductors &amp; hardware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1481328"/>
            <a:ext cx="7802575" cy="731520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1481328"/>
            <a:ext cx="74368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GPUs &amp; custom accelerators · HBM &amp; memory · AI networking · optics &amp; silicon photonics · foundries &amp; fab economics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142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281428"/>
            <a:ext cx="2880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Datacenter physical infrastructure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281428"/>
            <a:ext cx="7802575" cy="731520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2281428"/>
            <a:ext cx="74368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Hyperscale &amp; colocation buildouts · project-level GW pipeline · cooling, racks &amp; electrical gear · land and shell supply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8152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1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081528"/>
            <a:ext cx="2880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Power &amp; energy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3081528"/>
            <a:ext cx="7802575" cy="731520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7368" y="3081528"/>
            <a:ext cx="74368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Power procurement &amp; PPAs · grid interconnection bottlenecks · gas, nuclear &amp; renewables · energy cost pass-through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8162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881628"/>
            <a:ext cx="2880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Cloud &amp; hyperscalers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3881628"/>
            <a:ext cx="7802575" cy="731520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87368" y="3881628"/>
            <a:ext cx="74368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Capex &amp; depreciation · owned vs leased capacity · neoclouds &amp; GPU rental economics · AI financing vehicles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8172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41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681728"/>
            <a:ext cx="2880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Foundation models &amp; LLMs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4681728"/>
            <a:ext cx="7802575" cy="731520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7368" y="4681728"/>
            <a:ext cx="74368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Token consumption &amp; pricing · model economics &amp; scaling · open vs closed ecosystems · enterprise LLM market share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48182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7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481828"/>
            <a:ext cx="2880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Software &amp; applications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5481828"/>
            <a:ext cx="7802575" cy="731520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87368" y="5481828"/>
            <a:ext cx="74368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Agentic AI &amp; SaaS business models · coding agents · cybersecurity in the AI era · internet platforms &amp; ad 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336792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6B7A8D"/>
                </a:solidFill>
                <a:latin typeface="Calibri"/>
              </a:rPr>
              <a:t>Every layer is covered by dedicated analysts publishing into one coordinated AI research agenda — the stack is analyzed as a single system, not six silos.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RESEARCH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Six pillars organize our contribution to the AI debate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3611880" cy="2267712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3611880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6420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7FB3E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3852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LLM &amp; token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50592"/>
            <a:ext cx="3209544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Token consumption time series by model &amp; workload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LLM pricing index and $/M-token cost curves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Returns to intelligence: unit economics of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481328"/>
            <a:ext cx="3611880" cy="2267712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481328"/>
            <a:ext cx="3611880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66420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7FB3E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193852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Datacenter buildout &amp;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450592"/>
            <a:ext cx="3209544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Project-level global GW pipeline tracker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Supply / demand capacity model through 2030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Content-per-GW: memory, networking, optics, power gear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481328"/>
            <a:ext cx="3611880" cy="2267712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481328"/>
            <a:ext cx="3611880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6420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7FB3E8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3852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Hyperscaler capex &amp; AI financing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50592"/>
            <a:ext cx="3209544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Capex, leases and depreciation deep dives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Owned vs leased compute capacity analysis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Neocloud commitments and AI compute deal comparisons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50208"/>
            <a:ext cx="3611880" cy="2267712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50208"/>
            <a:ext cx="3611880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13308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7FB3E8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40740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Semis &amp; hardware supply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919472"/>
            <a:ext cx="3209544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GPU / TPU market share and performance frontier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AI networking and optical supply chain models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Fab economics: costs, subsidies, geographic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3950208"/>
            <a:ext cx="3611880" cy="2267712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88536" y="3950208"/>
            <a:ext cx="3611880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9704" y="413308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7FB3E8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40740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Power, energy &amp; sustainability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4919472"/>
            <a:ext cx="3209544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Power procurement strategies of hyperscalers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Energy cost sensitivity of datacenter economics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Grid bottlenecks, climate exposure, energy M&amp;A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4152" y="3950208"/>
            <a:ext cx="3611880" cy="2267712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74152" y="3950208"/>
            <a:ext cx="3611880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13308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7FB3E8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40740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Software &amp; security in the AI era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919472"/>
            <a:ext cx="3209544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Agentic AI impact on SaaS pricing &amp; seats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Cybersecurity winners from AI-driven threats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Internet platforms: ads, engagement, regulation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PILLAR 01 — LLM &amp; TOKEN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We measure the token economy so clients can price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Token consumption database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Time series of usage across frontier and open-source models, coding agents vs copilots, and API aggregators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LLM pricing &amp; cost curves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Blended $/M-token pricing index; inference cost decomposition across compute, memory and context length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Model economics &amp; architecture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Pre-training vs fine-tuning spend, KV-cache &amp; prefill costs, diffusion vs autoregressive trade-offs, parametric memory scaling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Market structure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Enterprise LLM market share, open-source model adoption, foundation-model revenue and ARR benchmarking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Why it matters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Token volumes and pricing are the demand signal that underwrites the entire datacenter and semiconductor capex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425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Tokens get cheaper, usage explodes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28216"/>
            <a:ext cx="5425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B7A8D"/>
                </a:solidFill>
                <a:latin typeface="Calibri"/>
              </a:rPr>
              <a:t>Indexed to 100 in 2022 — illustrative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93392"/>
            <a:ext cx="5425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Industry token consumption (index)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249424"/>
          <a:ext cx="5425135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4187952"/>
            <a:ext cx="5425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9A441"/>
                </a:solidFill>
                <a:latin typeface="Calibri"/>
              </a:rPr>
              <a:t>Blended price per M tokens (index)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263640" y="4443984"/>
          <a:ext cx="542513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PILLAR 02 — DATACENTER BUILDOUT &amp;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A project-level map of the global buildout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Global buildout tracker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Named-project database of hyperscale and neocloud campuses: MW/GW, location, developer, power source, timeline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Supply / demand capacity model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Reconciles announced capacity against accelerator shipments, power availability and demand from token growth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Content per gigawatt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Bill-of-materials analysis: memory, networking, optics, cooling and electrical content per GW of new capacity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Frontier topics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Orbital datacenters, Gulf-region mega-projects, China/HK capacity, climate and water constraints on siting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Why it matters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Capacity in the ground is the hardest constraint on the AI roadmap — our tracker turns press releases into a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425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Tracked datacenter capacity additions (GW)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28216"/>
            <a:ext cx="5425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B7A8D"/>
                </a:solidFill>
                <a:latin typeface="Calibri"/>
              </a:rPr>
              <a:t>By region, 2023–2027E — illustrative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263640" y="2011680"/>
          <a:ext cx="5425135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PILLAR 03 — HYPERSCALER CAPEX &amp; AI FINANCING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Following the money behind the buildout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Capex &amp; depreciation analytics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Quarterly hyperscaler capex tracker with GPU vs non-GPU split, useful-life assumptions and margin sensitivity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Owned vs leased capacity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Lease accounting deep dives quantifying off-balance-sheet compute commitments and future rent obligations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AI financing structures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Neocloud take-or-pay contracts, GPU-backed lending, vendor financing and circular revenue analysis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Deal comparisons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Side-by-side economics of landmark AI compute deals, memory supply agreements and sovereign AI partnerships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Why it matters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The durability of AI capex is the single biggest earnings question in global tech — we track it line by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425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Big-four hyperscaler capex ($B)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28216"/>
            <a:ext cx="5425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B7A8D"/>
                </a:solidFill>
                <a:latin typeface="Calibri"/>
              </a:rPr>
              <a:t>Calendar years — illustrative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263640" y="2011680"/>
          <a:ext cx="5425135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PILLAR 04 — SEMIS &amp; HARDWARE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From accelerator roadmaps to fab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3611880" cy="37033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17904"/>
            <a:ext cx="3611880" cy="4754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17904"/>
            <a:ext cx="3209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76272"/>
            <a:ext cx="3209544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GPU vs TPU vs custom ASIC market share and the performance-per-dollar frontier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Accelerator roadmap analysis and cloud capacity implications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S-1 and IPO work on emerging AI silicon vendors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517904"/>
            <a:ext cx="3611880" cy="37033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517904"/>
            <a:ext cx="3611880" cy="4754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517904"/>
            <a:ext cx="3209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Connectivity &amp;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76272"/>
            <a:ext cx="3209544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AI networking market share: Ethernet vs InfiniBand vs optical circuit switching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Silicon photonics and co-packaged optics supply chain model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HBM roadmaps and memory supply agreements with hyperscalers and neoclouds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517904"/>
            <a:ext cx="3611880" cy="37033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1517904"/>
            <a:ext cx="3611880" cy="4754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17904"/>
            <a:ext cx="3209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Manufacturing &amp; materials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76272"/>
            <a:ext cx="3209544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Fab cost comparisons across geographies; new fab location tracking and subsidy analysis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EU Chips Act and export-control dependency mapping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Niche input risk: helium, sulphur and specialty materials exposure of leading-edge fabs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40680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D9A441"/>
                </a:solidFill>
                <a:latin typeface="Calibri"/>
              </a:rPr>
              <a:t>Why it matters: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hardware supply is the rate limiter of the AI cycle; our supply chain models convert component lead times into revenue visibility for the whole coverage universe.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PILLAR 05 — POWER, ENERGY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Electrons are the new constraint on compute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Power procurement strategies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How hyperscalers secure gigawatts: PPAs, behind-the-meter gas, nuclear restarts, SMRs and grid-interconnection queues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Datacenter energy economics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Electricity cost sensitivity of cloud gross margins and GPU-hour pricing across regions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Bottleneck analysis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Transformers, turbines, switchgear and transmission: where power equipment lead times gate the buildout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Scenario &amp; event work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Oil price shocks and cloud margins, tech-energy alliances and M&amp;A, climate and water risk to datacenter siting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Why it matters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Power availability now determines datacenter timelines more than chip supply — energy analysis is core 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425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US datacenter power demand (GW)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28216"/>
            <a:ext cx="5425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B7A8D"/>
                </a:solidFill>
                <a:latin typeface="Calibri"/>
              </a:rPr>
              <a:t>2023–2027E — illustrative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263640" y="2011680"/>
          <a:ext cx="5425135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PILLAR 06 — SOFTWARE &amp; SECURITY IN THE AI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Where AI value lands: seats, agents and security budgets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3611880" cy="37033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17904"/>
            <a:ext cx="36118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19072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Agentic AI &amp;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76272"/>
            <a:ext cx="3209544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Business-model impact of agents on per-seat pricing and the future of application software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Coding agents vs copilots: token intensity, pricing and share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Labor spend vs IT spend: sizing the automation opportunity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517904"/>
            <a:ext cx="3611880" cy="37033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517904"/>
            <a:ext cx="3611880" cy="91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719072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Cybersecurity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76272"/>
            <a:ext cx="3209544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Vendor-by-vendor AI tailwind scorecards across endpoint, identity, data and network security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Securing AI agents: new attack surfaces, new budgets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Post-quantum and nation-state scenarios for security 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517904"/>
            <a:ext cx="3611880" cy="37033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1517904"/>
            <a:ext cx="3611880" cy="91440"/>
          </a:xfrm>
          <a:prstGeom prst="rect">
            <a:avLst/>
          </a:prstGeom>
          <a:solidFill>
            <a:srgbClr val="2C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719072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Internet &amp;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76272"/>
            <a:ext cx="3209544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AI-driven ad-tech gains and engagement economics at scale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LLM licensing and data-rights value for content platforms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▪ </a:t>
            </a:r>
            <a:r>
              <a:rPr sz="1100" b="0">
                <a:solidFill>
                  <a:srgbClr val="33475B"/>
                </a:solidFill>
                <a:latin typeface="Calibri"/>
              </a:rPr>
              <a:t>Regulatory exposure: youth-safety rules and teen revenue at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40680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D9A441"/>
                </a:solidFill>
                <a:latin typeface="Calibri"/>
              </a:rPr>
              <a:t>Why it matters: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software is where AI capex must ultimately be monetized; we connect infrastructure spend to application-layer revenue so clients can test the bull case end to 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COMPANY-LEVEL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Single-name work products behind the themes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40640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64208"/>
            <a:ext cx="23500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Mega-cap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23500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Capex &amp; lease deep dives, owned-vs-leased compute, restructuring and opex analysis, ad-business AI sensitivity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1517904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2988" y="1664208"/>
            <a:ext cx="40640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5868" y="1664208"/>
            <a:ext cx="23500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Cloud &amp; neoclouds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2249424"/>
            <a:ext cx="23500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GPU rental economics, take-or-pay commitments, cloud COGS comparisons and AI-era margin bridges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517904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664208"/>
            <a:ext cx="40640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664208"/>
            <a:ext cx="23500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AI silicon &amp;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249424"/>
            <a:ext cx="23500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S-1 breakdowns for AI chip IPOs, server OEM share shifts, networking &amp; optics vendor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3124" y="1517904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3124" y="1664208"/>
            <a:ext cx="40640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664208"/>
            <a:ext cx="23500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Memory &amp; foundry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2249424"/>
            <a:ext cx="23500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HBM supply agreements, fab cost benchmarking, new-fab trackers and geographic risk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22192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968496"/>
            <a:ext cx="40640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68496"/>
            <a:ext cx="23500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Software &amp;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23500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Earnings-quality work, AI-agent competitive assessments and growth durability frameworks for leading vendors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2988" y="3822192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2988" y="3968496"/>
            <a:ext cx="40640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5868" y="3968496"/>
            <a:ext cx="23500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Internet &amp; mobility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5868" y="4553712"/>
            <a:ext cx="23500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Full 3-statement models, investment memos, AV-alliance maps and sum-of-the-parts work including private AI exposure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3822192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3968496"/>
            <a:ext cx="40640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3968496"/>
            <a:ext cx="23500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Private &amp; pre-IPO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4553712"/>
            <a:ext cx="23500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Financial models for frontier labs and space/AI adjacencies built from disclosures, deals and supply chain signals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3124" y="3822192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3124" y="3968496"/>
            <a:ext cx="40640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76004" y="3968496"/>
            <a:ext cx="23500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Event-driven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6004" y="4553712"/>
            <a:ext cx="23500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Layoff and restructuring impact notes, earnings previews and rapid-response analysis around AI announcements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6B7A8D"/>
                </a:solidFill>
                <a:latin typeface="Calibri"/>
              </a:rPr>
              <a:t>45+ covered companies, plus systematic work on private AI leaders where public-market exposure is indirect.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PROPRIETARY DATA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Trackers clients cannot get anywhere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361188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Token consumption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0">
                <a:solidFill>
                  <a:srgbClr val="33475B"/>
                </a:solidFill>
                <a:latin typeface="Calibri"/>
              </a:rPr>
              <a:t>Usage by model family, workload and aggregator, updated monthly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70048"/>
            <a:ext cx="361188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797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LLM pricing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72384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0">
                <a:solidFill>
                  <a:srgbClr val="33475B"/>
                </a:solidFill>
                <a:latin typeface="Calibri"/>
              </a:rPr>
              <a:t>Blended $/M-token price across vendors, weighted by observed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22192"/>
            <a:ext cx="361188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Datacenter capacity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24528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0">
                <a:solidFill>
                  <a:srgbClr val="33475B"/>
                </a:solidFill>
                <a:latin typeface="Calibri"/>
              </a:rPr>
              <a:t>Project-level GW pipeline with power source, developer and timing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74336"/>
            <a:ext cx="361188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840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Hyperscaler capex 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76672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0">
                <a:solidFill>
                  <a:srgbClr val="33475B"/>
                </a:solidFill>
                <a:latin typeface="Calibri"/>
              </a:rPr>
              <a:t>Quarterly capex, leases and commitments with GPU split estimates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0248" y="1517904"/>
            <a:ext cx="361188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16276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Developer activity 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1920240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0">
                <a:solidFill>
                  <a:srgbClr val="33475B"/>
                </a:solidFill>
                <a:latin typeface="Calibri"/>
              </a:rPr>
              <a:t>Quarterly commit and repository trends as a proxy for AI coding adoption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2670048"/>
            <a:ext cx="361188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27797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Corporate AI adoption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072384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0">
                <a:solidFill>
                  <a:srgbClr val="33475B"/>
                </a:solidFill>
                <a:latin typeface="Calibri"/>
              </a:rPr>
              <a:t>Enterprise deployment, spend intentions and use-case maturity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3822192"/>
            <a:ext cx="361188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9319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IT vs labor spend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224528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0">
                <a:solidFill>
                  <a:srgbClr val="33475B"/>
                </a:solidFill>
                <a:latin typeface="Calibri"/>
              </a:rPr>
              <a:t>Long-run substitution data framing the AI automation opportunity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4974336"/>
            <a:ext cx="361188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50840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Agent ecosystem 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5376672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0">
                <a:solidFill>
                  <a:srgbClr val="33475B"/>
                </a:solidFill>
                <a:latin typeface="Calibri"/>
              </a:rPr>
              <a:t>MCP server downloads, agent token usage and tool-call growth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481328"/>
            <a:ext cx="34134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Data asset mix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728216"/>
            <a:ext cx="3413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B7A8D"/>
                </a:solidFill>
                <a:latin typeface="Calibri"/>
              </a:rPr>
              <a:t>25+ maintained trackers — illustrative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8275320" y="2057400"/>
          <a:ext cx="3413455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275320" y="5760720"/>
            <a:ext cx="3413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1">
                <a:solidFill>
                  <a:srgbClr val="6B7A8D"/>
                </a:solidFill>
                <a:latin typeface="Calibri"/>
              </a:rPr>
              <a:t>Every tracker ships as a living spreadsheet or dataset clients can interrogate directly.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DELIVERABLES &amp; 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The right format for every investment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Publication mix, last 12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2821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B7A8D"/>
                </a:solidFill>
                <a:latin typeface="Calibri"/>
              </a:rPr>
              <a:t>160+ deliverables — illustrative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2057400"/>
          <a:ext cx="42062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257800" y="1517904"/>
            <a:ext cx="1417320" cy="804672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517904"/>
            <a:ext cx="14173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517904"/>
            <a:ext cx="4876495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517904"/>
            <a:ext cx="451073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Morning software &amp; AI stock memo: what moved, what matters, what to do about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450592"/>
            <a:ext cx="1417320" cy="804672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450592"/>
            <a:ext cx="14173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Weekly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450592"/>
            <a:ext cx="4876495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450592"/>
            <a:ext cx="451073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Token and datacenter tracker refreshes with delta commentary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3383280"/>
            <a:ext cx="1417320" cy="804672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3383280"/>
            <a:ext cx="14173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Quarterly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3383280"/>
            <a:ext cx="4876495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383280"/>
            <a:ext cx="451073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Earnings previews and reviews across the AI complex; capex model updates within hours of prints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4315968"/>
            <a:ext cx="1417320" cy="804672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4315968"/>
            <a:ext cx="14173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Event-driven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4315968"/>
            <a:ext cx="4876495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4315968"/>
            <a:ext cx="451073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Rapid-response notes on model launches, compute deals, export controls and regulation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5248656"/>
            <a:ext cx="1417320" cy="804672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5248656"/>
            <a:ext cx="14173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Foundational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5248656"/>
            <a:ext cx="4876495" cy="804672"/>
          </a:xfrm>
          <a:prstGeom prst="rect">
            <a:avLst/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5248656"/>
            <a:ext cx="451073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33475B"/>
                </a:solidFill>
                <a:latin typeface="Calibri"/>
              </a:rPr>
              <a:t>Primers on quantum computing, LLM architecture innovation and agentic protocols for generalist PMs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THEMATIC &amp; EVENT-DRIVEN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Connecting AI to geopolitics, regulation and macro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3611880" cy="3977639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17904"/>
            <a:ext cx="3611880" cy="475488"/>
          </a:xfrm>
          <a:prstGeom prst="rect">
            <a:avLst/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17904"/>
            <a:ext cx="3246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Geopolitics &amp; industrial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3246120" cy="3200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EU Chips Act 2.0: dependencies, subsidies and beneficiaries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China 2030 AI ambitions and the semiconductor supply response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Gulf sovereign AI programs and hyperscaler exposure mapping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Export controls: scenario trees for accelerator supply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517904"/>
            <a:ext cx="3611880" cy="3977639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517904"/>
            <a:ext cx="3611880" cy="475488"/>
          </a:xfrm>
          <a:prstGeom prst="rect">
            <a:avLst/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517904"/>
            <a:ext cx="3246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Regulation &amp; society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157984"/>
            <a:ext cx="3246120" cy="3200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Under-16 social app bans: revenue-at-risk by platform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Quantum &amp; post-quantum policy: security-spend implications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AI safety and model-governance frameworks for investors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Data rights and LLM licensing economics for content owners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517904"/>
            <a:ext cx="3611880" cy="3977639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1517904"/>
            <a:ext cx="3611880" cy="475488"/>
          </a:xfrm>
          <a:prstGeom prst="rect">
            <a:avLst/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517904"/>
            <a:ext cx="3246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Macro &amp; cross-asset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157984"/>
            <a:ext cx="3246120" cy="3200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Oil price shock scenarios for cloud margins and gig platforms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Regional conflict stress tests of the AI supply chain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Rates and the financing cost of the datacenter buildout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▪ </a:t>
            </a:r>
            <a:r>
              <a:rPr sz="1050" b="0">
                <a:solidFill>
                  <a:srgbClr val="33475B"/>
                </a:solidFill>
                <a:latin typeface="Calibri"/>
              </a:rPr>
              <a:t>AI capex sustainability under bear-case token 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111858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6B7A8D"/>
                </a:solidFill>
                <a:latin typeface="Calibri"/>
              </a:rPr>
              <a:t>The AI trade does not live inside a sector box — our thematic work gives clients the cross-asset context that single-stock notes cannot.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CLIENT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B1F3A"/>
                </a:solidFill>
                <a:latin typeface="Calibri"/>
              </a:rPr>
              <a:t>Engagement that compounds the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777240" cy="406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Global Technology Equity Research  |  AI, LLMs &amp; the Datacenter Buildout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A8D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A8D"/>
                </a:solidFill>
                <a:latin typeface="Calibri"/>
              </a:rPr>
              <a:t>All figures 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2651760" cy="1554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40640" cy="12984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4592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F6FEB"/>
                </a:solidFill>
                <a:latin typeface="Calibri"/>
              </a:rPr>
              <a:t>1,200+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59152"/>
            <a:ext cx="22860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Client meetings, calls and video sessions on AI topics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517904"/>
            <a:ext cx="2651760" cy="1554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645920"/>
            <a:ext cx="40640" cy="12984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64592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F6FEB"/>
                </a:solidFill>
                <a:latin typeface="Calibri"/>
              </a:rPr>
              <a:t>300+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359152"/>
            <a:ext cx="22860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Bespoke data pulls and custom scenario requests fulfilled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17904"/>
            <a:ext cx="2651760" cy="1554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645920"/>
            <a:ext cx="40640" cy="12984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64592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F6FEB"/>
                </a:solidFill>
                <a:latin typeface="Calibri"/>
              </a:rPr>
              <a:t>40+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359152"/>
            <a:ext cx="22860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Conference presentations, expert panels and teach-ins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1517904"/>
            <a:ext cx="2651760" cy="155448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1645920"/>
            <a:ext cx="40640" cy="12984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64592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F6FEB"/>
                </a:solidFill>
                <a:latin typeface="Calibr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359152"/>
            <a:ext cx="22860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0" i="0">
                <a:solidFill>
                  <a:srgbClr val="33475B"/>
                </a:solidFill>
                <a:latin typeface="Calibri"/>
              </a:rPr>
              <a:t>Cross-sector collaborations with energy, real estate, utilities and macro teams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6766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Advisory, not just publishing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Standing AI strategy dialogues with CIOs and portfolio managers; models handed over, not just PDFs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Corporate access with substance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Curated meetings with hyperscaler infrastructure leaders, power developers, model labs and supply chain executives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▪ </a:t>
            </a:r>
            <a:r>
              <a:rPr sz="1200" b="1">
                <a:solidFill>
                  <a:srgbClr val="0B1F3A"/>
                </a:solidFill>
                <a:latin typeface="Calibri"/>
              </a:rPr>
              <a:t>Fast where it counts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>
                <a:solidFill>
                  <a:srgbClr val="6B7A8D"/>
                </a:solidFill>
                <a:latin typeface="Calibri"/>
              </a:rPr>
              <a:t>      –  </a:t>
            </a:r>
            <a:r>
              <a:rPr sz="1100">
                <a:solidFill>
                  <a:srgbClr val="33475B"/>
                </a:solidFill>
                <a:latin typeface="Calibri"/>
              </a:rPr>
              <a:t>Same-day reaction frameworks for model releases, compute deals and capex guidance changes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429000"/>
            <a:ext cx="4099255" cy="269748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3657600"/>
            <a:ext cx="3550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9A441"/>
                </a:solidFill>
                <a:latin typeface="Calibri"/>
              </a:rPr>
              <a:t>WHAT CLIENTS SAY THEY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23360"/>
            <a:ext cx="35506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“One team that can argue the token bull case and the power bottleneck bear case with the same dataset.”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FB3E8"/>
                </a:solidFill>
                <a:latin typeface="Calibri"/>
              </a:rPr>
              <a:t>— Composite of client feedback themes, 2026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A441"/>
                </a:solidFill>
                <a:latin typeface="Calibri"/>
              </a:rPr>
              <a:t>GLOBAL TECHNOLOGY EQUITY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Partner with us on the defining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investment debate of the decade.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5204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730752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A441"/>
                </a:solidFill>
                <a:latin typeface="Calibri"/>
              </a:rPr>
              <a:t>Breadth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160520"/>
            <a:ext cx="300837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Six pillars, one platform: silicon, datacenters, power, cloud, models and software covered as a single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35204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730752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A441"/>
                </a:solidFill>
                <a:latin typeface="Calibri"/>
              </a:rPr>
              <a:t>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160520"/>
            <a:ext cx="300837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Proprietary trackers and models that measure the buildout instead of narrating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6" y="35204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3730752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A441"/>
                </a:solidFill>
                <a:latin typeface="Calibri"/>
              </a:rP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4160520"/>
            <a:ext cx="300837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Analysts, data and corporate connections available on demand for client-specific questions.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6072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7FB3E8"/>
                </a:solidFill>
                <a:latin typeface="Calibri"/>
              </a:rPr>
              <a:t>Contact your research sales representative for analyst access, data subscriptions and bespoke project work.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6B7A8D"/>
                </a:solidFill>
                <a:latin typeface="Calibri"/>
              </a:rPr>
              <a:t>This deck is a capabilities overview; all statistics and chart data are illustrative and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